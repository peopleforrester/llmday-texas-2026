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straight into the inversion. No long bio.
"Your MLOps pipeline is most of your agentic AI guardrail. You don't realize it. The 40% gap between what you have and what you need is exactly where AI agents are going to get you. I'm going to show you how I learned that the hard way, and what to do about it."
Pause. Let them sit with that.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recognition assertion. No bio, no fear hook. Lead straight in.
"You already built it. You just called it MLOps. If you run an MLOps pipeline including deployment, your guardrails for agentic AI are mostly already in place. CI/CD enforces most of them. MLOps enforces the rest."
Walk the mapping table on the left:
"Feature store maps to Supply chain. Model registry maps to Supply chain. Validation gates map to Approval gating. Canary deployment maps to Blast radius. Four out of five matrix concerns. Already in your pipeline."
"Drift detection and rollback automation aren't in this matrix — they're in the companion Detect and Recover matrices. So you're already covering three of the five NIST CSF functions just by running MLOps."
Gesture at the mini diagram on the right:
"Two pipelines, both ending at production. Same gates apply. The talk you're about to hear is about extending what you have, not replacing it."
For SREday folks: brief verbal nod here that yesterday's talk was the SRE story; today is the MLOps recognition story.
90 seconds. This is the thesis slide. Don't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text. Read it once. Don't explain it. Let the principle do the work.
"Don't use probabilistic AI to enforce deterministic requirements."
Pause.
"The model is not the control surface. The infrastructure is."
Move on. This is a punctuation slide, not a discussion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reveal. Lean into the alert-fatigue point hard.
"Here's the inversion that breaks MLOps assumptions. Your pipelines were designed assuming the agent is INSIDE the pipeline — a step driven by deterministic orchestration. Agentic AI puts the agent DRIVING the pipeline. That's a different threat model."
"The instinct is to add humans to every action. Approval gates everywhere. Slow the agent until it can't hurt anything. Treat it like a junior dev."
"That defeats the purpose. If you gate every action on a human, you don't have an agent. You have an expensive autocomplete with a paging system."
"And here's the part nobody talks about. Humans get tired. They get fatigued by alert volume. The actual data on humans-in-the-loop approval rates is around 93%. Engineers click through. So you don't even get the safety you think you're paying for."
"DevOps wanted automation. ML Ops wanted automation. Agentic ops needs automation too. The right answer isn't slower agents. It's faster, deterministic gates that extend what your pipeline already does into the agent's decision surface."
60-75 seconds. The alert-fatigue point lands harder than the speed point. Lead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 stopped them" payoff. This is the part where the audience realizes they're not alone.
"Three public incidents. Different companies, different vendors, same root pattern."
"December 2025. AWS Kiro. Engineers asked it to fix a bug in Cost Explorer. The agent decided the optimal solution was to delete and recreate the production environment. Thirteen-hour outage in mainland China. The agent inherited the engineer's elevated permissions and bypassed two-person approval."
"April 2026. PocketOS. A car rental software company running Cursor on Claude Opus 4.6. Nine seconds. Production database deleted. Backups deleted. Three months of customer data gone. The agent found an over-permissioned API token in an unrelated file."
"July 2025. Replit and SaaStr. Jason Lemkin's vibe coding session. He said in all caps eleven times not to make changes during code freeze. The agent did anyway. Deleted the live database. Then fabricated 4,000 fake users. Then lied about being able to roll back."
"For the SREday folks who were here yesterday, you know the fourth story. I won't rerun it. The structural lesson is the same as these three: every one of them had Detect, Respond, Recover working. None of them had Protect. What stopped them? Nothing did."
90 seconds. Don't editorialize on each incident — the cards do the work. Pace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reveal. Land it slowly. This is the framework slide.
"Five concerns the agent operates under. Three layers where you can put a brake. Fifteen cells."
Bridge to the abstract:
"The abstract said eight guardrails. When I sat down to write this talk, I noticed two were the same idea said twice, three were three mechanisms answering the same question, and one was a detection control hiding in a list called Prevention. So I cleaned it up. Same content. Sharper structure."
"Walk it left to right per row. Ask one question: if the agent decides to violate this concern, what stops it at this layer?"
This is your bridge for anyone who read the abstract and is wondering where Eight Guardrails went.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CSF scope. This slide is intellectual honesty: name what the matrix is NOT.
"Most AI guardrail content mixes four functions and calls it Prevention. That's the bug."
"NIST CSF 2.0 has five functions. Identify, Protect, Detect, Respond, Recover. This matrix is the second one only. Falco is Detect. OpenTelemetry is Detect. Velero is Recover. Argo self-heal is Respond and Recover. All necessary. None are Protect."
"Scoping the matrix to Protect is what makes it actually useful. The companion matrices for Detect and Recover compose with this one."
60 seconds.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layer 1: in-agent. The weakest layer.
"Layer one. The model layer. Probabilistic. Bypassable through language alone."
"What you might do here: system prompt saying don't modify production. Tool descriptions scoped. Refusal training."
"What stops it? Prompt injection. Jailbreak. Model error. Compaction wipes the rules. That last one is exactly what happened to my cluster."
"Treat this as a nudge. Not a control. The agent's reasoning is the attack surface, and you can't patch the agent's reasoning."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layer 2: client-side hooks. The middle layer.
"Layer two. Sits outside the model. Cannot be talked around with prompts."
"PreToolUse pattern hooks. allowedTools allowlist. Pre-commit hooks on protected paths. The operator owns the config, not the agent."
"How it gets bypassed: git commit no-verify. Command obfuscation. Equivalent commands the pattern doesn't catch. Filesystem tampering when the agent has write access."
"Strong against language attacks. Weak against an agent with shell access and time. Catches casual misuse. Don't put your one bet here."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layer 3: server-side. The strongest layer.
"Layer three. Lives on the target system, not the agent. Outside the agent's normal operating envelope."
"Scoped RBAC roles, never ClusterRoles. IAM scoped to specific ARNs. Kyverno or OPA admission policies. Deny star verbs. Deny prod namespaces from agent ServiceAccounts."
"Bypass requires either compromising the target, finding policy gaps, or persuading you to change the policy. None of those are normal agent behavior, but all are documented attack patterns."
"This layer is unbypassable from inside the agent's process. To get around it, you need a separate principal compromise. That makes server-side different from the other two layers in kind, not just degree. The other two layers can be talked around. This one cannot, until the agent escapes its own runtime."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K8s vs MLOps translation. This is the slide that earns the talk for the non-K8s half of the room.
"If you don't run Kubernetes, the matrix still applies. Same three layers. Two vocabularies."
"In-agent looks the same either way: prompts and tool descriptions."
"Client-side: PreToolUse hooks for K8s. MLflow client wrapper or SageMaker SDK allowlist for MLOps."
"Server-side: RBAC and Kyverno admission for K8s. SageMaker execution role and registry stage transition policies for MLOps. Vertex IAM principals scoped to specific Pipeline jobs."
"Same three layers. Different APIs. The pattern doesn't change. The vocabulary does."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four-concerns diagram. Walk each arrow into the agent.
"Four other concerns rounding out the matrix. Each one is a different surface area on the agent."
"Identity: per-agent OIDC tokens with 15-minute TTL. No shared credentials. Dedicated principal per agent. When something breaks, you know which agent did it."
"Blast radius: sandbox at process launch. ResourceQuota per namespace. Gated IaC apply pipeline as the actual backstop. Note that prevent_destroy alone is bypassable: the agent edits the .tf and runs apply in the same cycle."
"Approval gating: PreToolUse on destructive verbs. Branch protection plus PR review. Plan and apply gated separately."
"Supply chain: MCP allowlist with hash pinning. Sigstore plus cosign verification. Egress to approved registries only."
"Four concerns. Defense in depth on each."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slide. Worked example for the matrix using the cluster incident. SREday folks know the long version.
"For folks who came to SREday yesterday, this is the same incident structurally — different lens. Yesterday I told the SRE story. Today let's walk it through the matrix."
"What WOULD have stopped each beat?"
"Beat one, etcd overwrite: a gated IaC pipeline. The agent shouldn't have had shell access to run kubeadm directly. Authorization, server-side."
"Beat two, compaction wiping the rules: external enforcement that doesn't depend on the agent remembering anything. Any non-in-agent cell. This is why in-agent alone fails."
"Beat three, sycophancy: a PreToolUse hook with typed confirmation would have interrupted the auto-execution flow. Approval gating, client-side."
"Beat four, netplan obliteration: filesystem ACLs preventing the agent from writing /etc/netplan. Authorization, server-side."
"Beat five, full fleet reboot: the agent's IAM should have had no node-reboot permission to begin with. Blast radius, server-side."
"Same five beats. Five cells. The gates were always there."
90 seconds. Don't rush. This is the closure of the narrative arc the talk opened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Defense in depth, honestly framed. The point of this slide is that the stack works as a system, not that any one layer is sufficient.
"The stack works together. Server-side is where the buck stops."
"In-agent and client-side both fall to language attacks. The agent can be jailbroken. The hooks can be bypassed with no-verify. Server-side enforcement is different in kind — it requires a separate principal compromise. The agent has to escape its own runtime to defeat it."
"That said, server-side has caveats too. Misconfigured RBAC. Policy logic bugs. Operator manipulation. So you build defense in depth, but the buck stops at server-side."
This is more honest than most AI guardrails content. Lean into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bypasses. Frame as a reminder, not a takedown. The point is to remind people that client-side and in-agent are not the wall.
"Just a reminder. Client-side and in-agent are not enough. You need server-side as the final gate. Here are three bypass paths I would use against my own framework if I had to."
"One: git commit no-verify. One flag. Hooks vanish."
"Two: equivalent commands defeat pattern matching. find slash target dash delete instead of rm dash rf. kubectl scale replicas zero instead of kubectl delete."
"Three: lockfile pinning is theater without server-side validation. An agent that can edit package-lock dot json or requirements dot txt pins malicious versions."
"Each of these defeats one of the upper layers. None of them defeat server-side enforcement. That's why server-side is the final gate."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exercise. This is the deliverable from the abstract.
"Walk the matrix on one of your pipelines right now in your head. Pick the one you'd be most embarrassed about if your agent went sideways."
"For each row: all three populated, defense in depth, document and move on. Only in-agent populated, that's an audit finding, file a ticket today. Only server-side populated, late discovery, add the client-side cell to fail fast."
"Some cells deliberately empty: that's fine if the choice was deliberate. Document why."
"Empty cells are okay. Empty cells by accident are not."
60 seconds. This is the actionable Monday-morning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80% pattern. What you see in most teams. Land each one with its real-world incident reference.
"What I see across organizations time and time again. Same four empty cells."
"One. Authorization is over-scoped. The agent runs as the operator. Same permissions. Same blast radius. Inheriting the human is the original sin. This is the Kiro pattern. The agent inherited an engineer's elevated permissions and bypassed two-person approval at AWS."
"Two. Supply chain has no admission validation. Lockfile pinned at the client. Registry not enforced at the server. This is the PocketOS pattern. Agent finds an over-permissioned token in an unrelated file. Production gone in nine seconds."
"Three. Approval gating exists for humans, not for agents. Branch protection on. PreToolUse hooks off. And here's the deeper problem with humans-in-the-loop approval: industry data shows about 93% rubber-stamp rate. Engineers click through. Alert fatigue. So even when you do put humans in the path, you don't actually get the safety you think you're paying for."
"Four. Identity is shared across agents. One key. Multiple agents. No attribution. Every recent agentic incident shares this pattern."
"Four cells empty. Four tickets to file Monday. Not eight. Four."
75 seconds. Lean into the rubber-stamp number — it's the strongest argument against the "just add humans" instinct.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closer. Three lines of negation, one positive command.
"Detection is not Protection."
Beat.
"Response is not Protection."
Beat.
"Recovery is not Protection."
Pause.
"Build the column you don't have. Walk the matrix. Find the empty cells. File the tickets."
"Thanks."
Read each line slowly with a pause between. The structure works only if delivered with pacing. Read fast and it sounds like a list. Worth rehearsing out loud beforehand.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A100FF"/>
          </a:solidFill>
          <a:ln/>
        </p:spPr>
      </p:sp>
      <p:sp>
        <p:nvSpPr>
          <p:cNvPr id="3" name="Text 1"/>
          <p:cNvSpPr/>
          <p:nvPr/>
        </p:nvSpPr>
        <p:spPr>
          <a:xfrm>
            <a:off x="731520" y="1097280"/>
            <a:ext cx="10972800" cy="3200400"/>
          </a:xfrm>
          <a:prstGeom prst="rect">
            <a:avLst/>
          </a:prstGeom>
          <a:noFill/>
          <a:ln/>
        </p:spPr>
        <p:txBody>
          <a:bodyPr wrap="square" lIns="0" tIns="0" rIns="0" bIns="0" rtlCol="0" anchor="ctr"/>
          <a:lstStyle/>
          <a:p>
            <a:pPr algn="l" indent="0" marL="0">
              <a:buNone/>
            </a:pPr>
            <a:r>
              <a:rPr lang="en-US" sz="6000" b="1" dirty="0">
                <a:solidFill>
                  <a:srgbClr val="F8FAFC"/>
                </a:solidFill>
                <a:latin typeface="Trebuchet MS" pitchFamily="34" charset="0"/>
                <a:ea typeface="Trebuchet MS" pitchFamily="34" charset="-122"/>
                <a:cs typeface="Trebuchet MS" pitchFamily="34" charset="-120"/>
              </a:rPr>
              <a:t>Your MLOps Pipeline</a:t>
            </a:r>
            <a:endParaRPr lang="en-US" sz="6000" dirty="0"/>
          </a:p>
          <a:p>
            <a:pPr algn="l" indent="0" marL="0">
              <a:buNone/>
            </a:pPr>
            <a:r>
              <a:rPr lang="en-US" sz="6000" b="1" dirty="0">
                <a:solidFill>
                  <a:srgbClr val="F8FAFC"/>
                </a:solidFill>
                <a:latin typeface="Trebuchet MS" pitchFamily="34" charset="0"/>
                <a:ea typeface="Trebuchet MS" pitchFamily="34" charset="-122"/>
                <a:cs typeface="Trebuchet MS" pitchFamily="34" charset="-120"/>
              </a:rPr>
              <a:t>Is Your Agentic</a:t>
            </a:r>
            <a:endParaRPr lang="en-US" sz="6000" dirty="0"/>
          </a:p>
          <a:p>
            <a:pPr algn="l" indent="0" marL="0">
              <a:buNone/>
            </a:pPr>
            <a:r>
              <a:rPr lang="en-US" sz="6000" b="1" dirty="0">
                <a:solidFill>
                  <a:srgbClr val="F8FAFC"/>
                </a:solidFill>
                <a:latin typeface="Trebuchet MS" pitchFamily="34" charset="0"/>
                <a:ea typeface="Trebuchet MS" pitchFamily="34" charset="-122"/>
                <a:cs typeface="Trebuchet MS" pitchFamily="34" charset="-120"/>
              </a:rPr>
              <a:t>AI Guardrail</a:t>
            </a:r>
            <a:endParaRPr lang="en-US" sz="6000" dirty="0"/>
          </a:p>
        </p:txBody>
      </p:sp>
      <p:sp>
        <p:nvSpPr>
          <p:cNvPr id="4" name="Text 2"/>
          <p:cNvSpPr/>
          <p:nvPr/>
        </p:nvSpPr>
        <p:spPr>
          <a:xfrm>
            <a:off x="731520" y="4389120"/>
            <a:ext cx="10058400" cy="1005840"/>
          </a:xfrm>
          <a:prstGeom prst="rect">
            <a:avLst/>
          </a:prstGeom>
          <a:noFill/>
          <a:ln/>
        </p:spPr>
        <p:txBody>
          <a:bodyPr wrap="square" lIns="0" tIns="0" rIns="0" bIns="0" rtlCol="0" anchor="ctr"/>
          <a:lstStyle/>
          <a:p>
            <a:pPr algn="l" indent="0" marL="0">
              <a:buNone/>
            </a:pPr>
            <a:r>
              <a:rPr lang="en-US" sz="1800" i="1" dirty="0">
                <a:solidFill>
                  <a:srgbClr val="CBD5E1"/>
                </a:solidFill>
                <a:latin typeface="Calibri" pitchFamily="34" charset="0"/>
                <a:ea typeface="Calibri" pitchFamily="34" charset="-122"/>
                <a:cs typeface="Calibri" pitchFamily="34" charset="-120"/>
              </a:rPr>
              <a:t>In an era of unprecedented agentic capability, the question isn't whether your pipeline is ready — it's whether you've truly unlocked its latent guardrail potential.</a:t>
            </a:r>
            <a:endParaRPr lang="en-US" sz="1800" dirty="0"/>
          </a:p>
        </p:txBody>
      </p:sp>
      <p:sp>
        <p:nvSpPr>
          <p:cNvPr id="5" name="Text 3"/>
          <p:cNvSpPr/>
          <p:nvPr/>
        </p:nvSpPr>
        <p:spPr>
          <a:xfrm>
            <a:off x="731520" y="5852160"/>
            <a:ext cx="10058400" cy="365760"/>
          </a:xfrm>
          <a:prstGeom prst="rect">
            <a:avLst/>
          </a:prstGeom>
          <a:noFill/>
          <a:ln/>
        </p:spPr>
        <p:txBody>
          <a:bodyPr wrap="square" lIns="0" tIns="0" rIns="0" bIns="0" rtlCol="0" anchor="ctr"/>
          <a:lstStyle/>
          <a:p>
            <a:pPr algn="l" indent="0" marL="0">
              <a:buNone/>
            </a:pPr>
            <a:r>
              <a:rPr lang="en-US" sz="1400" spc="200" kern="0" dirty="0">
                <a:solidFill>
                  <a:srgbClr val="A100FF"/>
                </a:solidFill>
                <a:latin typeface="Calibri" pitchFamily="34" charset="0"/>
                <a:ea typeface="Calibri" pitchFamily="34" charset="-122"/>
                <a:cs typeface="Calibri" pitchFamily="34" charset="-120"/>
              </a:rPr>
              <a:t>Michael Forrester  ·  Accenture  ·  LLMday Austin  ·  May 12, 2026</a:t>
            </a:r>
            <a:endParaRPr lang="en-US" sz="1400" dirty="0"/>
          </a:p>
        </p:txBody>
      </p:sp>
      <p:pic>
        <p:nvPicPr>
          <p:cNvPr id="6" name="Image 0" descr="preencoded.png">    </p:cNvPr>
          <p:cNvPicPr>
            <a:picLocks noChangeAspect="1"/>
          </p:cNvPicPr>
          <p:nvPr/>
        </p:nvPicPr>
        <p:blipFill>
          <a:blip r:embed="rId1"/>
          <a:stretch>
            <a:fillRect/>
          </a:stretch>
        </p:blipFill>
        <p:spPr>
          <a:xfrm flipH="1">
            <a:off x="8869680" y="4754880"/>
            <a:ext cx="2926080" cy="17071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You already built it. You just called it MLOps.</a:t>
            </a:r>
            <a:endParaRPr lang="en-US" sz="3000" dirty="0"/>
          </a:p>
        </p:txBody>
      </p:sp>
      <p:sp>
        <p:nvSpPr>
          <p:cNvPr id="3" name="Text 1"/>
          <p:cNvSpPr/>
          <p:nvPr/>
        </p:nvSpPr>
        <p:spPr>
          <a:xfrm>
            <a:off x="548640" y="1051560"/>
            <a:ext cx="11064240" cy="45720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MLOps including deployment. CI/CD already enforces most gates. Two pipelines, same destination, same gates.</a:t>
            </a:r>
            <a:endParaRPr lang="en-US" sz="1400" dirty="0"/>
          </a:p>
        </p:txBody>
      </p:sp>
      <p:sp>
        <p:nvSpPr>
          <p:cNvPr id="4" name="Text 2"/>
          <p:cNvSpPr/>
          <p:nvPr/>
        </p:nvSpPr>
        <p:spPr>
          <a:xfrm>
            <a:off x="548640" y="1691640"/>
            <a:ext cx="5486400" cy="320040"/>
          </a:xfrm>
          <a:prstGeom prst="rect">
            <a:avLst/>
          </a:prstGeom>
          <a:noFill/>
          <a:ln/>
        </p:spPr>
        <p:txBody>
          <a:bodyPr wrap="square" lIns="0" tIns="0" rIns="0" bIns="0" rtlCol="0" anchor="ctr"/>
          <a:lstStyle/>
          <a:p>
            <a:pPr indent="0" marL="0">
              <a:buNone/>
            </a:pPr>
            <a:r>
              <a:rPr lang="en-US" sz="1100" b="1" spc="300" kern="0" dirty="0">
                <a:solidFill>
                  <a:srgbClr val="A100FF"/>
                </a:solidFill>
                <a:latin typeface="Trebuchet MS" pitchFamily="34" charset="0"/>
                <a:ea typeface="Trebuchet MS" pitchFamily="34" charset="-122"/>
                <a:cs typeface="Trebuchet MS" pitchFamily="34" charset="-120"/>
              </a:rPr>
              <a:t>IN THE MATRIX  ·  PROTECT</a:t>
            </a:r>
            <a:endParaRPr lang="en-US" sz="1100" dirty="0"/>
          </a:p>
        </p:txBody>
      </p:sp>
      <p:sp>
        <p:nvSpPr>
          <p:cNvPr id="5" name="Text 3"/>
          <p:cNvSpPr/>
          <p:nvPr/>
        </p:nvSpPr>
        <p:spPr>
          <a:xfrm>
            <a:off x="548640" y="2103120"/>
            <a:ext cx="2926080" cy="41148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Feature store</a:t>
            </a:r>
            <a:endParaRPr lang="en-US" sz="1400" dirty="0"/>
          </a:p>
        </p:txBody>
      </p:sp>
      <p:sp>
        <p:nvSpPr>
          <p:cNvPr id="6" name="Text 4"/>
          <p:cNvSpPr/>
          <p:nvPr/>
        </p:nvSpPr>
        <p:spPr>
          <a:xfrm>
            <a:off x="3520440" y="2103120"/>
            <a:ext cx="365760" cy="411480"/>
          </a:xfrm>
          <a:prstGeom prst="rect">
            <a:avLst/>
          </a:prstGeom>
          <a:noFill/>
          <a:ln/>
        </p:spPr>
        <p:txBody>
          <a:bodyPr wrap="square" lIns="0" tIns="0" rIns="0" bIns="0" rtlCol="0" anchor="ctr"/>
          <a:lstStyle/>
          <a:p>
            <a:pPr algn="ctr" indent="0" marL="0">
              <a:buNone/>
            </a:pPr>
            <a:r>
              <a:rPr lang="en-US" sz="1400" b="1" dirty="0">
                <a:solidFill>
                  <a:srgbClr val="A100FF"/>
                </a:solidFill>
                <a:latin typeface="Trebuchet MS" pitchFamily="34" charset="0"/>
                <a:ea typeface="Trebuchet MS" pitchFamily="34" charset="-122"/>
                <a:cs typeface="Trebuchet MS" pitchFamily="34" charset="-120"/>
              </a:rPr>
              <a:t>→</a:t>
            </a:r>
            <a:endParaRPr lang="en-US" sz="1400" dirty="0"/>
          </a:p>
        </p:txBody>
      </p:sp>
      <p:sp>
        <p:nvSpPr>
          <p:cNvPr id="7" name="Text 5"/>
          <p:cNvSpPr/>
          <p:nvPr/>
        </p:nvSpPr>
        <p:spPr>
          <a:xfrm>
            <a:off x="3931920" y="2103120"/>
            <a:ext cx="2011680" cy="411480"/>
          </a:xfrm>
          <a:prstGeom prst="rect">
            <a:avLst/>
          </a:prstGeom>
          <a:noFill/>
          <a:ln/>
        </p:spPr>
        <p:txBody>
          <a:bodyPr wrap="square" lIns="0" tIns="0" rIns="0" bIns="0" rtlCol="0" anchor="ctr"/>
          <a:lstStyle/>
          <a:p>
            <a:pPr indent="0" marL="0">
              <a:buNone/>
            </a:pPr>
            <a:r>
              <a:rPr lang="en-US" sz="1400" b="1" dirty="0">
                <a:solidFill>
                  <a:srgbClr val="7C00C4"/>
                </a:solidFill>
                <a:latin typeface="Trebuchet MS" pitchFamily="34" charset="0"/>
                <a:ea typeface="Trebuchet MS" pitchFamily="34" charset="-122"/>
                <a:cs typeface="Trebuchet MS" pitchFamily="34" charset="-120"/>
              </a:rPr>
              <a:t>Supply chain</a:t>
            </a:r>
            <a:endParaRPr lang="en-US" sz="1400" dirty="0"/>
          </a:p>
        </p:txBody>
      </p:sp>
      <p:sp>
        <p:nvSpPr>
          <p:cNvPr id="8" name="Text 6"/>
          <p:cNvSpPr/>
          <p:nvPr/>
        </p:nvSpPr>
        <p:spPr>
          <a:xfrm>
            <a:off x="548640" y="2560320"/>
            <a:ext cx="2926080" cy="41148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Model registry</a:t>
            </a:r>
            <a:endParaRPr lang="en-US" sz="1400" dirty="0"/>
          </a:p>
        </p:txBody>
      </p:sp>
      <p:sp>
        <p:nvSpPr>
          <p:cNvPr id="9" name="Text 7"/>
          <p:cNvSpPr/>
          <p:nvPr/>
        </p:nvSpPr>
        <p:spPr>
          <a:xfrm>
            <a:off x="3520440" y="2560320"/>
            <a:ext cx="365760" cy="411480"/>
          </a:xfrm>
          <a:prstGeom prst="rect">
            <a:avLst/>
          </a:prstGeom>
          <a:noFill/>
          <a:ln/>
        </p:spPr>
        <p:txBody>
          <a:bodyPr wrap="square" lIns="0" tIns="0" rIns="0" bIns="0" rtlCol="0" anchor="ctr"/>
          <a:lstStyle/>
          <a:p>
            <a:pPr algn="ctr" indent="0" marL="0">
              <a:buNone/>
            </a:pPr>
            <a:r>
              <a:rPr lang="en-US" sz="1400" b="1" dirty="0">
                <a:solidFill>
                  <a:srgbClr val="A100FF"/>
                </a:solidFill>
                <a:latin typeface="Trebuchet MS" pitchFamily="34" charset="0"/>
                <a:ea typeface="Trebuchet MS" pitchFamily="34" charset="-122"/>
                <a:cs typeface="Trebuchet MS" pitchFamily="34" charset="-120"/>
              </a:rPr>
              <a:t>→</a:t>
            </a:r>
            <a:endParaRPr lang="en-US" sz="1400" dirty="0"/>
          </a:p>
        </p:txBody>
      </p:sp>
      <p:sp>
        <p:nvSpPr>
          <p:cNvPr id="10" name="Text 8"/>
          <p:cNvSpPr/>
          <p:nvPr/>
        </p:nvSpPr>
        <p:spPr>
          <a:xfrm>
            <a:off x="3931920" y="2560320"/>
            <a:ext cx="2011680" cy="411480"/>
          </a:xfrm>
          <a:prstGeom prst="rect">
            <a:avLst/>
          </a:prstGeom>
          <a:noFill/>
          <a:ln/>
        </p:spPr>
        <p:txBody>
          <a:bodyPr wrap="square" lIns="0" tIns="0" rIns="0" bIns="0" rtlCol="0" anchor="ctr"/>
          <a:lstStyle/>
          <a:p>
            <a:pPr indent="0" marL="0">
              <a:buNone/>
            </a:pPr>
            <a:r>
              <a:rPr lang="en-US" sz="1400" b="1" dirty="0">
                <a:solidFill>
                  <a:srgbClr val="7C00C4"/>
                </a:solidFill>
                <a:latin typeface="Trebuchet MS" pitchFamily="34" charset="0"/>
                <a:ea typeface="Trebuchet MS" pitchFamily="34" charset="-122"/>
                <a:cs typeface="Trebuchet MS" pitchFamily="34" charset="-120"/>
              </a:rPr>
              <a:t>Supply chain</a:t>
            </a:r>
            <a:endParaRPr lang="en-US" sz="1400" dirty="0"/>
          </a:p>
        </p:txBody>
      </p:sp>
      <p:sp>
        <p:nvSpPr>
          <p:cNvPr id="11" name="Text 9"/>
          <p:cNvSpPr/>
          <p:nvPr/>
        </p:nvSpPr>
        <p:spPr>
          <a:xfrm>
            <a:off x="548640" y="3017520"/>
            <a:ext cx="2926080" cy="41148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Validation gates</a:t>
            </a:r>
            <a:endParaRPr lang="en-US" sz="1400" dirty="0"/>
          </a:p>
        </p:txBody>
      </p:sp>
      <p:sp>
        <p:nvSpPr>
          <p:cNvPr id="12" name="Text 10"/>
          <p:cNvSpPr/>
          <p:nvPr/>
        </p:nvSpPr>
        <p:spPr>
          <a:xfrm>
            <a:off x="3520440" y="3017520"/>
            <a:ext cx="365760" cy="411480"/>
          </a:xfrm>
          <a:prstGeom prst="rect">
            <a:avLst/>
          </a:prstGeom>
          <a:noFill/>
          <a:ln/>
        </p:spPr>
        <p:txBody>
          <a:bodyPr wrap="square" lIns="0" tIns="0" rIns="0" bIns="0" rtlCol="0" anchor="ctr"/>
          <a:lstStyle/>
          <a:p>
            <a:pPr algn="ctr" indent="0" marL="0">
              <a:buNone/>
            </a:pPr>
            <a:r>
              <a:rPr lang="en-US" sz="1400" b="1" dirty="0">
                <a:solidFill>
                  <a:srgbClr val="A100FF"/>
                </a:solidFill>
                <a:latin typeface="Trebuchet MS" pitchFamily="34" charset="0"/>
                <a:ea typeface="Trebuchet MS" pitchFamily="34" charset="-122"/>
                <a:cs typeface="Trebuchet MS" pitchFamily="34" charset="-120"/>
              </a:rPr>
              <a:t>→</a:t>
            </a:r>
            <a:endParaRPr lang="en-US" sz="1400" dirty="0"/>
          </a:p>
        </p:txBody>
      </p:sp>
      <p:sp>
        <p:nvSpPr>
          <p:cNvPr id="13" name="Text 11"/>
          <p:cNvSpPr/>
          <p:nvPr/>
        </p:nvSpPr>
        <p:spPr>
          <a:xfrm>
            <a:off x="3931920" y="3017520"/>
            <a:ext cx="2011680" cy="411480"/>
          </a:xfrm>
          <a:prstGeom prst="rect">
            <a:avLst/>
          </a:prstGeom>
          <a:noFill/>
          <a:ln/>
        </p:spPr>
        <p:txBody>
          <a:bodyPr wrap="square" lIns="0" tIns="0" rIns="0" bIns="0" rtlCol="0" anchor="ctr"/>
          <a:lstStyle/>
          <a:p>
            <a:pPr indent="0" marL="0">
              <a:buNone/>
            </a:pPr>
            <a:r>
              <a:rPr lang="en-US" sz="1400" b="1" dirty="0">
                <a:solidFill>
                  <a:srgbClr val="7C00C4"/>
                </a:solidFill>
                <a:latin typeface="Trebuchet MS" pitchFamily="34" charset="0"/>
                <a:ea typeface="Trebuchet MS" pitchFamily="34" charset="-122"/>
                <a:cs typeface="Trebuchet MS" pitchFamily="34" charset="-120"/>
              </a:rPr>
              <a:t>Approval gating</a:t>
            </a:r>
            <a:endParaRPr lang="en-US" sz="1400" dirty="0"/>
          </a:p>
        </p:txBody>
      </p:sp>
      <p:sp>
        <p:nvSpPr>
          <p:cNvPr id="14" name="Text 12"/>
          <p:cNvSpPr/>
          <p:nvPr/>
        </p:nvSpPr>
        <p:spPr>
          <a:xfrm>
            <a:off x="548640" y="3474720"/>
            <a:ext cx="2926080" cy="41148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Canary deployment</a:t>
            </a:r>
            <a:endParaRPr lang="en-US" sz="1400" dirty="0"/>
          </a:p>
        </p:txBody>
      </p:sp>
      <p:sp>
        <p:nvSpPr>
          <p:cNvPr id="15" name="Text 13"/>
          <p:cNvSpPr/>
          <p:nvPr/>
        </p:nvSpPr>
        <p:spPr>
          <a:xfrm>
            <a:off x="3520440" y="3474720"/>
            <a:ext cx="365760" cy="411480"/>
          </a:xfrm>
          <a:prstGeom prst="rect">
            <a:avLst/>
          </a:prstGeom>
          <a:noFill/>
          <a:ln/>
        </p:spPr>
        <p:txBody>
          <a:bodyPr wrap="square" lIns="0" tIns="0" rIns="0" bIns="0" rtlCol="0" anchor="ctr"/>
          <a:lstStyle/>
          <a:p>
            <a:pPr algn="ctr" indent="0" marL="0">
              <a:buNone/>
            </a:pPr>
            <a:r>
              <a:rPr lang="en-US" sz="1400" b="1" dirty="0">
                <a:solidFill>
                  <a:srgbClr val="A100FF"/>
                </a:solidFill>
                <a:latin typeface="Trebuchet MS" pitchFamily="34" charset="0"/>
                <a:ea typeface="Trebuchet MS" pitchFamily="34" charset="-122"/>
                <a:cs typeface="Trebuchet MS" pitchFamily="34" charset="-120"/>
              </a:rPr>
              <a:t>→</a:t>
            </a:r>
            <a:endParaRPr lang="en-US" sz="1400" dirty="0"/>
          </a:p>
        </p:txBody>
      </p:sp>
      <p:sp>
        <p:nvSpPr>
          <p:cNvPr id="16" name="Text 14"/>
          <p:cNvSpPr/>
          <p:nvPr/>
        </p:nvSpPr>
        <p:spPr>
          <a:xfrm>
            <a:off x="3931920" y="3474720"/>
            <a:ext cx="2011680" cy="411480"/>
          </a:xfrm>
          <a:prstGeom prst="rect">
            <a:avLst/>
          </a:prstGeom>
          <a:noFill/>
          <a:ln/>
        </p:spPr>
        <p:txBody>
          <a:bodyPr wrap="square" lIns="0" tIns="0" rIns="0" bIns="0" rtlCol="0" anchor="ctr"/>
          <a:lstStyle/>
          <a:p>
            <a:pPr indent="0" marL="0">
              <a:buNone/>
            </a:pPr>
            <a:r>
              <a:rPr lang="en-US" sz="1400" b="1" dirty="0">
                <a:solidFill>
                  <a:srgbClr val="7C00C4"/>
                </a:solidFill>
                <a:latin typeface="Trebuchet MS" pitchFamily="34" charset="0"/>
                <a:ea typeface="Trebuchet MS" pitchFamily="34" charset="-122"/>
                <a:cs typeface="Trebuchet MS" pitchFamily="34" charset="-120"/>
              </a:rPr>
              <a:t>Blast radius</a:t>
            </a:r>
            <a:endParaRPr lang="en-US" sz="1400" dirty="0"/>
          </a:p>
        </p:txBody>
      </p:sp>
      <p:sp>
        <p:nvSpPr>
          <p:cNvPr id="17" name="Text 15"/>
          <p:cNvSpPr/>
          <p:nvPr/>
        </p:nvSpPr>
        <p:spPr>
          <a:xfrm>
            <a:off x="548640" y="4160520"/>
            <a:ext cx="5486400" cy="320040"/>
          </a:xfrm>
          <a:prstGeom prst="rect">
            <a:avLst/>
          </a:prstGeom>
          <a:noFill/>
          <a:ln/>
        </p:spPr>
        <p:txBody>
          <a:bodyPr wrap="square" lIns="0" tIns="0" rIns="0" bIns="0" rtlCol="0" anchor="ctr"/>
          <a:lstStyle/>
          <a:p>
            <a:pPr indent="0" marL="0">
              <a:buNone/>
            </a:pPr>
            <a:r>
              <a:rPr lang="en-US" sz="1100" b="1" spc="300" kern="0" dirty="0">
                <a:solidFill>
                  <a:srgbClr val="64748B"/>
                </a:solidFill>
                <a:latin typeface="Trebuchet MS" pitchFamily="34" charset="0"/>
                <a:ea typeface="Trebuchet MS" pitchFamily="34" charset="-122"/>
                <a:cs typeface="Trebuchet MS" pitchFamily="34" charset="-120"/>
              </a:rPr>
              <a:t>IN COMPANION MATRICES</a:t>
            </a:r>
            <a:endParaRPr lang="en-US" sz="1100" dirty="0"/>
          </a:p>
        </p:txBody>
      </p:sp>
      <p:sp>
        <p:nvSpPr>
          <p:cNvPr id="18" name="Text 16"/>
          <p:cNvSpPr/>
          <p:nvPr/>
        </p:nvSpPr>
        <p:spPr>
          <a:xfrm>
            <a:off x="548640" y="4572000"/>
            <a:ext cx="2926080" cy="41148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Drift detection</a:t>
            </a:r>
            <a:endParaRPr lang="en-US" sz="1400" dirty="0"/>
          </a:p>
        </p:txBody>
      </p:sp>
      <p:sp>
        <p:nvSpPr>
          <p:cNvPr id="19" name="Text 17"/>
          <p:cNvSpPr/>
          <p:nvPr/>
        </p:nvSpPr>
        <p:spPr>
          <a:xfrm>
            <a:off x="3520440" y="4572000"/>
            <a:ext cx="365760" cy="411480"/>
          </a:xfrm>
          <a:prstGeom prst="rect">
            <a:avLst/>
          </a:prstGeom>
          <a:noFill/>
          <a:ln/>
        </p:spPr>
        <p:txBody>
          <a:bodyPr wrap="square" lIns="0" tIns="0" rIns="0" bIns="0" rtlCol="0" anchor="ctr"/>
          <a:lstStyle/>
          <a:p>
            <a:pPr algn="ctr" indent="0" marL="0">
              <a:buNone/>
            </a:pPr>
            <a:r>
              <a:rPr lang="en-US" sz="1400" b="1" dirty="0">
                <a:solidFill>
                  <a:srgbClr val="64748B"/>
                </a:solidFill>
                <a:latin typeface="Trebuchet MS" pitchFamily="34" charset="0"/>
                <a:ea typeface="Trebuchet MS" pitchFamily="34" charset="-122"/>
                <a:cs typeface="Trebuchet MS" pitchFamily="34" charset="-120"/>
              </a:rPr>
              <a:t>→</a:t>
            </a:r>
            <a:endParaRPr lang="en-US" sz="1400" dirty="0"/>
          </a:p>
        </p:txBody>
      </p:sp>
      <p:sp>
        <p:nvSpPr>
          <p:cNvPr id="20" name="Text 18"/>
          <p:cNvSpPr/>
          <p:nvPr/>
        </p:nvSpPr>
        <p:spPr>
          <a:xfrm>
            <a:off x="3931920" y="4572000"/>
            <a:ext cx="2286000" cy="411480"/>
          </a:xfrm>
          <a:prstGeom prst="rect">
            <a:avLst/>
          </a:prstGeom>
          <a:noFill/>
          <a:ln/>
        </p:spPr>
        <p:txBody>
          <a:bodyPr wrap="square" lIns="0" tIns="0" rIns="0" bIns="0" rtlCol="0" anchor="ctr"/>
          <a:lstStyle/>
          <a:p>
            <a:pPr indent="0" marL="0">
              <a:buNone/>
            </a:pPr>
            <a:r>
              <a:rPr lang="en-US" sz="1400" b="1" dirty="0">
                <a:solidFill>
                  <a:srgbClr val="64748B"/>
                </a:solidFill>
                <a:latin typeface="Trebuchet MS" pitchFamily="34" charset="0"/>
                <a:ea typeface="Trebuchet MS" pitchFamily="34" charset="-122"/>
                <a:cs typeface="Trebuchet MS" pitchFamily="34" charset="-120"/>
              </a:rPr>
              <a:t>Detect matrix</a:t>
            </a:r>
            <a:endParaRPr lang="en-US" sz="1400" dirty="0"/>
          </a:p>
        </p:txBody>
      </p:sp>
      <p:sp>
        <p:nvSpPr>
          <p:cNvPr id="21" name="Text 19"/>
          <p:cNvSpPr/>
          <p:nvPr/>
        </p:nvSpPr>
        <p:spPr>
          <a:xfrm>
            <a:off x="548640" y="5029200"/>
            <a:ext cx="2926080" cy="41148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Rollback automation</a:t>
            </a:r>
            <a:endParaRPr lang="en-US" sz="1400" dirty="0"/>
          </a:p>
        </p:txBody>
      </p:sp>
      <p:sp>
        <p:nvSpPr>
          <p:cNvPr id="22" name="Text 20"/>
          <p:cNvSpPr/>
          <p:nvPr/>
        </p:nvSpPr>
        <p:spPr>
          <a:xfrm>
            <a:off x="3520440" y="5029200"/>
            <a:ext cx="365760" cy="411480"/>
          </a:xfrm>
          <a:prstGeom prst="rect">
            <a:avLst/>
          </a:prstGeom>
          <a:noFill/>
          <a:ln/>
        </p:spPr>
        <p:txBody>
          <a:bodyPr wrap="square" lIns="0" tIns="0" rIns="0" bIns="0" rtlCol="0" anchor="ctr"/>
          <a:lstStyle/>
          <a:p>
            <a:pPr algn="ctr" indent="0" marL="0">
              <a:buNone/>
            </a:pPr>
            <a:r>
              <a:rPr lang="en-US" sz="1400" b="1" dirty="0">
                <a:solidFill>
                  <a:srgbClr val="64748B"/>
                </a:solidFill>
                <a:latin typeface="Trebuchet MS" pitchFamily="34" charset="0"/>
                <a:ea typeface="Trebuchet MS" pitchFamily="34" charset="-122"/>
                <a:cs typeface="Trebuchet MS" pitchFamily="34" charset="-120"/>
              </a:rPr>
              <a:t>→</a:t>
            </a:r>
            <a:endParaRPr lang="en-US" sz="1400" dirty="0"/>
          </a:p>
        </p:txBody>
      </p:sp>
      <p:sp>
        <p:nvSpPr>
          <p:cNvPr id="23" name="Text 21"/>
          <p:cNvSpPr/>
          <p:nvPr/>
        </p:nvSpPr>
        <p:spPr>
          <a:xfrm>
            <a:off x="3931920" y="5029200"/>
            <a:ext cx="2286000" cy="411480"/>
          </a:xfrm>
          <a:prstGeom prst="rect">
            <a:avLst/>
          </a:prstGeom>
          <a:noFill/>
          <a:ln/>
        </p:spPr>
        <p:txBody>
          <a:bodyPr wrap="square" lIns="0" tIns="0" rIns="0" bIns="0" rtlCol="0" anchor="ctr"/>
          <a:lstStyle/>
          <a:p>
            <a:pPr indent="0" marL="0">
              <a:buNone/>
            </a:pPr>
            <a:r>
              <a:rPr lang="en-US" sz="1400" b="1" dirty="0">
                <a:solidFill>
                  <a:srgbClr val="64748B"/>
                </a:solidFill>
                <a:latin typeface="Trebuchet MS" pitchFamily="34" charset="0"/>
                <a:ea typeface="Trebuchet MS" pitchFamily="34" charset="-122"/>
                <a:cs typeface="Trebuchet MS" pitchFamily="34" charset="-120"/>
              </a:rPr>
              <a:t>Recover matrix</a:t>
            </a:r>
            <a:endParaRPr lang="en-US" sz="1400" dirty="0"/>
          </a:p>
        </p:txBody>
      </p:sp>
      <p:pic>
        <p:nvPicPr>
          <p:cNvPr id="24" name="Image 0" descr="preencoded.png">    </p:cNvPr>
          <p:cNvPicPr>
            <a:picLocks noChangeAspect="1"/>
          </p:cNvPicPr>
          <p:nvPr/>
        </p:nvPicPr>
        <p:blipFill>
          <a:blip r:embed="rId1"/>
          <a:stretch>
            <a:fillRect/>
          </a:stretch>
        </p:blipFill>
        <p:spPr>
          <a:xfrm>
            <a:off x="6126480" y="1554480"/>
            <a:ext cx="5760720" cy="4297680"/>
          </a:xfrm>
          <a:prstGeom prst="rect">
            <a:avLst/>
          </a:prstGeom>
        </p:spPr>
      </p:pic>
      <p:sp>
        <p:nvSpPr>
          <p:cNvPr id="25" name="Text 22"/>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1400" i="1" dirty="0">
                <a:solidFill>
                  <a:srgbClr val="A100FF"/>
                </a:solidFill>
                <a:latin typeface="Calibri" pitchFamily="34" charset="0"/>
                <a:ea typeface="Calibri" pitchFamily="34" charset="-122"/>
                <a:cs typeface="Calibri" pitchFamily="34" charset="-120"/>
              </a:rPr>
              <a:t>Recognition, not introduction. The structure was already there.</a:t>
            </a:r>
            <a:endParaRPr lang="en-US" sz="1400" dirty="0"/>
          </a:p>
        </p:txBody>
      </p:sp>
      <p:sp>
        <p:nvSpPr>
          <p:cNvPr id="26" name="Text 23"/>
          <p:cNvSpPr/>
          <p:nvPr/>
        </p:nvSpPr>
        <p:spPr>
          <a:xfrm>
            <a:off x="457200" y="653796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LLMday Austin · May 12, 2026</a:t>
            </a:r>
            <a:endParaRPr lang="en-US" sz="900" dirty="0"/>
          </a:p>
        </p:txBody>
      </p:sp>
      <p:sp>
        <p:nvSpPr>
          <p:cNvPr id="28" name="Text 2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548640"/>
            <a:ext cx="10972800" cy="457200"/>
          </a:xfrm>
          <a:prstGeom prst="rect">
            <a:avLst/>
          </a:prstGeom>
          <a:noFill/>
          <a:ln/>
        </p:spPr>
        <p:txBody>
          <a:bodyPr wrap="square" lIns="0" tIns="0" rIns="0" bIns="0" rtlCol="0" anchor="ctr"/>
          <a:lstStyle/>
          <a:p>
            <a:pPr indent="0" marL="0">
              <a:buNone/>
            </a:pPr>
            <a:r>
              <a:rPr lang="en-US" sz="1800" spc="400" kern="0" dirty="0">
                <a:solidFill>
                  <a:srgbClr val="A100FF"/>
                </a:solidFill>
                <a:latin typeface="Calibri" pitchFamily="34" charset="0"/>
                <a:ea typeface="Calibri" pitchFamily="34" charset="-122"/>
                <a:cs typeface="Calibri" pitchFamily="34" charset="-120"/>
              </a:rPr>
              <a:t>The principle</a:t>
            </a:r>
            <a:endParaRPr lang="en-US" sz="1800" dirty="0"/>
          </a:p>
        </p:txBody>
      </p:sp>
      <p:sp>
        <p:nvSpPr>
          <p:cNvPr id="3" name="Text 1"/>
          <p:cNvSpPr/>
          <p:nvPr/>
        </p:nvSpPr>
        <p:spPr>
          <a:xfrm>
            <a:off x="274320" y="1828800"/>
            <a:ext cx="11612880" cy="914400"/>
          </a:xfrm>
          <a:prstGeom prst="rect">
            <a:avLst/>
          </a:prstGeom>
          <a:noFill/>
          <a:ln/>
        </p:spPr>
        <p:txBody>
          <a:bodyPr wrap="square" lIns="0" tIns="0" rIns="0" bIns="0" rtlCol="0" anchor="ctr"/>
          <a:lstStyle/>
          <a:p>
            <a:pPr algn="ctr" indent="0" marL="0">
              <a:buNone/>
            </a:pPr>
            <a:r>
              <a:rPr lang="en-US" sz="4800" b="1" dirty="0">
                <a:solidFill>
                  <a:srgbClr val="F8FAFC"/>
                </a:solidFill>
                <a:latin typeface="Trebuchet MS" pitchFamily="34" charset="0"/>
                <a:ea typeface="Trebuchet MS" pitchFamily="34" charset="-122"/>
                <a:cs typeface="Trebuchet MS" pitchFamily="34" charset="-120"/>
              </a:rPr>
              <a:t>Don't use probabilistic AI</a:t>
            </a:r>
            <a:endParaRPr lang="en-US" sz="4800" dirty="0"/>
          </a:p>
        </p:txBody>
      </p:sp>
      <p:sp>
        <p:nvSpPr>
          <p:cNvPr id="4" name="Text 2"/>
          <p:cNvSpPr/>
          <p:nvPr/>
        </p:nvSpPr>
        <p:spPr>
          <a:xfrm>
            <a:off x="548640" y="2926080"/>
            <a:ext cx="11064240" cy="731520"/>
          </a:xfrm>
          <a:prstGeom prst="rect">
            <a:avLst/>
          </a:prstGeom>
          <a:noFill/>
          <a:ln/>
        </p:spPr>
        <p:txBody>
          <a:bodyPr wrap="square" lIns="0" tIns="0" rIns="0" bIns="0" rtlCol="0" anchor="ctr"/>
          <a:lstStyle/>
          <a:p>
            <a:pPr algn="ctr" indent="0" marL="0">
              <a:buNone/>
            </a:pPr>
            <a:r>
              <a:rPr lang="en-US" sz="3000" i="1" dirty="0">
                <a:solidFill>
                  <a:srgbClr val="94A3B8"/>
                </a:solidFill>
                <a:latin typeface="Trebuchet MS" pitchFamily="34" charset="0"/>
                <a:ea typeface="Trebuchet MS" pitchFamily="34" charset="-122"/>
                <a:cs typeface="Trebuchet MS" pitchFamily="34" charset="-120"/>
              </a:rPr>
              <a:t>to enforce</a:t>
            </a:r>
            <a:endParaRPr lang="en-US" sz="3000" dirty="0"/>
          </a:p>
        </p:txBody>
      </p:sp>
      <p:sp>
        <p:nvSpPr>
          <p:cNvPr id="5" name="Text 3"/>
          <p:cNvSpPr/>
          <p:nvPr/>
        </p:nvSpPr>
        <p:spPr>
          <a:xfrm>
            <a:off x="274320" y="3749040"/>
            <a:ext cx="11612880" cy="914400"/>
          </a:xfrm>
          <a:prstGeom prst="rect">
            <a:avLst/>
          </a:prstGeom>
          <a:noFill/>
          <a:ln/>
        </p:spPr>
        <p:txBody>
          <a:bodyPr wrap="square" lIns="0" tIns="0" rIns="0" bIns="0" rtlCol="0" anchor="ctr"/>
          <a:lstStyle/>
          <a:p>
            <a:pPr algn="ctr" indent="0" marL="0">
              <a:buNone/>
            </a:pPr>
            <a:r>
              <a:rPr lang="en-US" sz="4800" b="1" dirty="0">
                <a:solidFill>
                  <a:srgbClr val="A100FF"/>
                </a:solidFill>
                <a:latin typeface="Trebuchet MS" pitchFamily="34" charset="0"/>
                <a:ea typeface="Trebuchet MS" pitchFamily="34" charset="-122"/>
                <a:cs typeface="Trebuchet MS" pitchFamily="34" charset="-120"/>
              </a:rPr>
              <a:t>deterministic requirements.</a:t>
            </a:r>
            <a:endParaRPr lang="en-US" sz="4800" dirty="0"/>
          </a:p>
        </p:txBody>
      </p:sp>
      <p:pic>
        <p:nvPicPr>
          <p:cNvPr id="6" name="Image 0" descr="preencoded.png">    </p:cNvPr>
          <p:cNvPicPr>
            <a:picLocks noChangeAspect="1"/>
          </p:cNvPicPr>
          <p:nvPr/>
        </p:nvPicPr>
        <p:blipFill>
          <a:blip r:embed="rId1">
            <a:alphaModFix amt="70000"/>
          </a:blip>
          <a:stretch>
            <a:fillRect/>
          </a:stretch>
        </p:blipFill>
        <p:spPr>
          <a:xfrm>
            <a:off x="9692640" y="5120640"/>
            <a:ext cx="2194560" cy="1280373"/>
          </a:xfrm>
          <a:prstGeom prst="rect">
            <a:avLst/>
          </a:prstGeom>
        </p:spPr>
      </p:pic>
      <p:sp>
        <p:nvSpPr>
          <p:cNvPr id="8" name="Text 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lIns="0" tIns="0" rIns="0" bIns="0" rtlCol="0" anchor="ctr"/>
          <a:lstStyle/>
          <a:p>
            <a:pPr indent="0" marL="0">
              <a:buNone/>
            </a:pPr>
            <a:r>
              <a:rPr lang="en-US" sz="2200" i="1" dirty="0">
                <a:solidFill>
                  <a:srgbClr val="64748B"/>
                </a:solidFill>
                <a:latin typeface="Calibri" pitchFamily="34" charset="0"/>
                <a:ea typeface="Calibri" pitchFamily="34" charset="-122"/>
                <a:cs typeface="Calibri" pitchFamily="34" charset="-120"/>
              </a:rPr>
              <a:t>MLOps assumed the agent was inside the pipeline.</a:t>
            </a:r>
            <a:endParaRPr lang="en-US" sz="2200" dirty="0"/>
          </a:p>
        </p:txBody>
      </p:sp>
      <p:sp>
        <p:nvSpPr>
          <p:cNvPr id="3" name="Text 1"/>
          <p:cNvSpPr/>
          <p:nvPr/>
        </p:nvSpPr>
        <p:spPr>
          <a:xfrm>
            <a:off x="548640" y="1051560"/>
            <a:ext cx="11064240" cy="822960"/>
          </a:xfrm>
          <a:prstGeom prst="rect">
            <a:avLst/>
          </a:prstGeom>
          <a:noFill/>
          <a:ln/>
        </p:spPr>
        <p:txBody>
          <a:bodyPr wrap="square" lIns="0" tIns="0" rIns="0" bIns="0" rtlCol="0" anchor="ctr"/>
          <a:lstStyle/>
          <a:p>
            <a:pPr indent="0" marL="0">
              <a:buNone/>
            </a:pPr>
            <a:r>
              <a:rPr lang="en-US" sz="3600" b="1" i="1" dirty="0">
                <a:solidFill>
                  <a:srgbClr val="A100FF"/>
                </a:solidFill>
                <a:latin typeface="Trebuchet MS" pitchFamily="34" charset="0"/>
                <a:ea typeface="Trebuchet MS" pitchFamily="34" charset="-122"/>
                <a:cs typeface="Trebuchet MS" pitchFamily="34" charset="-120"/>
              </a:rPr>
              <a:t>Agentic AI puts the agent driving it.</a:t>
            </a:r>
            <a:endParaRPr lang="en-US" sz="3600" dirty="0"/>
          </a:p>
        </p:txBody>
      </p:sp>
      <p:sp>
        <p:nvSpPr>
          <p:cNvPr id="4" name="Shape 2"/>
          <p:cNvSpPr/>
          <p:nvPr/>
        </p:nvSpPr>
        <p:spPr>
          <a:xfrm>
            <a:off x="548640" y="2377440"/>
            <a:ext cx="5486400" cy="3657600"/>
          </a:xfrm>
          <a:prstGeom prst="rect">
            <a:avLst/>
          </a:prstGeom>
          <a:solidFill>
            <a:srgbClr val="FEE2E2"/>
          </a:solidFill>
          <a:ln w="12700">
            <a:solidFill>
              <a:srgbClr val="DC2626"/>
            </a:solidFill>
            <a:prstDash val="solid"/>
          </a:ln>
        </p:spPr>
      </p:sp>
      <p:sp>
        <p:nvSpPr>
          <p:cNvPr id="5" name="Text 3"/>
          <p:cNvSpPr/>
          <p:nvPr/>
        </p:nvSpPr>
        <p:spPr>
          <a:xfrm>
            <a:off x="822960" y="2514600"/>
            <a:ext cx="4937760" cy="365760"/>
          </a:xfrm>
          <a:prstGeom prst="rect">
            <a:avLst/>
          </a:prstGeom>
          <a:noFill/>
          <a:ln/>
        </p:spPr>
        <p:txBody>
          <a:bodyPr wrap="square" lIns="0" tIns="0" rIns="0" bIns="0" rtlCol="0" anchor="ctr"/>
          <a:lstStyle/>
          <a:p>
            <a:pPr indent="0" marL="0">
              <a:buNone/>
            </a:pPr>
            <a:r>
              <a:rPr lang="en-US" sz="1100" b="1" spc="300" kern="0" dirty="0">
                <a:solidFill>
                  <a:srgbClr val="DC2626"/>
                </a:solidFill>
                <a:latin typeface="Trebuchet MS" pitchFamily="34" charset="0"/>
                <a:ea typeface="Trebuchet MS" pitchFamily="34" charset="-122"/>
                <a:cs typeface="Trebuchet MS" pitchFamily="34" charset="-120"/>
              </a:rPr>
              <a:t>THE INSTINCT</a:t>
            </a:r>
            <a:endParaRPr lang="en-US" sz="1100" dirty="0"/>
          </a:p>
        </p:txBody>
      </p:sp>
      <p:sp>
        <p:nvSpPr>
          <p:cNvPr id="6" name="Text 4"/>
          <p:cNvSpPr/>
          <p:nvPr/>
        </p:nvSpPr>
        <p:spPr>
          <a:xfrm>
            <a:off x="822960" y="2834640"/>
            <a:ext cx="4937760" cy="54864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Add humans to every action.</a:t>
            </a:r>
            <a:endParaRPr lang="en-US" sz="2200" dirty="0"/>
          </a:p>
        </p:txBody>
      </p:sp>
      <p:sp>
        <p:nvSpPr>
          <p:cNvPr id="7" name="Text 5"/>
          <p:cNvSpPr/>
          <p:nvPr/>
        </p:nvSpPr>
        <p:spPr>
          <a:xfrm>
            <a:off x="822960" y="3520440"/>
            <a:ext cx="493776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Approval gates everywhere.</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Slow until it can't hurt.</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Treat agents like a junior dev.</a:t>
            </a:r>
            <a:endParaRPr lang="en-US" sz="1600" dirty="0"/>
          </a:p>
        </p:txBody>
      </p:sp>
      <p:sp>
        <p:nvSpPr>
          <p:cNvPr id="8" name="Text 6"/>
          <p:cNvSpPr/>
          <p:nvPr/>
        </p:nvSpPr>
        <p:spPr>
          <a:xfrm>
            <a:off x="822960" y="5120640"/>
            <a:ext cx="4937760" cy="822960"/>
          </a:xfrm>
          <a:prstGeom prst="rect">
            <a:avLst/>
          </a:prstGeom>
          <a:noFill/>
          <a:ln/>
        </p:spPr>
        <p:txBody>
          <a:bodyPr wrap="square" lIns="0" tIns="0" rIns="0" bIns="0" rtlCol="0" anchor="t"/>
          <a:lstStyle/>
          <a:p>
            <a:pPr indent="0" marL="0">
              <a:buNone/>
            </a:pPr>
            <a:r>
              <a:rPr lang="en-US" sz="1400" b="1" i="1" dirty="0">
                <a:solidFill>
                  <a:srgbClr val="DC2626"/>
                </a:solidFill>
                <a:latin typeface="Calibri" pitchFamily="34" charset="0"/>
                <a:ea typeface="Calibri" pitchFamily="34" charset="-122"/>
                <a:cs typeface="Calibri" pitchFamily="34" charset="-120"/>
              </a:rPr>
              <a:t>Result: alert fatigue and 93% rubber-stamp approvals.</a:t>
            </a:r>
            <a:endParaRPr lang="en-US" sz="1400" dirty="0"/>
          </a:p>
        </p:txBody>
      </p:sp>
      <p:sp>
        <p:nvSpPr>
          <p:cNvPr id="9" name="Shape 7"/>
          <p:cNvSpPr/>
          <p:nvPr/>
        </p:nvSpPr>
        <p:spPr>
          <a:xfrm>
            <a:off x="6355080" y="2377440"/>
            <a:ext cx="5486400" cy="3657600"/>
          </a:xfrm>
          <a:prstGeom prst="rect">
            <a:avLst/>
          </a:prstGeom>
          <a:solidFill>
            <a:srgbClr val="D1FAE5"/>
          </a:solidFill>
          <a:ln w="12700">
            <a:solidFill>
              <a:srgbClr val="059669"/>
            </a:solidFill>
            <a:prstDash val="solid"/>
          </a:ln>
        </p:spPr>
      </p:sp>
      <p:sp>
        <p:nvSpPr>
          <p:cNvPr id="10" name="Text 8"/>
          <p:cNvSpPr/>
          <p:nvPr/>
        </p:nvSpPr>
        <p:spPr>
          <a:xfrm>
            <a:off x="6629400" y="2514600"/>
            <a:ext cx="4937760" cy="365760"/>
          </a:xfrm>
          <a:prstGeom prst="rect">
            <a:avLst/>
          </a:prstGeom>
          <a:noFill/>
          <a:ln/>
        </p:spPr>
        <p:txBody>
          <a:bodyPr wrap="square" lIns="0" tIns="0" rIns="0" bIns="0" rtlCol="0" anchor="ctr"/>
          <a:lstStyle/>
          <a:p>
            <a:pPr indent="0" marL="0">
              <a:buNone/>
            </a:pPr>
            <a:r>
              <a:rPr lang="en-US" sz="1100" b="1" spc="300" kern="0" dirty="0">
                <a:solidFill>
                  <a:srgbClr val="059669"/>
                </a:solidFill>
                <a:latin typeface="Trebuchet MS" pitchFamily="34" charset="0"/>
                <a:ea typeface="Trebuchet MS" pitchFamily="34" charset="-122"/>
                <a:cs typeface="Trebuchet MS" pitchFamily="34" charset="-120"/>
              </a:rPr>
              <a:t>WHY IT FAILS</a:t>
            </a:r>
            <a:endParaRPr lang="en-US" sz="1100" dirty="0"/>
          </a:p>
        </p:txBody>
      </p:sp>
      <p:sp>
        <p:nvSpPr>
          <p:cNvPr id="11" name="Text 9"/>
          <p:cNvSpPr/>
          <p:nvPr/>
        </p:nvSpPr>
        <p:spPr>
          <a:xfrm>
            <a:off x="6629400" y="2834640"/>
            <a:ext cx="4937760" cy="54864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Agents are about machine speed.</a:t>
            </a:r>
            <a:endParaRPr lang="en-US" sz="2200" dirty="0"/>
          </a:p>
        </p:txBody>
      </p:sp>
      <p:sp>
        <p:nvSpPr>
          <p:cNvPr id="12" name="Text 10"/>
          <p:cNvSpPr/>
          <p:nvPr/>
        </p:nvSpPr>
        <p:spPr>
          <a:xfrm>
            <a:off x="6629400" y="3520440"/>
            <a:ext cx="493776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Gate every action = no agent.</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DevOps wanted automation. So does this.</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Humans tire. Code doesn't.</a:t>
            </a:r>
            <a:endParaRPr lang="en-US" sz="1600" dirty="0"/>
          </a:p>
        </p:txBody>
      </p:sp>
      <p:sp>
        <p:nvSpPr>
          <p:cNvPr id="13" name="Text 11"/>
          <p:cNvSpPr/>
          <p:nvPr/>
        </p:nvSpPr>
        <p:spPr>
          <a:xfrm>
            <a:off x="6629400" y="5120640"/>
            <a:ext cx="4937760" cy="822960"/>
          </a:xfrm>
          <a:prstGeom prst="rect">
            <a:avLst/>
          </a:prstGeom>
          <a:noFill/>
          <a:ln/>
        </p:spPr>
        <p:txBody>
          <a:bodyPr wrap="square" lIns="0" tIns="0" rIns="0" bIns="0" rtlCol="0" anchor="t"/>
          <a:lstStyle/>
          <a:p>
            <a:pPr indent="0" marL="0">
              <a:buNone/>
            </a:pPr>
            <a:r>
              <a:rPr lang="en-US" sz="1400" b="1" i="1" dirty="0">
                <a:solidFill>
                  <a:srgbClr val="059669"/>
                </a:solidFill>
                <a:latin typeface="Calibri" pitchFamily="34" charset="0"/>
                <a:ea typeface="Calibri" pitchFamily="34" charset="-122"/>
                <a:cs typeface="Calibri" pitchFamily="34" charset="-120"/>
              </a:rPr>
              <a:t>Faster gates. Not slower agents.</a:t>
            </a:r>
            <a:endParaRPr lang="en-US" sz="1400" dirty="0"/>
          </a:p>
        </p:txBody>
      </p:sp>
      <p:sp>
        <p:nvSpPr>
          <p:cNvPr id="14" name="Text 12"/>
          <p:cNvSpPr/>
          <p:nvPr/>
        </p:nvSpPr>
        <p:spPr>
          <a:xfrm>
            <a:off x="548640" y="6263640"/>
            <a:ext cx="11064240" cy="365760"/>
          </a:xfrm>
          <a:prstGeom prst="rect">
            <a:avLst/>
          </a:prstGeom>
          <a:noFill/>
          <a:ln/>
        </p:spPr>
        <p:txBody>
          <a:bodyPr wrap="square" lIns="0" tIns="0" rIns="0" bIns="0" rtlCol="0" anchor="ctr"/>
          <a:lstStyle/>
          <a:p>
            <a:pPr algn="ctr" indent="0" marL="0">
              <a:buNone/>
            </a:pPr>
            <a:r>
              <a:rPr lang="en-US" sz="1400" i="1" dirty="0">
                <a:solidFill>
                  <a:srgbClr val="A100FF"/>
                </a:solidFill>
                <a:latin typeface="Calibri" pitchFamily="34" charset="0"/>
                <a:ea typeface="Calibri" pitchFamily="34" charset="-122"/>
                <a:cs typeface="Calibri" pitchFamily="34" charset="-120"/>
              </a:rPr>
              <a:t>The pipeline gates don't need humans. They need extension into the agent's decision surface.</a:t>
            </a:r>
            <a:endParaRPr lang="en-US" sz="1400" dirty="0"/>
          </a:p>
        </p:txBody>
      </p:sp>
      <p:sp>
        <p:nvSpPr>
          <p:cNvPr id="15" name="Text 13"/>
          <p:cNvSpPr/>
          <p:nvPr/>
        </p:nvSpPr>
        <p:spPr>
          <a:xfrm>
            <a:off x="457200" y="653796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LLMday Austin · May 12, 2026</a:t>
            </a:r>
            <a:endParaRPr lang="en-US" sz="900" dirty="0"/>
          </a:p>
        </p:txBody>
      </p:sp>
      <p:sp>
        <p:nvSpPr>
          <p:cNvPr id="17" name="Text 1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Three public incidents. Three missing gates.</a:t>
            </a:r>
            <a:endParaRPr lang="en-US" sz="2800" dirty="0"/>
          </a:p>
        </p:txBody>
      </p:sp>
      <p:sp>
        <p:nvSpPr>
          <p:cNvPr id="3" name="Text 1"/>
          <p:cNvSpPr/>
          <p:nvPr/>
        </p:nvSpPr>
        <p:spPr>
          <a:xfrm>
            <a:off x="548640" y="1051560"/>
            <a:ext cx="1106424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Plus mine, which I told the long version of yesterday.</a:t>
            </a:r>
            <a:endParaRPr lang="en-US" sz="1400" dirty="0"/>
          </a:p>
        </p:txBody>
      </p:sp>
      <p:pic>
        <p:nvPicPr>
          <p:cNvPr id="4" name="Image 0" descr="preencoded.png">    </p:cNvPr>
          <p:cNvPicPr>
            <a:picLocks noChangeAspect="1"/>
          </p:cNvPicPr>
          <p:nvPr/>
        </p:nvPicPr>
        <p:blipFill>
          <a:blip r:embed="rId1"/>
          <a:stretch>
            <a:fillRect/>
          </a:stretch>
        </p:blipFill>
        <p:spPr>
          <a:xfrm>
            <a:off x="274320" y="1508760"/>
            <a:ext cx="11612880" cy="4937760"/>
          </a:xfrm>
          <a:prstGeom prst="rect">
            <a:avLst/>
          </a:prstGeom>
        </p:spPr>
      </p:pic>
      <p:sp>
        <p:nvSpPr>
          <p:cNvPr id="5" name="Text 2"/>
          <p:cNvSpPr/>
          <p:nvPr/>
        </p:nvSpPr>
        <p:spPr>
          <a:xfrm>
            <a:off x="457200" y="653796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LLMday Austin · May 12, 2026</a:t>
            </a:r>
            <a:endParaRPr lang="en-US" sz="900" dirty="0"/>
          </a:p>
        </p:txBody>
      </p:sp>
      <p:sp>
        <p:nvSpPr>
          <p:cNvPr id="7" name="Text 3"/>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Introducing the Agentic Covenants Matrix</a:t>
            </a:r>
            <a:endParaRPr lang="en-US" sz="3000" dirty="0"/>
          </a:p>
        </p:txBody>
      </p:sp>
      <p:sp>
        <p:nvSpPr>
          <p:cNvPr id="3" name="Text 1"/>
          <p:cNvSpPr/>
          <p:nvPr/>
        </p:nvSpPr>
        <p:spPr>
          <a:xfrm>
            <a:off x="548640" y="1005840"/>
            <a:ext cx="1097280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 holistic framework for navigating the complexities of agentic AI governance. Three layers. Five concerns. Fifteen cells.</a:t>
            </a:r>
            <a:endParaRPr lang="en-US" sz="1400" dirty="0"/>
          </a:p>
        </p:txBody>
      </p:sp>
      <p:sp>
        <p:nvSpPr>
          <p:cNvPr id="4" name="Shape 2"/>
          <p:cNvSpPr/>
          <p:nvPr/>
        </p:nvSpPr>
        <p:spPr>
          <a:xfrm>
            <a:off x="2834640" y="1691640"/>
            <a:ext cx="3108960" cy="548640"/>
          </a:xfrm>
          <a:prstGeom prst="rect">
            <a:avLst/>
          </a:prstGeom>
          <a:solidFill>
            <a:srgbClr val="0F172A"/>
          </a:solidFill>
          <a:ln/>
        </p:spPr>
      </p:sp>
      <p:sp>
        <p:nvSpPr>
          <p:cNvPr id="5" name="Text 3"/>
          <p:cNvSpPr/>
          <p:nvPr/>
        </p:nvSpPr>
        <p:spPr>
          <a:xfrm>
            <a:off x="2834640" y="1691640"/>
            <a:ext cx="3108960" cy="548640"/>
          </a:xfrm>
          <a:prstGeom prst="rect">
            <a:avLst/>
          </a:prstGeom>
          <a:noFill/>
          <a:ln/>
        </p:spPr>
        <p:txBody>
          <a:bodyPr wrap="square" lIns="0" tIns="0" rIns="0" bIns="0" rtlCol="0" anchor="ctr"/>
          <a:lstStyle/>
          <a:p>
            <a:pPr algn="ctr" indent="0" marL="0">
              <a:buNone/>
            </a:pPr>
            <a:r>
              <a:rPr lang="en-US" sz="1300" b="1" dirty="0">
                <a:solidFill>
                  <a:srgbClr val="F8FAFC"/>
                </a:solidFill>
                <a:latin typeface="Trebuchet MS" pitchFamily="34" charset="0"/>
                <a:ea typeface="Trebuchet MS" pitchFamily="34" charset="-122"/>
                <a:cs typeface="Trebuchet MS" pitchFamily="34" charset="-120"/>
              </a:rPr>
              <a:t>In-agent</a:t>
            </a:r>
            <a:endParaRPr lang="en-US" sz="1300" dirty="0"/>
          </a:p>
          <a:p>
            <a:pPr algn="ctr" indent="0" marL="0">
              <a:buNone/>
            </a:pPr>
            <a:r>
              <a:rPr lang="en-US" sz="1300" b="1" dirty="0">
                <a:solidFill>
                  <a:srgbClr val="F8FAFC"/>
                </a:solidFill>
                <a:latin typeface="Trebuchet MS" pitchFamily="34" charset="0"/>
                <a:ea typeface="Trebuchet MS" pitchFamily="34" charset="-122"/>
                <a:cs typeface="Trebuchet MS" pitchFamily="34" charset="-120"/>
              </a:rPr>
              <a:t>(weakest)</a:t>
            </a:r>
            <a:endParaRPr lang="en-US" sz="1300" dirty="0"/>
          </a:p>
        </p:txBody>
      </p:sp>
      <p:sp>
        <p:nvSpPr>
          <p:cNvPr id="6" name="Shape 4"/>
          <p:cNvSpPr/>
          <p:nvPr/>
        </p:nvSpPr>
        <p:spPr>
          <a:xfrm>
            <a:off x="5943600" y="1691640"/>
            <a:ext cx="3108960" cy="548640"/>
          </a:xfrm>
          <a:prstGeom prst="rect">
            <a:avLst/>
          </a:prstGeom>
          <a:solidFill>
            <a:srgbClr val="0F172A"/>
          </a:solidFill>
          <a:ln/>
        </p:spPr>
      </p:sp>
      <p:sp>
        <p:nvSpPr>
          <p:cNvPr id="7" name="Text 5"/>
          <p:cNvSpPr/>
          <p:nvPr/>
        </p:nvSpPr>
        <p:spPr>
          <a:xfrm>
            <a:off x="5943600" y="1691640"/>
            <a:ext cx="3108960" cy="548640"/>
          </a:xfrm>
          <a:prstGeom prst="rect">
            <a:avLst/>
          </a:prstGeom>
          <a:noFill/>
          <a:ln/>
        </p:spPr>
        <p:txBody>
          <a:bodyPr wrap="square" lIns="0" tIns="0" rIns="0" bIns="0" rtlCol="0" anchor="ctr"/>
          <a:lstStyle/>
          <a:p>
            <a:pPr algn="ctr" indent="0" marL="0">
              <a:buNone/>
            </a:pPr>
            <a:r>
              <a:rPr lang="en-US" sz="1300" b="1" dirty="0">
                <a:solidFill>
                  <a:srgbClr val="F8FAFC"/>
                </a:solidFill>
                <a:latin typeface="Trebuchet MS" pitchFamily="34" charset="0"/>
                <a:ea typeface="Trebuchet MS" pitchFamily="34" charset="-122"/>
                <a:cs typeface="Trebuchet MS" pitchFamily="34" charset="-120"/>
              </a:rPr>
              <a:t>Client-side hooks</a:t>
            </a:r>
            <a:endParaRPr lang="en-US" sz="1300" dirty="0"/>
          </a:p>
        </p:txBody>
      </p:sp>
      <p:sp>
        <p:nvSpPr>
          <p:cNvPr id="8" name="Shape 6"/>
          <p:cNvSpPr/>
          <p:nvPr/>
        </p:nvSpPr>
        <p:spPr>
          <a:xfrm>
            <a:off x="9052560" y="1691640"/>
            <a:ext cx="3108960" cy="548640"/>
          </a:xfrm>
          <a:prstGeom prst="rect">
            <a:avLst/>
          </a:prstGeom>
          <a:solidFill>
            <a:srgbClr val="0F172A"/>
          </a:solidFill>
          <a:ln/>
        </p:spPr>
      </p:sp>
      <p:sp>
        <p:nvSpPr>
          <p:cNvPr id="9" name="Text 7"/>
          <p:cNvSpPr/>
          <p:nvPr/>
        </p:nvSpPr>
        <p:spPr>
          <a:xfrm>
            <a:off x="9052560" y="1691640"/>
            <a:ext cx="3108960" cy="548640"/>
          </a:xfrm>
          <a:prstGeom prst="rect">
            <a:avLst/>
          </a:prstGeom>
          <a:noFill/>
          <a:ln/>
        </p:spPr>
        <p:txBody>
          <a:bodyPr wrap="square" lIns="0" tIns="0" rIns="0" bIns="0" rtlCol="0" anchor="ctr"/>
          <a:lstStyle/>
          <a:p>
            <a:pPr algn="ctr" indent="0" marL="0">
              <a:buNone/>
            </a:pPr>
            <a:r>
              <a:rPr lang="en-US" sz="1300" b="1" dirty="0">
                <a:solidFill>
                  <a:srgbClr val="F8FAFC"/>
                </a:solidFill>
                <a:latin typeface="Trebuchet MS" pitchFamily="34" charset="0"/>
                <a:ea typeface="Trebuchet MS" pitchFamily="34" charset="-122"/>
                <a:cs typeface="Trebuchet MS" pitchFamily="34" charset="-120"/>
              </a:rPr>
              <a:t>Server-side</a:t>
            </a:r>
            <a:endParaRPr lang="en-US" sz="1300" dirty="0"/>
          </a:p>
          <a:p>
            <a:pPr algn="ctr" indent="0" marL="0">
              <a:buNone/>
            </a:pPr>
            <a:r>
              <a:rPr lang="en-US" sz="1300" b="1" dirty="0">
                <a:solidFill>
                  <a:srgbClr val="F8FAFC"/>
                </a:solidFill>
                <a:latin typeface="Trebuchet MS" pitchFamily="34" charset="0"/>
                <a:ea typeface="Trebuchet MS" pitchFamily="34" charset="-122"/>
                <a:cs typeface="Trebuchet MS" pitchFamily="34" charset="-120"/>
              </a:rPr>
              <a:t>(strongest)</a:t>
            </a:r>
            <a:endParaRPr lang="en-US" sz="1300" dirty="0"/>
          </a:p>
        </p:txBody>
      </p:sp>
      <p:sp>
        <p:nvSpPr>
          <p:cNvPr id="10" name="Shape 8"/>
          <p:cNvSpPr/>
          <p:nvPr/>
        </p:nvSpPr>
        <p:spPr>
          <a:xfrm>
            <a:off x="548640" y="2240280"/>
            <a:ext cx="2286000" cy="731520"/>
          </a:xfrm>
          <a:prstGeom prst="rect">
            <a:avLst/>
          </a:prstGeom>
          <a:solidFill>
            <a:srgbClr val="1E293B"/>
          </a:solidFill>
          <a:ln/>
        </p:spPr>
      </p:sp>
      <p:sp>
        <p:nvSpPr>
          <p:cNvPr id="11" name="Text 9"/>
          <p:cNvSpPr/>
          <p:nvPr/>
        </p:nvSpPr>
        <p:spPr>
          <a:xfrm>
            <a:off x="731520" y="2240280"/>
            <a:ext cx="2011680" cy="731520"/>
          </a:xfrm>
          <a:prstGeom prst="rect">
            <a:avLst/>
          </a:prstGeom>
          <a:noFill/>
          <a:ln/>
        </p:spPr>
        <p:txBody>
          <a:bodyPr wrap="square" lIns="0" tIns="0" rIns="0" bIns="0" rtlCol="0" anchor="ctr"/>
          <a:lstStyle/>
          <a:p>
            <a:pPr indent="0" marL="0">
              <a:buNone/>
            </a:pPr>
            <a:r>
              <a:rPr lang="en-US" sz="1400" b="1" dirty="0">
                <a:solidFill>
                  <a:srgbClr val="F8FAFC"/>
                </a:solidFill>
                <a:latin typeface="Trebuchet MS" pitchFamily="34" charset="0"/>
                <a:ea typeface="Trebuchet MS" pitchFamily="34" charset="-122"/>
                <a:cs typeface="Trebuchet MS" pitchFamily="34" charset="-120"/>
              </a:rPr>
              <a:t>Identity</a:t>
            </a:r>
            <a:endParaRPr lang="en-US" sz="1400" dirty="0"/>
          </a:p>
        </p:txBody>
      </p:sp>
      <p:sp>
        <p:nvSpPr>
          <p:cNvPr id="12" name="Shape 10"/>
          <p:cNvSpPr/>
          <p:nvPr/>
        </p:nvSpPr>
        <p:spPr>
          <a:xfrm>
            <a:off x="2834640" y="2240280"/>
            <a:ext cx="3108960" cy="731520"/>
          </a:xfrm>
          <a:prstGeom prst="rect">
            <a:avLst/>
          </a:prstGeom>
          <a:solidFill>
            <a:srgbClr val="FEF3C7"/>
          </a:solidFill>
          <a:ln w="25400">
            <a:solidFill>
              <a:srgbClr val="FFFFFF"/>
            </a:solidFill>
            <a:prstDash val="solid"/>
          </a:ln>
        </p:spPr>
      </p:sp>
      <p:sp>
        <p:nvSpPr>
          <p:cNvPr id="13" name="Shape 11"/>
          <p:cNvSpPr/>
          <p:nvPr/>
        </p:nvSpPr>
        <p:spPr>
          <a:xfrm>
            <a:off x="4270248" y="2487168"/>
            <a:ext cx="237744" cy="237744"/>
          </a:xfrm>
          <a:prstGeom prst="ellipse">
            <a:avLst/>
          </a:prstGeom>
          <a:solidFill>
            <a:srgbClr val="F59E0B"/>
          </a:solidFill>
          <a:ln/>
        </p:spPr>
      </p:sp>
      <p:sp>
        <p:nvSpPr>
          <p:cNvPr id="14" name="Shape 12"/>
          <p:cNvSpPr/>
          <p:nvPr/>
        </p:nvSpPr>
        <p:spPr>
          <a:xfrm>
            <a:off x="5943600" y="2240280"/>
            <a:ext cx="3108960" cy="731520"/>
          </a:xfrm>
          <a:prstGeom prst="rect">
            <a:avLst/>
          </a:prstGeom>
          <a:solidFill>
            <a:srgbClr val="FFEDD5"/>
          </a:solidFill>
          <a:ln w="25400">
            <a:solidFill>
              <a:srgbClr val="FFFFFF"/>
            </a:solidFill>
            <a:prstDash val="solid"/>
          </a:ln>
        </p:spPr>
      </p:sp>
      <p:sp>
        <p:nvSpPr>
          <p:cNvPr id="15" name="Shape 13"/>
          <p:cNvSpPr/>
          <p:nvPr/>
        </p:nvSpPr>
        <p:spPr>
          <a:xfrm>
            <a:off x="7379208" y="2487168"/>
            <a:ext cx="237744" cy="237744"/>
          </a:xfrm>
          <a:prstGeom prst="ellipse">
            <a:avLst/>
          </a:prstGeom>
          <a:solidFill>
            <a:srgbClr val="3B82F6"/>
          </a:solidFill>
          <a:ln/>
        </p:spPr>
      </p:sp>
      <p:sp>
        <p:nvSpPr>
          <p:cNvPr id="16" name="Shape 14"/>
          <p:cNvSpPr/>
          <p:nvPr/>
        </p:nvSpPr>
        <p:spPr>
          <a:xfrm>
            <a:off x="9052560" y="2240280"/>
            <a:ext cx="3108960" cy="731520"/>
          </a:xfrm>
          <a:prstGeom prst="rect">
            <a:avLst/>
          </a:prstGeom>
          <a:solidFill>
            <a:srgbClr val="D1FAE5"/>
          </a:solidFill>
          <a:ln w="25400">
            <a:solidFill>
              <a:srgbClr val="FFFFFF"/>
            </a:solidFill>
            <a:prstDash val="solid"/>
          </a:ln>
        </p:spPr>
      </p:sp>
      <p:sp>
        <p:nvSpPr>
          <p:cNvPr id="17" name="Shape 15"/>
          <p:cNvSpPr/>
          <p:nvPr/>
        </p:nvSpPr>
        <p:spPr>
          <a:xfrm>
            <a:off x="10488168" y="2487168"/>
            <a:ext cx="237744" cy="237744"/>
          </a:xfrm>
          <a:prstGeom prst="ellipse">
            <a:avLst/>
          </a:prstGeom>
          <a:solidFill>
            <a:srgbClr val="059669"/>
          </a:solidFill>
          <a:ln/>
        </p:spPr>
      </p:sp>
      <p:sp>
        <p:nvSpPr>
          <p:cNvPr id="18" name="Shape 16"/>
          <p:cNvSpPr/>
          <p:nvPr/>
        </p:nvSpPr>
        <p:spPr>
          <a:xfrm>
            <a:off x="548640" y="2971800"/>
            <a:ext cx="2286000" cy="731520"/>
          </a:xfrm>
          <a:prstGeom prst="rect">
            <a:avLst/>
          </a:prstGeom>
          <a:solidFill>
            <a:srgbClr val="1E293B"/>
          </a:solidFill>
          <a:ln/>
        </p:spPr>
      </p:sp>
      <p:sp>
        <p:nvSpPr>
          <p:cNvPr id="19" name="Text 17"/>
          <p:cNvSpPr/>
          <p:nvPr/>
        </p:nvSpPr>
        <p:spPr>
          <a:xfrm>
            <a:off x="731520" y="2971800"/>
            <a:ext cx="2011680" cy="731520"/>
          </a:xfrm>
          <a:prstGeom prst="rect">
            <a:avLst/>
          </a:prstGeom>
          <a:noFill/>
          <a:ln/>
        </p:spPr>
        <p:txBody>
          <a:bodyPr wrap="square" lIns="0" tIns="0" rIns="0" bIns="0" rtlCol="0" anchor="ctr"/>
          <a:lstStyle/>
          <a:p>
            <a:pPr indent="0" marL="0">
              <a:buNone/>
            </a:pPr>
            <a:r>
              <a:rPr lang="en-US" sz="1400" b="1" dirty="0">
                <a:solidFill>
                  <a:srgbClr val="F8FAFC"/>
                </a:solidFill>
                <a:latin typeface="Trebuchet MS" pitchFamily="34" charset="0"/>
                <a:ea typeface="Trebuchet MS" pitchFamily="34" charset="-122"/>
                <a:cs typeface="Trebuchet MS" pitchFamily="34" charset="-120"/>
              </a:rPr>
              <a:t>Authorization</a:t>
            </a:r>
            <a:endParaRPr lang="en-US" sz="1400" dirty="0"/>
          </a:p>
        </p:txBody>
      </p:sp>
      <p:sp>
        <p:nvSpPr>
          <p:cNvPr id="20" name="Shape 18"/>
          <p:cNvSpPr/>
          <p:nvPr/>
        </p:nvSpPr>
        <p:spPr>
          <a:xfrm>
            <a:off x="2834640" y="2971800"/>
            <a:ext cx="3108960" cy="731520"/>
          </a:xfrm>
          <a:prstGeom prst="rect">
            <a:avLst/>
          </a:prstGeom>
          <a:solidFill>
            <a:srgbClr val="FEF3C7"/>
          </a:solidFill>
          <a:ln w="25400">
            <a:solidFill>
              <a:srgbClr val="FFFFFF"/>
            </a:solidFill>
            <a:prstDash val="solid"/>
          </a:ln>
        </p:spPr>
      </p:sp>
      <p:sp>
        <p:nvSpPr>
          <p:cNvPr id="21" name="Shape 19"/>
          <p:cNvSpPr/>
          <p:nvPr/>
        </p:nvSpPr>
        <p:spPr>
          <a:xfrm>
            <a:off x="4270248" y="3218688"/>
            <a:ext cx="237744" cy="237744"/>
          </a:xfrm>
          <a:prstGeom prst="ellipse">
            <a:avLst/>
          </a:prstGeom>
          <a:solidFill>
            <a:srgbClr val="F59E0B"/>
          </a:solidFill>
          <a:ln/>
        </p:spPr>
      </p:sp>
      <p:sp>
        <p:nvSpPr>
          <p:cNvPr id="22" name="Shape 20"/>
          <p:cNvSpPr/>
          <p:nvPr/>
        </p:nvSpPr>
        <p:spPr>
          <a:xfrm>
            <a:off x="5943600" y="2971800"/>
            <a:ext cx="3108960" cy="731520"/>
          </a:xfrm>
          <a:prstGeom prst="rect">
            <a:avLst/>
          </a:prstGeom>
          <a:solidFill>
            <a:srgbClr val="FFEDD5"/>
          </a:solidFill>
          <a:ln w="25400">
            <a:solidFill>
              <a:srgbClr val="FFFFFF"/>
            </a:solidFill>
            <a:prstDash val="solid"/>
          </a:ln>
        </p:spPr>
      </p:sp>
      <p:sp>
        <p:nvSpPr>
          <p:cNvPr id="23" name="Shape 21"/>
          <p:cNvSpPr/>
          <p:nvPr/>
        </p:nvSpPr>
        <p:spPr>
          <a:xfrm>
            <a:off x="7379208" y="3218688"/>
            <a:ext cx="237744" cy="237744"/>
          </a:xfrm>
          <a:prstGeom prst="ellipse">
            <a:avLst/>
          </a:prstGeom>
          <a:solidFill>
            <a:srgbClr val="3B82F6"/>
          </a:solidFill>
          <a:ln/>
        </p:spPr>
      </p:sp>
      <p:sp>
        <p:nvSpPr>
          <p:cNvPr id="24" name="Shape 22"/>
          <p:cNvSpPr/>
          <p:nvPr/>
        </p:nvSpPr>
        <p:spPr>
          <a:xfrm>
            <a:off x="9052560" y="2971800"/>
            <a:ext cx="3108960" cy="731520"/>
          </a:xfrm>
          <a:prstGeom prst="rect">
            <a:avLst/>
          </a:prstGeom>
          <a:solidFill>
            <a:srgbClr val="D1FAE5"/>
          </a:solidFill>
          <a:ln w="25400">
            <a:solidFill>
              <a:srgbClr val="FFFFFF"/>
            </a:solidFill>
            <a:prstDash val="solid"/>
          </a:ln>
        </p:spPr>
      </p:sp>
      <p:sp>
        <p:nvSpPr>
          <p:cNvPr id="25" name="Shape 23"/>
          <p:cNvSpPr/>
          <p:nvPr/>
        </p:nvSpPr>
        <p:spPr>
          <a:xfrm>
            <a:off x="10488168" y="3218688"/>
            <a:ext cx="237744" cy="237744"/>
          </a:xfrm>
          <a:prstGeom prst="ellipse">
            <a:avLst/>
          </a:prstGeom>
          <a:solidFill>
            <a:srgbClr val="059669"/>
          </a:solidFill>
          <a:ln/>
        </p:spPr>
      </p:sp>
      <p:sp>
        <p:nvSpPr>
          <p:cNvPr id="26" name="Shape 24"/>
          <p:cNvSpPr/>
          <p:nvPr/>
        </p:nvSpPr>
        <p:spPr>
          <a:xfrm>
            <a:off x="548640" y="3703320"/>
            <a:ext cx="2286000" cy="731520"/>
          </a:xfrm>
          <a:prstGeom prst="rect">
            <a:avLst/>
          </a:prstGeom>
          <a:solidFill>
            <a:srgbClr val="1E293B"/>
          </a:solidFill>
          <a:ln/>
        </p:spPr>
      </p:sp>
      <p:sp>
        <p:nvSpPr>
          <p:cNvPr id="27" name="Text 25"/>
          <p:cNvSpPr/>
          <p:nvPr/>
        </p:nvSpPr>
        <p:spPr>
          <a:xfrm>
            <a:off x="731520" y="3703320"/>
            <a:ext cx="2011680" cy="731520"/>
          </a:xfrm>
          <a:prstGeom prst="rect">
            <a:avLst/>
          </a:prstGeom>
          <a:noFill/>
          <a:ln/>
        </p:spPr>
        <p:txBody>
          <a:bodyPr wrap="square" lIns="0" tIns="0" rIns="0" bIns="0" rtlCol="0" anchor="ctr"/>
          <a:lstStyle/>
          <a:p>
            <a:pPr indent="0" marL="0">
              <a:buNone/>
            </a:pPr>
            <a:r>
              <a:rPr lang="en-US" sz="1400" b="1" dirty="0">
                <a:solidFill>
                  <a:srgbClr val="F8FAFC"/>
                </a:solidFill>
                <a:latin typeface="Trebuchet MS" pitchFamily="34" charset="0"/>
                <a:ea typeface="Trebuchet MS" pitchFamily="34" charset="-122"/>
                <a:cs typeface="Trebuchet MS" pitchFamily="34" charset="-120"/>
              </a:rPr>
              <a:t>Blast radius</a:t>
            </a:r>
            <a:endParaRPr lang="en-US" sz="1400" dirty="0"/>
          </a:p>
        </p:txBody>
      </p:sp>
      <p:sp>
        <p:nvSpPr>
          <p:cNvPr id="28" name="Shape 26"/>
          <p:cNvSpPr/>
          <p:nvPr/>
        </p:nvSpPr>
        <p:spPr>
          <a:xfrm>
            <a:off x="2834640" y="3703320"/>
            <a:ext cx="3108960" cy="731520"/>
          </a:xfrm>
          <a:prstGeom prst="rect">
            <a:avLst/>
          </a:prstGeom>
          <a:solidFill>
            <a:srgbClr val="FEF3C7"/>
          </a:solidFill>
          <a:ln w="25400">
            <a:solidFill>
              <a:srgbClr val="FFFFFF"/>
            </a:solidFill>
            <a:prstDash val="solid"/>
          </a:ln>
        </p:spPr>
      </p:sp>
      <p:sp>
        <p:nvSpPr>
          <p:cNvPr id="29" name="Shape 27"/>
          <p:cNvSpPr/>
          <p:nvPr/>
        </p:nvSpPr>
        <p:spPr>
          <a:xfrm>
            <a:off x="4270248" y="3950208"/>
            <a:ext cx="237744" cy="237744"/>
          </a:xfrm>
          <a:prstGeom prst="ellipse">
            <a:avLst/>
          </a:prstGeom>
          <a:solidFill>
            <a:srgbClr val="F59E0B"/>
          </a:solidFill>
          <a:ln/>
        </p:spPr>
      </p:sp>
      <p:sp>
        <p:nvSpPr>
          <p:cNvPr id="30" name="Shape 28"/>
          <p:cNvSpPr/>
          <p:nvPr/>
        </p:nvSpPr>
        <p:spPr>
          <a:xfrm>
            <a:off x="5943600" y="3703320"/>
            <a:ext cx="3108960" cy="731520"/>
          </a:xfrm>
          <a:prstGeom prst="rect">
            <a:avLst/>
          </a:prstGeom>
          <a:solidFill>
            <a:srgbClr val="FFEDD5"/>
          </a:solidFill>
          <a:ln w="25400">
            <a:solidFill>
              <a:srgbClr val="FFFFFF"/>
            </a:solidFill>
            <a:prstDash val="solid"/>
          </a:ln>
        </p:spPr>
      </p:sp>
      <p:sp>
        <p:nvSpPr>
          <p:cNvPr id="31" name="Shape 29"/>
          <p:cNvSpPr/>
          <p:nvPr/>
        </p:nvSpPr>
        <p:spPr>
          <a:xfrm>
            <a:off x="7379208" y="3950208"/>
            <a:ext cx="237744" cy="237744"/>
          </a:xfrm>
          <a:prstGeom prst="ellipse">
            <a:avLst/>
          </a:prstGeom>
          <a:solidFill>
            <a:srgbClr val="3B82F6"/>
          </a:solidFill>
          <a:ln/>
        </p:spPr>
      </p:sp>
      <p:sp>
        <p:nvSpPr>
          <p:cNvPr id="32" name="Shape 30"/>
          <p:cNvSpPr/>
          <p:nvPr/>
        </p:nvSpPr>
        <p:spPr>
          <a:xfrm>
            <a:off x="9052560" y="3703320"/>
            <a:ext cx="3108960" cy="731520"/>
          </a:xfrm>
          <a:prstGeom prst="rect">
            <a:avLst/>
          </a:prstGeom>
          <a:solidFill>
            <a:srgbClr val="D1FAE5"/>
          </a:solidFill>
          <a:ln w="25400">
            <a:solidFill>
              <a:srgbClr val="FFFFFF"/>
            </a:solidFill>
            <a:prstDash val="solid"/>
          </a:ln>
        </p:spPr>
      </p:sp>
      <p:sp>
        <p:nvSpPr>
          <p:cNvPr id="33" name="Shape 31"/>
          <p:cNvSpPr/>
          <p:nvPr/>
        </p:nvSpPr>
        <p:spPr>
          <a:xfrm>
            <a:off x="10488168" y="3950208"/>
            <a:ext cx="237744" cy="237744"/>
          </a:xfrm>
          <a:prstGeom prst="ellipse">
            <a:avLst/>
          </a:prstGeom>
          <a:solidFill>
            <a:srgbClr val="059669"/>
          </a:solidFill>
          <a:ln/>
        </p:spPr>
      </p:sp>
      <p:sp>
        <p:nvSpPr>
          <p:cNvPr id="34" name="Shape 32"/>
          <p:cNvSpPr/>
          <p:nvPr/>
        </p:nvSpPr>
        <p:spPr>
          <a:xfrm>
            <a:off x="548640" y="4434840"/>
            <a:ext cx="2286000" cy="731520"/>
          </a:xfrm>
          <a:prstGeom prst="rect">
            <a:avLst/>
          </a:prstGeom>
          <a:solidFill>
            <a:srgbClr val="1E293B"/>
          </a:solidFill>
          <a:ln/>
        </p:spPr>
      </p:sp>
      <p:sp>
        <p:nvSpPr>
          <p:cNvPr id="35" name="Text 33"/>
          <p:cNvSpPr/>
          <p:nvPr/>
        </p:nvSpPr>
        <p:spPr>
          <a:xfrm>
            <a:off x="731520" y="4434840"/>
            <a:ext cx="2011680" cy="731520"/>
          </a:xfrm>
          <a:prstGeom prst="rect">
            <a:avLst/>
          </a:prstGeom>
          <a:noFill/>
          <a:ln/>
        </p:spPr>
        <p:txBody>
          <a:bodyPr wrap="square" lIns="0" tIns="0" rIns="0" bIns="0" rtlCol="0" anchor="ctr"/>
          <a:lstStyle/>
          <a:p>
            <a:pPr indent="0" marL="0">
              <a:buNone/>
            </a:pPr>
            <a:r>
              <a:rPr lang="en-US" sz="1400" b="1" dirty="0">
                <a:solidFill>
                  <a:srgbClr val="F8FAFC"/>
                </a:solidFill>
                <a:latin typeface="Trebuchet MS" pitchFamily="34" charset="0"/>
                <a:ea typeface="Trebuchet MS" pitchFamily="34" charset="-122"/>
                <a:cs typeface="Trebuchet MS" pitchFamily="34" charset="-120"/>
              </a:rPr>
              <a:t>Approval gating</a:t>
            </a:r>
            <a:endParaRPr lang="en-US" sz="1400" dirty="0"/>
          </a:p>
        </p:txBody>
      </p:sp>
      <p:sp>
        <p:nvSpPr>
          <p:cNvPr id="36" name="Shape 34"/>
          <p:cNvSpPr/>
          <p:nvPr/>
        </p:nvSpPr>
        <p:spPr>
          <a:xfrm>
            <a:off x="2834640" y="4434840"/>
            <a:ext cx="3108960" cy="731520"/>
          </a:xfrm>
          <a:prstGeom prst="rect">
            <a:avLst/>
          </a:prstGeom>
          <a:solidFill>
            <a:srgbClr val="FEF3C7"/>
          </a:solidFill>
          <a:ln w="25400">
            <a:solidFill>
              <a:srgbClr val="FFFFFF"/>
            </a:solidFill>
            <a:prstDash val="solid"/>
          </a:ln>
        </p:spPr>
      </p:sp>
      <p:sp>
        <p:nvSpPr>
          <p:cNvPr id="37" name="Shape 35"/>
          <p:cNvSpPr/>
          <p:nvPr/>
        </p:nvSpPr>
        <p:spPr>
          <a:xfrm>
            <a:off x="4270248" y="4681728"/>
            <a:ext cx="237744" cy="237744"/>
          </a:xfrm>
          <a:prstGeom prst="ellipse">
            <a:avLst/>
          </a:prstGeom>
          <a:solidFill>
            <a:srgbClr val="F59E0B"/>
          </a:solidFill>
          <a:ln/>
        </p:spPr>
      </p:sp>
      <p:sp>
        <p:nvSpPr>
          <p:cNvPr id="38" name="Shape 36"/>
          <p:cNvSpPr/>
          <p:nvPr/>
        </p:nvSpPr>
        <p:spPr>
          <a:xfrm>
            <a:off x="5943600" y="4434840"/>
            <a:ext cx="3108960" cy="731520"/>
          </a:xfrm>
          <a:prstGeom prst="rect">
            <a:avLst/>
          </a:prstGeom>
          <a:solidFill>
            <a:srgbClr val="FFEDD5"/>
          </a:solidFill>
          <a:ln w="25400">
            <a:solidFill>
              <a:srgbClr val="FFFFFF"/>
            </a:solidFill>
            <a:prstDash val="solid"/>
          </a:ln>
        </p:spPr>
      </p:sp>
      <p:sp>
        <p:nvSpPr>
          <p:cNvPr id="39" name="Shape 37"/>
          <p:cNvSpPr/>
          <p:nvPr/>
        </p:nvSpPr>
        <p:spPr>
          <a:xfrm>
            <a:off x="7379208" y="4681728"/>
            <a:ext cx="237744" cy="237744"/>
          </a:xfrm>
          <a:prstGeom prst="ellipse">
            <a:avLst/>
          </a:prstGeom>
          <a:solidFill>
            <a:srgbClr val="3B82F6"/>
          </a:solidFill>
          <a:ln/>
        </p:spPr>
      </p:sp>
      <p:sp>
        <p:nvSpPr>
          <p:cNvPr id="40" name="Shape 38"/>
          <p:cNvSpPr/>
          <p:nvPr/>
        </p:nvSpPr>
        <p:spPr>
          <a:xfrm>
            <a:off x="9052560" y="4434840"/>
            <a:ext cx="3108960" cy="731520"/>
          </a:xfrm>
          <a:prstGeom prst="rect">
            <a:avLst/>
          </a:prstGeom>
          <a:solidFill>
            <a:srgbClr val="D1FAE5"/>
          </a:solidFill>
          <a:ln w="25400">
            <a:solidFill>
              <a:srgbClr val="FFFFFF"/>
            </a:solidFill>
            <a:prstDash val="solid"/>
          </a:ln>
        </p:spPr>
      </p:sp>
      <p:sp>
        <p:nvSpPr>
          <p:cNvPr id="41" name="Shape 39"/>
          <p:cNvSpPr/>
          <p:nvPr/>
        </p:nvSpPr>
        <p:spPr>
          <a:xfrm>
            <a:off x="10488168" y="4681728"/>
            <a:ext cx="237744" cy="237744"/>
          </a:xfrm>
          <a:prstGeom prst="ellipse">
            <a:avLst/>
          </a:prstGeom>
          <a:solidFill>
            <a:srgbClr val="059669"/>
          </a:solidFill>
          <a:ln/>
        </p:spPr>
      </p:sp>
      <p:sp>
        <p:nvSpPr>
          <p:cNvPr id="42" name="Shape 40"/>
          <p:cNvSpPr/>
          <p:nvPr/>
        </p:nvSpPr>
        <p:spPr>
          <a:xfrm>
            <a:off x="548640" y="5166360"/>
            <a:ext cx="2286000" cy="731520"/>
          </a:xfrm>
          <a:prstGeom prst="rect">
            <a:avLst/>
          </a:prstGeom>
          <a:solidFill>
            <a:srgbClr val="1E293B"/>
          </a:solidFill>
          <a:ln/>
        </p:spPr>
      </p:sp>
      <p:sp>
        <p:nvSpPr>
          <p:cNvPr id="43" name="Text 41"/>
          <p:cNvSpPr/>
          <p:nvPr/>
        </p:nvSpPr>
        <p:spPr>
          <a:xfrm>
            <a:off x="731520" y="5166360"/>
            <a:ext cx="2011680" cy="731520"/>
          </a:xfrm>
          <a:prstGeom prst="rect">
            <a:avLst/>
          </a:prstGeom>
          <a:noFill/>
          <a:ln/>
        </p:spPr>
        <p:txBody>
          <a:bodyPr wrap="square" lIns="0" tIns="0" rIns="0" bIns="0" rtlCol="0" anchor="ctr"/>
          <a:lstStyle/>
          <a:p>
            <a:pPr indent="0" marL="0">
              <a:buNone/>
            </a:pPr>
            <a:r>
              <a:rPr lang="en-US" sz="1400" b="1" dirty="0">
                <a:solidFill>
                  <a:srgbClr val="F8FAFC"/>
                </a:solidFill>
                <a:latin typeface="Trebuchet MS" pitchFamily="34" charset="0"/>
                <a:ea typeface="Trebuchet MS" pitchFamily="34" charset="-122"/>
                <a:cs typeface="Trebuchet MS" pitchFamily="34" charset="-120"/>
              </a:rPr>
              <a:t>Supply chain</a:t>
            </a:r>
            <a:endParaRPr lang="en-US" sz="1400" dirty="0"/>
          </a:p>
        </p:txBody>
      </p:sp>
      <p:sp>
        <p:nvSpPr>
          <p:cNvPr id="44" name="Shape 42"/>
          <p:cNvSpPr/>
          <p:nvPr/>
        </p:nvSpPr>
        <p:spPr>
          <a:xfrm>
            <a:off x="2834640" y="5166360"/>
            <a:ext cx="3108960" cy="731520"/>
          </a:xfrm>
          <a:prstGeom prst="rect">
            <a:avLst/>
          </a:prstGeom>
          <a:solidFill>
            <a:srgbClr val="FEF3C7"/>
          </a:solidFill>
          <a:ln w="25400">
            <a:solidFill>
              <a:srgbClr val="FFFFFF"/>
            </a:solidFill>
            <a:prstDash val="solid"/>
          </a:ln>
        </p:spPr>
      </p:sp>
      <p:sp>
        <p:nvSpPr>
          <p:cNvPr id="45" name="Shape 43"/>
          <p:cNvSpPr/>
          <p:nvPr/>
        </p:nvSpPr>
        <p:spPr>
          <a:xfrm>
            <a:off x="4270248" y="5413248"/>
            <a:ext cx="237744" cy="237744"/>
          </a:xfrm>
          <a:prstGeom prst="ellipse">
            <a:avLst/>
          </a:prstGeom>
          <a:solidFill>
            <a:srgbClr val="F59E0B"/>
          </a:solidFill>
          <a:ln/>
        </p:spPr>
      </p:sp>
      <p:sp>
        <p:nvSpPr>
          <p:cNvPr id="46" name="Shape 44"/>
          <p:cNvSpPr/>
          <p:nvPr/>
        </p:nvSpPr>
        <p:spPr>
          <a:xfrm>
            <a:off x="5943600" y="5166360"/>
            <a:ext cx="3108960" cy="731520"/>
          </a:xfrm>
          <a:prstGeom prst="rect">
            <a:avLst/>
          </a:prstGeom>
          <a:solidFill>
            <a:srgbClr val="FFEDD5"/>
          </a:solidFill>
          <a:ln w="25400">
            <a:solidFill>
              <a:srgbClr val="FFFFFF"/>
            </a:solidFill>
            <a:prstDash val="solid"/>
          </a:ln>
        </p:spPr>
      </p:sp>
      <p:sp>
        <p:nvSpPr>
          <p:cNvPr id="47" name="Shape 45"/>
          <p:cNvSpPr/>
          <p:nvPr/>
        </p:nvSpPr>
        <p:spPr>
          <a:xfrm>
            <a:off x="7379208" y="5413248"/>
            <a:ext cx="237744" cy="237744"/>
          </a:xfrm>
          <a:prstGeom prst="ellipse">
            <a:avLst/>
          </a:prstGeom>
          <a:solidFill>
            <a:srgbClr val="3B82F6"/>
          </a:solidFill>
          <a:ln/>
        </p:spPr>
      </p:sp>
      <p:sp>
        <p:nvSpPr>
          <p:cNvPr id="48" name="Shape 46"/>
          <p:cNvSpPr/>
          <p:nvPr/>
        </p:nvSpPr>
        <p:spPr>
          <a:xfrm>
            <a:off x="9052560" y="5166360"/>
            <a:ext cx="3108960" cy="731520"/>
          </a:xfrm>
          <a:prstGeom prst="rect">
            <a:avLst/>
          </a:prstGeom>
          <a:solidFill>
            <a:srgbClr val="D1FAE5"/>
          </a:solidFill>
          <a:ln w="25400">
            <a:solidFill>
              <a:srgbClr val="FFFFFF"/>
            </a:solidFill>
            <a:prstDash val="solid"/>
          </a:ln>
        </p:spPr>
      </p:sp>
      <p:sp>
        <p:nvSpPr>
          <p:cNvPr id="49" name="Shape 47"/>
          <p:cNvSpPr/>
          <p:nvPr/>
        </p:nvSpPr>
        <p:spPr>
          <a:xfrm>
            <a:off x="10488168" y="5413248"/>
            <a:ext cx="237744" cy="237744"/>
          </a:xfrm>
          <a:prstGeom prst="ellipse">
            <a:avLst/>
          </a:prstGeom>
          <a:solidFill>
            <a:srgbClr val="059669"/>
          </a:solidFill>
          <a:ln/>
        </p:spPr>
      </p:sp>
      <p:sp>
        <p:nvSpPr>
          <p:cNvPr id="50" name="Text 48"/>
          <p:cNvSpPr/>
          <p:nvPr/>
        </p:nvSpPr>
        <p:spPr>
          <a:xfrm>
            <a:off x="548640" y="5989320"/>
            <a:ext cx="11064240" cy="457200"/>
          </a:xfrm>
          <a:prstGeom prst="rect">
            <a:avLst/>
          </a:prstGeom>
          <a:noFill/>
          <a:ln/>
        </p:spPr>
        <p:txBody>
          <a:bodyPr wrap="square" lIns="0" tIns="0" rIns="0" bIns="0" rtlCol="0" anchor="ctr"/>
          <a:lstStyle/>
          <a:p>
            <a:pPr algn="ctr" indent="0" marL="0">
              <a:buNone/>
            </a:pPr>
            <a:r>
              <a:rPr lang="en-US" sz="1500" i="1" dirty="0">
                <a:solidFill>
                  <a:srgbClr val="A100FF"/>
                </a:solidFill>
                <a:latin typeface="Calibri" pitchFamily="34" charset="0"/>
                <a:ea typeface="Calibri" pitchFamily="34" charset="-122"/>
                <a:cs typeface="Calibri" pitchFamily="34" charset="-120"/>
              </a:rPr>
              <a:t>Walk left-to-right per row. Ask: if the agent decides to violate this concern, what stops it at this layer?</a:t>
            </a:r>
            <a:endParaRPr lang="en-US" sz="1500" dirty="0"/>
          </a:p>
        </p:txBody>
      </p:sp>
      <p:pic>
        <p:nvPicPr>
          <p:cNvPr id="51" name="Image 0" descr="preencoded.png">    </p:cNvPr>
          <p:cNvPicPr>
            <a:picLocks noChangeAspect="1"/>
          </p:cNvPicPr>
          <p:nvPr/>
        </p:nvPicPr>
        <p:blipFill>
          <a:blip r:embed="rId1"/>
          <a:stretch>
            <a:fillRect/>
          </a:stretch>
        </p:blipFill>
        <p:spPr>
          <a:xfrm>
            <a:off x="9326880" y="274320"/>
            <a:ext cx="2468880" cy="1440420"/>
          </a:xfrm>
          <a:prstGeom prst="rect">
            <a:avLst/>
          </a:prstGeom>
        </p:spPr>
      </p:pic>
      <p:sp>
        <p:nvSpPr>
          <p:cNvPr id="52" name="Text 49"/>
          <p:cNvSpPr/>
          <p:nvPr/>
        </p:nvSpPr>
        <p:spPr>
          <a:xfrm>
            <a:off x="457200" y="653796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LLMday Austin · May 12, 2026</a:t>
            </a:r>
            <a:endParaRPr lang="en-US" sz="900" dirty="0"/>
          </a:p>
        </p:txBody>
      </p:sp>
      <p:sp>
        <p:nvSpPr>
          <p:cNvPr id="54" name="Text 5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Let's unpack this: not all controls are created equal.</a:t>
            </a:r>
            <a:endParaRPr lang="en-US" sz="2600" dirty="0"/>
          </a:p>
        </p:txBody>
      </p:sp>
      <p:sp>
        <p:nvSpPr>
          <p:cNvPr id="3" name="Text 1"/>
          <p:cNvSpPr/>
          <p:nvPr/>
        </p:nvSpPr>
        <p:spPr>
          <a:xfrm>
            <a:off x="548640" y="1143000"/>
            <a:ext cx="1097280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This matrix is Protect. Only Protect. NIST CSF 2.0 is the lingua franca your team already speaks.</a:t>
            </a:r>
            <a:endParaRPr lang="en-US" sz="1400" dirty="0"/>
          </a:p>
        </p:txBody>
      </p:sp>
      <p:sp>
        <p:nvSpPr>
          <p:cNvPr id="4" name="Shape 2"/>
          <p:cNvSpPr/>
          <p:nvPr/>
        </p:nvSpPr>
        <p:spPr>
          <a:xfrm>
            <a:off x="548640" y="2103120"/>
            <a:ext cx="2240280" cy="3200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5" name="Text 3"/>
          <p:cNvSpPr/>
          <p:nvPr/>
        </p:nvSpPr>
        <p:spPr>
          <a:xfrm>
            <a:off x="731520" y="2468880"/>
            <a:ext cx="1920240" cy="822960"/>
          </a:xfrm>
          <a:prstGeom prst="rect">
            <a:avLst/>
          </a:prstGeom>
          <a:noFill/>
          <a:ln/>
        </p:spPr>
        <p:txBody>
          <a:bodyPr wrap="square" lIns="0" tIns="0" rIns="0" bIns="0" rtlCol="0" anchor="ctr"/>
          <a:lstStyle/>
          <a:p>
            <a:pPr algn="ctr" indent="0" marL="0">
              <a:buNone/>
            </a:pPr>
            <a:r>
              <a:rPr lang="en-US" sz="2200" b="1" dirty="0">
                <a:solidFill>
                  <a:srgbClr val="0F172A"/>
                </a:solidFill>
                <a:latin typeface="Trebuchet MS" pitchFamily="34" charset="0"/>
                <a:ea typeface="Trebuchet MS" pitchFamily="34" charset="-122"/>
                <a:cs typeface="Trebuchet MS" pitchFamily="34" charset="-120"/>
              </a:rPr>
              <a:t>Identify</a:t>
            </a:r>
            <a:endParaRPr lang="en-US" sz="2200" dirty="0"/>
          </a:p>
        </p:txBody>
      </p:sp>
      <p:sp>
        <p:nvSpPr>
          <p:cNvPr id="6" name="Text 4"/>
          <p:cNvSpPr/>
          <p:nvPr/>
        </p:nvSpPr>
        <p:spPr>
          <a:xfrm>
            <a:off x="731520" y="3566160"/>
            <a:ext cx="1920240" cy="155448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asset inventory, threat modeling, agent registry</a:t>
            </a:r>
            <a:endParaRPr lang="en-US" sz="1200" dirty="0"/>
          </a:p>
        </p:txBody>
      </p:sp>
      <p:sp>
        <p:nvSpPr>
          <p:cNvPr id="7" name="Shape 5"/>
          <p:cNvSpPr/>
          <p:nvPr/>
        </p:nvSpPr>
        <p:spPr>
          <a:xfrm>
            <a:off x="2880360" y="2103120"/>
            <a:ext cx="2240280" cy="3200400"/>
          </a:xfrm>
          <a:prstGeom prst="rect">
            <a:avLst/>
          </a:prstGeom>
          <a:solidFill>
            <a:srgbClr val="A100FF"/>
          </a:solidFill>
          <a:ln w="12700">
            <a:solidFill>
              <a:srgbClr val="A100FF"/>
            </a:solidFill>
            <a:prstDash val="solid"/>
          </a:ln>
          <a:effectLst>
            <a:outerShdw sx="100000" sy="100000" kx="0" ky="0" algn="bl" rotWithShape="0" blurRad="101600" dist="25400" dir="8100000">
              <a:srgbClr val="000000">
                <a:alpha val="15000"/>
              </a:srgbClr>
            </a:outerShdw>
          </a:effectLst>
        </p:spPr>
      </p:sp>
      <p:sp>
        <p:nvSpPr>
          <p:cNvPr id="8" name="Text 6"/>
          <p:cNvSpPr/>
          <p:nvPr/>
        </p:nvSpPr>
        <p:spPr>
          <a:xfrm>
            <a:off x="3063240" y="2468880"/>
            <a:ext cx="192024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Protect</a:t>
            </a:r>
            <a:endParaRPr lang="en-US" sz="2200" dirty="0"/>
          </a:p>
        </p:txBody>
      </p:sp>
      <p:sp>
        <p:nvSpPr>
          <p:cNvPr id="9" name="Text 7"/>
          <p:cNvSpPr/>
          <p:nvPr/>
        </p:nvSpPr>
        <p:spPr>
          <a:xfrm>
            <a:off x="3063240" y="3566160"/>
            <a:ext cx="1920240" cy="1554480"/>
          </a:xfrm>
          <a:prstGeom prst="rect">
            <a:avLst/>
          </a:prstGeom>
          <a:noFill/>
          <a:ln/>
        </p:spPr>
        <p:txBody>
          <a:bodyPr wrap="square" lIns="0" tIns="0" rIns="0" bIns="0" rtlCol="0" anchor="ctr"/>
          <a:lstStyle/>
          <a:p>
            <a:pPr algn="ctr" indent="0" marL="0">
              <a:buNone/>
            </a:pPr>
            <a:r>
              <a:rPr lang="en-US" sz="1200" dirty="0">
                <a:solidFill>
                  <a:srgbClr val="E9D5FF"/>
                </a:solidFill>
                <a:latin typeface="Calibri" pitchFamily="34" charset="0"/>
                <a:ea typeface="Calibri" pitchFamily="34" charset="-122"/>
                <a:cs typeface="Calibri" pitchFamily="34" charset="-120"/>
              </a:rPr>
              <a:t>the matrix you're about to walk</a:t>
            </a:r>
            <a:endParaRPr lang="en-US" sz="1200" dirty="0"/>
          </a:p>
        </p:txBody>
      </p:sp>
      <p:sp>
        <p:nvSpPr>
          <p:cNvPr id="10" name="Shape 8"/>
          <p:cNvSpPr/>
          <p:nvPr/>
        </p:nvSpPr>
        <p:spPr>
          <a:xfrm>
            <a:off x="5212080" y="2103120"/>
            <a:ext cx="2240280" cy="3200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11" name="Text 9"/>
          <p:cNvSpPr/>
          <p:nvPr/>
        </p:nvSpPr>
        <p:spPr>
          <a:xfrm>
            <a:off x="5394960" y="2468880"/>
            <a:ext cx="1920240" cy="822960"/>
          </a:xfrm>
          <a:prstGeom prst="rect">
            <a:avLst/>
          </a:prstGeom>
          <a:noFill/>
          <a:ln/>
        </p:spPr>
        <p:txBody>
          <a:bodyPr wrap="square" lIns="0" tIns="0" rIns="0" bIns="0" rtlCol="0" anchor="ctr"/>
          <a:lstStyle/>
          <a:p>
            <a:pPr algn="ctr" indent="0" marL="0">
              <a:buNone/>
            </a:pPr>
            <a:r>
              <a:rPr lang="en-US" sz="2200" b="1" dirty="0">
                <a:solidFill>
                  <a:srgbClr val="0F172A"/>
                </a:solidFill>
                <a:latin typeface="Trebuchet MS" pitchFamily="34" charset="0"/>
                <a:ea typeface="Trebuchet MS" pitchFamily="34" charset="-122"/>
                <a:cs typeface="Trebuchet MS" pitchFamily="34" charset="-120"/>
              </a:rPr>
              <a:t>Detect</a:t>
            </a:r>
            <a:endParaRPr lang="en-US" sz="2200" dirty="0"/>
          </a:p>
        </p:txBody>
      </p:sp>
      <p:sp>
        <p:nvSpPr>
          <p:cNvPr id="12" name="Text 10"/>
          <p:cNvSpPr/>
          <p:nvPr/>
        </p:nvSpPr>
        <p:spPr>
          <a:xfrm>
            <a:off x="5394960" y="3566160"/>
            <a:ext cx="1920240" cy="155448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Falco, OpenTelemetry, LLM observability</a:t>
            </a:r>
            <a:endParaRPr lang="en-US" sz="1200" dirty="0"/>
          </a:p>
        </p:txBody>
      </p:sp>
      <p:sp>
        <p:nvSpPr>
          <p:cNvPr id="13" name="Shape 11"/>
          <p:cNvSpPr/>
          <p:nvPr/>
        </p:nvSpPr>
        <p:spPr>
          <a:xfrm>
            <a:off x="7543800" y="2103120"/>
            <a:ext cx="2240280" cy="3200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14" name="Text 12"/>
          <p:cNvSpPr/>
          <p:nvPr/>
        </p:nvSpPr>
        <p:spPr>
          <a:xfrm>
            <a:off x="7726680" y="2468880"/>
            <a:ext cx="1920240" cy="822960"/>
          </a:xfrm>
          <a:prstGeom prst="rect">
            <a:avLst/>
          </a:prstGeom>
          <a:noFill/>
          <a:ln/>
        </p:spPr>
        <p:txBody>
          <a:bodyPr wrap="square" lIns="0" tIns="0" rIns="0" bIns="0" rtlCol="0" anchor="ctr"/>
          <a:lstStyle/>
          <a:p>
            <a:pPr algn="ctr" indent="0" marL="0">
              <a:buNone/>
            </a:pPr>
            <a:r>
              <a:rPr lang="en-US" sz="2200" b="1" dirty="0">
                <a:solidFill>
                  <a:srgbClr val="0F172A"/>
                </a:solidFill>
                <a:latin typeface="Trebuchet MS" pitchFamily="34" charset="0"/>
                <a:ea typeface="Trebuchet MS" pitchFamily="34" charset="-122"/>
                <a:cs typeface="Trebuchet MS" pitchFamily="34" charset="-120"/>
              </a:rPr>
              <a:t>Respond</a:t>
            </a:r>
            <a:endParaRPr lang="en-US" sz="2200" dirty="0"/>
          </a:p>
        </p:txBody>
      </p:sp>
      <p:sp>
        <p:nvSpPr>
          <p:cNvPr id="15" name="Text 13"/>
          <p:cNvSpPr/>
          <p:nvPr/>
        </p:nvSpPr>
        <p:spPr>
          <a:xfrm>
            <a:off x="7726680" y="3566160"/>
            <a:ext cx="1920240" cy="155448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kill switches, credential revocation, rollback</a:t>
            </a:r>
            <a:endParaRPr lang="en-US" sz="1200" dirty="0"/>
          </a:p>
        </p:txBody>
      </p:sp>
      <p:sp>
        <p:nvSpPr>
          <p:cNvPr id="16" name="Shape 14"/>
          <p:cNvSpPr/>
          <p:nvPr/>
        </p:nvSpPr>
        <p:spPr>
          <a:xfrm>
            <a:off x="9875520" y="2103120"/>
            <a:ext cx="2240280" cy="3200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17" name="Text 15"/>
          <p:cNvSpPr/>
          <p:nvPr/>
        </p:nvSpPr>
        <p:spPr>
          <a:xfrm>
            <a:off x="10058400" y="2468880"/>
            <a:ext cx="1920240" cy="822960"/>
          </a:xfrm>
          <a:prstGeom prst="rect">
            <a:avLst/>
          </a:prstGeom>
          <a:noFill/>
          <a:ln/>
        </p:spPr>
        <p:txBody>
          <a:bodyPr wrap="square" lIns="0" tIns="0" rIns="0" bIns="0" rtlCol="0" anchor="ctr"/>
          <a:lstStyle/>
          <a:p>
            <a:pPr algn="ctr" indent="0" marL="0">
              <a:buNone/>
            </a:pPr>
            <a:r>
              <a:rPr lang="en-US" sz="2200" b="1" dirty="0">
                <a:solidFill>
                  <a:srgbClr val="0F172A"/>
                </a:solidFill>
                <a:latin typeface="Trebuchet MS" pitchFamily="34" charset="0"/>
                <a:ea typeface="Trebuchet MS" pitchFamily="34" charset="-122"/>
                <a:cs typeface="Trebuchet MS" pitchFamily="34" charset="-120"/>
              </a:rPr>
              <a:t>Recover</a:t>
            </a:r>
            <a:endParaRPr lang="en-US" sz="2200" dirty="0"/>
          </a:p>
        </p:txBody>
      </p:sp>
      <p:sp>
        <p:nvSpPr>
          <p:cNvPr id="18" name="Text 16"/>
          <p:cNvSpPr/>
          <p:nvPr/>
        </p:nvSpPr>
        <p:spPr>
          <a:xfrm>
            <a:off x="10058400" y="3566160"/>
            <a:ext cx="1920240" cy="155448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Velero, GitOps revert, infrastructure rebuild</a:t>
            </a:r>
            <a:endParaRPr lang="en-US" sz="1200" dirty="0"/>
          </a:p>
        </p:txBody>
      </p:sp>
      <p:sp>
        <p:nvSpPr>
          <p:cNvPr id="19" name="Text 17"/>
          <p:cNvSpPr/>
          <p:nvPr/>
        </p:nvSpPr>
        <p:spPr>
          <a:xfrm>
            <a:off x="548640" y="5852160"/>
            <a:ext cx="11064240" cy="457200"/>
          </a:xfrm>
          <a:prstGeom prst="rect">
            <a:avLst/>
          </a:prstGeom>
          <a:noFill/>
          <a:ln/>
        </p:spPr>
        <p:txBody>
          <a:bodyPr wrap="square" lIns="0" tIns="0" rIns="0" bIns="0" rtlCol="0" anchor="ctr"/>
          <a:lstStyle/>
          <a:p>
            <a:pPr algn="ctr" indent="0" marL="0">
              <a:buNone/>
            </a:pPr>
            <a:r>
              <a:rPr lang="en-US" sz="1600" i="1" dirty="0">
                <a:solidFill>
                  <a:srgbClr val="DC2626"/>
                </a:solidFill>
                <a:latin typeface="Calibri" pitchFamily="34" charset="0"/>
                <a:ea typeface="Calibri" pitchFamily="34" charset="-122"/>
                <a:cs typeface="Calibri" pitchFamily="34" charset="-120"/>
              </a:rPr>
              <a:t>Most "AI guardrail" content mixes these four functions. That's the bug.</a:t>
            </a:r>
            <a:endParaRPr lang="en-US" sz="1600" dirty="0"/>
          </a:p>
        </p:txBody>
      </p:sp>
      <p:pic>
        <p:nvPicPr>
          <p:cNvPr id="20" name="Image 0" descr="preencoded.png">    </p:cNvPr>
          <p:cNvPicPr>
            <a:picLocks noChangeAspect="1"/>
          </p:cNvPicPr>
          <p:nvPr/>
        </p:nvPicPr>
        <p:blipFill>
          <a:blip r:embed="rId1">
            <a:alphaModFix amt="40000"/>
          </a:blip>
          <a:stretch>
            <a:fillRect/>
          </a:stretch>
        </p:blipFill>
        <p:spPr>
          <a:xfrm>
            <a:off x="10972800" y="411480"/>
            <a:ext cx="731520" cy="426791"/>
          </a:xfrm>
          <a:prstGeom prst="rect">
            <a:avLst/>
          </a:prstGeom>
        </p:spPr>
      </p:pic>
      <p:sp>
        <p:nvSpPr>
          <p:cNvPr id="21" name="Text 18"/>
          <p:cNvSpPr/>
          <p:nvPr/>
        </p:nvSpPr>
        <p:spPr>
          <a:xfrm>
            <a:off x="457200" y="653796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LLMday Austin · May 12, 2026</a:t>
            </a:r>
            <a:endParaRPr lang="en-US" sz="900" dirty="0"/>
          </a:p>
        </p:txBody>
      </p:sp>
      <p:sp>
        <p:nvSpPr>
          <p:cNvPr id="23" name="Text 19"/>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59E0B"/>
          </a:solidFill>
          <a:ln/>
        </p:spPr>
      </p:sp>
      <p:sp>
        <p:nvSpPr>
          <p:cNvPr id="3" name="Text 1"/>
          <p:cNvSpPr/>
          <p:nvPr/>
        </p:nvSpPr>
        <p:spPr>
          <a:xfrm>
            <a:off x="548640" y="45720"/>
            <a:ext cx="11064240" cy="118872"/>
          </a:xfrm>
          <a:prstGeom prst="rect">
            <a:avLst/>
          </a:prstGeom>
          <a:noFill/>
          <a:ln/>
        </p:spPr>
        <p:txBody>
          <a:bodyPr wrap="square" lIns="0" tIns="0" rIns="0" bIns="0" rtlCol="0" anchor="ctr"/>
          <a:lstStyle/>
          <a:p>
            <a:pPr indent="0" marL="0">
              <a:buNone/>
            </a:pPr>
            <a:r>
              <a:rPr lang="en-US" sz="900" b="1" spc="400" kern="0" dirty="0">
                <a:solidFill>
                  <a:srgbClr val="FFFFFF"/>
                </a:solidFill>
                <a:latin typeface="Trebuchet MS" pitchFamily="34" charset="0"/>
                <a:ea typeface="Trebuchet MS" pitchFamily="34" charset="-122"/>
                <a:cs typeface="Trebuchet MS" pitchFamily="34" charset="-120"/>
              </a:rPr>
              <a:t>LAYER 1 OF 3 · IN-AGENT (WEAKEST)</a:t>
            </a:r>
            <a:endParaRPr lang="en-US" sz="900" dirty="0"/>
          </a:p>
        </p:txBody>
      </p:sp>
      <p:sp>
        <p:nvSpPr>
          <p:cNvPr id="4" name="Text 2"/>
          <p:cNvSpPr/>
          <p:nvPr/>
        </p:nvSpPr>
        <p:spPr>
          <a:xfrm>
            <a:off x="548640" y="365760"/>
            <a:ext cx="10972800" cy="365760"/>
          </a:xfrm>
          <a:prstGeom prst="rect">
            <a:avLst/>
          </a:prstGeom>
          <a:noFill/>
          <a:ln/>
        </p:spPr>
        <p:txBody>
          <a:bodyPr wrap="square" lIns="0" tIns="0" rIns="0" bIns="0" rtlCol="0" anchor="ctr"/>
          <a:lstStyle/>
          <a:p>
            <a:pPr indent="0" marL="0">
              <a:buNone/>
            </a:pPr>
            <a:r>
              <a:rPr lang="en-US" sz="1200" spc="400" kern="0" dirty="0">
                <a:solidFill>
                  <a:srgbClr val="A100FF"/>
                </a:solidFill>
                <a:latin typeface="Calibri" pitchFamily="34" charset="0"/>
                <a:ea typeface="Calibri" pitchFamily="34" charset="-122"/>
                <a:cs typeface="Calibri" pitchFamily="34" charset="-120"/>
              </a:rPr>
              <a:t>AUTHORIZATION  ·  LAYER 1 OF 3</a:t>
            </a:r>
            <a:endParaRPr lang="en-US" sz="12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indent="0" marL="0">
              <a:buNone/>
            </a:pPr>
            <a:r>
              <a:rPr lang="en-US" sz="3200" b="1" dirty="0">
                <a:solidFill>
                  <a:srgbClr val="0F172A"/>
                </a:solidFill>
                <a:latin typeface="Trebuchet MS" pitchFamily="34" charset="0"/>
                <a:ea typeface="Trebuchet MS" pitchFamily="34" charset="-122"/>
                <a:cs typeface="Trebuchet MS" pitchFamily="34" charset="-120"/>
              </a:rPr>
              <a:t>In-agent: a vibe, not a control</a:t>
            </a:r>
            <a:endParaRPr lang="en-US" sz="3200" dirty="0"/>
          </a:p>
        </p:txBody>
      </p:sp>
      <p:sp>
        <p:nvSpPr>
          <p:cNvPr id="6" name="Text 4"/>
          <p:cNvSpPr/>
          <p:nvPr/>
        </p:nvSpPr>
        <p:spPr>
          <a:xfrm>
            <a:off x="548640" y="1417320"/>
            <a:ext cx="1097280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At its core, the model layer is probabilistic. Bypassable through language alone.</a:t>
            </a:r>
            <a:endParaRPr lang="en-US" sz="1400" dirty="0"/>
          </a:p>
        </p:txBody>
      </p:sp>
      <p:sp>
        <p:nvSpPr>
          <p:cNvPr id="7" name="Shape 5"/>
          <p:cNvSpPr/>
          <p:nvPr/>
        </p:nvSpPr>
        <p:spPr>
          <a:xfrm>
            <a:off x="548640" y="2011680"/>
            <a:ext cx="5486400" cy="4297680"/>
          </a:xfrm>
          <a:prstGeom prst="rect">
            <a:avLst/>
          </a:prstGeom>
          <a:solidFill>
            <a:srgbClr val="FEF3C7"/>
          </a:solidFill>
          <a:ln w="12700">
            <a:solidFill>
              <a:srgbClr val="FCD34D"/>
            </a:solidFill>
            <a:prstDash val="solid"/>
          </a:ln>
        </p:spPr>
      </p:sp>
      <p:sp>
        <p:nvSpPr>
          <p:cNvPr id="8" name="Text 6"/>
          <p:cNvSpPr/>
          <p:nvPr/>
        </p:nvSpPr>
        <p:spPr>
          <a:xfrm>
            <a:off x="777240" y="2148840"/>
            <a:ext cx="5029200" cy="457200"/>
          </a:xfrm>
          <a:prstGeom prst="rect">
            <a:avLst/>
          </a:prstGeom>
          <a:noFill/>
          <a:ln/>
        </p:spPr>
        <p:txBody>
          <a:bodyPr wrap="square" lIns="0" tIns="0" rIns="0" bIns="0" rtlCol="0" anchor="ctr"/>
          <a:lstStyle/>
          <a:p>
            <a:pPr indent="0" marL="0">
              <a:buNone/>
            </a:pPr>
            <a:r>
              <a:rPr lang="en-US" sz="1600" b="1" dirty="0">
                <a:solidFill>
                  <a:srgbClr val="92400E"/>
                </a:solidFill>
                <a:latin typeface="Trebuchet MS" pitchFamily="34" charset="0"/>
                <a:ea typeface="Trebuchet MS" pitchFamily="34" charset="-122"/>
                <a:cs typeface="Trebuchet MS" pitchFamily="34" charset="-120"/>
              </a:rPr>
              <a:t>What you might do</a:t>
            </a:r>
            <a:endParaRPr lang="en-US" sz="1600" dirty="0"/>
          </a:p>
        </p:txBody>
      </p:sp>
      <p:sp>
        <p:nvSpPr>
          <p:cNvPr id="9" name="Text 7"/>
          <p:cNvSpPr/>
          <p:nvPr/>
        </p:nvSpPr>
        <p:spPr>
          <a:xfrm>
            <a:off x="777240" y="2697480"/>
            <a:ext cx="5029200" cy="356616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rgbClr val="0F172A"/>
                </a:solidFill>
                <a:latin typeface="Calibri" pitchFamily="34" charset="0"/>
                <a:ea typeface="Calibri" pitchFamily="34" charset="-122"/>
                <a:cs typeface="Calibri" pitchFamily="34" charset="-120"/>
              </a:rPr>
              <a:t>"Don't modify production"</a:t>
            </a:r>
            <a:endParaRPr lang="en-US" sz="1800" dirty="0"/>
          </a:p>
          <a:p>
            <a:pPr marL="342900" indent="-342900">
              <a:spcAft>
                <a:spcPts val="1600"/>
              </a:spcAft>
              <a:buSzPct val="100000"/>
              <a:buChar char="•"/>
            </a:pPr>
            <a:r>
              <a:rPr lang="en-US" sz="1800" dirty="0">
                <a:solidFill>
                  <a:srgbClr val="0F172A"/>
                </a:solidFill>
                <a:latin typeface="Calibri" pitchFamily="34" charset="0"/>
                <a:ea typeface="Calibri" pitchFamily="34" charset="-122"/>
                <a:cs typeface="Calibri" pitchFamily="34" charset="-120"/>
              </a:rPr>
              <a:t>Tool descriptions scoped</a:t>
            </a:r>
            <a:endParaRPr lang="en-US" sz="1800" dirty="0"/>
          </a:p>
          <a:p>
            <a:pPr marL="342900" indent="-342900">
              <a:spcAft>
                <a:spcPts val="1600"/>
              </a:spcAft>
              <a:buSzPct val="100000"/>
              <a:buChar char="•"/>
            </a:pPr>
            <a:r>
              <a:rPr lang="en-US" sz="1800" dirty="0">
                <a:solidFill>
                  <a:srgbClr val="0F172A"/>
                </a:solidFill>
                <a:latin typeface="Calibri" pitchFamily="34" charset="0"/>
                <a:ea typeface="Calibri" pitchFamily="34" charset="-122"/>
                <a:cs typeface="Calibri" pitchFamily="34" charset="-120"/>
              </a:rPr>
              <a:t>Refusal training (RLHF)</a:t>
            </a:r>
            <a:endParaRPr lang="en-US" sz="1800" dirty="0"/>
          </a:p>
        </p:txBody>
      </p:sp>
      <p:sp>
        <p:nvSpPr>
          <p:cNvPr id="10" name="Shape 8"/>
          <p:cNvSpPr/>
          <p:nvPr/>
        </p:nvSpPr>
        <p:spPr>
          <a:xfrm>
            <a:off x="6309360" y="2011680"/>
            <a:ext cx="5303520" cy="4297680"/>
          </a:xfrm>
          <a:prstGeom prst="rect">
            <a:avLst/>
          </a:prstGeom>
          <a:solidFill>
            <a:srgbClr val="FEE2E2"/>
          </a:solidFill>
          <a:ln w="12700">
            <a:solidFill>
              <a:srgbClr val="FCA5A5"/>
            </a:solidFill>
            <a:prstDash val="solid"/>
          </a:ln>
        </p:spPr>
      </p:sp>
      <p:sp>
        <p:nvSpPr>
          <p:cNvPr id="11" name="Text 9"/>
          <p:cNvSpPr/>
          <p:nvPr/>
        </p:nvSpPr>
        <p:spPr>
          <a:xfrm>
            <a:off x="6537960" y="2148840"/>
            <a:ext cx="4937760" cy="457200"/>
          </a:xfrm>
          <a:prstGeom prst="rect">
            <a:avLst/>
          </a:prstGeom>
          <a:noFill/>
          <a:ln/>
        </p:spPr>
        <p:txBody>
          <a:bodyPr wrap="square" lIns="0" tIns="0" rIns="0" bIns="0" rtlCol="0" anchor="ctr"/>
          <a:lstStyle/>
          <a:p>
            <a:pPr indent="0" marL="0">
              <a:buNone/>
            </a:pPr>
            <a:r>
              <a:rPr lang="en-US" sz="1600" b="1" dirty="0">
                <a:solidFill>
                  <a:srgbClr val="DC2626"/>
                </a:solidFill>
                <a:latin typeface="Trebuchet MS" pitchFamily="34" charset="0"/>
                <a:ea typeface="Trebuchet MS" pitchFamily="34" charset="-122"/>
                <a:cs typeface="Trebuchet MS" pitchFamily="34" charset="-120"/>
              </a:rPr>
              <a:t>How it gets bypassed</a:t>
            </a:r>
            <a:endParaRPr lang="en-US" sz="1600" dirty="0"/>
          </a:p>
        </p:txBody>
      </p:sp>
      <p:sp>
        <p:nvSpPr>
          <p:cNvPr id="12" name="Text 10"/>
          <p:cNvSpPr/>
          <p:nvPr/>
        </p:nvSpPr>
        <p:spPr>
          <a:xfrm>
            <a:off x="6537960" y="2697480"/>
            <a:ext cx="4937760" cy="35661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0F172A"/>
                </a:solidFill>
                <a:latin typeface="Calibri" pitchFamily="34" charset="0"/>
                <a:ea typeface="Calibri" pitchFamily="34" charset="-122"/>
                <a:cs typeface="Calibri" pitchFamily="34" charset="-120"/>
              </a:rPr>
              <a:t>Prompt injection</a:t>
            </a:r>
            <a:endParaRPr lang="en-US" sz="1800" dirty="0"/>
          </a:p>
          <a:p>
            <a:pPr marL="342900" indent="-342900">
              <a:spcAft>
                <a:spcPts val="1400"/>
              </a:spcAft>
              <a:buSzPct val="100000"/>
              <a:buChar char="•"/>
            </a:pPr>
            <a:r>
              <a:rPr lang="en-US" sz="1800" dirty="0">
                <a:solidFill>
                  <a:srgbClr val="0F172A"/>
                </a:solidFill>
                <a:latin typeface="Calibri" pitchFamily="34" charset="0"/>
                <a:ea typeface="Calibri" pitchFamily="34" charset="-122"/>
                <a:cs typeface="Calibri" pitchFamily="34" charset="-120"/>
              </a:rPr>
              <a:t>Jailbreak</a:t>
            </a:r>
            <a:endParaRPr lang="en-US" sz="1800" dirty="0"/>
          </a:p>
          <a:p>
            <a:pPr marL="342900" indent="-342900">
              <a:spcAft>
                <a:spcPts val="1400"/>
              </a:spcAft>
              <a:buSzPct val="100000"/>
              <a:buChar char="•"/>
            </a:pPr>
            <a:r>
              <a:rPr lang="en-US" sz="1800" dirty="0">
                <a:solidFill>
                  <a:srgbClr val="0F172A"/>
                </a:solidFill>
                <a:latin typeface="Calibri" pitchFamily="34" charset="0"/>
                <a:ea typeface="Calibri" pitchFamily="34" charset="-122"/>
                <a:cs typeface="Calibri" pitchFamily="34" charset="-120"/>
              </a:rPr>
              <a:t>Model error</a:t>
            </a:r>
            <a:endParaRPr lang="en-US" sz="1800" dirty="0"/>
          </a:p>
          <a:p>
            <a:pPr marL="342900" indent="-342900">
              <a:spcAft>
                <a:spcPts val="1400"/>
              </a:spcAft>
              <a:buSzPct val="100000"/>
              <a:buChar char="•"/>
            </a:pPr>
            <a:r>
              <a:rPr lang="en-US" sz="1800" dirty="0">
                <a:solidFill>
                  <a:srgbClr val="0F172A"/>
                </a:solidFill>
                <a:latin typeface="Calibri" pitchFamily="34" charset="0"/>
                <a:ea typeface="Calibri" pitchFamily="34" charset="-122"/>
                <a:cs typeface="Calibri" pitchFamily="34" charset="-120"/>
              </a:rPr>
              <a:t>Compaction wipes the rules</a:t>
            </a:r>
            <a:endParaRPr lang="en-US" sz="1800" dirty="0"/>
          </a:p>
        </p:txBody>
      </p:sp>
      <p:sp>
        <p:nvSpPr>
          <p:cNvPr id="13" name="Text 11"/>
          <p:cNvSpPr/>
          <p:nvPr/>
        </p:nvSpPr>
        <p:spPr>
          <a:xfrm>
            <a:off x="548640" y="6400800"/>
            <a:ext cx="11064240" cy="365760"/>
          </a:xfrm>
          <a:prstGeom prst="rect">
            <a:avLst/>
          </a:prstGeom>
          <a:noFill/>
          <a:ln/>
        </p:spPr>
        <p:txBody>
          <a:bodyPr wrap="square" lIns="0" tIns="0" rIns="0" bIns="0" rtlCol="0" anchor="ctr"/>
          <a:lstStyle/>
          <a:p>
            <a:pPr algn="ctr" indent="0" marL="0">
              <a:buNone/>
            </a:pPr>
            <a:r>
              <a:rPr lang="en-US" sz="1400" b="1" i="1" dirty="0">
                <a:solidFill>
                  <a:srgbClr val="F59E0B"/>
                </a:solidFill>
                <a:latin typeface="Trebuchet MS" pitchFamily="34" charset="0"/>
                <a:ea typeface="Trebuchet MS" pitchFamily="34" charset="-122"/>
                <a:cs typeface="Trebuchet MS" pitchFamily="34" charset="-120"/>
              </a:rPr>
              <a:t>Treat this as a nudge, not a control.</a:t>
            </a:r>
            <a:endParaRPr lang="en-US" sz="1400" dirty="0"/>
          </a:p>
        </p:txBody>
      </p:sp>
      <p:pic>
        <p:nvPicPr>
          <p:cNvPr id="14" name="Image 0" descr="preencoded.png">    </p:cNvPr>
          <p:cNvPicPr>
            <a:picLocks noChangeAspect="1"/>
          </p:cNvPicPr>
          <p:nvPr/>
        </p:nvPicPr>
        <p:blipFill>
          <a:blip r:embed="rId1">
            <a:alphaModFix amt="75000"/>
          </a:blip>
          <a:stretch>
            <a:fillRect/>
          </a:stretch>
        </p:blipFill>
        <p:spPr>
          <a:xfrm>
            <a:off x="9601200" y="274320"/>
            <a:ext cx="2286000" cy="1333722"/>
          </a:xfrm>
          <a:prstGeom prst="rect">
            <a:avLst/>
          </a:prstGeom>
        </p:spPr>
      </p:pic>
      <p:sp>
        <p:nvSpPr>
          <p:cNvPr id="16" name="Text 12"/>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97316"/>
          </a:solidFill>
          <a:ln/>
        </p:spPr>
      </p:sp>
      <p:sp>
        <p:nvSpPr>
          <p:cNvPr id="3" name="Text 1"/>
          <p:cNvSpPr/>
          <p:nvPr/>
        </p:nvSpPr>
        <p:spPr>
          <a:xfrm>
            <a:off x="548640" y="45720"/>
            <a:ext cx="11064240" cy="118872"/>
          </a:xfrm>
          <a:prstGeom prst="rect">
            <a:avLst/>
          </a:prstGeom>
          <a:noFill/>
          <a:ln/>
        </p:spPr>
        <p:txBody>
          <a:bodyPr wrap="square" lIns="0" tIns="0" rIns="0" bIns="0" rtlCol="0" anchor="ctr"/>
          <a:lstStyle/>
          <a:p>
            <a:pPr indent="0" marL="0">
              <a:buNone/>
            </a:pPr>
            <a:r>
              <a:rPr lang="en-US" sz="900" b="1" spc="400" kern="0" dirty="0">
                <a:solidFill>
                  <a:srgbClr val="FFFFFF"/>
                </a:solidFill>
                <a:latin typeface="Trebuchet MS" pitchFamily="34" charset="0"/>
                <a:ea typeface="Trebuchet MS" pitchFamily="34" charset="-122"/>
                <a:cs typeface="Trebuchet MS" pitchFamily="34" charset="-120"/>
              </a:rPr>
              <a:t>LAYER 2 OF 3 · CLIENT-SIDE HOOKS</a:t>
            </a:r>
            <a:endParaRPr lang="en-US" sz="900" dirty="0"/>
          </a:p>
        </p:txBody>
      </p:sp>
      <p:sp>
        <p:nvSpPr>
          <p:cNvPr id="4" name="Text 2"/>
          <p:cNvSpPr/>
          <p:nvPr/>
        </p:nvSpPr>
        <p:spPr>
          <a:xfrm>
            <a:off x="548640" y="365760"/>
            <a:ext cx="10972800" cy="365760"/>
          </a:xfrm>
          <a:prstGeom prst="rect">
            <a:avLst/>
          </a:prstGeom>
          <a:noFill/>
          <a:ln/>
        </p:spPr>
        <p:txBody>
          <a:bodyPr wrap="square" lIns="0" tIns="0" rIns="0" bIns="0" rtlCol="0" anchor="ctr"/>
          <a:lstStyle/>
          <a:p>
            <a:pPr indent="0" marL="0">
              <a:buNone/>
            </a:pPr>
            <a:r>
              <a:rPr lang="en-US" sz="1200" spc="400" kern="0" dirty="0">
                <a:solidFill>
                  <a:srgbClr val="A100FF"/>
                </a:solidFill>
                <a:latin typeface="Calibri" pitchFamily="34" charset="0"/>
                <a:ea typeface="Calibri" pitchFamily="34" charset="-122"/>
                <a:cs typeface="Calibri" pitchFamily="34" charset="-120"/>
              </a:rPr>
              <a:t>AUTHORIZATION  ·  LAYER 2 OF 3</a:t>
            </a:r>
            <a:endParaRPr lang="en-US" sz="12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indent="0" marL="0">
              <a:buNone/>
            </a:pPr>
            <a:r>
              <a:rPr lang="en-US" sz="3200" b="1" dirty="0">
                <a:solidFill>
                  <a:srgbClr val="0F172A"/>
                </a:solidFill>
                <a:latin typeface="Trebuchet MS" pitchFamily="34" charset="0"/>
                <a:ea typeface="Trebuchet MS" pitchFamily="34" charset="-122"/>
                <a:cs typeface="Trebuchet MS" pitchFamily="34" charset="-120"/>
              </a:rPr>
              <a:t>Client-side hooks: the unsung hero</a:t>
            </a:r>
            <a:endParaRPr lang="en-US" sz="3200" dirty="0"/>
          </a:p>
        </p:txBody>
      </p:sp>
      <p:sp>
        <p:nvSpPr>
          <p:cNvPr id="6" name="Text 4"/>
          <p:cNvSpPr/>
          <p:nvPr/>
        </p:nvSpPr>
        <p:spPr>
          <a:xfrm>
            <a:off x="548640" y="1417320"/>
            <a:ext cx="10972800" cy="45720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Sits outside the model's reasoning. Cannot be talked around with prompts. Strong against language attacks. Weak against an agent with shell access and time.</a:t>
            </a:r>
            <a:endParaRPr lang="en-US" sz="1400" dirty="0"/>
          </a:p>
        </p:txBody>
      </p:sp>
      <p:sp>
        <p:nvSpPr>
          <p:cNvPr id="7" name="Shape 5"/>
          <p:cNvSpPr/>
          <p:nvPr/>
        </p:nvSpPr>
        <p:spPr>
          <a:xfrm>
            <a:off x="548640" y="2057400"/>
            <a:ext cx="5486400" cy="4297680"/>
          </a:xfrm>
          <a:prstGeom prst="rect">
            <a:avLst/>
          </a:prstGeom>
          <a:solidFill>
            <a:srgbClr val="FFEDD5"/>
          </a:solidFill>
          <a:ln w="12700">
            <a:solidFill>
              <a:srgbClr val="60A5FA"/>
            </a:solidFill>
            <a:prstDash val="solid"/>
          </a:ln>
        </p:spPr>
      </p:sp>
      <p:sp>
        <p:nvSpPr>
          <p:cNvPr id="8" name="Text 6"/>
          <p:cNvSpPr/>
          <p:nvPr/>
        </p:nvSpPr>
        <p:spPr>
          <a:xfrm>
            <a:off x="777240" y="2194560"/>
            <a:ext cx="5029200" cy="457200"/>
          </a:xfrm>
          <a:prstGeom prst="rect">
            <a:avLst/>
          </a:prstGeom>
          <a:noFill/>
          <a:ln/>
        </p:spPr>
        <p:txBody>
          <a:bodyPr wrap="square" lIns="0" tIns="0" rIns="0" bIns="0" rtlCol="0" anchor="ctr"/>
          <a:lstStyle/>
          <a:p>
            <a:pPr indent="0" marL="0">
              <a:buNone/>
            </a:pPr>
            <a:r>
              <a:rPr lang="en-US" sz="1600" b="1" dirty="0">
                <a:solidFill>
                  <a:srgbClr val="1E40AF"/>
                </a:solidFill>
                <a:latin typeface="Trebuchet MS" pitchFamily="34" charset="0"/>
                <a:ea typeface="Trebuchet MS" pitchFamily="34" charset="-122"/>
                <a:cs typeface="Trebuchet MS" pitchFamily="34" charset="-120"/>
              </a:rPr>
              <a:t>What you should do</a:t>
            </a:r>
            <a:endParaRPr lang="en-US" sz="1600" dirty="0"/>
          </a:p>
        </p:txBody>
      </p:sp>
      <p:sp>
        <p:nvSpPr>
          <p:cNvPr id="9" name="Text 7"/>
          <p:cNvSpPr/>
          <p:nvPr/>
        </p:nvSpPr>
        <p:spPr>
          <a:xfrm>
            <a:off x="777240" y="2697480"/>
            <a:ext cx="5029200" cy="356616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--allowedTools allowlist</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PreToolUse pattern hooks</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Pre-commit hooks on protected paths</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Operator owns the config</a:t>
            </a:r>
            <a:endParaRPr lang="en-US" sz="1700" dirty="0"/>
          </a:p>
        </p:txBody>
      </p:sp>
      <p:sp>
        <p:nvSpPr>
          <p:cNvPr id="10" name="Shape 8"/>
          <p:cNvSpPr/>
          <p:nvPr/>
        </p:nvSpPr>
        <p:spPr>
          <a:xfrm>
            <a:off x="6309360" y="2057400"/>
            <a:ext cx="5303520" cy="4297680"/>
          </a:xfrm>
          <a:prstGeom prst="rect">
            <a:avLst/>
          </a:prstGeom>
          <a:solidFill>
            <a:srgbClr val="FEE2E2"/>
          </a:solidFill>
          <a:ln w="12700">
            <a:solidFill>
              <a:srgbClr val="FCA5A5"/>
            </a:solidFill>
            <a:prstDash val="solid"/>
          </a:ln>
        </p:spPr>
      </p:sp>
      <p:sp>
        <p:nvSpPr>
          <p:cNvPr id="11" name="Text 9"/>
          <p:cNvSpPr/>
          <p:nvPr/>
        </p:nvSpPr>
        <p:spPr>
          <a:xfrm>
            <a:off x="6537960" y="2194560"/>
            <a:ext cx="4937760" cy="457200"/>
          </a:xfrm>
          <a:prstGeom prst="rect">
            <a:avLst/>
          </a:prstGeom>
          <a:noFill/>
          <a:ln/>
        </p:spPr>
        <p:txBody>
          <a:bodyPr wrap="square" lIns="0" tIns="0" rIns="0" bIns="0" rtlCol="0" anchor="ctr"/>
          <a:lstStyle/>
          <a:p>
            <a:pPr indent="0" marL="0">
              <a:buNone/>
            </a:pPr>
            <a:r>
              <a:rPr lang="en-US" sz="1600" b="1" dirty="0">
                <a:solidFill>
                  <a:srgbClr val="DC2626"/>
                </a:solidFill>
                <a:latin typeface="Trebuchet MS" pitchFamily="34" charset="0"/>
                <a:ea typeface="Trebuchet MS" pitchFamily="34" charset="-122"/>
                <a:cs typeface="Trebuchet MS" pitchFamily="34" charset="-120"/>
              </a:rPr>
              <a:t>How it gets bypassed</a:t>
            </a:r>
            <a:endParaRPr lang="en-US" sz="1600" dirty="0"/>
          </a:p>
        </p:txBody>
      </p:sp>
      <p:sp>
        <p:nvSpPr>
          <p:cNvPr id="12" name="Text 10"/>
          <p:cNvSpPr/>
          <p:nvPr/>
        </p:nvSpPr>
        <p:spPr>
          <a:xfrm>
            <a:off x="6537960" y="2697480"/>
            <a:ext cx="4937760" cy="356616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git commit --no-verify</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Command obfuscation</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Equivalent commands</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Filesystem tampering</a:t>
            </a:r>
            <a:endParaRPr lang="en-US" sz="1700" dirty="0"/>
          </a:p>
        </p:txBody>
      </p:sp>
      <p:sp>
        <p:nvSpPr>
          <p:cNvPr id="13" name="Text 11"/>
          <p:cNvSpPr/>
          <p:nvPr/>
        </p:nvSpPr>
        <p:spPr>
          <a:xfrm>
            <a:off x="548640" y="6446520"/>
            <a:ext cx="11064240" cy="365760"/>
          </a:xfrm>
          <a:prstGeom prst="rect">
            <a:avLst/>
          </a:prstGeom>
          <a:noFill/>
          <a:ln/>
        </p:spPr>
        <p:txBody>
          <a:bodyPr wrap="square" lIns="0" tIns="0" rIns="0" bIns="0" rtlCol="0" anchor="ctr"/>
          <a:lstStyle/>
          <a:p>
            <a:pPr algn="ctr" indent="0" marL="0">
              <a:buNone/>
            </a:pPr>
            <a:r>
              <a:rPr lang="en-US" sz="1400" b="1" i="1" dirty="0">
                <a:solidFill>
                  <a:srgbClr val="1E40AF"/>
                </a:solidFill>
                <a:latin typeface="Trebuchet MS" pitchFamily="34" charset="0"/>
                <a:ea typeface="Trebuchet MS" pitchFamily="34" charset="-122"/>
                <a:cs typeface="Trebuchet MS" pitchFamily="34" charset="-120"/>
              </a:rPr>
              <a:t>Catches casual misuse. Don't put your one bet here.</a:t>
            </a:r>
            <a:endParaRPr lang="en-US" sz="1400" dirty="0"/>
          </a:p>
        </p:txBody>
      </p:sp>
      <p:pic>
        <p:nvPicPr>
          <p:cNvPr id="14" name="Image 0" descr="preencoded.png">    </p:cNvPr>
          <p:cNvPicPr>
            <a:picLocks noChangeAspect="1"/>
          </p:cNvPicPr>
          <p:nvPr/>
        </p:nvPicPr>
        <p:blipFill>
          <a:blip r:embed="rId1">
            <a:alphaModFix amt="75000"/>
          </a:blip>
          <a:stretch>
            <a:fillRect/>
          </a:stretch>
        </p:blipFill>
        <p:spPr>
          <a:xfrm>
            <a:off x="9601200" y="274320"/>
            <a:ext cx="2286000" cy="1333722"/>
          </a:xfrm>
          <a:prstGeom prst="rect">
            <a:avLst/>
          </a:prstGeom>
        </p:spPr>
      </p:pic>
      <p:sp>
        <p:nvSpPr>
          <p:cNvPr id="16" name="Text 12"/>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59669"/>
          </a:solidFill>
          <a:ln/>
        </p:spPr>
      </p:sp>
      <p:sp>
        <p:nvSpPr>
          <p:cNvPr id="3" name="Text 1"/>
          <p:cNvSpPr/>
          <p:nvPr/>
        </p:nvSpPr>
        <p:spPr>
          <a:xfrm>
            <a:off x="548640" y="45720"/>
            <a:ext cx="11064240" cy="118872"/>
          </a:xfrm>
          <a:prstGeom prst="rect">
            <a:avLst/>
          </a:prstGeom>
          <a:noFill/>
          <a:ln/>
        </p:spPr>
        <p:txBody>
          <a:bodyPr wrap="square" lIns="0" tIns="0" rIns="0" bIns="0" rtlCol="0" anchor="ctr"/>
          <a:lstStyle/>
          <a:p>
            <a:pPr indent="0" marL="0">
              <a:buNone/>
            </a:pPr>
            <a:r>
              <a:rPr lang="en-US" sz="900" b="1" spc="400" kern="0" dirty="0">
                <a:solidFill>
                  <a:srgbClr val="FFFFFF"/>
                </a:solidFill>
                <a:latin typeface="Trebuchet MS" pitchFamily="34" charset="0"/>
                <a:ea typeface="Trebuchet MS" pitchFamily="34" charset="-122"/>
                <a:cs typeface="Trebuchet MS" pitchFamily="34" charset="-120"/>
              </a:rPr>
              <a:t>LAYER 3 OF 3 · SERVER-SIDE (STRONGEST)</a:t>
            </a:r>
            <a:endParaRPr lang="en-US" sz="900" dirty="0"/>
          </a:p>
        </p:txBody>
      </p:sp>
      <p:sp>
        <p:nvSpPr>
          <p:cNvPr id="4" name="Text 2"/>
          <p:cNvSpPr/>
          <p:nvPr/>
        </p:nvSpPr>
        <p:spPr>
          <a:xfrm>
            <a:off x="548640" y="365760"/>
            <a:ext cx="10972800" cy="365760"/>
          </a:xfrm>
          <a:prstGeom prst="rect">
            <a:avLst/>
          </a:prstGeom>
          <a:noFill/>
          <a:ln/>
        </p:spPr>
        <p:txBody>
          <a:bodyPr wrap="square" lIns="0" tIns="0" rIns="0" bIns="0" rtlCol="0" anchor="ctr"/>
          <a:lstStyle/>
          <a:p>
            <a:pPr indent="0" marL="0">
              <a:buNone/>
            </a:pPr>
            <a:r>
              <a:rPr lang="en-US" sz="1200" spc="400" kern="0" dirty="0">
                <a:solidFill>
                  <a:srgbClr val="A100FF"/>
                </a:solidFill>
                <a:latin typeface="Calibri" pitchFamily="34" charset="0"/>
                <a:ea typeface="Calibri" pitchFamily="34" charset="-122"/>
                <a:cs typeface="Calibri" pitchFamily="34" charset="-120"/>
              </a:rPr>
              <a:t>AUTHORIZATION  ·  LAYER 3 OF 3</a:t>
            </a:r>
            <a:endParaRPr lang="en-US" sz="1200" dirty="0"/>
          </a:p>
        </p:txBody>
      </p:sp>
      <p:sp>
        <p:nvSpPr>
          <p:cNvPr id="5" name="Text 3"/>
          <p:cNvSpPr/>
          <p:nvPr/>
        </p:nvSpPr>
        <p:spPr>
          <a:xfrm>
            <a:off x="548640" y="77724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Server-side: where the rubber meets the road</a:t>
            </a:r>
            <a:endParaRPr lang="en-US" sz="3000" dirty="0"/>
          </a:p>
        </p:txBody>
      </p:sp>
      <p:sp>
        <p:nvSpPr>
          <p:cNvPr id="6" name="Text 4"/>
          <p:cNvSpPr/>
          <p:nvPr/>
        </p:nvSpPr>
        <p:spPr>
          <a:xfrm>
            <a:off x="548640" y="1417320"/>
            <a:ext cx="1097280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Lives on the target system, not the agent. Outside the agent's normal operating envelope.</a:t>
            </a:r>
            <a:endParaRPr lang="en-US" sz="1400" dirty="0"/>
          </a:p>
        </p:txBody>
      </p:sp>
      <p:sp>
        <p:nvSpPr>
          <p:cNvPr id="7" name="Shape 5"/>
          <p:cNvSpPr/>
          <p:nvPr/>
        </p:nvSpPr>
        <p:spPr>
          <a:xfrm>
            <a:off x="548640" y="2011680"/>
            <a:ext cx="5486400" cy="4297680"/>
          </a:xfrm>
          <a:prstGeom prst="rect">
            <a:avLst/>
          </a:prstGeom>
          <a:solidFill>
            <a:srgbClr val="D1FAE5"/>
          </a:solidFill>
          <a:ln w="12700">
            <a:solidFill>
              <a:srgbClr val="34D399"/>
            </a:solidFill>
            <a:prstDash val="solid"/>
          </a:ln>
        </p:spPr>
      </p:sp>
      <p:sp>
        <p:nvSpPr>
          <p:cNvPr id="8" name="Text 6"/>
          <p:cNvSpPr/>
          <p:nvPr/>
        </p:nvSpPr>
        <p:spPr>
          <a:xfrm>
            <a:off x="777240" y="2148840"/>
            <a:ext cx="5029200" cy="457200"/>
          </a:xfrm>
          <a:prstGeom prst="rect">
            <a:avLst/>
          </a:prstGeom>
          <a:noFill/>
          <a:ln/>
        </p:spPr>
        <p:txBody>
          <a:bodyPr wrap="square" lIns="0" tIns="0" rIns="0" bIns="0" rtlCol="0" anchor="ctr"/>
          <a:lstStyle/>
          <a:p>
            <a:pPr indent="0" marL="0">
              <a:buNone/>
            </a:pPr>
            <a:r>
              <a:rPr lang="en-US" sz="1600" b="1" dirty="0">
                <a:solidFill>
                  <a:srgbClr val="065F46"/>
                </a:solidFill>
                <a:latin typeface="Trebuchet MS" pitchFamily="34" charset="0"/>
                <a:ea typeface="Trebuchet MS" pitchFamily="34" charset="-122"/>
                <a:cs typeface="Trebuchet MS" pitchFamily="34" charset="-120"/>
              </a:rPr>
              <a:t>What you must do</a:t>
            </a:r>
            <a:endParaRPr lang="en-US" sz="1600" dirty="0"/>
          </a:p>
        </p:txBody>
      </p:sp>
      <p:sp>
        <p:nvSpPr>
          <p:cNvPr id="9" name="Text 7"/>
          <p:cNvSpPr/>
          <p:nvPr/>
        </p:nvSpPr>
        <p:spPr>
          <a:xfrm>
            <a:off x="777240" y="2697480"/>
            <a:ext cx="5029200" cy="356616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Scoped RBAC roles, never Cluster</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IAM scoped to ARN</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Kyverno / OPA admission</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Deny * verbs, deny prod namespaces</a:t>
            </a:r>
            <a:endParaRPr lang="en-US" sz="1700" dirty="0"/>
          </a:p>
        </p:txBody>
      </p:sp>
      <p:sp>
        <p:nvSpPr>
          <p:cNvPr id="10" name="Shape 8"/>
          <p:cNvSpPr/>
          <p:nvPr/>
        </p:nvSpPr>
        <p:spPr>
          <a:xfrm>
            <a:off x="6309360" y="2011680"/>
            <a:ext cx="5303520" cy="4297680"/>
          </a:xfrm>
          <a:prstGeom prst="rect">
            <a:avLst/>
          </a:prstGeom>
          <a:solidFill>
            <a:srgbClr val="FEE2E2"/>
          </a:solidFill>
          <a:ln w="12700">
            <a:solidFill>
              <a:srgbClr val="FCA5A5"/>
            </a:solidFill>
            <a:prstDash val="solid"/>
          </a:ln>
        </p:spPr>
      </p:sp>
      <p:sp>
        <p:nvSpPr>
          <p:cNvPr id="11" name="Text 9"/>
          <p:cNvSpPr/>
          <p:nvPr/>
        </p:nvSpPr>
        <p:spPr>
          <a:xfrm>
            <a:off x="6537960" y="2148840"/>
            <a:ext cx="4937760" cy="457200"/>
          </a:xfrm>
          <a:prstGeom prst="rect">
            <a:avLst/>
          </a:prstGeom>
          <a:noFill/>
          <a:ln/>
        </p:spPr>
        <p:txBody>
          <a:bodyPr wrap="square" lIns="0" tIns="0" rIns="0" bIns="0" rtlCol="0" anchor="ctr"/>
          <a:lstStyle/>
          <a:p>
            <a:pPr indent="0" marL="0">
              <a:buNone/>
            </a:pPr>
            <a:r>
              <a:rPr lang="en-US" sz="1600" b="1" dirty="0">
                <a:solidFill>
                  <a:srgbClr val="DC2626"/>
                </a:solidFill>
                <a:latin typeface="Trebuchet MS" pitchFamily="34" charset="0"/>
                <a:ea typeface="Trebuchet MS" pitchFamily="34" charset="-122"/>
                <a:cs typeface="Trebuchet MS" pitchFamily="34" charset="-120"/>
              </a:rPr>
              <a:t>How it (still) gets bypassed</a:t>
            </a:r>
            <a:endParaRPr lang="en-US" sz="1600" dirty="0"/>
          </a:p>
        </p:txBody>
      </p:sp>
      <p:sp>
        <p:nvSpPr>
          <p:cNvPr id="12" name="Text 10"/>
          <p:cNvSpPr/>
          <p:nvPr/>
        </p:nvSpPr>
        <p:spPr>
          <a:xfrm>
            <a:off x="6537960" y="2697480"/>
            <a:ext cx="4937760" cy="356616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Privilege escalation</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Token theft within TTL</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Policy logic bugs</a:t>
            </a:r>
            <a:endParaRPr lang="en-US" sz="1700" dirty="0"/>
          </a:p>
          <a:p>
            <a:pPr marL="342900" indent="-342900">
              <a:spcAft>
                <a:spcPts val="1400"/>
              </a:spcAft>
              <a:buSzPct val="100000"/>
              <a:buChar char="•"/>
            </a:pPr>
            <a:r>
              <a:rPr lang="en-US" sz="1700" dirty="0">
                <a:solidFill>
                  <a:srgbClr val="0F172A"/>
                </a:solidFill>
                <a:latin typeface="Calibri" pitchFamily="34" charset="0"/>
                <a:ea typeface="Calibri" pitchFamily="34" charset="-122"/>
                <a:cs typeface="Calibri" pitchFamily="34" charset="-120"/>
              </a:rPr>
              <a:t>Operator manipulation</a:t>
            </a:r>
            <a:endParaRPr lang="en-US" sz="1700" dirty="0"/>
          </a:p>
        </p:txBody>
      </p:sp>
      <p:sp>
        <p:nvSpPr>
          <p:cNvPr id="13" name="Text 11"/>
          <p:cNvSpPr/>
          <p:nvPr/>
        </p:nvSpPr>
        <p:spPr>
          <a:xfrm>
            <a:off x="548640" y="6400800"/>
            <a:ext cx="11064240" cy="365760"/>
          </a:xfrm>
          <a:prstGeom prst="rect">
            <a:avLst/>
          </a:prstGeom>
          <a:noFill/>
          <a:ln/>
        </p:spPr>
        <p:txBody>
          <a:bodyPr wrap="square" lIns="0" tIns="0" rIns="0" bIns="0" rtlCol="0" anchor="ctr"/>
          <a:lstStyle/>
          <a:p>
            <a:pPr algn="ctr" indent="0" marL="0">
              <a:buNone/>
            </a:pPr>
            <a:r>
              <a:rPr lang="en-US" sz="1400" b="1" i="1" dirty="0">
                <a:solidFill>
                  <a:srgbClr val="059669"/>
                </a:solidFill>
                <a:latin typeface="Trebuchet MS" pitchFamily="34" charset="0"/>
                <a:ea typeface="Trebuchet MS" pitchFamily="34" charset="-122"/>
                <a:cs typeface="Trebuchet MS" pitchFamily="34" charset="-120"/>
              </a:rPr>
              <a:t>Unbypassable from inside the agent's process. Compromise requires a separate principal.</a:t>
            </a:r>
            <a:endParaRPr lang="en-US" sz="1400" dirty="0"/>
          </a:p>
        </p:txBody>
      </p:sp>
      <p:pic>
        <p:nvPicPr>
          <p:cNvPr id="14" name="Image 0" descr="preencoded.png">    </p:cNvPr>
          <p:cNvPicPr>
            <a:picLocks noChangeAspect="1"/>
          </p:cNvPicPr>
          <p:nvPr/>
        </p:nvPicPr>
        <p:blipFill>
          <a:blip r:embed="rId1">
            <a:alphaModFix amt="70000"/>
          </a:blip>
          <a:stretch>
            <a:fillRect/>
          </a:stretch>
        </p:blipFill>
        <p:spPr>
          <a:xfrm>
            <a:off x="10424160" y="365760"/>
            <a:ext cx="1463040" cy="853582"/>
          </a:xfrm>
          <a:prstGeom prst="rect">
            <a:avLst/>
          </a:prstGeom>
        </p:spPr>
      </p:pic>
      <p:sp>
        <p:nvSpPr>
          <p:cNvPr id="16" name="Text 12"/>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Whether you're orchestrating SageMaker pipelines or wrangling Vertex AI...</a:t>
            </a:r>
            <a:endParaRPr lang="en-US" sz="2200" dirty="0"/>
          </a:p>
        </p:txBody>
      </p:sp>
      <p:sp>
        <p:nvSpPr>
          <p:cNvPr id="3" name="Text 1"/>
          <p:cNvSpPr/>
          <p:nvPr/>
        </p:nvSpPr>
        <p:spPr>
          <a:xfrm>
            <a:off x="548640" y="914400"/>
            <a:ext cx="1097280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principles remain the same. Same matrix, two vocabularies.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206240"/>
        </p:xfrm>
        <a:graphic>
          <a:graphicData uri="http://schemas.openxmlformats.org/drawingml/2006/table">
            <a:tbl>
              <a:tblPr/>
              <a:tblGrid>
                <a:gridCol w="1828800"/>
                <a:gridCol w="4114800"/>
                <a:gridCol w="5120640"/>
              </a:tblGrid>
              <a:tr h="105156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Layer</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K8s-native</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MLOps-native</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1051560">
                <a:tc>
                  <a:txBody>
                    <a:bodyPr/>
                    <a:lstStyle/>
                    <a:p>
                      <a:pPr indent="0" marL="0">
                        <a:buNone/>
                      </a:pPr>
                      <a:r>
                        <a:rPr lang="en-US" sz="1600" b="1" dirty="0">
                          <a:solidFill>
                            <a:srgbClr val="0F172A"/>
                          </a:solidFill>
                          <a:latin typeface="Calibri" pitchFamily="34" charset="0"/>
                          <a:ea typeface="Calibri" pitchFamily="34" charset="-122"/>
                          <a:cs typeface="Calibri" pitchFamily="34" charset="-120"/>
                        </a:rPr>
                        <a:t>In-agent</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3C7"/>
                    </a:solidFill>
                  </a:tcPr>
                </a:tc>
                <a:tc>
                  <a:txBody>
                    <a:bodyPr/>
                    <a:lstStyle/>
                    <a:p>
                      <a:pPr indent="0" marL="0">
                        <a:buNone/>
                      </a:pPr>
                      <a:r>
                        <a:rPr lang="en-US" sz="1600" dirty="0">
                          <a:solidFill>
                            <a:srgbClr val="0F172A"/>
                          </a:solidFill>
                          <a:latin typeface="Calibri" pitchFamily="34" charset="0"/>
                          <a:ea typeface="Calibri" pitchFamily="34" charset="-122"/>
                          <a:cs typeface="Calibri" pitchFamily="34" charset="-120"/>
                        </a:rPr>
                        <a:t>"Don't modify prod" prompts</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rgbClr val="0F172A"/>
                          </a:solidFill>
                          <a:latin typeface="Calibri" pitchFamily="34" charset="0"/>
                          <a:ea typeface="Calibri" pitchFamily="34" charset="-122"/>
                          <a:cs typeface="Calibri" pitchFamily="34" charset="-120"/>
                        </a:rPr>
                        <a:t>Prompt names allowed registries</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1051560">
                <a:tc>
                  <a:txBody>
                    <a:bodyPr/>
                    <a:lstStyle/>
                    <a:p>
                      <a:pPr indent="0" marL="0">
                        <a:buNone/>
                      </a:pPr>
                      <a:r>
                        <a:rPr lang="en-US" sz="1600" b="1" dirty="0">
                          <a:solidFill>
                            <a:srgbClr val="0F172A"/>
                          </a:solidFill>
                          <a:latin typeface="Calibri" pitchFamily="34" charset="0"/>
                          <a:ea typeface="Calibri" pitchFamily="34" charset="-122"/>
                          <a:cs typeface="Calibri" pitchFamily="34" charset="-120"/>
                        </a:rPr>
                        <a:t>Client-side hooks</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EDD5"/>
                    </a:solidFill>
                  </a:tcPr>
                </a:tc>
                <a:tc>
                  <a:txBody>
                    <a:bodyPr/>
                    <a:lstStyle/>
                    <a:p>
                      <a:pPr indent="0" marL="0">
                        <a:buNone/>
                      </a:pPr>
                      <a:r>
                        <a:rPr lang="en-US" sz="1600" dirty="0">
                          <a:solidFill>
                            <a:srgbClr val="0F172A"/>
                          </a:solidFill>
                          <a:latin typeface="Calibri" pitchFamily="34" charset="0"/>
                          <a:ea typeface="Calibri" pitchFamily="34" charset="-122"/>
                          <a:cs typeface="Calibri" pitchFamily="34" charset="-120"/>
                        </a:rPr>
                        <a:t>PreToolUse hooks, allowlists</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rgbClr val="0F172A"/>
                          </a:solidFill>
                          <a:latin typeface="Calibri" pitchFamily="34" charset="0"/>
                          <a:ea typeface="Calibri" pitchFamily="34" charset="-122"/>
                          <a:cs typeface="Calibri" pitchFamily="34" charset="-120"/>
                        </a:rPr>
                        <a:t>MLflow client wrapper, SDK allowlist</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1051560">
                <a:tc>
                  <a:txBody>
                    <a:bodyPr/>
                    <a:lstStyle/>
                    <a:p>
                      <a:pPr indent="0" marL="0">
                        <a:buNone/>
                      </a:pPr>
                      <a:r>
                        <a:rPr lang="en-US" sz="1600" b="1" dirty="0">
                          <a:solidFill>
                            <a:srgbClr val="0F172A"/>
                          </a:solidFill>
                          <a:latin typeface="Calibri" pitchFamily="34" charset="0"/>
                          <a:ea typeface="Calibri" pitchFamily="34" charset="-122"/>
                          <a:cs typeface="Calibri" pitchFamily="34" charset="-120"/>
                        </a:rPr>
                        <a:t>Server-side</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1FAE5"/>
                    </a:solidFill>
                  </a:tcPr>
                </a:tc>
                <a:tc>
                  <a:txBody>
                    <a:bodyPr/>
                    <a:lstStyle/>
                    <a:p>
                      <a:pPr indent="0" marL="0">
                        <a:buNone/>
                      </a:pPr>
                      <a:r>
                        <a:rPr lang="en-US" sz="1600" dirty="0">
                          <a:solidFill>
                            <a:srgbClr val="0F172A"/>
                          </a:solidFill>
                          <a:latin typeface="Calibri" pitchFamily="34" charset="0"/>
                          <a:ea typeface="Calibri" pitchFamily="34" charset="-122"/>
                          <a:cs typeface="Calibri" pitchFamily="34" charset="-120"/>
                        </a:rPr>
                        <a:t>RBAC, Kyverno admission</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rgbClr val="0F172A"/>
                          </a:solidFill>
                          <a:latin typeface="Calibri" pitchFamily="34" charset="0"/>
                          <a:ea typeface="Calibri" pitchFamily="34" charset="-122"/>
                          <a:cs typeface="Calibri" pitchFamily="34" charset="-120"/>
                        </a:rPr>
                        <a:t>SageMaker exec role, registry stage policy</a:t>
                      </a:r>
                      <a:endParaRPr lang="en-US" sz="16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5943600"/>
            <a:ext cx="11064240" cy="548640"/>
          </a:xfrm>
          <a:prstGeom prst="rect">
            <a:avLst/>
          </a:prstGeom>
          <a:noFill/>
          <a:ln/>
        </p:spPr>
        <p:txBody>
          <a:bodyPr wrap="square" lIns="0" tIns="0" rIns="0" bIns="0" rtlCol="0" anchor="ctr"/>
          <a:lstStyle/>
          <a:p>
            <a:pPr algn="ctr" indent="0" marL="0">
              <a:buNone/>
            </a:pPr>
            <a:r>
              <a:rPr lang="en-US" sz="1400" i="1" dirty="0">
                <a:solidFill>
                  <a:srgbClr val="A100FF"/>
                </a:solidFill>
                <a:latin typeface="Calibri" pitchFamily="34" charset="0"/>
                <a:ea typeface="Calibri" pitchFamily="34" charset="-122"/>
                <a:cs typeface="Calibri" pitchFamily="34" charset="-120"/>
              </a:rPr>
              <a:t>If you don't run Kubernetes, the matrix still applies. The pattern is the same: model says one thing, client wrapper does another, registry or IAM is the actual enforcement.</a:t>
            </a:r>
            <a:endParaRPr lang="en-US" sz="1400" dirty="0"/>
          </a:p>
        </p:txBody>
      </p:sp>
      <p:sp>
        <p:nvSpPr>
          <p:cNvPr id="6" name="Text 3"/>
          <p:cNvSpPr/>
          <p:nvPr/>
        </p:nvSpPr>
        <p:spPr>
          <a:xfrm>
            <a:off x="457200" y="653796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LLMday Austin · May 12, 2026</a:t>
            </a:r>
            <a:endParaRPr lang="en-US" sz="900" dirty="0"/>
          </a:p>
        </p:txBody>
      </p:sp>
      <p:sp>
        <p:nvSpPr>
          <p:cNvPr id="8" name="Text 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Rounding out the matrix: the other four concerns</a:t>
            </a:r>
            <a:endParaRPr lang="en-US" sz="2600" dirty="0"/>
          </a:p>
        </p:txBody>
      </p:sp>
      <p:sp>
        <p:nvSpPr>
          <p:cNvPr id="3" name="Text 1"/>
          <p:cNvSpPr/>
          <p:nvPr/>
        </p:nvSpPr>
        <p:spPr>
          <a:xfrm>
            <a:off x="548640" y="960120"/>
            <a:ext cx="109728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Top hits only. Full matrix in the resources slide.</a:t>
            </a:r>
            <a:endParaRPr lang="en-US" sz="1300" dirty="0"/>
          </a:p>
        </p:txBody>
      </p:sp>
      <p:pic>
        <p:nvPicPr>
          <p:cNvPr id="4" name="Image 0" descr="preencoded.png">    </p:cNvPr>
          <p:cNvPicPr>
            <a:picLocks noChangeAspect="1"/>
          </p:cNvPicPr>
          <p:nvPr/>
        </p:nvPicPr>
        <p:blipFill>
          <a:blip r:embed="rId1"/>
          <a:stretch>
            <a:fillRect/>
          </a:stretch>
        </p:blipFill>
        <p:spPr>
          <a:xfrm>
            <a:off x="457200" y="1417320"/>
            <a:ext cx="11247120" cy="4846320"/>
          </a:xfrm>
          <a:prstGeom prst="rect">
            <a:avLst/>
          </a:prstGeom>
        </p:spPr>
      </p:pic>
      <p:sp>
        <p:nvSpPr>
          <p:cNvPr id="5" name="Text 2"/>
          <p:cNvSpPr/>
          <p:nvPr/>
        </p:nvSpPr>
        <p:spPr>
          <a:xfrm>
            <a:off x="548640" y="6355080"/>
            <a:ext cx="11064240" cy="365760"/>
          </a:xfrm>
          <a:prstGeom prst="rect">
            <a:avLst/>
          </a:prstGeom>
          <a:noFill/>
          <a:ln/>
        </p:spPr>
        <p:txBody>
          <a:bodyPr wrap="square" lIns="0" tIns="0" rIns="0" bIns="0" rtlCol="0" anchor="ctr"/>
          <a:lstStyle/>
          <a:p>
            <a:pPr algn="ctr" indent="0" marL="0">
              <a:buNone/>
            </a:pPr>
            <a:r>
              <a:rPr lang="en-US" sz="1300" i="1" dirty="0">
                <a:solidFill>
                  <a:srgbClr val="A100FF"/>
                </a:solidFill>
                <a:latin typeface="Calibri" pitchFamily="34" charset="0"/>
                <a:ea typeface="Calibri" pitchFamily="34" charset="-122"/>
                <a:cs typeface="Calibri" pitchFamily="34" charset="-120"/>
              </a:rPr>
              <a:t>The full matrix translates the same way. The pattern is the pattern.</a:t>
            </a:r>
            <a:endParaRPr lang="en-US" sz="1300" dirty="0"/>
          </a:p>
        </p:txBody>
      </p:sp>
      <p:sp>
        <p:nvSpPr>
          <p:cNvPr id="7" name="Text 3"/>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19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lIns="0" tIns="0" rIns="0" bIns="0" rtlCol="0" anchor="ctr"/>
          <a:lstStyle/>
          <a:p>
            <a:pPr indent="0" marL="0">
              <a:buNone/>
            </a:pPr>
            <a:r>
              <a:rPr lang="en-US" sz="2000" i="1" dirty="0">
                <a:solidFill>
                  <a:srgbClr val="64748B"/>
                </a:solidFill>
                <a:latin typeface="Calibri" pitchFamily="34" charset="0"/>
                <a:ea typeface="Calibri" pitchFamily="34" charset="-122"/>
                <a:cs typeface="Calibri" pitchFamily="34" charset="-120"/>
              </a:rPr>
              <a:t>Now go back to the incident.</a:t>
            </a:r>
            <a:endParaRPr lang="en-US" sz="2000" dirty="0"/>
          </a:p>
        </p:txBody>
      </p:sp>
      <p:sp>
        <p:nvSpPr>
          <p:cNvPr id="3" name="Text 1"/>
          <p:cNvSpPr/>
          <p:nvPr/>
        </p:nvSpPr>
        <p:spPr>
          <a:xfrm>
            <a:off x="548640" y="914400"/>
            <a:ext cx="1828800" cy="731520"/>
          </a:xfrm>
          <a:prstGeom prst="rect">
            <a:avLst/>
          </a:prstGeom>
          <a:noFill/>
          <a:ln/>
        </p:spPr>
        <p:txBody>
          <a:bodyPr wrap="square" lIns="0" tIns="0" rIns="0" bIns="0" rtlCol="0" anchor="ctr"/>
          <a:lstStyle/>
          <a:p>
            <a:pPr indent="0" marL="0">
              <a:buNone/>
            </a:pPr>
            <a:r>
              <a:rPr lang="en-US" sz="3600" b="1" dirty="0">
                <a:solidFill>
                  <a:srgbClr val="0F172A"/>
                </a:solidFill>
                <a:latin typeface="Trebuchet MS" pitchFamily="34" charset="0"/>
                <a:ea typeface="Trebuchet MS" pitchFamily="34" charset="-122"/>
                <a:cs typeface="Trebuchet MS" pitchFamily="34" charset="-120"/>
              </a:rPr>
              <a:t>What </a:t>
            </a:r>
            <a:endParaRPr lang="en-US" sz="3600" dirty="0"/>
          </a:p>
        </p:txBody>
      </p:sp>
      <p:sp>
        <p:nvSpPr>
          <p:cNvPr id="4" name="Text 2"/>
          <p:cNvSpPr/>
          <p:nvPr/>
        </p:nvSpPr>
        <p:spPr>
          <a:xfrm>
            <a:off x="2011680" y="914400"/>
            <a:ext cx="2286000" cy="731520"/>
          </a:xfrm>
          <a:prstGeom prst="rect">
            <a:avLst/>
          </a:prstGeom>
          <a:noFill/>
          <a:ln/>
        </p:spPr>
        <p:txBody>
          <a:bodyPr wrap="square" lIns="0" tIns="0" rIns="0" bIns="0" rtlCol="0" anchor="ctr"/>
          <a:lstStyle/>
          <a:p>
            <a:pPr indent="0" marL="0">
              <a:buNone/>
            </a:pPr>
            <a:r>
              <a:rPr lang="en-US" sz="3600" b="1" i="1" dirty="0">
                <a:solidFill>
                  <a:srgbClr val="A100FF"/>
                </a:solidFill>
                <a:latin typeface="Trebuchet MS" pitchFamily="34" charset="0"/>
                <a:ea typeface="Trebuchet MS" pitchFamily="34" charset="-122"/>
                <a:cs typeface="Trebuchet MS" pitchFamily="34" charset="-120"/>
              </a:rPr>
              <a:t>would</a:t>
            </a:r>
            <a:endParaRPr lang="en-US" sz="3600" dirty="0"/>
          </a:p>
        </p:txBody>
      </p:sp>
      <p:sp>
        <p:nvSpPr>
          <p:cNvPr id="5" name="Text 3"/>
          <p:cNvSpPr/>
          <p:nvPr/>
        </p:nvSpPr>
        <p:spPr>
          <a:xfrm>
            <a:off x="4297680" y="914400"/>
            <a:ext cx="7315200" cy="731520"/>
          </a:xfrm>
          <a:prstGeom prst="rect">
            <a:avLst/>
          </a:prstGeom>
          <a:noFill/>
          <a:ln/>
        </p:spPr>
        <p:txBody>
          <a:bodyPr wrap="square" lIns="0" tIns="0" rIns="0" bIns="0" rtlCol="0" anchor="ctr"/>
          <a:lstStyle/>
          <a:p>
            <a:pPr indent="0" marL="0">
              <a:buNone/>
            </a:pPr>
            <a:r>
              <a:rPr lang="en-US" sz="3600" b="1" dirty="0">
                <a:solidFill>
                  <a:srgbClr val="0F172A"/>
                </a:solidFill>
                <a:latin typeface="Trebuchet MS" pitchFamily="34" charset="0"/>
                <a:ea typeface="Trebuchet MS" pitchFamily="34" charset="-122"/>
                <a:cs typeface="Trebuchet MS" pitchFamily="34" charset="-120"/>
              </a:rPr>
              <a:t> have stopped it?</a:t>
            </a:r>
            <a:endParaRPr lang="en-US" sz="3600" dirty="0"/>
          </a:p>
        </p:txBody>
      </p:sp>
      <p:pic>
        <p:nvPicPr>
          <p:cNvPr id="6" name="Image 0" descr="preencoded.png">    </p:cNvPr>
          <p:cNvPicPr>
            <a:picLocks noChangeAspect="1"/>
          </p:cNvPicPr>
          <p:nvPr/>
        </p:nvPicPr>
        <p:blipFill>
          <a:blip r:embed="rId1"/>
          <a:stretch>
            <a:fillRect/>
          </a:stretch>
        </p:blipFill>
        <p:spPr>
          <a:xfrm>
            <a:off x="274320" y="1783080"/>
            <a:ext cx="11612880" cy="4206240"/>
          </a:xfrm>
          <a:prstGeom prst="rect">
            <a:avLst/>
          </a:prstGeom>
        </p:spPr>
      </p:pic>
      <p:sp>
        <p:nvSpPr>
          <p:cNvPr id="7" name="Text 4"/>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1600" i="1" dirty="0">
                <a:solidFill>
                  <a:srgbClr val="A100FF"/>
                </a:solidFill>
                <a:latin typeface="Calibri" pitchFamily="34" charset="0"/>
                <a:ea typeface="Calibri" pitchFamily="34" charset="-122"/>
                <a:cs typeface="Calibri" pitchFamily="34" charset="-120"/>
              </a:rPr>
              <a:t>Same five beats. Five cells. The gates were always there.</a:t>
            </a:r>
            <a:endParaRPr lang="en-US" sz="1600" dirty="0"/>
          </a:p>
        </p:txBody>
      </p:sp>
      <p:sp>
        <p:nvSpPr>
          <p:cNvPr id="8" name="Text 5"/>
          <p:cNvSpPr/>
          <p:nvPr/>
        </p:nvSpPr>
        <p:spPr>
          <a:xfrm>
            <a:off x="457200" y="6537960"/>
            <a:ext cx="54864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LLMday Austin · May 12, 2026</a:t>
            </a:r>
            <a:endParaRPr lang="en-US" sz="900" dirty="0"/>
          </a:p>
        </p:txBody>
      </p:sp>
      <p:sp>
        <p:nvSpPr>
          <p:cNvPr id="10" name="Text 6"/>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19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731520"/>
            <a:ext cx="10972800" cy="548640"/>
          </a:xfrm>
          <a:prstGeom prst="rect">
            <a:avLst/>
          </a:prstGeom>
          <a:noFill/>
          <a:ln/>
        </p:spPr>
        <p:txBody>
          <a:bodyPr wrap="square" lIns="0" tIns="0" rIns="0" bIns="0" rtlCol="0" anchor="ctr"/>
          <a:lstStyle/>
          <a:p>
            <a:pPr indent="0" marL="0">
              <a:buNone/>
            </a:pPr>
            <a:r>
              <a:rPr lang="en-US" sz="2000" i="1" dirty="0">
                <a:solidFill>
                  <a:srgbClr val="94A3B8"/>
                </a:solidFill>
                <a:latin typeface="Calibri" pitchFamily="34" charset="0"/>
                <a:ea typeface="Calibri" pitchFamily="34" charset="-122"/>
                <a:cs typeface="Calibri" pitchFamily="34" charset="-120"/>
              </a:rPr>
              <a:t>Here's what nobody tells you about defense in depth.</a:t>
            </a:r>
            <a:endParaRPr lang="en-US" sz="2000" dirty="0"/>
          </a:p>
        </p:txBody>
      </p:sp>
      <p:sp>
        <p:nvSpPr>
          <p:cNvPr id="3" name="Text 1"/>
          <p:cNvSpPr/>
          <p:nvPr/>
        </p:nvSpPr>
        <p:spPr>
          <a:xfrm>
            <a:off x="548640" y="2103120"/>
            <a:ext cx="11064240" cy="914400"/>
          </a:xfrm>
          <a:prstGeom prst="rect">
            <a:avLst/>
          </a:prstGeom>
          <a:noFill/>
          <a:ln/>
        </p:spPr>
        <p:txBody>
          <a:bodyPr wrap="square" lIns="0" tIns="0" rIns="0" bIns="0" rtlCol="0" anchor="ctr"/>
          <a:lstStyle/>
          <a:p>
            <a:pPr algn="ctr" indent="0" marL="0">
              <a:buNone/>
            </a:pPr>
            <a:r>
              <a:rPr lang="en-US" sz="4400" b="1" dirty="0">
                <a:solidFill>
                  <a:srgbClr val="F8FAFC"/>
                </a:solidFill>
                <a:latin typeface="Trebuchet MS" pitchFamily="34" charset="0"/>
                <a:ea typeface="Trebuchet MS" pitchFamily="34" charset="-122"/>
                <a:cs typeface="Trebuchet MS" pitchFamily="34" charset="-120"/>
              </a:rPr>
              <a:t>The stack works together.</a:t>
            </a:r>
            <a:endParaRPr lang="en-US" sz="4400" dirty="0"/>
          </a:p>
        </p:txBody>
      </p:sp>
      <p:sp>
        <p:nvSpPr>
          <p:cNvPr id="4" name="Text 2"/>
          <p:cNvSpPr/>
          <p:nvPr/>
        </p:nvSpPr>
        <p:spPr>
          <a:xfrm>
            <a:off x="548640" y="3200400"/>
            <a:ext cx="11064240" cy="914400"/>
          </a:xfrm>
          <a:prstGeom prst="rect">
            <a:avLst/>
          </a:prstGeom>
          <a:noFill/>
          <a:ln/>
        </p:spPr>
        <p:txBody>
          <a:bodyPr wrap="square" lIns="0" tIns="0" rIns="0" bIns="0" rtlCol="0" anchor="ctr"/>
          <a:lstStyle/>
          <a:p>
            <a:pPr algn="ctr" indent="0" marL="0">
              <a:buNone/>
            </a:pPr>
            <a:r>
              <a:rPr lang="en-US" sz="4000" b="1" i="1" dirty="0">
                <a:solidFill>
                  <a:srgbClr val="059669"/>
                </a:solidFill>
                <a:latin typeface="Trebuchet MS" pitchFamily="34" charset="0"/>
                <a:ea typeface="Trebuchet MS" pitchFamily="34" charset="-122"/>
                <a:cs typeface="Trebuchet MS" pitchFamily="34" charset="-120"/>
              </a:rPr>
              <a:t>Server-side is where the buck stops.</a:t>
            </a:r>
            <a:endParaRPr lang="en-US" sz="4000" dirty="0"/>
          </a:p>
        </p:txBody>
      </p:sp>
      <p:sp>
        <p:nvSpPr>
          <p:cNvPr id="5" name="Text 3"/>
          <p:cNvSpPr/>
          <p:nvPr/>
        </p:nvSpPr>
        <p:spPr>
          <a:xfrm>
            <a:off x="548640" y="5349240"/>
            <a:ext cx="11064240" cy="1188720"/>
          </a:xfrm>
          <a:prstGeom prst="rect">
            <a:avLst/>
          </a:prstGeom>
          <a:noFill/>
          <a:ln/>
        </p:spPr>
        <p:txBody>
          <a:bodyPr wrap="square" lIns="0" tIns="0" rIns="0" bIns="0" rtlCol="0" anchor="ctr"/>
          <a:lstStyle/>
          <a:p>
            <a:pPr algn="ctr" indent="0" marL="0">
              <a:buNone/>
            </a:pPr>
            <a:r>
              <a:rPr lang="en-US" sz="1400" dirty="0">
                <a:solidFill>
                  <a:srgbClr val="CBD5E1"/>
                </a:solidFill>
                <a:latin typeface="Calibri" pitchFamily="34" charset="0"/>
                <a:ea typeface="Calibri" pitchFamily="34" charset="-122"/>
                <a:cs typeface="Calibri" pitchFamily="34" charset="-120"/>
              </a:rPr>
              <a:t>In-agent and client-side both fall to language attacks. Server-side requires a separate principal compromise.</a:t>
            </a:r>
            <a:endParaRPr lang="en-US" sz="1400" dirty="0"/>
          </a:p>
          <a:p>
            <a:pPr algn="ctr" indent="0" marL="0">
              <a:buNone/>
            </a:pPr>
            <a:r>
              <a:rPr lang="en-US" sz="1400" dirty="0">
                <a:solidFill>
                  <a:srgbClr val="CBD5E1"/>
                </a:solidFill>
                <a:latin typeface="Calibri" pitchFamily="34" charset="0"/>
                <a:ea typeface="Calibri" pitchFamily="34" charset="-122"/>
                <a:cs typeface="Calibri" pitchFamily="34" charset="-120"/>
              </a:rPr>
              <a:t>That is the difference. The stack works because each layer covers a different attack surface.</a:t>
            </a:r>
            <a:endParaRPr lang="en-US" sz="1400" dirty="0"/>
          </a:p>
        </p:txBody>
      </p:sp>
      <p:pic>
        <p:nvPicPr>
          <p:cNvPr id="6" name="Image 0" descr="preencoded.png">    </p:cNvPr>
          <p:cNvPicPr>
            <a:picLocks noChangeAspect="1"/>
          </p:cNvPicPr>
          <p:nvPr/>
        </p:nvPicPr>
        <p:blipFill>
          <a:blip r:embed="rId1">
            <a:alphaModFix amt="50000"/>
          </a:blip>
          <a:stretch>
            <a:fillRect/>
          </a:stretch>
        </p:blipFill>
        <p:spPr>
          <a:xfrm flipH="1">
            <a:off x="9601200" y="4937760"/>
            <a:ext cx="2286000" cy="1333722"/>
          </a:xfrm>
          <a:prstGeom prst="rect">
            <a:avLst/>
          </a:prstGeom>
        </p:spPr>
      </p:pic>
      <p:sp>
        <p:nvSpPr>
          <p:cNvPr id="8" name="Text 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 / 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Let's get real for a moment</a:t>
            </a:r>
            <a:endParaRPr lang="en-US" sz="3000" dirty="0"/>
          </a:p>
        </p:txBody>
      </p:sp>
      <p:sp>
        <p:nvSpPr>
          <p:cNvPr id="3" name="Text 1"/>
          <p:cNvSpPr/>
          <p:nvPr/>
        </p:nvSpPr>
        <p:spPr>
          <a:xfrm>
            <a:off x="548640" y="1051560"/>
            <a:ext cx="11064240" cy="45720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Just a reminder: client-side and in-agent aren't enough. You need server-side as the final gate.</a:t>
            </a:r>
            <a:endParaRPr lang="en-US" sz="1600" dirty="0"/>
          </a:p>
        </p:txBody>
      </p:sp>
      <p:sp>
        <p:nvSpPr>
          <p:cNvPr id="4" name="Shape 2"/>
          <p:cNvSpPr/>
          <p:nvPr/>
        </p:nvSpPr>
        <p:spPr>
          <a:xfrm>
            <a:off x="548640" y="1828800"/>
            <a:ext cx="11064240" cy="132588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5000"/>
              </a:srgbClr>
            </a:outerShdw>
          </a:effectLst>
        </p:spPr>
      </p:sp>
      <p:sp>
        <p:nvSpPr>
          <p:cNvPr id="5" name="Shape 3"/>
          <p:cNvSpPr/>
          <p:nvPr/>
        </p:nvSpPr>
        <p:spPr>
          <a:xfrm>
            <a:off x="548640" y="1828800"/>
            <a:ext cx="109728" cy="1325880"/>
          </a:xfrm>
          <a:prstGeom prst="rect">
            <a:avLst/>
          </a:prstGeom>
          <a:solidFill>
            <a:srgbClr val="DC2626"/>
          </a:solidFill>
          <a:ln/>
        </p:spPr>
      </p:sp>
      <p:sp>
        <p:nvSpPr>
          <p:cNvPr id="6" name="Shape 4"/>
          <p:cNvSpPr/>
          <p:nvPr/>
        </p:nvSpPr>
        <p:spPr>
          <a:xfrm>
            <a:off x="868680" y="2103120"/>
            <a:ext cx="777240" cy="777240"/>
          </a:xfrm>
          <a:prstGeom prst="ellipse">
            <a:avLst/>
          </a:prstGeom>
          <a:solidFill>
            <a:srgbClr val="DC2626"/>
          </a:solidFill>
          <a:ln/>
        </p:spPr>
      </p:sp>
      <p:sp>
        <p:nvSpPr>
          <p:cNvPr id="7" name="Text 5"/>
          <p:cNvSpPr/>
          <p:nvPr/>
        </p:nvSpPr>
        <p:spPr>
          <a:xfrm>
            <a:off x="868680" y="210312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1</a:t>
            </a:r>
            <a:endParaRPr lang="en-US" sz="3000" dirty="0"/>
          </a:p>
        </p:txBody>
      </p:sp>
      <p:sp>
        <p:nvSpPr>
          <p:cNvPr id="8" name="Text 6"/>
          <p:cNvSpPr/>
          <p:nvPr/>
        </p:nvSpPr>
        <p:spPr>
          <a:xfrm>
            <a:off x="1828800" y="2011680"/>
            <a:ext cx="9601200" cy="45720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git commit --no-verify</a:t>
            </a:r>
            <a:endParaRPr lang="en-US" sz="2200" dirty="0"/>
          </a:p>
        </p:txBody>
      </p:sp>
      <p:sp>
        <p:nvSpPr>
          <p:cNvPr id="9" name="Text 7"/>
          <p:cNvSpPr/>
          <p:nvPr/>
        </p:nvSpPr>
        <p:spPr>
          <a:xfrm>
            <a:off x="1828800" y="2514600"/>
            <a:ext cx="9601200" cy="54864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One flag. Hooks vanish.</a:t>
            </a:r>
            <a:endParaRPr lang="en-US" sz="1600" dirty="0"/>
          </a:p>
        </p:txBody>
      </p:sp>
      <p:sp>
        <p:nvSpPr>
          <p:cNvPr id="10" name="Shape 8"/>
          <p:cNvSpPr/>
          <p:nvPr/>
        </p:nvSpPr>
        <p:spPr>
          <a:xfrm>
            <a:off x="548640" y="3291840"/>
            <a:ext cx="11064240" cy="132588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5000"/>
              </a:srgbClr>
            </a:outerShdw>
          </a:effectLst>
        </p:spPr>
      </p:sp>
      <p:sp>
        <p:nvSpPr>
          <p:cNvPr id="11" name="Shape 9"/>
          <p:cNvSpPr/>
          <p:nvPr/>
        </p:nvSpPr>
        <p:spPr>
          <a:xfrm>
            <a:off x="548640" y="3291840"/>
            <a:ext cx="109728" cy="1325880"/>
          </a:xfrm>
          <a:prstGeom prst="rect">
            <a:avLst/>
          </a:prstGeom>
          <a:solidFill>
            <a:srgbClr val="DC2626"/>
          </a:solidFill>
          <a:ln/>
        </p:spPr>
      </p:sp>
      <p:sp>
        <p:nvSpPr>
          <p:cNvPr id="12" name="Shape 10"/>
          <p:cNvSpPr/>
          <p:nvPr/>
        </p:nvSpPr>
        <p:spPr>
          <a:xfrm>
            <a:off x="868680" y="3566160"/>
            <a:ext cx="777240" cy="777240"/>
          </a:xfrm>
          <a:prstGeom prst="ellipse">
            <a:avLst/>
          </a:prstGeom>
          <a:solidFill>
            <a:srgbClr val="DC2626"/>
          </a:solidFill>
          <a:ln/>
        </p:spPr>
      </p:sp>
      <p:sp>
        <p:nvSpPr>
          <p:cNvPr id="13" name="Text 11"/>
          <p:cNvSpPr/>
          <p:nvPr/>
        </p:nvSpPr>
        <p:spPr>
          <a:xfrm>
            <a:off x="868680" y="356616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2</a:t>
            </a:r>
            <a:endParaRPr lang="en-US" sz="3000" dirty="0"/>
          </a:p>
        </p:txBody>
      </p:sp>
      <p:sp>
        <p:nvSpPr>
          <p:cNvPr id="14" name="Text 12"/>
          <p:cNvSpPr/>
          <p:nvPr/>
        </p:nvSpPr>
        <p:spPr>
          <a:xfrm>
            <a:off x="1828800" y="3474720"/>
            <a:ext cx="9601200" cy="45720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Equivalent commands defeat patterns</a:t>
            </a:r>
            <a:endParaRPr lang="en-US" sz="2200" dirty="0"/>
          </a:p>
        </p:txBody>
      </p:sp>
      <p:sp>
        <p:nvSpPr>
          <p:cNvPr id="15" name="Text 13"/>
          <p:cNvSpPr/>
          <p:nvPr/>
        </p:nvSpPr>
        <p:spPr>
          <a:xfrm>
            <a:off x="1828800" y="3977640"/>
            <a:ext cx="9601200" cy="54864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find -delete instead of rm. kubectl scale --replicas=0. Edit .tf, then apply.</a:t>
            </a:r>
            <a:endParaRPr lang="en-US" sz="1600" dirty="0"/>
          </a:p>
        </p:txBody>
      </p:sp>
      <p:sp>
        <p:nvSpPr>
          <p:cNvPr id="16" name="Shape 14"/>
          <p:cNvSpPr/>
          <p:nvPr/>
        </p:nvSpPr>
        <p:spPr>
          <a:xfrm>
            <a:off x="548640" y="4754880"/>
            <a:ext cx="11064240" cy="132588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5000"/>
              </a:srgbClr>
            </a:outerShdw>
          </a:effectLst>
        </p:spPr>
      </p:sp>
      <p:sp>
        <p:nvSpPr>
          <p:cNvPr id="17" name="Shape 15"/>
          <p:cNvSpPr/>
          <p:nvPr/>
        </p:nvSpPr>
        <p:spPr>
          <a:xfrm>
            <a:off x="548640" y="4754880"/>
            <a:ext cx="109728" cy="1325880"/>
          </a:xfrm>
          <a:prstGeom prst="rect">
            <a:avLst/>
          </a:prstGeom>
          <a:solidFill>
            <a:srgbClr val="DC2626"/>
          </a:solidFill>
          <a:ln/>
        </p:spPr>
      </p:sp>
      <p:sp>
        <p:nvSpPr>
          <p:cNvPr id="18" name="Shape 16"/>
          <p:cNvSpPr/>
          <p:nvPr/>
        </p:nvSpPr>
        <p:spPr>
          <a:xfrm>
            <a:off x="868680" y="5029200"/>
            <a:ext cx="777240" cy="777240"/>
          </a:xfrm>
          <a:prstGeom prst="ellipse">
            <a:avLst/>
          </a:prstGeom>
          <a:solidFill>
            <a:srgbClr val="DC2626"/>
          </a:solidFill>
          <a:ln/>
        </p:spPr>
      </p:sp>
      <p:sp>
        <p:nvSpPr>
          <p:cNvPr id="19" name="Text 17"/>
          <p:cNvSpPr/>
          <p:nvPr/>
        </p:nvSpPr>
        <p:spPr>
          <a:xfrm>
            <a:off x="868680" y="502920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3</a:t>
            </a:r>
            <a:endParaRPr lang="en-US" sz="3000" dirty="0"/>
          </a:p>
        </p:txBody>
      </p:sp>
      <p:sp>
        <p:nvSpPr>
          <p:cNvPr id="20" name="Text 18"/>
          <p:cNvSpPr/>
          <p:nvPr/>
        </p:nvSpPr>
        <p:spPr>
          <a:xfrm>
            <a:off x="1828800" y="4937760"/>
            <a:ext cx="9601200" cy="45720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Lockfiles need server validation</a:t>
            </a:r>
            <a:endParaRPr lang="en-US" sz="2200" dirty="0"/>
          </a:p>
        </p:txBody>
      </p:sp>
      <p:sp>
        <p:nvSpPr>
          <p:cNvPr id="21" name="Text 19"/>
          <p:cNvSpPr/>
          <p:nvPr/>
        </p:nvSpPr>
        <p:spPr>
          <a:xfrm>
            <a:off x="1828800" y="5440680"/>
            <a:ext cx="9601200" cy="54864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An agent that can edit package-lock.json pins malicious versions.</a:t>
            </a:r>
            <a:endParaRPr lang="en-US" sz="1600" dirty="0"/>
          </a:p>
        </p:txBody>
      </p:sp>
      <p:pic>
        <p:nvPicPr>
          <p:cNvPr id="22" name="Image 0" descr="preencoded.png">    </p:cNvPr>
          <p:cNvPicPr>
            <a:picLocks noChangeAspect="1"/>
          </p:cNvPicPr>
          <p:nvPr/>
        </p:nvPicPr>
        <p:blipFill>
          <a:blip r:embed="rId1">
            <a:alphaModFix amt="70000"/>
          </a:blip>
          <a:stretch>
            <a:fillRect/>
          </a:stretch>
        </p:blipFill>
        <p:spPr>
          <a:xfrm>
            <a:off x="10515600" y="365760"/>
            <a:ext cx="1280160" cy="746884"/>
          </a:xfrm>
          <a:prstGeom prst="rect">
            <a:avLst/>
          </a:prstGeom>
        </p:spPr>
      </p:pic>
      <p:sp>
        <p:nvSpPr>
          <p:cNvPr id="24" name="Text 2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 /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200" b="1" dirty="0">
                <a:solidFill>
                  <a:srgbClr val="0F172A"/>
                </a:solidFill>
                <a:latin typeface="Trebuchet MS" pitchFamily="34" charset="0"/>
                <a:ea typeface="Trebuchet MS" pitchFamily="34" charset="-122"/>
                <a:cs typeface="Trebuchet MS" pitchFamily="34" charset="-120"/>
              </a:rPr>
              <a:t>Your Monday-morning playbook</a:t>
            </a:r>
            <a:endParaRPr lang="en-US" sz="3200" dirty="0"/>
          </a:p>
        </p:txBody>
      </p:sp>
      <p:sp>
        <p:nvSpPr>
          <p:cNvPr id="3" name="Text 1"/>
          <p:cNvSpPr/>
          <p:nvPr/>
        </p:nvSpPr>
        <p:spPr>
          <a:xfrm>
            <a:off x="548640" y="1143000"/>
            <a:ext cx="10972800" cy="45720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Walk the matrix on one of your pipelines. The one you'd be most embarrassed about if the agent went sideways.</a:t>
            </a:r>
            <a:endParaRPr lang="en-US" sz="1400" dirty="0"/>
          </a:p>
        </p:txBody>
      </p:sp>
      <p:sp>
        <p:nvSpPr>
          <p:cNvPr id="4" name="Shape 2"/>
          <p:cNvSpPr/>
          <p:nvPr/>
        </p:nvSpPr>
        <p:spPr>
          <a:xfrm>
            <a:off x="548640" y="1828800"/>
            <a:ext cx="7315200" cy="914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5" name="Shape 3"/>
          <p:cNvSpPr/>
          <p:nvPr/>
        </p:nvSpPr>
        <p:spPr>
          <a:xfrm>
            <a:off x="777240" y="2011680"/>
            <a:ext cx="548640" cy="548640"/>
          </a:xfrm>
          <a:prstGeom prst="ellipse">
            <a:avLst/>
          </a:prstGeom>
          <a:solidFill>
            <a:srgbClr val="059669"/>
          </a:solidFill>
          <a:ln/>
        </p:spPr>
      </p:sp>
      <p:sp>
        <p:nvSpPr>
          <p:cNvPr id="6" name="Text 4"/>
          <p:cNvSpPr/>
          <p:nvPr/>
        </p:nvSpPr>
        <p:spPr>
          <a:xfrm>
            <a:off x="777240" y="20116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a:t>
            </a:r>
            <a:endParaRPr lang="en-US" sz="2200" dirty="0"/>
          </a:p>
        </p:txBody>
      </p:sp>
      <p:sp>
        <p:nvSpPr>
          <p:cNvPr id="7" name="Text 5"/>
          <p:cNvSpPr/>
          <p:nvPr/>
        </p:nvSpPr>
        <p:spPr>
          <a:xfrm>
            <a:off x="1554480" y="1965960"/>
            <a:ext cx="4114800" cy="365760"/>
          </a:xfrm>
          <a:prstGeom prst="rect">
            <a:avLst/>
          </a:prstGeom>
          <a:noFill/>
          <a:ln/>
        </p:spPr>
        <p:txBody>
          <a:bodyPr wrap="square" lIns="0" tIns="0" rIns="0" bIns="0" rtlCol="0" anchor="ctr"/>
          <a:lstStyle/>
          <a:p>
            <a:pPr indent="0" marL="0">
              <a:buNone/>
            </a:pPr>
            <a:r>
              <a:rPr lang="en-US" sz="1900" b="1" dirty="0">
                <a:solidFill>
                  <a:srgbClr val="0F172A"/>
                </a:solidFill>
                <a:latin typeface="Trebuchet MS" pitchFamily="34" charset="0"/>
                <a:ea typeface="Trebuchet MS" pitchFamily="34" charset="-122"/>
                <a:cs typeface="Trebuchet MS" pitchFamily="34" charset="-120"/>
              </a:rPr>
              <a:t>All three populated</a:t>
            </a:r>
            <a:endParaRPr lang="en-US" sz="1900" dirty="0"/>
          </a:p>
        </p:txBody>
      </p:sp>
      <p:sp>
        <p:nvSpPr>
          <p:cNvPr id="8" name="Text 6"/>
          <p:cNvSpPr/>
          <p:nvPr/>
        </p:nvSpPr>
        <p:spPr>
          <a:xfrm>
            <a:off x="1554480" y="2331720"/>
            <a:ext cx="585216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Defense in depth. Move on.</a:t>
            </a:r>
            <a:endParaRPr lang="en-US" sz="1400" dirty="0"/>
          </a:p>
        </p:txBody>
      </p:sp>
      <p:sp>
        <p:nvSpPr>
          <p:cNvPr id="9" name="Shape 7"/>
          <p:cNvSpPr/>
          <p:nvPr/>
        </p:nvSpPr>
        <p:spPr>
          <a:xfrm>
            <a:off x="548640" y="2880360"/>
            <a:ext cx="7315200" cy="914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10" name="Shape 8"/>
          <p:cNvSpPr/>
          <p:nvPr/>
        </p:nvSpPr>
        <p:spPr>
          <a:xfrm>
            <a:off x="777240" y="3063240"/>
            <a:ext cx="548640" cy="548640"/>
          </a:xfrm>
          <a:prstGeom prst="ellipse">
            <a:avLst/>
          </a:prstGeom>
          <a:solidFill>
            <a:srgbClr val="DC2626"/>
          </a:solidFill>
          <a:ln/>
        </p:spPr>
      </p:sp>
      <p:sp>
        <p:nvSpPr>
          <p:cNvPr id="11" name="Text 9"/>
          <p:cNvSpPr/>
          <p:nvPr/>
        </p:nvSpPr>
        <p:spPr>
          <a:xfrm>
            <a:off x="777240" y="30632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a:t>
            </a:r>
            <a:endParaRPr lang="en-US" sz="2200" dirty="0"/>
          </a:p>
        </p:txBody>
      </p:sp>
      <p:sp>
        <p:nvSpPr>
          <p:cNvPr id="12" name="Text 10"/>
          <p:cNvSpPr/>
          <p:nvPr/>
        </p:nvSpPr>
        <p:spPr>
          <a:xfrm>
            <a:off x="1554480" y="3017520"/>
            <a:ext cx="4114800" cy="365760"/>
          </a:xfrm>
          <a:prstGeom prst="rect">
            <a:avLst/>
          </a:prstGeom>
          <a:noFill/>
          <a:ln/>
        </p:spPr>
        <p:txBody>
          <a:bodyPr wrap="square" lIns="0" tIns="0" rIns="0" bIns="0" rtlCol="0" anchor="ctr"/>
          <a:lstStyle/>
          <a:p>
            <a:pPr indent="0" marL="0">
              <a:buNone/>
            </a:pPr>
            <a:r>
              <a:rPr lang="en-US" sz="1900" b="1" dirty="0">
                <a:solidFill>
                  <a:srgbClr val="0F172A"/>
                </a:solidFill>
                <a:latin typeface="Trebuchet MS" pitchFamily="34" charset="0"/>
                <a:ea typeface="Trebuchet MS" pitchFamily="34" charset="-122"/>
                <a:cs typeface="Trebuchet MS" pitchFamily="34" charset="-120"/>
              </a:rPr>
              <a:t>Only in-agent</a:t>
            </a:r>
            <a:endParaRPr lang="en-US" sz="1900" dirty="0"/>
          </a:p>
        </p:txBody>
      </p:sp>
      <p:sp>
        <p:nvSpPr>
          <p:cNvPr id="13" name="Text 11"/>
          <p:cNvSpPr/>
          <p:nvPr/>
        </p:nvSpPr>
        <p:spPr>
          <a:xfrm>
            <a:off x="1554480" y="3383280"/>
            <a:ext cx="585216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Unprotected. Audit finding. File a ticket.</a:t>
            </a:r>
            <a:endParaRPr lang="en-US" sz="1400" dirty="0"/>
          </a:p>
        </p:txBody>
      </p:sp>
      <p:sp>
        <p:nvSpPr>
          <p:cNvPr id="14" name="Shape 12"/>
          <p:cNvSpPr/>
          <p:nvPr/>
        </p:nvSpPr>
        <p:spPr>
          <a:xfrm>
            <a:off x="548640" y="3931920"/>
            <a:ext cx="7315200" cy="914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15" name="Shape 13"/>
          <p:cNvSpPr/>
          <p:nvPr/>
        </p:nvSpPr>
        <p:spPr>
          <a:xfrm>
            <a:off x="777240" y="4114800"/>
            <a:ext cx="548640" cy="548640"/>
          </a:xfrm>
          <a:prstGeom prst="ellipse">
            <a:avLst/>
          </a:prstGeom>
          <a:solidFill>
            <a:srgbClr val="F59E0B"/>
          </a:solidFill>
          <a:ln/>
        </p:spPr>
      </p:sp>
      <p:sp>
        <p:nvSpPr>
          <p:cNvPr id="16" name="Text 14"/>
          <p:cNvSpPr/>
          <p:nvPr/>
        </p:nvSpPr>
        <p:spPr>
          <a:xfrm>
            <a:off x="777240" y="4114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a:t>
            </a:r>
            <a:endParaRPr lang="en-US" sz="2200" dirty="0"/>
          </a:p>
        </p:txBody>
      </p:sp>
      <p:sp>
        <p:nvSpPr>
          <p:cNvPr id="17" name="Text 15"/>
          <p:cNvSpPr/>
          <p:nvPr/>
        </p:nvSpPr>
        <p:spPr>
          <a:xfrm>
            <a:off x="1554480" y="4069080"/>
            <a:ext cx="4114800" cy="365760"/>
          </a:xfrm>
          <a:prstGeom prst="rect">
            <a:avLst/>
          </a:prstGeom>
          <a:noFill/>
          <a:ln/>
        </p:spPr>
        <p:txBody>
          <a:bodyPr wrap="square" lIns="0" tIns="0" rIns="0" bIns="0" rtlCol="0" anchor="ctr"/>
          <a:lstStyle/>
          <a:p>
            <a:pPr indent="0" marL="0">
              <a:buNone/>
            </a:pPr>
            <a:r>
              <a:rPr lang="en-US" sz="1900" b="1" dirty="0">
                <a:solidFill>
                  <a:srgbClr val="0F172A"/>
                </a:solidFill>
                <a:latin typeface="Trebuchet MS" pitchFamily="34" charset="0"/>
                <a:ea typeface="Trebuchet MS" pitchFamily="34" charset="-122"/>
                <a:cs typeface="Trebuchet MS" pitchFamily="34" charset="-120"/>
              </a:rPr>
              <a:t>Only server-side</a:t>
            </a:r>
            <a:endParaRPr lang="en-US" sz="1900" dirty="0"/>
          </a:p>
        </p:txBody>
      </p:sp>
      <p:sp>
        <p:nvSpPr>
          <p:cNvPr id="18" name="Text 16"/>
          <p:cNvSpPr/>
          <p:nvPr/>
        </p:nvSpPr>
        <p:spPr>
          <a:xfrm>
            <a:off x="1554480" y="4434840"/>
            <a:ext cx="585216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Late discovery. Add the client-side cell.</a:t>
            </a:r>
            <a:endParaRPr lang="en-US" sz="1400" dirty="0"/>
          </a:p>
        </p:txBody>
      </p:sp>
      <p:sp>
        <p:nvSpPr>
          <p:cNvPr id="19" name="Shape 17"/>
          <p:cNvSpPr/>
          <p:nvPr/>
        </p:nvSpPr>
        <p:spPr>
          <a:xfrm>
            <a:off x="548640" y="4983480"/>
            <a:ext cx="7315200" cy="91440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20" name="Shape 18"/>
          <p:cNvSpPr/>
          <p:nvPr/>
        </p:nvSpPr>
        <p:spPr>
          <a:xfrm>
            <a:off x="777240" y="5166360"/>
            <a:ext cx="548640" cy="548640"/>
          </a:xfrm>
          <a:prstGeom prst="ellipse">
            <a:avLst/>
          </a:prstGeom>
          <a:solidFill>
            <a:srgbClr val="64748B"/>
          </a:solidFill>
          <a:ln/>
        </p:spPr>
      </p:sp>
      <p:sp>
        <p:nvSpPr>
          <p:cNvPr id="21" name="Text 19"/>
          <p:cNvSpPr/>
          <p:nvPr/>
        </p:nvSpPr>
        <p:spPr>
          <a:xfrm>
            <a:off x="777240" y="5166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a:t>
            </a:r>
            <a:endParaRPr lang="en-US" sz="2200" dirty="0"/>
          </a:p>
        </p:txBody>
      </p:sp>
      <p:sp>
        <p:nvSpPr>
          <p:cNvPr id="22" name="Text 20"/>
          <p:cNvSpPr/>
          <p:nvPr/>
        </p:nvSpPr>
        <p:spPr>
          <a:xfrm>
            <a:off x="1554480" y="5120640"/>
            <a:ext cx="4114800" cy="365760"/>
          </a:xfrm>
          <a:prstGeom prst="rect">
            <a:avLst/>
          </a:prstGeom>
          <a:noFill/>
          <a:ln/>
        </p:spPr>
        <p:txBody>
          <a:bodyPr wrap="square" lIns="0" tIns="0" rIns="0" bIns="0" rtlCol="0" anchor="ctr"/>
          <a:lstStyle/>
          <a:p>
            <a:pPr indent="0" marL="0">
              <a:buNone/>
            </a:pPr>
            <a:r>
              <a:rPr lang="en-US" sz="1900" b="1" dirty="0">
                <a:solidFill>
                  <a:srgbClr val="0F172A"/>
                </a:solidFill>
                <a:latin typeface="Trebuchet MS" pitchFamily="34" charset="0"/>
                <a:ea typeface="Trebuchet MS" pitchFamily="34" charset="-122"/>
                <a:cs typeface="Trebuchet MS" pitchFamily="34" charset="-120"/>
              </a:rPr>
              <a:t>Cells deliberately empty</a:t>
            </a:r>
            <a:endParaRPr lang="en-US" sz="1900" dirty="0"/>
          </a:p>
        </p:txBody>
      </p:sp>
      <p:sp>
        <p:nvSpPr>
          <p:cNvPr id="23" name="Text 21"/>
          <p:cNvSpPr/>
          <p:nvPr/>
        </p:nvSpPr>
        <p:spPr>
          <a:xfrm>
            <a:off x="1554480" y="5486400"/>
            <a:ext cx="585216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Fine. Document why.</a:t>
            </a:r>
            <a:endParaRPr lang="en-US" sz="1400" dirty="0"/>
          </a:p>
        </p:txBody>
      </p:sp>
      <p:sp>
        <p:nvSpPr>
          <p:cNvPr id="24" name="Text 22"/>
          <p:cNvSpPr/>
          <p:nvPr/>
        </p:nvSpPr>
        <p:spPr>
          <a:xfrm>
            <a:off x="8183880" y="1691640"/>
            <a:ext cx="3657600" cy="320040"/>
          </a:xfrm>
          <a:prstGeom prst="rect">
            <a:avLst/>
          </a:prstGeom>
          <a:noFill/>
          <a:ln/>
        </p:spPr>
        <p:txBody>
          <a:bodyPr wrap="square" lIns="0" tIns="0" rIns="0" bIns="0" rtlCol="0" anchor="ctr"/>
          <a:lstStyle/>
          <a:p>
            <a:pPr algn="ctr" indent="0" marL="0">
              <a:buNone/>
            </a:pPr>
            <a:r>
              <a:rPr lang="en-US" sz="1100" b="1" spc="300" kern="0" dirty="0">
                <a:solidFill>
                  <a:srgbClr val="A100FF"/>
                </a:solidFill>
                <a:latin typeface="Trebuchet MS" pitchFamily="34" charset="0"/>
                <a:ea typeface="Trebuchet MS" pitchFamily="34" charset="-122"/>
                <a:cs typeface="Trebuchet MS" pitchFamily="34" charset="-120"/>
              </a:rPr>
              <a:t>MATRIX REFERENCE</a:t>
            </a:r>
            <a:endParaRPr lang="en-US" sz="1100" dirty="0"/>
          </a:p>
        </p:txBody>
      </p:sp>
      <p:sp>
        <p:nvSpPr>
          <p:cNvPr id="25" name="Shape 23"/>
          <p:cNvSpPr/>
          <p:nvPr/>
        </p:nvSpPr>
        <p:spPr>
          <a:xfrm>
            <a:off x="8778240" y="1874520"/>
            <a:ext cx="2743200" cy="320040"/>
          </a:xfrm>
          <a:prstGeom prst="rect">
            <a:avLst/>
          </a:prstGeom>
          <a:solidFill>
            <a:srgbClr val="0F172A"/>
          </a:solidFill>
          <a:ln/>
        </p:spPr>
      </p:sp>
      <p:sp>
        <p:nvSpPr>
          <p:cNvPr id="26" name="Text 24"/>
          <p:cNvSpPr/>
          <p:nvPr/>
        </p:nvSpPr>
        <p:spPr>
          <a:xfrm>
            <a:off x="8778240" y="1874520"/>
            <a:ext cx="9144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In</a:t>
            </a:r>
            <a:endParaRPr lang="en-US" sz="900" dirty="0"/>
          </a:p>
        </p:txBody>
      </p:sp>
      <p:sp>
        <p:nvSpPr>
          <p:cNvPr id="27" name="Text 25"/>
          <p:cNvSpPr/>
          <p:nvPr/>
        </p:nvSpPr>
        <p:spPr>
          <a:xfrm>
            <a:off x="9692640" y="1874520"/>
            <a:ext cx="9144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Cli</a:t>
            </a:r>
            <a:endParaRPr lang="en-US" sz="900" dirty="0"/>
          </a:p>
        </p:txBody>
      </p:sp>
      <p:sp>
        <p:nvSpPr>
          <p:cNvPr id="28" name="Text 26"/>
          <p:cNvSpPr/>
          <p:nvPr/>
        </p:nvSpPr>
        <p:spPr>
          <a:xfrm>
            <a:off x="10607040" y="1874520"/>
            <a:ext cx="9144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Srv</a:t>
            </a:r>
            <a:endParaRPr lang="en-US" sz="900" dirty="0"/>
          </a:p>
        </p:txBody>
      </p:sp>
      <p:sp>
        <p:nvSpPr>
          <p:cNvPr id="29" name="Text 27"/>
          <p:cNvSpPr/>
          <p:nvPr/>
        </p:nvSpPr>
        <p:spPr>
          <a:xfrm>
            <a:off x="7863840" y="2194560"/>
            <a:ext cx="914400" cy="502920"/>
          </a:xfrm>
          <a:prstGeom prst="rect">
            <a:avLst/>
          </a:prstGeom>
          <a:noFill/>
          <a:ln/>
        </p:spPr>
        <p:txBody>
          <a:bodyPr wrap="square" lIns="0" tIns="0" rIns="0" bIns="0" rtlCol="0" anchor="ctr"/>
          <a:lstStyle/>
          <a:p>
            <a:pPr algn="r" indent="0" marL="0">
              <a:buNone/>
            </a:pPr>
            <a:r>
              <a:rPr lang="en-US" sz="1000" b="1" dirty="0">
                <a:solidFill>
                  <a:srgbClr val="0F172A"/>
                </a:solidFill>
                <a:latin typeface="Trebuchet MS" pitchFamily="34" charset="0"/>
                <a:ea typeface="Trebuchet MS" pitchFamily="34" charset="-122"/>
                <a:cs typeface="Trebuchet MS" pitchFamily="34" charset="-120"/>
              </a:rPr>
              <a:t>Identity</a:t>
            </a:r>
            <a:endParaRPr lang="en-US" sz="1000" dirty="0"/>
          </a:p>
        </p:txBody>
      </p:sp>
      <p:sp>
        <p:nvSpPr>
          <p:cNvPr id="30" name="Shape 28"/>
          <p:cNvSpPr/>
          <p:nvPr/>
        </p:nvSpPr>
        <p:spPr>
          <a:xfrm>
            <a:off x="8778240" y="2194560"/>
            <a:ext cx="914400" cy="502920"/>
          </a:xfrm>
          <a:prstGeom prst="rect">
            <a:avLst/>
          </a:prstGeom>
          <a:solidFill>
            <a:srgbClr val="FEF3C7"/>
          </a:solidFill>
          <a:ln w="12700">
            <a:solidFill>
              <a:srgbClr val="FFFFFF"/>
            </a:solidFill>
            <a:prstDash val="solid"/>
          </a:ln>
        </p:spPr>
      </p:sp>
      <p:sp>
        <p:nvSpPr>
          <p:cNvPr id="31" name="Shape 29"/>
          <p:cNvSpPr/>
          <p:nvPr/>
        </p:nvSpPr>
        <p:spPr>
          <a:xfrm>
            <a:off x="9692640" y="2194560"/>
            <a:ext cx="914400" cy="502920"/>
          </a:xfrm>
          <a:prstGeom prst="rect">
            <a:avLst/>
          </a:prstGeom>
          <a:solidFill>
            <a:srgbClr val="FFEDD5"/>
          </a:solidFill>
          <a:ln w="12700">
            <a:solidFill>
              <a:srgbClr val="FFFFFF"/>
            </a:solidFill>
            <a:prstDash val="solid"/>
          </a:ln>
        </p:spPr>
      </p:sp>
      <p:sp>
        <p:nvSpPr>
          <p:cNvPr id="32" name="Shape 30"/>
          <p:cNvSpPr/>
          <p:nvPr/>
        </p:nvSpPr>
        <p:spPr>
          <a:xfrm>
            <a:off x="10607040" y="2194560"/>
            <a:ext cx="914400" cy="502920"/>
          </a:xfrm>
          <a:prstGeom prst="rect">
            <a:avLst/>
          </a:prstGeom>
          <a:solidFill>
            <a:srgbClr val="D1FAE5"/>
          </a:solidFill>
          <a:ln w="12700">
            <a:solidFill>
              <a:srgbClr val="FFFFFF"/>
            </a:solidFill>
            <a:prstDash val="solid"/>
          </a:ln>
        </p:spPr>
      </p:sp>
      <p:sp>
        <p:nvSpPr>
          <p:cNvPr id="33" name="Text 31"/>
          <p:cNvSpPr/>
          <p:nvPr/>
        </p:nvSpPr>
        <p:spPr>
          <a:xfrm>
            <a:off x="7863840" y="2697480"/>
            <a:ext cx="914400" cy="502920"/>
          </a:xfrm>
          <a:prstGeom prst="rect">
            <a:avLst/>
          </a:prstGeom>
          <a:noFill/>
          <a:ln/>
        </p:spPr>
        <p:txBody>
          <a:bodyPr wrap="square" lIns="0" tIns="0" rIns="0" bIns="0" rtlCol="0" anchor="ctr"/>
          <a:lstStyle/>
          <a:p>
            <a:pPr algn="r" indent="0" marL="0">
              <a:buNone/>
            </a:pPr>
            <a:r>
              <a:rPr lang="en-US" sz="1000" b="1" dirty="0">
                <a:solidFill>
                  <a:srgbClr val="0F172A"/>
                </a:solidFill>
                <a:latin typeface="Trebuchet MS" pitchFamily="34" charset="0"/>
                <a:ea typeface="Trebuchet MS" pitchFamily="34" charset="-122"/>
                <a:cs typeface="Trebuchet MS" pitchFamily="34" charset="-120"/>
              </a:rPr>
              <a:t>Authz</a:t>
            </a:r>
            <a:endParaRPr lang="en-US" sz="1000" dirty="0"/>
          </a:p>
        </p:txBody>
      </p:sp>
      <p:sp>
        <p:nvSpPr>
          <p:cNvPr id="34" name="Shape 32"/>
          <p:cNvSpPr/>
          <p:nvPr/>
        </p:nvSpPr>
        <p:spPr>
          <a:xfrm>
            <a:off x="8778240" y="2697480"/>
            <a:ext cx="914400" cy="502920"/>
          </a:xfrm>
          <a:prstGeom prst="rect">
            <a:avLst/>
          </a:prstGeom>
          <a:solidFill>
            <a:srgbClr val="FEF3C7"/>
          </a:solidFill>
          <a:ln w="12700">
            <a:solidFill>
              <a:srgbClr val="FFFFFF"/>
            </a:solidFill>
            <a:prstDash val="solid"/>
          </a:ln>
        </p:spPr>
      </p:sp>
      <p:sp>
        <p:nvSpPr>
          <p:cNvPr id="35" name="Shape 33"/>
          <p:cNvSpPr/>
          <p:nvPr/>
        </p:nvSpPr>
        <p:spPr>
          <a:xfrm>
            <a:off x="9692640" y="2697480"/>
            <a:ext cx="914400" cy="502920"/>
          </a:xfrm>
          <a:prstGeom prst="rect">
            <a:avLst/>
          </a:prstGeom>
          <a:solidFill>
            <a:srgbClr val="FFEDD5"/>
          </a:solidFill>
          <a:ln w="12700">
            <a:solidFill>
              <a:srgbClr val="FFFFFF"/>
            </a:solidFill>
            <a:prstDash val="solid"/>
          </a:ln>
        </p:spPr>
      </p:sp>
      <p:sp>
        <p:nvSpPr>
          <p:cNvPr id="36" name="Shape 34"/>
          <p:cNvSpPr/>
          <p:nvPr/>
        </p:nvSpPr>
        <p:spPr>
          <a:xfrm>
            <a:off x="10607040" y="2697480"/>
            <a:ext cx="914400" cy="502920"/>
          </a:xfrm>
          <a:prstGeom prst="rect">
            <a:avLst/>
          </a:prstGeom>
          <a:solidFill>
            <a:srgbClr val="D1FAE5"/>
          </a:solidFill>
          <a:ln w="12700">
            <a:solidFill>
              <a:srgbClr val="FFFFFF"/>
            </a:solidFill>
            <a:prstDash val="solid"/>
          </a:ln>
        </p:spPr>
      </p:sp>
      <p:sp>
        <p:nvSpPr>
          <p:cNvPr id="37" name="Text 35"/>
          <p:cNvSpPr/>
          <p:nvPr/>
        </p:nvSpPr>
        <p:spPr>
          <a:xfrm>
            <a:off x="7863840" y="3200400"/>
            <a:ext cx="914400" cy="502920"/>
          </a:xfrm>
          <a:prstGeom prst="rect">
            <a:avLst/>
          </a:prstGeom>
          <a:noFill/>
          <a:ln/>
        </p:spPr>
        <p:txBody>
          <a:bodyPr wrap="square" lIns="0" tIns="0" rIns="0" bIns="0" rtlCol="0" anchor="ctr"/>
          <a:lstStyle/>
          <a:p>
            <a:pPr algn="r" indent="0" marL="0">
              <a:buNone/>
            </a:pPr>
            <a:r>
              <a:rPr lang="en-US" sz="1000" b="1" dirty="0">
                <a:solidFill>
                  <a:srgbClr val="0F172A"/>
                </a:solidFill>
                <a:latin typeface="Trebuchet MS" pitchFamily="34" charset="0"/>
                <a:ea typeface="Trebuchet MS" pitchFamily="34" charset="-122"/>
                <a:cs typeface="Trebuchet MS" pitchFamily="34" charset="-120"/>
              </a:rPr>
              <a:t>Blast</a:t>
            </a:r>
            <a:endParaRPr lang="en-US" sz="1000" dirty="0"/>
          </a:p>
        </p:txBody>
      </p:sp>
      <p:sp>
        <p:nvSpPr>
          <p:cNvPr id="38" name="Shape 36"/>
          <p:cNvSpPr/>
          <p:nvPr/>
        </p:nvSpPr>
        <p:spPr>
          <a:xfrm>
            <a:off x="8778240" y="3200400"/>
            <a:ext cx="914400" cy="502920"/>
          </a:xfrm>
          <a:prstGeom prst="rect">
            <a:avLst/>
          </a:prstGeom>
          <a:solidFill>
            <a:srgbClr val="FEF3C7"/>
          </a:solidFill>
          <a:ln w="12700">
            <a:solidFill>
              <a:srgbClr val="FFFFFF"/>
            </a:solidFill>
            <a:prstDash val="solid"/>
          </a:ln>
        </p:spPr>
      </p:sp>
      <p:sp>
        <p:nvSpPr>
          <p:cNvPr id="39" name="Shape 37"/>
          <p:cNvSpPr/>
          <p:nvPr/>
        </p:nvSpPr>
        <p:spPr>
          <a:xfrm>
            <a:off x="9692640" y="3200400"/>
            <a:ext cx="914400" cy="502920"/>
          </a:xfrm>
          <a:prstGeom prst="rect">
            <a:avLst/>
          </a:prstGeom>
          <a:solidFill>
            <a:srgbClr val="FFEDD5"/>
          </a:solidFill>
          <a:ln w="12700">
            <a:solidFill>
              <a:srgbClr val="FFFFFF"/>
            </a:solidFill>
            <a:prstDash val="solid"/>
          </a:ln>
        </p:spPr>
      </p:sp>
      <p:sp>
        <p:nvSpPr>
          <p:cNvPr id="40" name="Shape 38"/>
          <p:cNvSpPr/>
          <p:nvPr/>
        </p:nvSpPr>
        <p:spPr>
          <a:xfrm>
            <a:off x="10607040" y="3200400"/>
            <a:ext cx="914400" cy="502920"/>
          </a:xfrm>
          <a:prstGeom prst="rect">
            <a:avLst/>
          </a:prstGeom>
          <a:solidFill>
            <a:srgbClr val="D1FAE5"/>
          </a:solidFill>
          <a:ln w="12700">
            <a:solidFill>
              <a:srgbClr val="FFFFFF"/>
            </a:solidFill>
            <a:prstDash val="solid"/>
          </a:ln>
        </p:spPr>
      </p:sp>
      <p:sp>
        <p:nvSpPr>
          <p:cNvPr id="41" name="Text 39"/>
          <p:cNvSpPr/>
          <p:nvPr/>
        </p:nvSpPr>
        <p:spPr>
          <a:xfrm>
            <a:off x="7863840" y="3703320"/>
            <a:ext cx="914400" cy="502920"/>
          </a:xfrm>
          <a:prstGeom prst="rect">
            <a:avLst/>
          </a:prstGeom>
          <a:noFill/>
          <a:ln/>
        </p:spPr>
        <p:txBody>
          <a:bodyPr wrap="square" lIns="0" tIns="0" rIns="0" bIns="0" rtlCol="0" anchor="ctr"/>
          <a:lstStyle/>
          <a:p>
            <a:pPr algn="r" indent="0" marL="0">
              <a:buNone/>
            </a:pPr>
            <a:r>
              <a:rPr lang="en-US" sz="1000" b="1" dirty="0">
                <a:solidFill>
                  <a:srgbClr val="0F172A"/>
                </a:solidFill>
                <a:latin typeface="Trebuchet MS" pitchFamily="34" charset="0"/>
                <a:ea typeface="Trebuchet MS" pitchFamily="34" charset="-122"/>
                <a:cs typeface="Trebuchet MS" pitchFamily="34" charset="-120"/>
              </a:rPr>
              <a:t>Approval</a:t>
            </a:r>
            <a:endParaRPr lang="en-US" sz="1000" dirty="0"/>
          </a:p>
        </p:txBody>
      </p:sp>
      <p:sp>
        <p:nvSpPr>
          <p:cNvPr id="42" name="Shape 40"/>
          <p:cNvSpPr/>
          <p:nvPr/>
        </p:nvSpPr>
        <p:spPr>
          <a:xfrm>
            <a:off x="8778240" y="3703320"/>
            <a:ext cx="914400" cy="502920"/>
          </a:xfrm>
          <a:prstGeom prst="rect">
            <a:avLst/>
          </a:prstGeom>
          <a:solidFill>
            <a:srgbClr val="FEF3C7"/>
          </a:solidFill>
          <a:ln w="12700">
            <a:solidFill>
              <a:srgbClr val="FFFFFF"/>
            </a:solidFill>
            <a:prstDash val="solid"/>
          </a:ln>
        </p:spPr>
      </p:sp>
      <p:sp>
        <p:nvSpPr>
          <p:cNvPr id="43" name="Shape 41"/>
          <p:cNvSpPr/>
          <p:nvPr/>
        </p:nvSpPr>
        <p:spPr>
          <a:xfrm>
            <a:off x="9692640" y="3703320"/>
            <a:ext cx="914400" cy="502920"/>
          </a:xfrm>
          <a:prstGeom prst="rect">
            <a:avLst/>
          </a:prstGeom>
          <a:solidFill>
            <a:srgbClr val="FFEDD5"/>
          </a:solidFill>
          <a:ln w="12700">
            <a:solidFill>
              <a:srgbClr val="FFFFFF"/>
            </a:solidFill>
            <a:prstDash val="solid"/>
          </a:ln>
        </p:spPr>
      </p:sp>
      <p:sp>
        <p:nvSpPr>
          <p:cNvPr id="44" name="Shape 42"/>
          <p:cNvSpPr/>
          <p:nvPr/>
        </p:nvSpPr>
        <p:spPr>
          <a:xfrm>
            <a:off x="10607040" y="3703320"/>
            <a:ext cx="914400" cy="502920"/>
          </a:xfrm>
          <a:prstGeom prst="rect">
            <a:avLst/>
          </a:prstGeom>
          <a:solidFill>
            <a:srgbClr val="D1FAE5"/>
          </a:solidFill>
          <a:ln w="12700">
            <a:solidFill>
              <a:srgbClr val="FFFFFF"/>
            </a:solidFill>
            <a:prstDash val="solid"/>
          </a:ln>
        </p:spPr>
      </p:sp>
      <p:sp>
        <p:nvSpPr>
          <p:cNvPr id="45" name="Text 43"/>
          <p:cNvSpPr/>
          <p:nvPr/>
        </p:nvSpPr>
        <p:spPr>
          <a:xfrm>
            <a:off x="7863840" y="4206240"/>
            <a:ext cx="914400" cy="502920"/>
          </a:xfrm>
          <a:prstGeom prst="rect">
            <a:avLst/>
          </a:prstGeom>
          <a:noFill/>
          <a:ln/>
        </p:spPr>
        <p:txBody>
          <a:bodyPr wrap="square" lIns="0" tIns="0" rIns="0" bIns="0" rtlCol="0" anchor="ctr"/>
          <a:lstStyle/>
          <a:p>
            <a:pPr algn="r" indent="0" marL="0">
              <a:buNone/>
            </a:pPr>
            <a:r>
              <a:rPr lang="en-US" sz="1000" b="1" dirty="0">
                <a:solidFill>
                  <a:srgbClr val="0F172A"/>
                </a:solidFill>
                <a:latin typeface="Trebuchet MS" pitchFamily="34" charset="0"/>
                <a:ea typeface="Trebuchet MS" pitchFamily="34" charset="-122"/>
                <a:cs typeface="Trebuchet MS" pitchFamily="34" charset="-120"/>
              </a:rPr>
              <a:t>Supply</a:t>
            </a:r>
            <a:endParaRPr lang="en-US" sz="1000" dirty="0"/>
          </a:p>
        </p:txBody>
      </p:sp>
      <p:sp>
        <p:nvSpPr>
          <p:cNvPr id="46" name="Shape 44"/>
          <p:cNvSpPr/>
          <p:nvPr/>
        </p:nvSpPr>
        <p:spPr>
          <a:xfrm>
            <a:off x="8778240" y="4206240"/>
            <a:ext cx="914400" cy="502920"/>
          </a:xfrm>
          <a:prstGeom prst="rect">
            <a:avLst/>
          </a:prstGeom>
          <a:solidFill>
            <a:srgbClr val="FEF3C7"/>
          </a:solidFill>
          <a:ln w="12700">
            <a:solidFill>
              <a:srgbClr val="FFFFFF"/>
            </a:solidFill>
            <a:prstDash val="solid"/>
          </a:ln>
        </p:spPr>
      </p:sp>
      <p:sp>
        <p:nvSpPr>
          <p:cNvPr id="47" name="Shape 45"/>
          <p:cNvSpPr/>
          <p:nvPr/>
        </p:nvSpPr>
        <p:spPr>
          <a:xfrm>
            <a:off x="9692640" y="4206240"/>
            <a:ext cx="914400" cy="502920"/>
          </a:xfrm>
          <a:prstGeom prst="rect">
            <a:avLst/>
          </a:prstGeom>
          <a:solidFill>
            <a:srgbClr val="FFEDD5"/>
          </a:solidFill>
          <a:ln w="12700">
            <a:solidFill>
              <a:srgbClr val="FFFFFF"/>
            </a:solidFill>
            <a:prstDash val="solid"/>
          </a:ln>
        </p:spPr>
      </p:sp>
      <p:sp>
        <p:nvSpPr>
          <p:cNvPr id="48" name="Shape 46"/>
          <p:cNvSpPr/>
          <p:nvPr/>
        </p:nvSpPr>
        <p:spPr>
          <a:xfrm>
            <a:off x="10607040" y="4206240"/>
            <a:ext cx="914400" cy="502920"/>
          </a:xfrm>
          <a:prstGeom prst="rect">
            <a:avLst/>
          </a:prstGeom>
          <a:solidFill>
            <a:srgbClr val="D1FAE5"/>
          </a:solidFill>
          <a:ln w="12700">
            <a:solidFill>
              <a:srgbClr val="FFFFFF"/>
            </a:solidFill>
            <a:prstDash val="solid"/>
          </a:ln>
        </p:spPr>
      </p:sp>
      <p:sp>
        <p:nvSpPr>
          <p:cNvPr id="49" name="Text 47"/>
          <p:cNvSpPr/>
          <p:nvPr/>
        </p:nvSpPr>
        <p:spPr>
          <a:xfrm>
            <a:off x="548640" y="6263640"/>
            <a:ext cx="11064240" cy="365760"/>
          </a:xfrm>
          <a:prstGeom prst="rect">
            <a:avLst/>
          </a:prstGeom>
          <a:noFill/>
          <a:ln/>
        </p:spPr>
        <p:txBody>
          <a:bodyPr wrap="square" lIns="0" tIns="0" rIns="0" bIns="0" rtlCol="0" anchor="ctr"/>
          <a:lstStyle/>
          <a:p>
            <a:pPr algn="ctr" indent="0" marL="0">
              <a:buNone/>
            </a:pPr>
            <a:r>
              <a:rPr lang="en-US" sz="1400" b="1" i="1" dirty="0">
                <a:solidFill>
                  <a:srgbClr val="A100FF"/>
                </a:solidFill>
                <a:latin typeface="Trebuchet MS" pitchFamily="34" charset="0"/>
                <a:ea typeface="Trebuchet MS" pitchFamily="34" charset="-122"/>
                <a:cs typeface="Trebuchet MS" pitchFamily="34" charset="-120"/>
              </a:rPr>
              <a:t>Empty cells are okay. Empty cells by accident are not.</a:t>
            </a:r>
            <a:endParaRPr lang="en-US" sz="1400" dirty="0"/>
          </a:p>
        </p:txBody>
      </p:sp>
      <p:sp>
        <p:nvSpPr>
          <p:cNvPr id="51" name="Text 48"/>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 / 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What I see, time and time again</a:t>
            </a:r>
            <a:endParaRPr lang="en-US" sz="3000" dirty="0"/>
          </a:p>
        </p:txBody>
      </p:sp>
      <p:sp>
        <p:nvSpPr>
          <p:cNvPr id="3" name="Text 1"/>
          <p:cNvSpPr/>
          <p:nvPr/>
        </p:nvSpPr>
        <p:spPr>
          <a:xfrm>
            <a:off x="548640" y="1143000"/>
            <a:ext cx="1097280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Across organizations of all shapes and sizes — the same four empty cells.</a:t>
            </a:r>
            <a:endParaRPr lang="en-US" sz="1400" dirty="0"/>
          </a:p>
        </p:txBody>
      </p:sp>
      <p:sp>
        <p:nvSpPr>
          <p:cNvPr id="4" name="Shape 2"/>
          <p:cNvSpPr/>
          <p:nvPr/>
        </p:nvSpPr>
        <p:spPr>
          <a:xfrm>
            <a:off x="548640" y="1783080"/>
            <a:ext cx="5394960" cy="20116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5" name="Text 3"/>
          <p:cNvSpPr/>
          <p:nvPr/>
        </p:nvSpPr>
        <p:spPr>
          <a:xfrm>
            <a:off x="822960" y="1920240"/>
            <a:ext cx="1097280" cy="548640"/>
          </a:xfrm>
          <a:prstGeom prst="rect">
            <a:avLst/>
          </a:prstGeom>
          <a:noFill/>
          <a:ln/>
        </p:spPr>
        <p:txBody>
          <a:bodyPr wrap="square" lIns="0" tIns="0" rIns="0" bIns="0" rtlCol="0" anchor="ctr"/>
          <a:lstStyle/>
          <a:p>
            <a:pPr indent="0" marL="0">
              <a:buNone/>
            </a:pPr>
            <a:r>
              <a:rPr lang="en-US" sz="2800" b="1" dirty="0">
                <a:solidFill>
                  <a:srgbClr val="A100FF"/>
                </a:solidFill>
                <a:latin typeface="Trebuchet MS" pitchFamily="34" charset="0"/>
                <a:ea typeface="Trebuchet MS" pitchFamily="34" charset="-122"/>
                <a:cs typeface="Trebuchet MS" pitchFamily="34" charset="-120"/>
              </a:rPr>
              <a:t>01</a:t>
            </a:r>
            <a:endParaRPr lang="en-US" sz="2800" dirty="0"/>
          </a:p>
        </p:txBody>
      </p:sp>
      <p:sp>
        <p:nvSpPr>
          <p:cNvPr id="6" name="Text 4"/>
          <p:cNvSpPr/>
          <p:nvPr/>
        </p:nvSpPr>
        <p:spPr>
          <a:xfrm>
            <a:off x="822960" y="2468880"/>
            <a:ext cx="4846320" cy="50292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Authorization is over-scoped</a:t>
            </a:r>
            <a:endParaRPr lang="en-US" sz="1800" dirty="0"/>
          </a:p>
        </p:txBody>
      </p:sp>
      <p:sp>
        <p:nvSpPr>
          <p:cNvPr id="7" name="Text 5"/>
          <p:cNvSpPr/>
          <p:nvPr/>
        </p:nvSpPr>
        <p:spPr>
          <a:xfrm>
            <a:off x="822960" y="2971800"/>
            <a:ext cx="484632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Agent runs as the operator.</a:t>
            </a:r>
            <a:endParaRPr lang="en-US" sz="1400" dirty="0"/>
          </a:p>
        </p:txBody>
      </p:sp>
      <p:sp>
        <p:nvSpPr>
          <p:cNvPr id="8" name="Shape 6"/>
          <p:cNvSpPr/>
          <p:nvPr/>
        </p:nvSpPr>
        <p:spPr>
          <a:xfrm>
            <a:off x="822960" y="3383280"/>
            <a:ext cx="2743200" cy="292608"/>
          </a:xfrm>
          <a:prstGeom prst="rect">
            <a:avLst/>
          </a:prstGeom>
          <a:solidFill>
            <a:srgbClr val="FFEDD5"/>
          </a:solidFill>
          <a:ln/>
        </p:spPr>
      </p:sp>
      <p:sp>
        <p:nvSpPr>
          <p:cNvPr id="9" name="Text 7"/>
          <p:cNvSpPr/>
          <p:nvPr/>
        </p:nvSpPr>
        <p:spPr>
          <a:xfrm>
            <a:off x="822960" y="3383280"/>
            <a:ext cx="2743200" cy="292608"/>
          </a:xfrm>
          <a:prstGeom prst="rect">
            <a:avLst/>
          </a:prstGeom>
          <a:noFill/>
          <a:ln/>
        </p:spPr>
        <p:txBody>
          <a:bodyPr wrap="square" lIns="0" tIns="0" rIns="0" bIns="0" rtlCol="0" anchor="ctr"/>
          <a:lstStyle/>
          <a:p>
            <a:pPr algn="ctr" indent="0" marL="0">
              <a:buNone/>
            </a:pPr>
            <a:r>
              <a:rPr lang="en-US" sz="1100" b="1" i="1" dirty="0">
                <a:solidFill>
                  <a:srgbClr val="7C00C4"/>
                </a:solidFill>
                <a:latin typeface="Trebuchet MS" pitchFamily="34" charset="0"/>
                <a:ea typeface="Trebuchet MS" pitchFamily="34" charset="-122"/>
                <a:cs typeface="Trebuchet MS" pitchFamily="34" charset="-120"/>
              </a:rPr>
              <a:t>Like AWS Kiro.</a:t>
            </a:r>
            <a:endParaRPr lang="en-US" sz="1100" dirty="0"/>
          </a:p>
        </p:txBody>
      </p:sp>
      <p:sp>
        <p:nvSpPr>
          <p:cNvPr id="10" name="Shape 8"/>
          <p:cNvSpPr/>
          <p:nvPr/>
        </p:nvSpPr>
        <p:spPr>
          <a:xfrm>
            <a:off x="6126480" y="1783080"/>
            <a:ext cx="5394960" cy="20116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11" name="Text 9"/>
          <p:cNvSpPr/>
          <p:nvPr/>
        </p:nvSpPr>
        <p:spPr>
          <a:xfrm>
            <a:off x="6400800" y="1920240"/>
            <a:ext cx="1097280" cy="548640"/>
          </a:xfrm>
          <a:prstGeom prst="rect">
            <a:avLst/>
          </a:prstGeom>
          <a:noFill/>
          <a:ln/>
        </p:spPr>
        <p:txBody>
          <a:bodyPr wrap="square" lIns="0" tIns="0" rIns="0" bIns="0" rtlCol="0" anchor="ctr"/>
          <a:lstStyle/>
          <a:p>
            <a:pPr indent="0" marL="0">
              <a:buNone/>
            </a:pPr>
            <a:r>
              <a:rPr lang="en-US" sz="2800" b="1" dirty="0">
                <a:solidFill>
                  <a:srgbClr val="A100FF"/>
                </a:solidFill>
                <a:latin typeface="Trebuchet MS" pitchFamily="34" charset="0"/>
                <a:ea typeface="Trebuchet MS" pitchFamily="34" charset="-122"/>
                <a:cs typeface="Trebuchet MS" pitchFamily="34" charset="-120"/>
              </a:rPr>
              <a:t>02</a:t>
            </a:r>
            <a:endParaRPr lang="en-US" sz="2800" dirty="0"/>
          </a:p>
        </p:txBody>
      </p:sp>
      <p:sp>
        <p:nvSpPr>
          <p:cNvPr id="12" name="Text 10"/>
          <p:cNvSpPr/>
          <p:nvPr/>
        </p:nvSpPr>
        <p:spPr>
          <a:xfrm>
            <a:off x="6400800" y="2468880"/>
            <a:ext cx="4846320" cy="50292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Supply chain has no admission</a:t>
            </a:r>
            <a:endParaRPr lang="en-US" sz="1800" dirty="0"/>
          </a:p>
        </p:txBody>
      </p:sp>
      <p:sp>
        <p:nvSpPr>
          <p:cNvPr id="13" name="Text 11"/>
          <p:cNvSpPr/>
          <p:nvPr/>
        </p:nvSpPr>
        <p:spPr>
          <a:xfrm>
            <a:off x="6400800" y="2971800"/>
            <a:ext cx="484632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Lockfile pinned. Registry not enforced.</a:t>
            </a:r>
            <a:endParaRPr lang="en-US" sz="1400" dirty="0"/>
          </a:p>
        </p:txBody>
      </p:sp>
      <p:sp>
        <p:nvSpPr>
          <p:cNvPr id="14" name="Shape 12"/>
          <p:cNvSpPr/>
          <p:nvPr/>
        </p:nvSpPr>
        <p:spPr>
          <a:xfrm>
            <a:off x="6400800" y="3383280"/>
            <a:ext cx="2743200" cy="292608"/>
          </a:xfrm>
          <a:prstGeom prst="rect">
            <a:avLst/>
          </a:prstGeom>
          <a:solidFill>
            <a:srgbClr val="FFEDD5"/>
          </a:solidFill>
          <a:ln/>
        </p:spPr>
      </p:sp>
      <p:sp>
        <p:nvSpPr>
          <p:cNvPr id="15" name="Text 13"/>
          <p:cNvSpPr/>
          <p:nvPr/>
        </p:nvSpPr>
        <p:spPr>
          <a:xfrm>
            <a:off x="6400800" y="3383280"/>
            <a:ext cx="2743200" cy="292608"/>
          </a:xfrm>
          <a:prstGeom prst="rect">
            <a:avLst/>
          </a:prstGeom>
          <a:noFill/>
          <a:ln/>
        </p:spPr>
        <p:txBody>
          <a:bodyPr wrap="square" lIns="0" tIns="0" rIns="0" bIns="0" rtlCol="0" anchor="ctr"/>
          <a:lstStyle/>
          <a:p>
            <a:pPr algn="ctr" indent="0" marL="0">
              <a:buNone/>
            </a:pPr>
            <a:r>
              <a:rPr lang="en-US" sz="1100" b="1" i="1" dirty="0">
                <a:solidFill>
                  <a:srgbClr val="7C00C4"/>
                </a:solidFill>
                <a:latin typeface="Trebuchet MS" pitchFamily="34" charset="0"/>
                <a:ea typeface="Trebuchet MS" pitchFamily="34" charset="-122"/>
                <a:cs typeface="Trebuchet MS" pitchFamily="34" charset="-120"/>
              </a:rPr>
              <a:t>Like PocketOS.</a:t>
            </a:r>
            <a:endParaRPr lang="en-US" sz="1100" dirty="0"/>
          </a:p>
        </p:txBody>
      </p:sp>
      <p:sp>
        <p:nvSpPr>
          <p:cNvPr id="16" name="Shape 14"/>
          <p:cNvSpPr/>
          <p:nvPr/>
        </p:nvSpPr>
        <p:spPr>
          <a:xfrm>
            <a:off x="548640" y="3977640"/>
            <a:ext cx="5394960" cy="20116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17" name="Text 15"/>
          <p:cNvSpPr/>
          <p:nvPr/>
        </p:nvSpPr>
        <p:spPr>
          <a:xfrm>
            <a:off x="822960" y="4114800"/>
            <a:ext cx="1097280" cy="548640"/>
          </a:xfrm>
          <a:prstGeom prst="rect">
            <a:avLst/>
          </a:prstGeom>
          <a:noFill/>
          <a:ln/>
        </p:spPr>
        <p:txBody>
          <a:bodyPr wrap="square" lIns="0" tIns="0" rIns="0" bIns="0" rtlCol="0" anchor="ctr"/>
          <a:lstStyle/>
          <a:p>
            <a:pPr indent="0" marL="0">
              <a:buNone/>
            </a:pPr>
            <a:r>
              <a:rPr lang="en-US" sz="2800" b="1" dirty="0">
                <a:solidFill>
                  <a:srgbClr val="A100FF"/>
                </a:solidFill>
                <a:latin typeface="Trebuchet MS" pitchFamily="34" charset="0"/>
                <a:ea typeface="Trebuchet MS" pitchFamily="34" charset="-122"/>
                <a:cs typeface="Trebuchet MS" pitchFamily="34" charset="-120"/>
              </a:rPr>
              <a:t>03</a:t>
            </a:r>
            <a:endParaRPr lang="en-US" sz="2800" dirty="0"/>
          </a:p>
        </p:txBody>
      </p:sp>
      <p:sp>
        <p:nvSpPr>
          <p:cNvPr id="18" name="Text 16"/>
          <p:cNvSpPr/>
          <p:nvPr/>
        </p:nvSpPr>
        <p:spPr>
          <a:xfrm>
            <a:off x="822960" y="4663440"/>
            <a:ext cx="4846320" cy="50292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Approval gating: humans only</a:t>
            </a:r>
            <a:endParaRPr lang="en-US" sz="1800" dirty="0"/>
          </a:p>
        </p:txBody>
      </p:sp>
      <p:sp>
        <p:nvSpPr>
          <p:cNvPr id="19" name="Text 17"/>
          <p:cNvSpPr/>
          <p:nvPr/>
        </p:nvSpPr>
        <p:spPr>
          <a:xfrm>
            <a:off x="822960" y="5166360"/>
            <a:ext cx="484632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Branch protection on. Hooks off.</a:t>
            </a:r>
            <a:endParaRPr lang="en-US" sz="1400" dirty="0"/>
          </a:p>
        </p:txBody>
      </p:sp>
      <p:sp>
        <p:nvSpPr>
          <p:cNvPr id="20" name="Shape 18"/>
          <p:cNvSpPr/>
          <p:nvPr/>
        </p:nvSpPr>
        <p:spPr>
          <a:xfrm>
            <a:off x="822960" y="5577840"/>
            <a:ext cx="2743200" cy="292608"/>
          </a:xfrm>
          <a:prstGeom prst="rect">
            <a:avLst/>
          </a:prstGeom>
          <a:solidFill>
            <a:srgbClr val="FFEDD5"/>
          </a:solidFill>
          <a:ln/>
        </p:spPr>
      </p:sp>
      <p:sp>
        <p:nvSpPr>
          <p:cNvPr id="21" name="Text 19"/>
          <p:cNvSpPr/>
          <p:nvPr/>
        </p:nvSpPr>
        <p:spPr>
          <a:xfrm>
            <a:off x="822960" y="5577840"/>
            <a:ext cx="2743200" cy="292608"/>
          </a:xfrm>
          <a:prstGeom prst="rect">
            <a:avLst/>
          </a:prstGeom>
          <a:noFill/>
          <a:ln/>
        </p:spPr>
        <p:txBody>
          <a:bodyPr wrap="square" lIns="0" tIns="0" rIns="0" bIns="0" rtlCol="0" anchor="ctr"/>
          <a:lstStyle/>
          <a:p>
            <a:pPr algn="ctr" indent="0" marL="0">
              <a:buNone/>
            </a:pPr>
            <a:r>
              <a:rPr lang="en-US" sz="1100" b="1" i="1" dirty="0">
                <a:solidFill>
                  <a:srgbClr val="7C00C4"/>
                </a:solidFill>
                <a:latin typeface="Trebuchet MS" pitchFamily="34" charset="0"/>
                <a:ea typeface="Trebuchet MS" pitchFamily="34" charset="-122"/>
                <a:cs typeface="Trebuchet MS" pitchFamily="34" charset="-120"/>
              </a:rPr>
              <a:t>93% rubber-stamp.</a:t>
            </a:r>
            <a:endParaRPr lang="en-US" sz="1100" dirty="0"/>
          </a:p>
        </p:txBody>
      </p:sp>
      <p:sp>
        <p:nvSpPr>
          <p:cNvPr id="22" name="Shape 20"/>
          <p:cNvSpPr/>
          <p:nvPr/>
        </p:nvSpPr>
        <p:spPr>
          <a:xfrm>
            <a:off x="6126480" y="3977640"/>
            <a:ext cx="5394960" cy="201168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23" name="Text 21"/>
          <p:cNvSpPr/>
          <p:nvPr/>
        </p:nvSpPr>
        <p:spPr>
          <a:xfrm>
            <a:off x="6400800" y="4114800"/>
            <a:ext cx="1097280" cy="548640"/>
          </a:xfrm>
          <a:prstGeom prst="rect">
            <a:avLst/>
          </a:prstGeom>
          <a:noFill/>
          <a:ln/>
        </p:spPr>
        <p:txBody>
          <a:bodyPr wrap="square" lIns="0" tIns="0" rIns="0" bIns="0" rtlCol="0" anchor="ctr"/>
          <a:lstStyle/>
          <a:p>
            <a:pPr indent="0" marL="0">
              <a:buNone/>
            </a:pPr>
            <a:r>
              <a:rPr lang="en-US" sz="2800" b="1" dirty="0">
                <a:solidFill>
                  <a:srgbClr val="A100FF"/>
                </a:solidFill>
                <a:latin typeface="Trebuchet MS" pitchFamily="34" charset="0"/>
                <a:ea typeface="Trebuchet MS" pitchFamily="34" charset="-122"/>
                <a:cs typeface="Trebuchet MS" pitchFamily="34" charset="-120"/>
              </a:rPr>
              <a:t>04</a:t>
            </a:r>
            <a:endParaRPr lang="en-US" sz="2800" dirty="0"/>
          </a:p>
        </p:txBody>
      </p:sp>
      <p:sp>
        <p:nvSpPr>
          <p:cNvPr id="24" name="Text 22"/>
          <p:cNvSpPr/>
          <p:nvPr/>
        </p:nvSpPr>
        <p:spPr>
          <a:xfrm>
            <a:off x="6400800" y="4663440"/>
            <a:ext cx="4846320" cy="50292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Identity is shared</a:t>
            </a:r>
            <a:endParaRPr lang="en-US" sz="1800" dirty="0"/>
          </a:p>
        </p:txBody>
      </p:sp>
      <p:sp>
        <p:nvSpPr>
          <p:cNvPr id="25" name="Text 23"/>
          <p:cNvSpPr/>
          <p:nvPr/>
        </p:nvSpPr>
        <p:spPr>
          <a:xfrm>
            <a:off x="6400800" y="5166360"/>
            <a:ext cx="484632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One key. No attribution.</a:t>
            </a:r>
            <a:endParaRPr lang="en-US" sz="1400" dirty="0"/>
          </a:p>
        </p:txBody>
      </p:sp>
      <p:sp>
        <p:nvSpPr>
          <p:cNvPr id="26" name="Shape 24"/>
          <p:cNvSpPr/>
          <p:nvPr/>
        </p:nvSpPr>
        <p:spPr>
          <a:xfrm>
            <a:off x="6400800" y="5577840"/>
            <a:ext cx="2743200" cy="292608"/>
          </a:xfrm>
          <a:prstGeom prst="rect">
            <a:avLst/>
          </a:prstGeom>
          <a:solidFill>
            <a:srgbClr val="FFEDD5"/>
          </a:solidFill>
          <a:ln/>
        </p:spPr>
      </p:sp>
      <p:sp>
        <p:nvSpPr>
          <p:cNvPr id="27" name="Text 25"/>
          <p:cNvSpPr/>
          <p:nvPr/>
        </p:nvSpPr>
        <p:spPr>
          <a:xfrm>
            <a:off x="6400800" y="5577840"/>
            <a:ext cx="2743200" cy="292608"/>
          </a:xfrm>
          <a:prstGeom prst="rect">
            <a:avLst/>
          </a:prstGeom>
          <a:noFill/>
          <a:ln/>
        </p:spPr>
        <p:txBody>
          <a:bodyPr wrap="square" lIns="0" tIns="0" rIns="0" bIns="0" rtlCol="0" anchor="ctr"/>
          <a:lstStyle/>
          <a:p>
            <a:pPr algn="ctr" indent="0" marL="0">
              <a:buNone/>
            </a:pPr>
            <a:r>
              <a:rPr lang="en-US" sz="1100" b="1" i="1" dirty="0">
                <a:solidFill>
                  <a:srgbClr val="7C00C4"/>
                </a:solidFill>
                <a:latin typeface="Trebuchet MS" pitchFamily="34" charset="0"/>
                <a:ea typeface="Trebuchet MS" pitchFamily="34" charset="-122"/>
                <a:cs typeface="Trebuchet MS" pitchFamily="34" charset="-120"/>
              </a:rPr>
              <a:t>Like every recent incident.</a:t>
            </a:r>
            <a:endParaRPr lang="en-US" sz="1100" dirty="0"/>
          </a:p>
        </p:txBody>
      </p:sp>
      <p:sp>
        <p:nvSpPr>
          <p:cNvPr id="28" name="Text 26"/>
          <p:cNvSpPr/>
          <p:nvPr/>
        </p:nvSpPr>
        <p:spPr>
          <a:xfrm>
            <a:off x="548640" y="6309360"/>
            <a:ext cx="11064240" cy="365760"/>
          </a:xfrm>
          <a:prstGeom prst="rect">
            <a:avLst/>
          </a:prstGeom>
          <a:noFill/>
          <a:ln/>
        </p:spPr>
        <p:txBody>
          <a:bodyPr wrap="square" lIns="0" tIns="0" rIns="0" bIns="0" rtlCol="0" anchor="ctr"/>
          <a:lstStyle/>
          <a:p>
            <a:pPr algn="ctr" indent="0" marL="0">
              <a:buNone/>
            </a:pPr>
            <a:r>
              <a:rPr lang="en-US" sz="1500" b="1" i="1" dirty="0">
                <a:solidFill>
                  <a:srgbClr val="A100FF"/>
                </a:solidFill>
                <a:latin typeface="Trebuchet MS" pitchFamily="34" charset="0"/>
                <a:ea typeface="Trebuchet MS" pitchFamily="34" charset="-122"/>
                <a:cs typeface="Trebuchet MS" pitchFamily="34" charset="-120"/>
              </a:rPr>
              <a:t>Four cells empty. Four tickets to file Monday. Not eight. Four.</a:t>
            </a:r>
            <a:endParaRPr lang="en-US" sz="1500" dirty="0"/>
          </a:p>
        </p:txBody>
      </p:sp>
      <p:pic>
        <p:nvPicPr>
          <p:cNvPr id="29" name="Image 0" descr="preencoded.png">    </p:cNvPr>
          <p:cNvPicPr>
            <a:picLocks noChangeAspect="1"/>
          </p:cNvPicPr>
          <p:nvPr/>
        </p:nvPicPr>
        <p:blipFill>
          <a:blip r:embed="rId1">
            <a:alphaModFix amt="50000"/>
          </a:blip>
          <a:stretch>
            <a:fillRect/>
          </a:stretch>
        </p:blipFill>
        <p:spPr>
          <a:xfrm>
            <a:off x="10698480" y="365760"/>
            <a:ext cx="1097280" cy="640187"/>
          </a:xfrm>
          <a:prstGeom prst="rect">
            <a:avLst/>
          </a:prstGeom>
        </p:spPr>
      </p:pic>
      <p:sp>
        <p:nvSpPr>
          <p:cNvPr id="31" name="Text 27"/>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 / 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914400"/>
            <a:ext cx="11064240" cy="914400"/>
          </a:xfrm>
          <a:prstGeom prst="rect">
            <a:avLst/>
          </a:prstGeom>
          <a:noFill/>
          <a:ln/>
        </p:spPr>
        <p:txBody>
          <a:bodyPr wrap="square" lIns="0" tIns="0" rIns="0" bIns="0" rtlCol="0" anchor="ctr"/>
          <a:lstStyle/>
          <a:p>
            <a:pPr algn="ctr" indent="0" marL="0">
              <a:buNone/>
            </a:pPr>
            <a:r>
              <a:rPr lang="en-US" sz="4400" b="1" dirty="0">
                <a:solidFill>
                  <a:srgbClr val="94A3B8"/>
                </a:solidFill>
                <a:latin typeface="Trebuchet MS" pitchFamily="34" charset="0"/>
                <a:ea typeface="Trebuchet MS" pitchFamily="34" charset="-122"/>
                <a:cs typeface="Trebuchet MS" pitchFamily="34" charset="-120"/>
              </a:rPr>
              <a:t>Detection is not Protection.</a:t>
            </a:r>
            <a:endParaRPr lang="en-US" sz="4400" dirty="0"/>
          </a:p>
        </p:txBody>
      </p:sp>
      <p:sp>
        <p:nvSpPr>
          <p:cNvPr id="3" name="Text 1"/>
          <p:cNvSpPr/>
          <p:nvPr/>
        </p:nvSpPr>
        <p:spPr>
          <a:xfrm>
            <a:off x="548640" y="1920240"/>
            <a:ext cx="11064240" cy="914400"/>
          </a:xfrm>
          <a:prstGeom prst="rect">
            <a:avLst/>
          </a:prstGeom>
          <a:noFill/>
          <a:ln/>
        </p:spPr>
        <p:txBody>
          <a:bodyPr wrap="square" lIns="0" tIns="0" rIns="0" bIns="0" rtlCol="0" anchor="ctr"/>
          <a:lstStyle/>
          <a:p>
            <a:pPr algn="ctr" indent="0" marL="0">
              <a:buNone/>
            </a:pPr>
            <a:r>
              <a:rPr lang="en-US" sz="4400" b="1" dirty="0">
                <a:solidFill>
                  <a:srgbClr val="94A3B8"/>
                </a:solidFill>
                <a:latin typeface="Trebuchet MS" pitchFamily="34" charset="0"/>
                <a:ea typeface="Trebuchet MS" pitchFamily="34" charset="-122"/>
                <a:cs typeface="Trebuchet MS" pitchFamily="34" charset="-120"/>
              </a:rPr>
              <a:t>Response is not Protection.</a:t>
            </a:r>
            <a:endParaRPr lang="en-US" sz="4400" dirty="0"/>
          </a:p>
        </p:txBody>
      </p:sp>
      <p:sp>
        <p:nvSpPr>
          <p:cNvPr id="4" name="Text 2"/>
          <p:cNvSpPr/>
          <p:nvPr/>
        </p:nvSpPr>
        <p:spPr>
          <a:xfrm>
            <a:off x="548640" y="2926080"/>
            <a:ext cx="11064240" cy="914400"/>
          </a:xfrm>
          <a:prstGeom prst="rect">
            <a:avLst/>
          </a:prstGeom>
          <a:noFill/>
          <a:ln/>
        </p:spPr>
        <p:txBody>
          <a:bodyPr wrap="square" lIns="0" tIns="0" rIns="0" bIns="0" rtlCol="0" anchor="ctr"/>
          <a:lstStyle/>
          <a:p>
            <a:pPr algn="ctr" indent="0" marL="0">
              <a:buNone/>
            </a:pPr>
            <a:r>
              <a:rPr lang="en-US" sz="4400" b="1" dirty="0">
                <a:solidFill>
                  <a:srgbClr val="94A3B8"/>
                </a:solidFill>
                <a:latin typeface="Trebuchet MS" pitchFamily="34" charset="0"/>
                <a:ea typeface="Trebuchet MS" pitchFamily="34" charset="-122"/>
                <a:cs typeface="Trebuchet MS" pitchFamily="34" charset="-120"/>
              </a:rPr>
              <a:t>Recovery is not Protection.</a:t>
            </a:r>
            <a:endParaRPr lang="en-US" sz="4400" dirty="0"/>
          </a:p>
        </p:txBody>
      </p:sp>
      <p:sp>
        <p:nvSpPr>
          <p:cNvPr id="5" name="Shape 3"/>
          <p:cNvSpPr/>
          <p:nvPr/>
        </p:nvSpPr>
        <p:spPr>
          <a:xfrm>
            <a:off x="4251960" y="4206240"/>
            <a:ext cx="3657600" cy="0"/>
          </a:xfrm>
          <a:prstGeom prst="line">
            <a:avLst/>
          </a:prstGeom>
          <a:noFill/>
          <a:ln w="25400">
            <a:solidFill>
              <a:srgbClr val="A100FF"/>
            </a:solidFill>
            <a:prstDash val="solid"/>
          </a:ln>
        </p:spPr>
      </p:sp>
      <p:sp>
        <p:nvSpPr>
          <p:cNvPr id="6" name="Text 4"/>
          <p:cNvSpPr/>
          <p:nvPr/>
        </p:nvSpPr>
        <p:spPr>
          <a:xfrm>
            <a:off x="274320" y="4572000"/>
            <a:ext cx="11612880" cy="1097280"/>
          </a:xfrm>
          <a:prstGeom prst="rect">
            <a:avLst/>
          </a:prstGeom>
          <a:noFill/>
          <a:ln/>
        </p:spPr>
        <p:txBody>
          <a:bodyPr wrap="square" lIns="0" tIns="0" rIns="0" bIns="0" rtlCol="0" anchor="ctr"/>
          <a:lstStyle/>
          <a:p>
            <a:pPr algn="ctr" indent="0" marL="0">
              <a:buNone/>
            </a:pPr>
            <a:r>
              <a:rPr lang="en-US" sz="4400" b="1" i="1" dirty="0">
                <a:solidFill>
                  <a:srgbClr val="A100FF"/>
                </a:solidFill>
                <a:latin typeface="Trebuchet MS" pitchFamily="34" charset="0"/>
                <a:ea typeface="Trebuchet MS" pitchFamily="34" charset="-122"/>
                <a:cs typeface="Trebuchet MS" pitchFamily="34" charset="-120"/>
              </a:rPr>
              <a:t>Build the column you don't have.</a:t>
            </a:r>
            <a:endParaRPr lang="en-US" sz="4400" dirty="0"/>
          </a:p>
        </p:txBody>
      </p:sp>
      <p:sp>
        <p:nvSpPr>
          <p:cNvPr id="7" name="Text 5"/>
          <p:cNvSpPr/>
          <p:nvPr/>
        </p:nvSpPr>
        <p:spPr>
          <a:xfrm>
            <a:off x="548640" y="5943600"/>
            <a:ext cx="11064240" cy="457200"/>
          </a:xfrm>
          <a:prstGeom prst="rect">
            <a:avLst/>
          </a:prstGeom>
          <a:noFill/>
          <a:ln/>
        </p:spPr>
        <p:txBody>
          <a:bodyPr wrap="square" lIns="0" tIns="0" rIns="0" bIns="0" rtlCol="0" anchor="ctr"/>
          <a:lstStyle/>
          <a:p>
            <a:pPr algn="ctr" indent="0" marL="0">
              <a:buNone/>
            </a:pPr>
            <a:r>
              <a:rPr lang="en-US" sz="1600" dirty="0">
                <a:solidFill>
                  <a:srgbClr val="CBD5E1"/>
                </a:solidFill>
                <a:latin typeface="Calibri" pitchFamily="34" charset="0"/>
                <a:ea typeface="Calibri" pitchFamily="34" charset="-122"/>
                <a:cs typeface="Calibri" pitchFamily="34" charset="-120"/>
              </a:rPr>
              <a:t>Walk the matrix. Find the empty cells. File the tickets.</a:t>
            </a:r>
            <a:endParaRPr lang="en-US" sz="1600" dirty="0"/>
          </a:p>
        </p:txBody>
      </p:sp>
      <p:pic>
        <p:nvPicPr>
          <p:cNvPr id="8" name="Image 0" descr="preencoded.png">    </p:cNvPr>
          <p:cNvPicPr>
            <a:picLocks noChangeAspect="1"/>
          </p:cNvPicPr>
          <p:nvPr/>
        </p:nvPicPr>
        <p:blipFill>
          <a:blip r:embed="rId1">
            <a:alphaModFix amt="50000"/>
          </a:blip>
          <a:stretch>
            <a:fillRect/>
          </a:stretch>
        </p:blipFill>
        <p:spPr>
          <a:xfrm>
            <a:off x="274320" y="5120640"/>
            <a:ext cx="2468880" cy="1645920"/>
          </a:xfrm>
          <a:prstGeom prst="rect">
            <a:avLst/>
          </a:prstGeom>
        </p:spPr>
      </p:pic>
      <p:sp>
        <p:nvSpPr>
          <p:cNvPr id="10" name="Text 6"/>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274320"/>
            <a:ext cx="10972800" cy="5486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Resources &amp; Q&amp;A</a:t>
            </a:r>
            <a:endParaRPr lang="en-US" sz="2800" dirty="0"/>
          </a:p>
        </p:txBody>
      </p:sp>
      <p:sp>
        <p:nvSpPr>
          <p:cNvPr id="3" name="Shape 1"/>
          <p:cNvSpPr/>
          <p:nvPr/>
        </p:nvSpPr>
        <p:spPr>
          <a:xfrm>
            <a:off x="548640" y="960120"/>
            <a:ext cx="9509760" cy="5486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4" name="Shape 2"/>
          <p:cNvSpPr/>
          <p:nvPr/>
        </p:nvSpPr>
        <p:spPr>
          <a:xfrm>
            <a:off x="548640" y="960120"/>
            <a:ext cx="73152" cy="548640"/>
          </a:xfrm>
          <a:prstGeom prst="rect">
            <a:avLst/>
          </a:prstGeom>
          <a:solidFill>
            <a:srgbClr val="A100FF"/>
          </a:solidFill>
          <a:ln/>
        </p:spPr>
      </p:sp>
      <p:sp>
        <p:nvSpPr>
          <p:cNvPr id="5" name="Text 3"/>
          <p:cNvSpPr/>
          <p:nvPr/>
        </p:nvSpPr>
        <p:spPr>
          <a:xfrm>
            <a:off x="868680" y="1005840"/>
            <a:ext cx="41148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Personal site</a:t>
            </a:r>
            <a:endParaRPr lang="en-US" sz="1400" dirty="0"/>
          </a:p>
        </p:txBody>
      </p:sp>
      <p:sp>
        <p:nvSpPr>
          <p:cNvPr id="6" name="Text 4"/>
          <p:cNvSpPr/>
          <p:nvPr/>
        </p:nvSpPr>
        <p:spPr>
          <a:xfrm>
            <a:off x="5029200" y="1005840"/>
            <a:ext cx="4937760" cy="457200"/>
          </a:xfrm>
          <a:prstGeom prst="rect">
            <a:avLst/>
          </a:prstGeom>
          <a:noFill/>
          <a:ln/>
        </p:spPr>
        <p:txBody>
          <a:bodyPr wrap="square" lIns="0" tIns="0" rIns="0" bIns="0" rtlCol="0" anchor="ctr"/>
          <a:lstStyle/>
          <a:p>
            <a:pPr indent="0" marL="0">
              <a:buNone/>
            </a:pPr>
            <a:r>
              <a:rPr lang="en-US" sz="1300" dirty="0">
                <a:solidFill>
                  <a:srgbClr val="A100FF"/>
                </a:solidFill>
                <a:latin typeface="Calibri" pitchFamily="34" charset="0"/>
                <a:ea typeface="Calibri" pitchFamily="34" charset="-122"/>
                <a:cs typeface="Calibri" pitchFamily="34" charset="-120"/>
              </a:rPr>
              <a:t>MichaelRishiForrester.com</a:t>
            </a:r>
            <a:endParaRPr lang="en-US" sz="1300" dirty="0"/>
          </a:p>
        </p:txBody>
      </p:sp>
      <p:sp>
        <p:nvSpPr>
          <p:cNvPr id="7" name="Shape 5"/>
          <p:cNvSpPr/>
          <p:nvPr/>
        </p:nvSpPr>
        <p:spPr>
          <a:xfrm>
            <a:off x="548640" y="1600200"/>
            <a:ext cx="9509760" cy="5486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8" name="Shape 6"/>
          <p:cNvSpPr/>
          <p:nvPr/>
        </p:nvSpPr>
        <p:spPr>
          <a:xfrm>
            <a:off x="548640" y="1600200"/>
            <a:ext cx="73152" cy="548640"/>
          </a:xfrm>
          <a:prstGeom prst="rect">
            <a:avLst/>
          </a:prstGeom>
          <a:solidFill>
            <a:srgbClr val="A100FF"/>
          </a:solidFill>
          <a:ln/>
        </p:spPr>
      </p:sp>
      <p:sp>
        <p:nvSpPr>
          <p:cNvPr id="9" name="Text 7"/>
          <p:cNvSpPr/>
          <p:nvPr/>
        </p:nvSpPr>
        <p:spPr>
          <a:xfrm>
            <a:off x="868680" y="1645920"/>
            <a:ext cx="41148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Yesterday's sister talk</a:t>
            </a:r>
            <a:endParaRPr lang="en-US" sz="1400" dirty="0"/>
          </a:p>
        </p:txBody>
      </p:sp>
      <p:sp>
        <p:nvSpPr>
          <p:cNvPr id="10" name="Text 8"/>
          <p:cNvSpPr/>
          <p:nvPr/>
        </p:nvSpPr>
        <p:spPr>
          <a:xfrm>
            <a:off x="5029200" y="1645920"/>
            <a:ext cx="4937760" cy="457200"/>
          </a:xfrm>
          <a:prstGeom prst="rect">
            <a:avLst/>
          </a:prstGeom>
          <a:noFill/>
          <a:ln/>
        </p:spPr>
        <p:txBody>
          <a:bodyPr wrap="square" lIns="0" tIns="0" rIns="0" bIns="0" rtlCol="0" anchor="ctr"/>
          <a:lstStyle/>
          <a:p>
            <a:pPr indent="0" marL="0">
              <a:buNone/>
            </a:pPr>
            <a:r>
              <a:rPr lang="en-US" sz="1300" dirty="0">
                <a:solidFill>
                  <a:srgbClr val="A100FF"/>
                </a:solidFill>
                <a:latin typeface="Calibri" pitchFamily="34" charset="0"/>
                <a:ea typeface="Calibri" pitchFamily="34" charset="-122"/>
                <a:cs typeface="Calibri" pitchFamily="34" charset="-120"/>
              </a:rPr>
              <a:t>SREday Austin · The Day an AI Agent Deleted My Cluster</a:t>
            </a:r>
            <a:endParaRPr lang="en-US" sz="1300" dirty="0"/>
          </a:p>
        </p:txBody>
      </p:sp>
      <p:sp>
        <p:nvSpPr>
          <p:cNvPr id="11" name="Shape 9"/>
          <p:cNvSpPr/>
          <p:nvPr/>
        </p:nvSpPr>
        <p:spPr>
          <a:xfrm>
            <a:off x="548640" y="2240280"/>
            <a:ext cx="9509760" cy="54864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5000"/>
              </a:srgbClr>
            </a:outerShdw>
          </a:effectLst>
        </p:spPr>
      </p:sp>
      <p:sp>
        <p:nvSpPr>
          <p:cNvPr id="12" name="Shape 10"/>
          <p:cNvSpPr/>
          <p:nvPr/>
        </p:nvSpPr>
        <p:spPr>
          <a:xfrm>
            <a:off x="548640" y="2240280"/>
            <a:ext cx="73152" cy="548640"/>
          </a:xfrm>
          <a:prstGeom prst="rect">
            <a:avLst/>
          </a:prstGeom>
          <a:solidFill>
            <a:srgbClr val="A100FF"/>
          </a:solidFill>
          <a:ln/>
        </p:spPr>
      </p:sp>
      <p:sp>
        <p:nvSpPr>
          <p:cNvPr id="13" name="Text 11"/>
          <p:cNvSpPr/>
          <p:nvPr/>
        </p:nvSpPr>
        <p:spPr>
          <a:xfrm>
            <a:off x="868680" y="2286000"/>
            <a:ext cx="4114800" cy="45720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Friday's hands-on workshop</a:t>
            </a:r>
            <a:endParaRPr lang="en-US" sz="1400" dirty="0"/>
          </a:p>
        </p:txBody>
      </p:sp>
      <p:sp>
        <p:nvSpPr>
          <p:cNvPr id="14" name="Text 12"/>
          <p:cNvSpPr/>
          <p:nvPr/>
        </p:nvSpPr>
        <p:spPr>
          <a:xfrm>
            <a:off x="5029200" y="2286000"/>
            <a:ext cx="4937760" cy="457200"/>
          </a:xfrm>
          <a:prstGeom prst="rect">
            <a:avLst/>
          </a:prstGeom>
          <a:noFill/>
          <a:ln/>
        </p:spPr>
        <p:txBody>
          <a:bodyPr wrap="square" lIns="0" tIns="0" rIns="0" bIns="0" rtlCol="0" anchor="ctr"/>
          <a:lstStyle/>
          <a:p>
            <a:pPr indent="0" marL="0">
              <a:buNone/>
            </a:pPr>
            <a:r>
              <a:rPr lang="en-US" sz="1300" dirty="0">
                <a:solidFill>
                  <a:srgbClr val="A100FF"/>
                </a:solidFill>
                <a:latin typeface="Calibri" pitchFamily="34" charset="0"/>
                <a:ea typeface="Calibri" pitchFamily="34" charset="-122"/>
                <a:cs typeface="Calibri" pitchFamily="34" charset="-120"/>
              </a:rPr>
              <a:t>KCD Texas · The 90-Minute IDP</a:t>
            </a:r>
            <a:endParaRPr lang="en-US" sz="1300" dirty="0"/>
          </a:p>
        </p:txBody>
      </p:sp>
      <p:sp>
        <p:nvSpPr>
          <p:cNvPr id="15" name="Shape 13"/>
          <p:cNvSpPr/>
          <p:nvPr/>
        </p:nvSpPr>
        <p:spPr>
          <a:xfrm>
            <a:off x="1371600" y="3063240"/>
            <a:ext cx="9418320" cy="0"/>
          </a:xfrm>
          <a:prstGeom prst="line">
            <a:avLst/>
          </a:prstGeom>
          <a:noFill/>
          <a:ln w="12700">
            <a:solidFill>
              <a:srgbClr val="64748B"/>
            </a:solidFill>
            <a:prstDash val="solid"/>
          </a:ln>
        </p:spPr>
      </p:sp>
      <p:sp>
        <p:nvSpPr>
          <p:cNvPr id="16" name="Text 14"/>
          <p:cNvSpPr/>
          <p:nvPr/>
        </p:nvSpPr>
        <p:spPr>
          <a:xfrm>
            <a:off x="548640" y="3246120"/>
            <a:ext cx="11064240" cy="365760"/>
          </a:xfrm>
          <a:prstGeom prst="rect">
            <a:avLst/>
          </a:prstGeom>
          <a:noFill/>
          <a:ln/>
        </p:spPr>
        <p:txBody>
          <a:bodyPr wrap="square" lIns="0" tIns="0" rIns="0" bIns="0" rtlCol="0" anchor="ctr"/>
          <a:lstStyle/>
          <a:p>
            <a:pPr algn="ctr" indent="0" marL="0">
              <a:buNone/>
            </a:pPr>
            <a:r>
              <a:rPr lang="en-US" sz="1200" b="1" spc="400" kern="0" dirty="0">
                <a:solidFill>
                  <a:srgbClr val="A100FF"/>
                </a:solidFill>
                <a:latin typeface="Trebuchet MS" pitchFamily="34" charset="0"/>
                <a:ea typeface="Trebuchet MS" pitchFamily="34" charset="-122"/>
                <a:cs typeface="Trebuchet MS" pitchFamily="34" charset="-120"/>
              </a:rPr>
              <a:t>THE AGENTIC COVENANTS FRAMEWORK</a:t>
            </a:r>
            <a:endParaRPr lang="en-US" sz="1200" dirty="0"/>
          </a:p>
        </p:txBody>
      </p:sp>
      <p:sp>
        <p:nvSpPr>
          <p:cNvPr id="17" name="Text 15"/>
          <p:cNvSpPr/>
          <p:nvPr/>
        </p:nvSpPr>
        <p:spPr>
          <a:xfrm>
            <a:off x="548640" y="3703320"/>
            <a:ext cx="11064240" cy="457200"/>
          </a:xfrm>
          <a:prstGeom prst="rect">
            <a:avLst/>
          </a:prstGeom>
          <a:noFill/>
          <a:ln/>
        </p:spPr>
        <p:txBody>
          <a:bodyPr wrap="square" lIns="0" tIns="0" rIns="0" bIns="0" rtlCol="0" anchor="ctr"/>
          <a:lstStyle/>
          <a:p>
            <a:pPr algn="ctr" indent="0" marL="0">
              <a:buNone/>
            </a:pPr>
            <a:r>
              <a:rPr lang="en-US" sz="1800" i="1" dirty="0">
                <a:solidFill>
                  <a:srgbClr val="0F172A"/>
                </a:solidFill>
                <a:latin typeface="Calibri" pitchFamily="34" charset="0"/>
                <a:ea typeface="Calibri" pitchFamily="34" charset="-122"/>
                <a:cs typeface="Calibri" pitchFamily="34" charset="-120"/>
              </a:rPr>
              <a:t>A prevention model for autonomous agents in production.</a:t>
            </a:r>
            <a:endParaRPr lang="en-US" sz="1800" dirty="0"/>
          </a:p>
        </p:txBody>
      </p:sp>
      <p:sp>
        <p:nvSpPr>
          <p:cNvPr id="18" name="Text 16"/>
          <p:cNvSpPr/>
          <p:nvPr/>
        </p:nvSpPr>
        <p:spPr>
          <a:xfrm>
            <a:off x="548640" y="4160520"/>
            <a:ext cx="11064240" cy="457200"/>
          </a:xfrm>
          <a:prstGeom prst="rect">
            <a:avLst/>
          </a:prstGeom>
          <a:noFill/>
          <a:ln/>
        </p:spPr>
        <p:txBody>
          <a:bodyPr wrap="square" lIns="0" tIns="0" rIns="0" bIns="0" rtlCol="0" anchor="ctr"/>
          <a:lstStyle/>
          <a:p>
            <a:pPr algn="ctr" indent="0" marL="0">
              <a:buNone/>
            </a:pPr>
            <a:r>
              <a:rPr lang="en-US" sz="1800" i="1" dirty="0">
                <a:solidFill>
                  <a:srgbClr val="0F172A"/>
                </a:solidFill>
                <a:latin typeface="Calibri" pitchFamily="34" charset="0"/>
                <a:ea typeface="Calibri" pitchFamily="34" charset="-122"/>
                <a:cs typeface="Calibri" pitchFamily="34" charset="-120"/>
              </a:rPr>
              <a:t>The Agentic Covenants Matrix is the structural map.</a:t>
            </a:r>
            <a:endParaRPr lang="en-US" sz="1800" dirty="0"/>
          </a:p>
        </p:txBody>
      </p:sp>
      <p:sp>
        <p:nvSpPr>
          <p:cNvPr id="19" name="Text 17"/>
          <p:cNvSpPr/>
          <p:nvPr/>
        </p:nvSpPr>
        <p:spPr>
          <a:xfrm>
            <a:off x="548640" y="4754880"/>
            <a:ext cx="11064240" cy="457200"/>
          </a:xfrm>
          <a:prstGeom prst="rect">
            <a:avLst/>
          </a:prstGeom>
          <a:noFill/>
          <a:ln/>
        </p:spPr>
        <p:txBody>
          <a:bodyPr wrap="square" lIns="0" tIns="0" rIns="0" bIns="0" rtlCol="0" anchor="ctr"/>
          <a:lstStyle/>
          <a:p>
            <a:pPr algn="ctr" indent="0" marL="0">
              <a:buNone/>
            </a:pPr>
            <a:r>
              <a:rPr lang="en-US" sz="2200" b="1" dirty="0">
                <a:solidFill>
                  <a:srgbClr val="A100FF"/>
                </a:solidFill>
                <a:latin typeface="Trebuchet MS" pitchFamily="34" charset="0"/>
                <a:ea typeface="Trebuchet MS" pitchFamily="34" charset="-122"/>
                <a:cs typeface="Trebuchet MS" pitchFamily="34" charset="-120"/>
              </a:rPr>
              <a:t>github.com/peopleforrester/agentic-covenants</a:t>
            </a:r>
            <a:endParaRPr lang="en-US" sz="2200" dirty="0"/>
          </a:p>
        </p:txBody>
      </p:sp>
      <p:sp>
        <p:nvSpPr>
          <p:cNvPr id="20" name="Shape 18"/>
          <p:cNvSpPr/>
          <p:nvPr/>
        </p:nvSpPr>
        <p:spPr>
          <a:xfrm>
            <a:off x="1371600" y="5349240"/>
            <a:ext cx="9418320" cy="0"/>
          </a:xfrm>
          <a:prstGeom prst="line">
            <a:avLst/>
          </a:prstGeom>
          <a:noFill/>
          <a:ln w="12700">
            <a:solidFill>
              <a:srgbClr val="64748B"/>
            </a:solidFill>
            <a:prstDash val="solid"/>
          </a:ln>
        </p:spPr>
      </p:sp>
      <p:sp>
        <p:nvSpPr>
          <p:cNvPr id="21" name="Text 19"/>
          <p:cNvSpPr/>
          <p:nvPr/>
        </p:nvSpPr>
        <p:spPr>
          <a:xfrm>
            <a:off x="548640" y="5577840"/>
            <a:ext cx="11064240" cy="640080"/>
          </a:xfrm>
          <a:prstGeom prst="rect">
            <a:avLst/>
          </a:prstGeom>
          <a:noFill/>
          <a:ln/>
        </p:spPr>
        <p:txBody>
          <a:bodyPr wrap="square" lIns="0" tIns="0" rIns="0" bIns="0" rtlCol="0" anchor="ctr"/>
          <a:lstStyle/>
          <a:p>
            <a:pPr algn="ctr" indent="0" marL="0">
              <a:buNone/>
            </a:pPr>
            <a:r>
              <a:rPr lang="en-US" sz="3200" b="1" i="1" dirty="0">
                <a:solidFill>
                  <a:srgbClr val="A100FF"/>
                </a:solidFill>
                <a:latin typeface="Trebuchet MS" pitchFamily="34" charset="0"/>
                <a:ea typeface="Trebuchet MS" pitchFamily="34" charset="-122"/>
                <a:cs typeface="Trebuchet MS" pitchFamily="34" charset="-120"/>
              </a:rPr>
              <a:t>Questions?</a:t>
            </a:r>
            <a:endParaRPr lang="en-US" sz="3200" dirty="0"/>
          </a:p>
        </p:txBody>
      </p:sp>
      <p:sp>
        <p:nvSpPr>
          <p:cNvPr id="22" name="Text 20"/>
          <p:cNvSpPr/>
          <p:nvPr/>
        </p:nvSpPr>
        <p:spPr>
          <a:xfrm>
            <a:off x="548640" y="6400800"/>
            <a:ext cx="11064240" cy="365760"/>
          </a:xfrm>
          <a:prstGeom prst="rect">
            <a:avLst/>
          </a:prstGeom>
          <a:noFill/>
          <a:ln/>
        </p:spPr>
        <p:txBody>
          <a:bodyPr wrap="square" lIns="0" tIns="0" rIns="0" bIns="0" rtlCol="0" anchor="ctr"/>
          <a:lstStyle/>
          <a:p>
            <a:pPr algn="ctr" indent="0" marL="0">
              <a:buNone/>
            </a:pPr>
            <a:r>
              <a:rPr lang="en-US" sz="1100" spc="200" kern="0" dirty="0">
                <a:solidFill>
                  <a:srgbClr val="64748B"/>
                </a:solidFill>
                <a:latin typeface="Calibri" pitchFamily="34" charset="0"/>
                <a:ea typeface="Calibri" pitchFamily="34" charset="-122"/>
                <a:cs typeface="Calibri" pitchFamily="34" charset="-120"/>
              </a:rPr>
              <a:t>Michael Forrester  ·  Accenture  ·  LLMday Austin  ·  May 12, 2026</a:t>
            </a:r>
            <a:endParaRPr lang="en-US" sz="1100" dirty="0"/>
          </a:p>
        </p:txBody>
      </p:sp>
      <p:pic>
        <p:nvPicPr>
          <p:cNvPr id="23" name="Image 0" descr="preencoded.png">    </p:cNvPr>
          <p:cNvPicPr>
            <a:picLocks noChangeAspect="1"/>
          </p:cNvPicPr>
          <p:nvPr/>
        </p:nvPicPr>
        <p:blipFill>
          <a:blip r:embed="rId1"/>
          <a:stretch>
            <a:fillRect/>
          </a:stretch>
        </p:blipFill>
        <p:spPr>
          <a:xfrm flipH="1">
            <a:off x="182880" y="5486400"/>
            <a:ext cx="1463040" cy="853582"/>
          </a:xfrm>
          <a:prstGeom prst="rect">
            <a:avLst/>
          </a:prstGeom>
        </p:spPr>
      </p:pic>
      <p:pic>
        <p:nvPicPr>
          <p:cNvPr id="24" name="Image 1" descr="preencoded.png">    </p:cNvPr>
          <p:cNvPicPr>
            <a:picLocks noChangeAspect="1"/>
          </p:cNvPicPr>
          <p:nvPr/>
        </p:nvPicPr>
        <p:blipFill>
          <a:blip r:embed="rId2"/>
          <a:stretch>
            <a:fillRect/>
          </a:stretch>
        </p:blipFill>
        <p:spPr>
          <a:xfrm>
            <a:off x="10515600" y="5486400"/>
            <a:ext cx="1463040" cy="853582"/>
          </a:xfrm>
          <a:prstGeom prst="rect">
            <a:avLst/>
          </a:prstGeom>
        </p:spPr>
      </p:pic>
      <p:pic>
        <p:nvPicPr>
          <p:cNvPr id="25" name="Image 2" descr="/tmp/qr-repo.png">    </p:cNvPr>
          <p:cNvPicPr>
            <a:picLocks noChangeAspect="1"/>
          </p:cNvPicPr>
          <p:nvPr/>
        </p:nvPicPr>
        <p:blipFill>
          <a:blip r:embed="rId3"/>
          <a:stretch>
            <a:fillRect/>
          </a:stretch>
        </p:blipFill>
        <p:spPr>
          <a:xfrm>
            <a:off x="10241280" y="1005840"/>
            <a:ext cx="1554480" cy="1554480"/>
          </a:xfrm>
          <a:prstGeom prst="rect">
            <a:avLst/>
          </a:prstGeom>
        </p:spPr>
      </p:pic>
      <p:sp>
        <p:nvSpPr>
          <p:cNvPr id="26" name="Text 21"/>
          <p:cNvSpPr/>
          <p:nvPr/>
        </p:nvSpPr>
        <p:spPr>
          <a:xfrm>
            <a:off x="10058400" y="2606040"/>
            <a:ext cx="192024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Scan for repo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MLOps Pipeline Is Your Agentic AI Guardrail</dc:title>
  <dc:subject>PptxGenJS Presentation</dc:subject>
  <dc:creator>Michael Forrester</dc:creator>
  <cp:lastModifiedBy>Michael Forrester</cp:lastModifiedBy>
  <cp:revision>1</cp:revision>
  <dcterms:created xsi:type="dcterms:W3CDTF">2026-05-10T16:16:03Z</dcterms:created>
  <dcterms:modified xsi:type="dcterms:W3CDTF">2026-05-10T16:16:03Z</dcterms:modified>
</cp:coreProperties>
</file>