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20"/>
    <p:sldId id="258" r:id="rId4"/>
    <p:sldId id="259" r:id="rId5"/>
    <p:sldId id="268" r:id="rId19"/>
    <p:sldId id="272" r:id="rId23"/>
    <p:sldId id="260" r:id="rId6"/>
    <p:sldId id="261" r:id="rId7"/>
    <p:sldId id="262" r:id="rId8"/>
    <p:sldId id="265" r:id="rId16"/>
    <p:sldId id="266" r:id="rId17"/>
    <p:sldId id="263" r:id="rId9"/>
    <p:sldId id="271" r:id="rId22"/>
    <p:sldId id="264" r:id="rId10"/>
    <p:sldId id="270" r:id="rId21"/>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straight. 30 seconds.
"Today I'm going to show you something an agent did, and how three things your pipeline already does would have stopped it. Then I'm going to do that live."
"Three layers. Server-side is diamond. Client-side is gold. In-agent is dirt. We'll come back to this stack at the end."
Move to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Brief acknowledgment, no retelling.
"If you came from SREday yesterday, you saw the story. If you didn't, the short version is: I gave an agent cluster-level permissions, walked away, and forty minutes later I had no cluster. The agent didn't go rogue. It made one bad decision and then made it worse trying to fix it."
"Today is not about the incident. Today is about what would have stopped it: three layers your pipeline already runs, plus five more that complete the framework."
"If you want the full story, the SREday recording will be online soon. Scan the QR or check the conference page."
Move on. Don't dwell.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The audience should nod.
"Source. Build. Test. Train. Eval. Register. Deploy. Production. Seven gates between them."
"Branch protection. SBOM and cosign. Coverage threshold. Reproducible builds. Threshold gate. Signed registry. Admission policy. Every one of these is a check you configured once and forgot about. Every one of these runs on every commit."
"None of them need a human in the loop at runtime. They were configured once. They run automatically. This is what protects you when a human commits the change."
Pause. Then transition: "But what happens when it isn't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"Same pipeline. The agent doesn't have to compromise it. The agent IS the pipeline now. One prompt and it picks the training, tags the registry, fires the deploy, patches production. Every stage from one entry point."
"The gates were designed for humans. PR review assumes a person to review. Branch protection assumes someone else committed. Signed registry assumes someone signed."
"None of those assumptions hold when an agent drives."
Bridge to demo: "Now let me show you what your pipeline already does about this. Real cluster. Three real gates. One agent driving."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bracket card. ~10 seconds before switching to terminal.
Setup line: "Beat 1. PreToolUse hook. The thing Claude Code, Cursor, and every other agent IDE ships with."
"Watch the top-left pane. The agent is going to try the obvious thing first: kubectl set image against production. The hook is going to stop it before kubectl runs."
Switch display to terminal. Press SPACE in demo.sh.
When the hook fires, narrate: "Pre-tool-use means pre-execution. The agent never touched the cluster. Eight lines of bash decided no. The agent read the deny message and is now looking for another path."
When beat ends, switch back to slides for Beat 2 bracket.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2 bracket. ~10 seconds.
"Beat 2. Git pre-commit hook. The thing most teams use for linting and secret scanning. Same hook, applied to agent governance."
"Watch the bottom-left pane this time. The agent is now trying the IaC path. It's going to edit a file, run git commit, and the hook is going to reject it."
Switch to terminal. Press SPACE.
When the hook fires: "Two rejection reasons. The path is protected. The committer email contains claude-agent. Either one would have denied. Both fired. This is the same mechanism your team uses for secret scanning, configured for one more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Beat 3 bracket. ~10 seconds.
"Beat 3. Server-side. The API server itself enforces this one. No webhook, no controller, no custom code. Native to Kubernetes since 1.30 and shipping in every cluster you run today."
"Watch the bottom-right pane. Agent is going to bypass the local PreToolUse hook by writing a file and applying it. The cluster doesn't care. Admission policy denies it at the API server."
Switch to terminal. Press SPACE.
When the VAP fires: "Final layer. Even if the agent's process is compromised, even if the developer is malicious, even if the git hooks were bypassed by a privileged user, the cluster said no. This is the wall."
Switch back to slides for Eight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framework. ~2 minutes.
"What you just watched live were three of the eight guardrails. Each one a deterministic check. Each one a layer of your existing pipeline configured for a new threat model."
"The other five aren't new infrastructure either. They're things your team already runs or should be running."
"IaC-only changes: production infrastructure flows through signed PRs. Most teams have branch protection. Same gate, applied to the agent identity."
"Least privilege RBAC: the agent ServiceAccount in our demo was scoped to staging. It had no production access at all. The K8s admission policy was the backup, not the primary. Scoping is the primary."
"Automated rollback: ArgoCD reverts a failed apply within seconds. Most teams configure this. Same mechanism, same protection against an agent making a change that breaks health checks."
"Audit logging: every admission decision and every API call recorded. Most teams send these to a SIEM. Same audit trail, with the agent service accounts now identifiable."
"Tested in CI: your hooks are code. Test them like code. Run them against malicious payloads on every PR. If your PreToolUse hook stops working, you find out in CI, not in production."
"Eight gates. Three layers. None of them new. The probabilistic part is the agent. The deterministic part is everything else."
Move to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90 seconds.
"You already built it. You just have to fill the gates the pipeline already knows."
"Three paths. Pick the one that matches where you are."
Walk the three options. 15 seconds each.
"Whichever path: ends with a gate added. Whichever gate: closes one of the eight."
"The repo has everything: the PreToolUse hook, the Git pre-commit hook, the K8s admission policies, the CI tests, and the gap checklist. Scan or clone."
"Thank you. Questions?"
If anyone asks about the cluster incident: "Brief version is I gave an agent kubeadm and it force-init'd the cluster, then while troubleshooting it rewrote netplan and rebooted every node. The full version is the SREday recording when it's online — the QR is 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4. Server-side. Runtime extension. ~3 minutes.
CRITICAL FRAMING for the audience: this is still server-side (Layer 3). We have not changed layers. Admission accepted the manifest yesterday. The agent is now operating inside a pod that admission already approved. Falco watches behavior; Talon enforces. Same layer, different timing.
"Beat 3 caught the agent writing. Beat 4 catches the agent acting. Notice the minimap: still server-side. We have not moved layers; we have moved through time."
Demo: kubectl exec into model-server pod, then trigger a Falco rule (cat /etc/shadow, or shell-in-container). Watch the falcosidekick pane. Pod gets evicted by Talon. kubectl get pods shows the replica restarting.
After the eviction: "Admission accepted the manifest. Runtime decided the behavior. This is drift detection applied to actions, not predictions. Same MLOps mechanism, different consumer."
Pacing note: if the eviction is slow, narrate while it happens. Do not let dead air kill the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Server-side. Network extension. ~2-3 minutes.
CRITICAL FRAMING: still server-side. Still Layer 3. This is the data-path enforcement. The minimap diamond moves from runtime to network, but the active zone has not changed.
"Same layer. Different mechanism. Admission lets the manifest in. Runtime catches the behavior. NetworkPolicy controls the destination. All three live server-side."
Demo: From inside a production pod, attempt curl to a destination not on the allowlist. Examples: curl huggingface.co, or curl staging-vector-store.staging.svc.cluster.local from production. Connection hangs and times out. Show the NetworkPolicy YAML on screen with the allowlist.
"Runtime did not fire. Nothing was unsafe at the syscall level. The destination was just not on the list. This is feature-store discipline applied to the inference data path."
Sequencing warning: do not pick a destination that triggers Falco, or Talon will kill the pod before NetworkPolicy gets to be the visible gate. The point of this demo is the destination, not the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slide. ~2 minutes.
This is the mental model. Three zones to put a gate: client-side, app/agent, server-side. Walk the audience through what lives where.
"Client-side is the agent's hands. Git hooks, file-system ACLs, tool allowlists. These live on the operator's machine."
"App/agent is where decisions happen. PreToolUse hooks, framework callbacks, the LLM itself. Probabilistic by nature -- this is the only zone that cannot be the primary control."
"Server-side is the target system. Admission, runtime monitoring, network policy, output gates, RBAC. Most of the gates live here -- which is why your existing MLOps pipeline, which lives server-side, is most of the agent safety story already."
Point out the diamonds: "Today's six demos hit all three zones. The diamonds mark the live demos. Demo 1 hits the agent, Demo 2 hits client-side, Demos 3 through 6 all hit server-side. That's not an accident -- it's the talk's thesis. Server-side is where the discipline lives."
This slide is the map. The minimap on each demo slide is a smaller version of this. When in doubt, point back to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minimap-demo1.png"/></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minimap-demo2.png"/></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minimap-demo3.png"/></Relationships>
</file>

<file path=ppt/slides/_rels/slide8.xml.rels><?xml version="1.0" encoding="UTF-8"?><Relationships xmlns="http://schemas.openxmlformats.org/package/2006/relationships"><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image" Target="../media/minimap-demo4.png"/><Relationship Id="rId4"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image" Target="../media/minimap-demo5.png"/><Relationship Id="rId4" Type="http://schemas.openxmlformats.org/officeDocument/2006/relationships/notesSlide" Target="../notesSlides/notesSlide11.xml"/></Relationships>
</file>

<file path=ppt/slides/_rels/slide13.xml.rels><?xml version="1.0" encoding="UTF-8"?><Relationships xmlns="http://schemas.openxmlformats.org/package/2006/relationships"><Relationship Id="rIdAgent" Type="http://schemas.openxmlformats.org/officeDocument/2006/relationships/image" Target="../media/image-5-1.png"/><Relationship Id="rIdClient" Type="http://schemas.openxmlformats.org/officeDocument/2006/relationships/image" Target="../media/image-6-1.png"/><Relationship Id="rIdServer"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image" Target="../media/image-personal-qr.png"/><Relationship Id="rId2"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image" Target="../media/minimap-demo6.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A100FF"/>
          </a:solidFill>
          <a:ln/>
        </p:spPr>
      </p:sp>
      <p:sp>
        <p:nvSpPr>
          <p:cNvPr id="3" name="Text 1"/>
          <p:cNvSpPr/>
          <p:nvPr/>
        </p:nvSpPr>
        <p:spPr>
          <a:xfrm>
            <a:off x="731520" y="1097280"/>
            <a:ext cx="9509760" cy="3200400"/>
          </a:xfrm>
          <a:prstGeom prst="rect">
            <a:avLst/>
          </a:prstGeom>
          <a:noFill/>
          <a:ln/>
        </p:spPr>
        <p:txBody>
          <a:bodyPr wrap="square" lIns="0" tIns="0" rIns="0" bIns="0" rtlCol="0" anchor="ctr"/>
          <a:lstStyle/>
          <a:p>
            <a:pPr algn="l" indent="0" marL="0">
              <a:buNone/>
            </a:pPr>
            <a:r>
              <a:rPr lang="en-US" sz="5600" b="1" dirty="0">
                <a:solidFill>
                  <a:srgbClr val="F8FAFC"/>
                </a:solidFill>
                <a:latin typeface="Trebuchet MS" pitchFamily="34" charset="0"/>
                <a:ea typeface="Trebuchet MS" pitchFamily="34" charset="-122"/>
                <a:cs typeface="Trebuchet MS" pitchFamily="34" charset="-120"/>
              </a:rPr>
              <a:t>Your MLOps Pipeline</a:t>
            </a:r>
            <a:endParaRPr lang="en-US" sz="5600" dirty="0"/>
          </a:p>
          <a:p>
            <a:pPr algn="l" indent="0" marL="0">
              <a:buNone/>
            </a:pPr>
            <a:r>
              <a:rPr lang="en-US" sz="5600" b="1" dirty="0">
                <a:solidFill>
                  <a:srgbClr val="F8FAFC"/>
                </a:solidFill>
                <a:latin typeface="Trebuchet MS" pitchFamily="34" charset="0"/>
                <a:ea typeface="Trebuchet MS" pitchFamily="34" charset="-122"/>
                <a:cs typeface="Trebuchet MS" pitchFamily="34" charset="-120"/>
              </a:rPr>
              <a:t>Is Your Agentic</a:t>
            </a:r>
            <a:endParaRPr lang="en-US" sz="5600" dirty="0"/>
          </a:p>
          <a:p>
            <a:pPr algn="l" indent="0" marL="0">
              <a:buNone/>
            </a:pPr>
            <a:r>
              <a:rPr lang="en-US" sz="5600" b="1" dirty="0">
                <a:solidFill>
                  <a:srgbClr val="F8FAFC"/>
                </a:solidFill>
                <a:latin typeface="Trebuchet MS" pitchFamily="34" charset="0"/>
                <a:ea typeface="Trebuchet MS" pitchFamily="34" charset="-122"/>
                <a:cs typeface="Trebuchet MS" pitchFamily="34" charset="-120"/>
              </a:rPr>
              <a:t>AI Guardrail</a:t>
            </a:r>
            <a:endParaRPr lang="en-US" sz="5600" dirty="0"/>
          </a:p>
        </p:txBody>
      </p:sp>
      <p:sp>
        <p:nvSpPr>
          <p:cNvPr id="4" name="Text 2"/>
          <p:cNvSpPr/>
          <p:nvPr/>
        </p:nvSpPr>
        <p:spPr>
          <a:xfrm>
            <a:off x="731520" y="4572000"/>
            <a:ext cx="10515600" cy="1463040"/>
          </a:xfrm>
          <a:prstGeom prst="rect">
            <a:avLst/>
          </a:prstGeom>
          <a:noFill/>
          <a:ln/>
        </p:spPr>
        <p:txBody>
          <a:bodyPr wrap="square" lIns="0" tIns="0" rIns="0" bIns="0" rtlCol="0" anchor="ctr"/>
          <a:lstStyle/>
          <a:p>
            <a:pPr algn="l" indent="0" marL="0">
              <a:spcAft>
                <a:spcPts val="400"/>
              </a:spcAft>
              <a:buNone/>
            </a:pPr>
            <a:r>
              <a:rPr lang="en-US" sz="2200" dirty="0">
                <a:solidFill>
                  <a:srgbClr val="E2E8F0"/>
                </a:solidFill>
                <a:latin typeface="Calibri" pitchFamily="34" charset="0"/>
                <a:ea typeface="Calibri" pitchFamily="34" charset="-122"/>
                <a:cs typeface="Calibri" pitchFamily="34" charset="-120"/>
              </a:rPr>
              <a:t>In an era of unprecedented agentic capability, the question isn't whether your pipeline is ready, it's whether you've truly unlocked its latent guardrail potential.</a:t>
            </a:r>
            <a:endParaRPr lang="en-US" sz="2200" dirty="0"/>
          </a:p>
        </p:txBody>
      </p:sp>
      <p:sp>
        <p:nvSpPr>
          <p:cNvPr id="5" name="Text 3"/>
          <p:cNvSpPr/>
          <p:nvPr/>
        </p:nvSpPr>
        <p:spPr>
          <a:xfrm>
            <a:off x="731520" y="5852160"/>
            <a:ext cx="10058400" cy="365760"/>
          </a:xfrm>
          <a:prstGeom prst="rect">
            <a:avLst/>
          </a:prstGeom>
          <a:noFill/>
          <a:ln/>
        </p:spPr>
        <p:txBody>
          <a:bodyPr wrap="square" lIns="0" tIns="0" rIns="0" bIns="0" rtlCol="0" anchor="ctr"/>
          <a:lstStyle/>
          <a:p>
            <a:pPr algn="l" indent="0" marL="0">
              <a:buNone/>
            </a:pPr>
            <a:r>
              <a:rPr lang="en-US" sz="1400" spc="200" kern="0" dirty="0">
                <a:solidFill>
                  <a:srgbClr val="A100FF"/>
                </a:solidFill>
                <a:latin typeface="Calibri" pitchFamily="34" charset="0"/>
                <a:ea typeface="Calibri" pitchFamily="34" charset="-122"/>
                <a:cs typeface="Calibri" pitchFamily="34" charset="-120"/>
              </a:rPr>
              <a:t>Michael Forrester  ·  Accenture  ·  LLMday Austin  ·  May 12, 2026</a:t>
            </a:r>
            <a:endParaRPr lang="en-US" sz="1400" dirty="0"/>
          </a:p>
        </p:txBody>
      </p:sp>
      <p:pic>
        <p:nvPicPr>
          <p:cNvPr id="6" name="Image 0" descr="preencoded.png"/>
          <p:cNvPicPr>
            <a:picLocks noChangeAspect="1"/>
          </p:cNvPicPr>
          <p:nvPr/>
        </p:nvPicPr>
        <p:blipFill>
          <a:blip r:embed="rId1"/>
          <a:stretch>
            <a:fillRect/>
          </a:stretch>
        </p:blipFill>
        <p:spPr>
          <a:xfrm>
            <a:off x="9700000" y="800000"/>
            <a:ext cx="1900000" cy="383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0F172A"/>
                </a:solidFill>
                <a:latin typeface="Trebuchet MS" pitchFamily="34" charset="0"/>
                <a:ea typeface="Trebuchet MS" pitchFamily="34" charset="-122"/>
                <a:cs typeface="Trebuchet MS" pitchFamily="34" charset="-120"/>
              </a:rPr>
              <a:t>First, a brief backstory.</a:t>
            </a:r>
            <a:endParaRPr lang="en-US" sz="3200" dirty="0"/>
          </a:p>
        </p:txBody>
      </p:sp>
      <p:sp>
        <p:nvSpPr>
          <p:cNvPr id="3" name="Text 1"/>
          <p:cNvSpPr/>
          <p:nvPr/>
        </p:nvSpPr>
        <p:spPr>
          <a:xfrm>
            <a:off x="548640" y="1005840"/>
            <a:ext cx="11064240" cy="457200"/>
          </a:xfrm>
          <a:prstGeom prst="rect">
            <a:avLst/>
          </a:prstGeom>
          <a:noFill/>
          <a:ln/>
        </p:spPr>
        <p:txBody>
          <a:bodyPr wrap="square" lIns="0" tIns="0" rIns="0" bIns="0"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Yesterday I told a story at SREday. Today's talk is what would have stopped it.</a:t>
            </a:r>
            <a:endParaRPr lang="en-US" sz="1600" dirty="0"/>
          </a:p>
        </p:txBody>
      </p:sp>
      <p:pic>
        <p:nvPicPr>
          <p:cNvPr id="4" name="Image 0" descr="/tmp/sreday-title-mock.png"/>
          <p:cNvPicPr>
            <a:picLocks noChangeAspect="1"/>
          </p:cNvPicPr>
          <p:nvPr/>
        </p:nvPicPr>
        <p:blipFill>
          <a:blip r:embed="rId1"/>
          <a:stretch>
            <a:fillRect/>
          </a:stretch>
        </p:blipFill>
        <p:spPr>
          <a:xfrm>
            <a:off x="548640" y="1645920"/>
            <a:ext cx="6858000" cy="3840480"/>
          </a:xfrm>
          <a:prstGeom prst="rect">
            <a:avLst/>
          </a:prstGeom>
        </p:spPr>
      </p:pic>
      <p:sp>
        <p:nvSpPr>
          <p:cNvPr id="5" name="Text 2"/>
          <p:cNvSpPr/>
          <p:nvPr/>
        </p:nvSpPr>
        <p:spPr>
          <a:xfrm>
            <a:off x="548640" y="5532120"/>
            <a:ext cx="685800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SREday Austin Q2 · May 11, 2026 · title slide</a:t>
            </a:r>
            <a:endParaRPr lang="en-US" sz="900" dirty="0"/>
          </a:p>
        </p:txBody>
      </p:sp>
      <p:pic>
        <p:nvPicPr>
          <p:cNvPr id="6" name="Image 1" descr="/tmp/qr-sreday.png"/>
          <p:cNvPicPr>
            <a:picLocks noChangeAspect="1"/>
          </p:cNvPicPr>
          <p:nvPr/>
        </p:nvPicPr>
        <p:blipFill>
          <a:blip r:embed="rId2"/>
          <a:stretch>
            <a:fillRect/>
          </a:stretch>
        </p:blipFill>
        <p:spPr>
          <a:xfrm>
            <a:off x="8503920" y="1737360"/>
            <a:ext cx="2743200" cy="2743200"/>
          </a:xfrm>
          <a:prstGeom prst="rect">
            <a:avLst/>
          </a:prstGeom>
        </p:spPr>
      </p:pic>
      <p:sp>
        <p:nvSpPr>
          <p:cNvPr id="7" name="Text 3"/>
          <p:cNvSpPr/>
          <p:nvPr/>
        </p:nvSpPr>
        <p:spPr>
          <a:xfrm>
            <a:off x="8229600" y="4572000"/>
            <a:ext cx="3200400" cy="36576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Scan for the SREday talk repo, code, and bypass appendix</a:t>
            </a:r>
            <a:endParaRPr lang="en-US" sz="1200" dirty="0"/>
          </a:p>
        </p:txBody>
      </p:sp>
      <p:sp>
        <p:nvSpPr>
          <p:cNvPr id="8" name="Text 4"/>
          <p:cNvSpPr/>
          <p:nvPr/>
        </p:nvSpPr>
        <p:spPr>
          <a:xfrm>
            <a:off x="8229600" y="5029200"/>
            <a:ext cx="3200400" cy="365760"/>
          </a:xfrm>
          <a:prstGeom prst="rect">
            <a:avLst/>
          </a:prstGeom>
          <a:noFill/>
          <a:ln/>
        </p:spPr>
        <p:txBody>
          <a:bodyPr wrap="square" lIns="0" tIns="0" rIns="0" bIns="0" rtlCol="0" anchor="ctr"/>
          <a:lstStyle/>
          <a:p>
            <a:pPr algn="ctr" indent="0" marL="0">
              <a:buNone/>
            </a:pPr>
            <a:r>
              <a:rPr lang="en-US" sz="1400" b="1" spc="100" kern="0" dirty="0">
                <a:solidFill>
                  <a:srgbClr val="0F172A"/>
                </a:solidFill>
                <a:latin typeface="Trebuchet MS" pitchFamily="34" charset="0"/>
                <a:ea typeface="Trebuchet MS" pitchFamily="34" charset="-122"/>
                <a:cs typeface="Trebuchet MS" pitchFamily="34" charset="-120"/>
              </a:rPr>
              <a:t>The cluster incident</a:t>
            </a:r>
            <a:endParaRPr lang="en-US" sz="1400" dirty="0"/>
          </a:p>
        </p:txBody>
      </p:sp>
      <p:sp>
        <p:nvSpPr>
          <p:cNvPr id="9" name="Text 5"/>
          <p:cNvSpPr/>
          <p:nvPr/>
        </p:nvSpPr>
        <p:spPr>
          <a:xfrm>
            <a:off x="8229600" y="5394960"/>
            <a:ext cx="3200400" cy="45720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Forty minutes. No cluster. One bad agent decision became three.</a:t>
            </a:r>
            <a:endParaRPr lang="en-US" sz="1100" dirty="0"/>
          </a:p>
        </p:txBody>
      </p:sp>
      <p:sp>
        <p:nvSpPr>
          <p:cNvPr id="10" name="Text 6"/>
          <p:cNvSpPr/>
          <p:nvPr/>
        </p:nvSpPr>
        <p:spPr>
          <a:xfrm>
            <a:off x="548640" y="5943600"/>
            <a:ext cx="11064240" cy="548640"/>
          </a:xfrm>
          <a:prstGeom prst="rect">
            <a:avLst/>
          </a:prstGeom>
          <a:noFill/>
          <a:ln/>
        </p:spPr>
        <p:txBody>
          <a:bodyPr wrap="square" lIns="0" tIns="0" rIns="0" bIns="0" rtlCol="0" anchor="ctr"/>
          <a:lstStyle/>
          <a:p>
            <a:pPr algn="ctr" indent="0" marL="0">
              <a:buNone/>
            </a:pPr>
            <a:r>
              <a:rPr lang="en-US" sz="1500" i="1" dirty="0">
                <a:solidFill>
                  <a:srgbClr val="A100FF"/>
                </a:solidFill>
                <a:latin typeface="Calibri" pitchFamily="34" charset="0"/>
                <a:ea typeface="Calibri" pitchFamily="34" charset="-122"/>
                <a:cs typeface="Calibri" pitchFamily="34" charset="-120"/>
              </a:rPr>
              <a:t>If you weren't at SREday, the short version is this: an agent took down a cluster in forty minutes. Today's talk is about the pipeline gates that would have stopped it.</a:t>
            </a:r>
            <a:endParaRPr lang="en-US" sz="1500" dirty="0"/>
          </a:p>
        </p:txBody>
      </p:sp>
      <p:pic>
        <p:nvPicPr>
          <p:cNvPr id="11" name="Image 2" descr="preencoded.png"/>
          <p:cNvPicPr>
            <a:picLocks noChangeAspect="1"/>
          </p:cNvPicPr>
          <p:nvPr/>
        </p:nvPicPr>
        <p:blipFill>
          <a:blip r:embed="rId3"/>
          <a:srcRect l="0" r="0" t="0" b="0"/>
          <a:stretch/>
        </p:blipFill>
        <p:spPr>
          <a:xfrm>
            <a:off x="0" y="6656832"/>
            <a:ext cx="12188952" cy="201168"/>
          </a:xfrm>
          <a:prstGeom prst="rect">
            <a:avLst/>
          </a:prstGeom>
        </p:spPr>
      </p:pic>
      <p:sp>
        <p:nvSpPr>
          <p:cNvPr id="12" name="Text 7"/>
          <p:cNvSpPr/>
          <p:nvPr/>
        </p:nvSpPr>
        <p:spPr>
          <a:xfrm>
            <a:off x="457200" y="6693408"/>
            <a:ext cx="5486400" cy="164592"/>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LLMday Austin · May 12, 2026</a:t>
            </a:r>
            <a:endParaRPr lang="en-US" sz="900" dirty="0"/>
          </a:p>
        </p:txBody>
      </p:sp>
      <p:sp>
        <p:nvSpPr>
          <p:cNvPr id="14" name="Text 8"/>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The pipeline you already run">
    <p:bg>
      <p:bgPr>
        <a:solidFill>
          <a:srgbClr val="FAFAFA"/>
        </a:solidFill>
      </p:bgPr>
    </p:bg>
    <p:spTree>
      <p:nvGrpSpPr>
        <p:cNvPr id="1" name=""/>
        <p:cNvGrpSpPr/>
        <p:nvPr/>
      </p:nvGrpSpPr>
      <p:grpSpPr>
        <a:xfrm>
          <a:off x="0" y="0"/>
          <a:ext cx="0" cy="0"/>
          <a:chOff x="0" y="0"/>
          <a:chExt cx="0" cy="0"/>
        </a:xfrm>
      </p:grpSpPr>
      <p:sp>
        <p:nvSpPr>
          <p:cNvPr id="51" name="Title"/>
          <p:cNvSpPr/>
          <p:nvPr/>
        </p:nvSpPr>
        <p:spPr>
          <a:xfrm>
            <a:off x="731520" y="274320"/>
            <a:ext cx="10728960" cy="685800"/>
          </a:xfrm>
          <a:prstGeom prst="rect">
            <a:avLst/>
          </a:prstGeom>
          <a:noFill/>
        </p:spPr>
        <p:txBody>
          <a:bodyPr wrap="square" lIns="0" tIns="0" rIns="0" bIns="0" anchor="ctr"/>
          <a:lstStyle/>
          <a:p>
            <a:pPr algn="l" indent="0" marL="0">
              <a:buNone/>
            </a:pPr>
            <a:r>
              <a:rPr lang="en-US" sz="4400" b="1" dirty="0">
                <a:solidFill>
                  <a:srgbClr val="0F172A"/>
                </a:solidFill>
                <a:latin typeface="Trebuchet MS" pitchFamily="34" charset="0"/>
              </a:rPr>
              <a:t>The pipeline you already run</a:t>
            </a:r>
          </a:p>
        </p:txBody>
      </p:sp>
      <p:sp>
        <p:nvSpPr>
          <p:cNvPr id="52" name="Subtitle"/>
          <p:cNvSpPr/>
          <p:nvPr/>
        </p:nvSpPr>
        <p:spPr>
          <a:xfrm>
            <a:off x="731520" y="960120"/>
            <a:ext cx="10728960" cy="365760"/>
          </a:xfrm>
          <a:prstGeom prst="rect">
            <a:avLst/>
          </a:prstGeom>
          <a:noFill/>
        </p:spPr>
        <p:txBody>
          <a:bodyPr wrap="square" lIns="0" tIns="0" rIns="0" bIns="0" anchor="ctr"/>
          <a:lstStyle/>
          <a:p>
            <a:pPr algn="l" indent="0" marL="0">
              <a:buNone/>
            </a:pPr>
            <a:r>
              <a:rPr lang="en-US" sz="1700" i="1" dirty="0">
                <a:solidFill>
                  <a:srgbClr val="64748B"/>
                </a:solidFill>
                <a:latin typeface="Calibri" pitchFamily="34" charset="0"/>
              </a:rPr>
              <a:t>CI/CD is the analogy you know. MLOps is what's actually running. Both are the same machinery.</a:t>
            </a:r>
          </a:p>
        </p:txBody>
      </p:sp>
      <p:sp>
        <p:nvSpPr>
          <p:cNvPr id="53" name="CICDLabel"/>
          <p:cNvSpPr/>
          <p:nvPr/>
        </p:nvSpPr>
        <p:spPr>
          <a:xfrm>
            <a:off x="457200" y="1554480"/>
            <a:ext cx="1737360" cy="1280160"/>
          </a:xfrm>
          <a:prstGeom prst="roundRect">
            <a:avLst>
              <a:gd name="adj" fmla="val 8000"/>
            </a:avLst>
          </a:prstGeom>
          <a:solidFill>
            <a:srgbClr val="0F172A"/>
          </a:solidFill>
          <a:ln>
            <a:noFill/>
          </a:ln>
        </p:spPr>
        <p:txBody>
          <a:bodyPr wrap="square" lIns="0" tIns="0" rIns="0" bIns="0" anchor="ctr"/>
          <a:lstStyle/>
          <a:p>
            <a:pPr indent="0" marL="0">
              <a:buNone/>
            </a:pPr>
            <a:endParaRPr lang="en-US"/>
          </a:p>
        </p:txBody>
      </p:sp>
      <p:sp>
        <p:nvSpPr>
          <p:cNvPr id="54" name="CICDLabelText"/>
          <p:cNvSpPr/>
          <p:nvPr/>
        </p:nvSpPr>
        <p:spPr>
          <a:xfrm>
            <a:off x="457200" y="1554480"/>
            <a:ext cx="1737360" cy="1280160"/>
          </a:xfrm>
          <a:prstGeom prst="rect">
            <a:avLst/>
          </a:prstGeom>
          <a:noFill/>
        </p:spPr>
        <p:txBody>
          <a:bodyPr wrap="square" lIns="0" tIns="0" rIns="0" bIns="0" anchor="ctr"/>
          <a:lstStyle/>
          <a:p>
            <a:pPr algn="ctr" indent="0" marL="0">
              <a:buNone/>
            </a:pPr>
            <a:r>
              <a:rPr lang="en-US" sz="2000" b="1" dirty="0">
                <a:solidFill>
                  <a:srgbClr val="FFFFFF"/>
                </a:solidFill>
                <a:latin typeface="Trebuchet MS" pitchFamily="34" charset="0"/>
              </a:rPr>
              <a:t>CI / CD</a:t>
            </a:r>
          </a:p>
          <a:p>
            <a:pPr algn="ctr" indent="0" marL="0">
              <a:spcBef>
                <a:spcPts val="200"/>
              </a:spcBef>
              <a:buNone/>
            </a:pPr>
            <a:r>
              <a:rPr lang="en-US" sz="1100" i="1" dirty="0">
                <a:solidFill>
                  <a:srgbClr val="94A3B8"/>
                </a:solidFill>
                <a:latin typeface="Calibri" pitchFamily="34" charset="0"/>
              </a:rPr>
              <a:t>familiar</a:t>
            </a:r>
          </a:p>
        </p:txBody>
      </p:sp>
      <p:sp>
        <p:nvSpPr>
          <p:cNvPr id="55" name="MLOpsLabel"/>
          <p:cNvSpPr/>
          <p:nvPr/>
        </p:nvSpPr>
        <p:spPr>
          <a:xfrm>
            <a:off x="457200" y="3886200"/>
            <a:ext cx="1737360" cy="1280160"/>
          </a:xfrm>
          <a:prstGeom prst="roundRect">
            <a:avLst>
              <a:gd name="adj" fmla="val 8000"/>
            </a:avLst>
          </a:prstGeom>
          <a:solidFill>
            <a:srgbClr val="A100FF"/>
          </a:solidFill>
          <a:ln>
            <a:noFill/>
          </a:ln>
        </p:spPr>
        <p:txBody>
          <a:bodyPr wrap="square" lIns="0" tIns="0" rIns="0" bIns="0" anchor="ctr"/>
          <a:lstStyle/>
          <a:p>
            <a:pPr indent="0" marL="0">
              <a:buNone/>
            </a:pPr>
            <a:endParaRPr lang="en-US"/>
          </a:p>
        </p:txBody>
      </p:sp>
      <p:sp>
        <p:nvSpPr>
          <p:cNvPr id="56" name="MLOpsLabelText"/>
          <p:cNvSpPr/>
          <p:nvPr/>
        </p:nvSpPr>
        <p:spPr>
          <a:xfrm>
            <a:off x="457200" y="3886200"/>
            <a:ext cx="1737360" cy="1280160"/>
          </a:xfrm>
          <a:prstGeom prst="rect">
            <a:avLst/>
          </a:prstGeom>
          <a:noFill/>
        </p:spPr>
        <p:txBody>
          <a:bodyPr wrap="square" lIns="0" tIns="0" rIns="0" bIns="0" anchor="ctr"/>
          <a:lstStyle/>
          <a:p>
            <a:pPr algn="ctr" indent="0" marL="0">
              <a:buNone/>
            </a:pPr>
            <a:r>
              <a:rPr lang="en-US" sz="2000" b="1" dirty="0">
                <a:solidFill>
                  <a:srgbClr val="FFFFFF"/>
                </a:solidFill>
                <a:latin typeface="Trebuchet MS" pitchFamily="34" charset="0"/>
              </a:rPr>
              <a:t>MLOps</a:t>
            </a:r>
          </a:p>
          <a:p>
            <a:pPr algn="ctr" indent="0" marL="0">
              <a:spcBef>
                <a:spcPts val="200"/>
              </a:spcBef>
              <a:buNone/>
            </a:pPr>
            <a:r>
              <a:rPr lang="en-US" sz="1100" i="1" dirty="0">
                <a:solidFill>
                  <a:srgbClr val="#E0BAFF"/>
                </a:solidFill>
                <a:latin typeface="Calibri" pitchFamily="34" charset="0"/>
              </a:rPr>
              <a:t>agentic</a:t>
            </a:r>
          </a:p>
        </p:txBody>
      </p:sp>
      <p:sp>
        <p:nvSpPr>
          <p:cNvPr id="57" name="CICD_Source"/>
          <p:cNvSpPr/>
          <p:nvPr/>
        </p:nvSpPr>
        <p:spPr>
          <a:xfrm>
            <a:off x="23774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58" name="CICD_Source_Text"/>
          <p:cNvSpPr/>
          <p:nvPr/>
        </p:nvSpPr>
        <p:spPr>
          <a:xfrm>
            <a:off x="23774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Source</a:t>
            </a:r>
          </a:p>
          <a:p>
            <a:pPr algn="ctr" indent="0" marL="0">
              <a:spcBef>
                <a:spcPts val="200"/>
              </a:spcBef>
              <a:buNone/>
            </a:pPr>
            <a:r>
              <a:rPr lang="en-US" sz="1000" i="1" dirty="0">
                <a:solidFill>
                  <a:srgbClr val="64748B"/>
                </a:solidFill>
                <a:latin typeface="Calibri" pitchFamily="34" charset="0"/>
              </a:rPr>
              <a:t>git</a:t>
            </a:r>
          </a:p>
        </p:txBody>
      </p:sp>
      <p:sp>
        <p:nvSpPr>
          <p:cNvPr id="59" name="CICD_Arrow_0"/>
          <p:cNvSpPr/>
          <p:nvPr/>
        </p:nvSpPr>
        <p:spPr>
          <a:xfrm>
            <a:off x="3860800" y="1554480"/>
            <a:ext cx="128016" cy="1280160"/>
          </a:xfrm>
          <a:prstGeom prst="rect">
            <a:avLst/>
          </a:prstGeom>
          <a:noFill/>
        </p:spPr>
        <p:txBody>
          <a:bodyPr wrap="square" lIns="0" tIns="0" rIns="0" bIns="0" anchor="ctr"/>
          <a:lstStyle/>
          <a:p>
            <a:pPr algn="ctr" indent="0" marL="0">
              <a:buNone/>
            </a:pPr>
            <a:r>
              <a:rPr lang="en-US" sz="1400" b="1" dirty="0">
                <a:solidFill>
                  <a:srgbClr val="94A3B8"/>
                </a:solidFill>
                <a:latin typeface="Calibri" pitchFamily="34" charset="0"/>
              </a:rPr>
              <a:t>▸</a:t>
            </a:r>
          </a:p>
        </p:txBody>
      </p:sp>
      <p:sp>
        <p:nvSpPr>
          <p:cNvPr id="60" name="CICD_Build"/>
          <p:cNvSpPr/>
          <p:nvPr/>
        </p:nvSpPr>
        <p:spPr>
          <a:xfrm>
            <a:off x="39522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61" name="CICD_Build_Text"/>
          <p:cNvSpPr/>
          <p:nvPr/>
        </p:nvSpPr>
        <p:spPr>
          <a:xfrm>
            <a:off x="39522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Build</a:t>
            </a:r>
          </a:p>
          <a:p>
            <a:pPr algn="ctr" indent="0" marL="0">
              <a:spcBef>
                <a:spcPts val="200"/>
              </a:spcBef>
              <a:buNone/>
            </a:pPr>
            <a:r>
              <a:rPr lang="en-US" sz="1000" i="1" dirty="0">
                <a:solidFill>
                  <a:srgbClr val="64748B"/>
                </a:solidFill>
                <a:latin typeface="Calibri" pitchFamily="34" charset="0"/>
              </a:rPr>
              <a:t>compile</a:t>
            </a:r>
          </a:p>
        </p:txBody>
      </p:sp>
      <p:sp>
        <p:nvSpPr>
          <p:cNvPr id="62" name="CICD_Arrow_1"/>
          <p:cNvSpPr/>
          <p:nvPr/>
        </p:nvSpPr>
        <p:spPr>
          <a:xfrm>
            <a:off x="5435600" y="1554480"/>
            <a:ext cx="128016" cy="1280160"/>
          </a:xfrm>
          <a:prstGeom prst="rect">
            <a:avLst/>
          </a:prstGeom>
          <a:noFill/>
        </p:spPr>
        <p:txBody>
          <a:bodyPr wrap="square" lIns="0" tIns="0" rIns="0" bIns="0" anchor="ctr"/>
          <a:lstStyle/>
          <a:p>
            <a:pPr algn="ctr" indent="0" marL="0">
              <a:buNone/>
            </a:pPr>
            <a:r>
              <a:rPr lang="en-US" sz="1400" b="1" dirty="0">
                <a:solidFill>
                  <a:srgbClr val="94A3B8"/>
                </a:solidFill>
                <a:latin typeface="Calibri" pitchFamily="34" charset="0"/>
              </a:rPr>
              <a:t>▸</a:t>
            </a:r>
          </a:p>
        </p:txBody>
      </p:sp>
      <p:sp>
        <p:nvSpPr>
          <p:cNvPr id="63" name="CICD_Test"/>
          <p:cNvSpPr/>
          <p:nvPr/>
        </p:nvSpPr>
        <p:spPr>
          <a:xfrm>
            <a:off x="55270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64" name="CICD_Test_Text"/>
          <p:cNvSpPr/>
          <p:nvPr/>
        </p:nvSpPr>
        <p:spPr>
          <a:xfrm>
            <a:off x="55270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Test</a:t>
            </a:r>
          </a:p>
          <a:p>
            <a:pPr algn="ctr" indent="0" marL="0">
              <a:spcBef>
                <a:spcPts val="200"/>
              </a:spcBef>
              <a:buNone/>
            </a:pPr>
            <a:r>
              <a:rPr lang="en-US" sz="1000" i="1" dirty="0">
                <a:solidFill>
                  <a:srgbClr val="64748B"/>
                </a:solidFill>
                <a:latin typeface="Calibri" pitchFamily="34" charset="0"/>
              </a:rPr>
              <a:t>CI gates</a:t>
            </a:r>
          </a:p>
        </p:txBody>
      </p:sp>
      <p:sp>
        <p:nvSpPr>
          <p:cNvPr id="65" name="CICD_Arrow_2"/>
          <p:cNvSpPr/>
          <p:nvPr/>
        </p:nvSpPr>
        <p:spPr>
          <a:xfrm>
            <a:off x="7010400" y="1554480"/>
            <a:ext cx="128016" cy="1280160"/>
          </a:xfrm>
          <a:prstGeom prst="rect">
            <a:avLst/>
          </a:prstGeom>
          <a:noFill/>
        </p:spPr>
        <p:txBody>
          <a:bodyPr wrap="square" lIns="0" tIns="0" rIns="0" bIns="0" anchor="ctr"/>
          <a:lstStyle/>
          <a:p>
            <a:pPr algn="ctr" indent="0" marL="0">
              <a:buNone/>
            </a:pPr>
            <a:r>
              <a:rPr lang="en-US" sz="1400" b="1" dirty="0">
                <a:solidFill>
                  <a:srgbClr val="94A3B8"/>
                </a:solidFill>
                <a:latin typeface="Calibri" pitchFamily="34" charset="0"/>
              </a:rPr>
              <a:t>▸</a:t>
            </a:r>
          </a:p>
        </p:txBody>
      </p:sp>
      <p:sp>
        <p:nvSpPr>
          <p:cNvPr id="66" name="CICD_Deploy"/>
          <p:cNvSpPr/>
          <p:nvPr/>
        </p:nvSpPr>
        <p:spPr>
          <a:xfrm>
            <a:off x="71018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67" name="CICD_Deploy_Text"/>
          <p:cNvSpPr/>
          <p:nvPr/>
        </p:nvSpPr>
        <p:spPr>
          <a:xfrm>
            <a:off x="71018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Deploy</a:t>
            </a:r>
          </a:p>
          <a:p>
            <a:pPr algn="ctr" indent="0" marL="0">
              <a:spcBef>
                <a:spcPts val="200"/>
              </a:spcBef>
              <a:buNone/>
            </a:pPr>
            <a:r>
              <a:rPr lang="en-US" sz="1000" i="1" dirty="0">
                <a:solidFill>
                  <a:srgbClr val="64748B"/>
                </a:solidFill>
                <a:latin typeface="Calibri" pitchFamily="34" charset="0"/>
              </a:rPr>
              <a:t>release</a:t>
            </a:r>
          </a:p>
        </p:txBody>
      </p:sp>
      <p:sp>
        <p:nvSpPr>
          <p:cNvPr id="68" name="CICD_Arrow_3"/>
          <p:cNvSpPr/>
          <p:nvPr/>
        </p:nvSpPr>
        <p:spPr>
          <a:xfrm>
            <a:off x="8585200" y="1554480"/>
            <a:ext cx="128016" cy="1280160"/>
          </a:xfrm>
          <a:prstGeom prst="rect">
            <a:avLst/>
          </a:prstGeom>
          <a:noFill/>
        </p:spPr>
        <p:txBody>
          <a:bodyPr wrap="square" lIns="0" tIns="0" rIns="0" bIns="0" anchor="ctr"/>
          <a:lstStyle/>
          <a:p>
            <a:pPr algn="ctr" indent="0" marL="0">
              <a:buNone/>
            </a:pPr>
            <a:r>
              <a:rPr lang="en-US" sz="1400" b="1" dirty="0">
                <a:solidFill>
                  <a:srgbClr val="94A3B8"/>
                </a:solidFill>
                <a:latin typeface="Calibri" pitchFamily="34" charset="0"/>
              </a:rPr>
              <a:t>▸</a:t>
            </a:r>
          </a:p>
        </p:txBody>
      </p:sp>
      <p:sp>
        <p:nvSpPr>
          <p:cNvPr id="69" name="CICD_Monitor"/>
          <p:cNvSpPr/>
          <p:nvPr/>
        </p:nvSpPr>
        <p:spPr>
          <a:xfrm>
            <a:off x="86766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70" name="CICD_Monitor_Text"/>
          <p:cNvSpPr/>
          <p:nvPr/>
        </p:nvSpPr>
        <p:spPr>
          <a:xfrm>
            <a:off x="86766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Monitor</a:t>
            </a:r>
          </a:p>
          <a:p>
            <a:pPr algn="ctr" indent="0" marL="0">
              <a:spcBef>
                <a:spcPts val="200"/>
              </a:spcBef>
              <a:buNone/>
            </a:pPr>
            <a:r>
              <a:rPr lang="en-US" sz="1000" i="1" dirty="0">
                <a:solidFill>
                  <a:srgbClr val="64748B"/>
                </a:solidFill>
                <a:latin typeface="Calibri" pitchFamily="34" charset="0"/>
              </a:rPr>
              <a:t>runtime</a:t>
            </a:r>
          </a:p>
        </p:txBody>
      </p:sp>
      <p:sp>
        <p:nvSpPr>
          <p:cNvPr id="71" name="CICD_Arrow_4"/>
          <p:cNvSpPr/>
          <p:nvPr/>
        </p:nvSpPr>
        <p:spPr>
          <a:xfrm>
            <a:off x="10160000" y="1554480"/>
            <a:ext cx="128016" cy="1280160"/>
          </a:xfrm>
          <a:prstGeom prst="rect">
            <a:avLst/>
          </a:prstGeom>
          <a:noFill/>
        </p:spPr>
        <p:txBody>
          <a:bodyPr wrap="square" lIns="0" tIns="0" rIns="0" bIns="0" anchor="ctr"/>
          <a:lstStyle/>
          <a:p>
            <a:pPr algn="ctr" indent="0" marL="0">
              <a:buNone/>
            </a:pPr>
            <a:r>
              <a:rPr lang="en-US" sz="1400" b="1" dirty="0">
                <a:solidFill>
                  <a:srgbClr val="94A3B8"/>
                </a:solidFill>
                <a:latin typeface="Calibri" pitchFamily="34" charset="0"/>
              </a:rPr>
              <a:t>▸</a:t>
            </a:r>
          </a:p>
        </p:txBody>
      </p:sp>
      <p:sp>
        <p:nvSpPr>
          <p:cNvPr id="72" name="CICD_Rollback"/>
          <p:cNvSpPr/>
          <p:nvPr/>
        </p:nvSpPr>
        <p:spPr>
          <a:xfrm>
            <a:off x="10251440" y="1554480"/>
            <a:ext cx="1483360" cy="1280160"/>
          </a:xfrm>
          <a:prstGeom prst="roundRect">
            <a:avLst>
              <a:gd name="adj" fmla="val 8000"/>
            </a:avLst>
          </a:prstGeom>
          <a:solidFill>
            <a:srgbClr val="F1F5F9"/>
          </a:solidFill>
          <a:ln w="12700">
            <a:solidFill>
              <a:srgbClr val="94A3B8"/>
            </a:solidFill>
          </a:ln>
        </p:spPr>
        <p:txBody>
          <a:bodyPr wrap="square" lIns="0" tIns="0" rIns="0" bIns="0" anchor="ctr"/>
          <a:lstStyle/>
          <a:p>
            <a:pPr indent="0" marL="0">
              <a:buNone/>
            </a:pPr>
            <a:endParaRPr lang="en-US"/>
          </a:p>
        </p:txBody>
      </p:sp>
      <p:sp>
        <p:nvSpPr>
          <p:cNvPr id="73" name="CICD_Rollback_Text"/>
          <p:cNvSpPr/>
          <p:nvPr/>
        </p:nvSpPr>
        <p:spPr>
          <a:xfrm>
            <a:off x="10251440" y="1554480"/>
            <a:ext cx="1483360" cy="1280160"/>
          </a:xfrm>
          <a:prstGeom prst="rect">
            <a:avLst/>
          </a:prstGeom>
          <a:noFill/>
        </p:spPr>
        <p:txBody>
          <a:bodyPr wrap="square" lIns="0" tIns="0" rIns="0" bIns="0" anchor="ctr"/>
          <a:lstStyle/>
          <a:p>
            <a:pPr algn="ctr" indent="0" marL="0">
              <a:buNone/>
            </a:pPr>
            <a:r>
              <a:rPr lang="en-US" sz="1500" b="1" dirty="0">
                <a:solidFill>
                  <a:srgbClr val="0F172A"/>
                </a:solidFill>
                <a:latin typeface="Trebuchet MS" pitchFamily="34" charset="0"/>
              </a:rPr>
              <a:t>Rollback</a:t>
            </a:r>
          </a:p>
          <a:p>
            <a:pPr algn="ctr" indent="0" marL="0">
              <a:spcBef>
                <a:spcPts val="200"/>
              </a:spcBef>
              <a:buNone/>
            </a:pPr>
            <a:r>
              <a:rPr lang="en-US" sz="1000" i="1" dirty="0">
                <a:solidFill>
                  <a:srgbClr val="64748B"/>
                </a:solidFill>
                <a:latin typeface="Calibri" pitchFamily="34" charset="0"/>
              </a:rPr>
              <a:t>recover</a:t>
            </a:r>
          </a:p>
        </p:txBody>
      </p:sp>
      <p:cxnSp>
        <p:nvCxnSpPr>
          <p:cNvPr id="74" name="Link_0"/>
          <p:cNvCxnSpPr/>
          <p:nvPr/>
        </p:nvCxnSpPr>
        <p:spPr>
          <a:xfrm>
            <a:off x="3119120" y="2926080"/>
            <a:ext cx="1" cy="868680"/>
          </a:xfrm>
          <a:prstGeom prst="line">
            <a:avLst/>
          </a:prstGeom>
          <a:ln w="19050">
            <a:solidFill>
              <a:srgbClr val="A100FF"/>
            </a:solidFill>
            <a:prstDash val="dash"/>
          </a:ln>
        </p:spPr>
      </p:cxnSp>
      <p:cxnSp>
        <p:nvCxnSpPr>
          <p:cNvPr id="75" name="Link_1"/>
          <p:cNvCxnSpPr/>
          <p:nvPr/>
        </p:nvCxnSpPr>
        <p:spPr>
          <a:xfrm>
            <a:off x="4693920" y="2926080"/>
            <a:ext cx="1" cy="868680"/>
          </a:xfrm>
          <a:prstGeom prst="line">
            <a:avLst/>
          </a:prstGeom>
          <a:ln w="19050">
            <a:solidFill>
              <a:srgbClr val="A100FF"/>
            </a:solidFill>
            <a:prstDash val="dash"/>
          </a:ln>
        </p:spPr>
      </p:cxnSp>
      <p:cxnSp>
        <p:nvCxnSpPr>
          <p:cNvPr id="76" name="Link_2"/>
          <p:cNvCxnSpPr/>
          <p:nvPr/>
        </p:nvCxnSpPr>
        <p:spPr>
          <a:xfrm>
            <a:off x="6268720" y="2926080"/>
            <a:ext cx="1" cy="868680"/>
          </a:xfrm>
          <a:prstGeom prst="line">
            <a:avLst/>
          </a:prstGeom>
          <a:ln w="19050">
            <a:solidFill>
              <a:srgbClr val="A100FF"/>
            </a:solidFill>
            <a:prstDash val="dash"/>
          </a:ln>
        </p:spPr>
      </p:cxnSp>
      <p:cxnSp>
        <p:nvCxnSpPr>
          <p:cNvPr id="77" name="Link_3"/>
          <p:cNvCxnSpPr/>
          <p:nvPr/>
        </p:nvCxnSpPr>
        <p:spPr>
          <a:xfrm>
            <a:off x="7843520" y="2926080"/>
            <a:ext cx="1" cy="868680"/>
          </a:xfrm>
          <a:prstGeom prst="line">
            <a:avLst/>
          </a:prstGeom>
          <a:ln w="19050">
            <a:solidFill>
              <a:srgbClr val="A100FF"/>
            </a:solidFill>
            <a:prstDash val="dash"/>
          </a:ln>
        </p:spPr>
      </p:cxnSp>
      <p:cxnSp>
        <p:nvCxnSpPr>
          <p:cNvPr id="78" name="Link_4"/>
          <p:cNvCxnSpPr/>
          <p:nvPr/>
        </p:nvCxnSpPr>
        <p:spPr>
          <a:xfrm>
            <a:off x="9418320" y="2926080"/>
            <a:ext cx="1" cy="868680"/>
          </a:xfrm>
          <a:prstGeom prst="line">
            <a:avLst/>
          </a:prstGeom>
          <a:ln w="19050">
            <a:solidFill>
              <a:srgbClr val="A100FF"/>
            </a:solidFill>
            <a:prstDash val="dash"/>
          </a:ln>
        </p:spPr>
      </p:cxnSp>
      <p:cxnSp>
        <p:nvCxnSpPr>
          <p:cNvPr id="79" name="Link_5"/>
          <p:cNvCxnSpPr/>
          <p:nvPr/>
        </p:nvCxnSpPr>
        <p:spPr>
          <a:xfrm>
            <a:off x="10993120" y="2926080"/>
            <a:ext cx="1" cy="868680"/>
          </a:xfrm>
          <a:prstGeom prst="line">
            <a:avLst/>
          </a:prstGeom>
          <a:ln w="19050">
            <a:solidFill>
              <a:srgbClr val="A100FF"/>
            </a:solidFill>
            <a:prstDash val="dash"/>
          </a:ln>
        </p:spPr>
      </p:cxnSp>
      <p:sp>
        <p:nvSpPr>
          <p:cNvPr id="80" name="Eq_0"/>
          <p:cNvSpPr/>
          <p:nvPr/>
        </p:nvSpPr>
        <p:spPr>
          <a:xfrm>
            <a:off x="29819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1" name="Eq_1"/>
          <p:cNvSpPr/>
          <p:nvPr/>
        </p:nvSpPr>
        <p:spPr>
          <a:xfrm>
            <a:off x="45567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2" name="Eq_2"/>
          <p:cNvSpPr/>
          <p:nvPr/>
        </p:nvSpPr>
        <p:spPr>
          <a:xfrm>
            <a:off x="61315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3" name="Eq_3"/>
          <p:cNvSpPr/>
          <p:nvPr/>
        </p:nvSpPr>
        <p:spPr>
          <a:xfrm>
            <a:off x="77063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4" name="Eq_4"/>
          <p:cNvSpPr/>
          <p:nvPr/>
        </p:nvSpPr>
        <p:spPr>
          <a:xfrm>
            <a:off x="92811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5" name="Eq_5"/>
          <p:cNvSpPr/>
          <p:nvPr/>
        </p:nvSpPr>
        <p:spPr>
          <a:xfrm>
            <a:off x="10855960" y="3223260"/>
            <a:ext cx="274320" cy="274320"/>
          </a:xfrm>
          <a:prstGeom prst="rect">
            <a:avLst/>
          </a:prstGeom>
          <a:noFill/>
        </p:spPr>
        <p:txBody>
          <a:bodyPr wrap="square" lIns="0" tIns="0" rIns="0" bIns="0" anchor="ctr"/>
          <a:lstStyle/>
          <a:p>
            <a:pPr algn="ctr" indent="0" marL="0">
              <a:buNone/>
            </a:pPr>
            <a:r>
              <a:rPr lang="en-US" sz="1800" b="1" dirty="0">
                <a:solidFill>
                  <a:srgbClr val="A100FF"/>
                </a:solidFill>
                <a:latin typeface="Trebuchet MS" pitchFamily="34" charset="0"/>
              </a:rPr>
              <a:t>≡</a:t>
            </a:r>
          </a:p>
        </p:txBody>
      </p:sp>
      <p:sp>
        <p:nvSpPr>
          <p:cNvPr id="86" name="MLOps_FeatureStore"/>
          <p:cNvSpPr/>
          <p:nvPr/>
        </p:nvSpPr>
        <p:spPr>
          <a:xfrm>
            <a:off x="23774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87" name="MLOps_FeatureStore_Text"/>
          <p:cNvSpPr/>
          <p:nvPr/>
        </p:nvSpPr>
        <p:spPr>
          <a:xfrm>
            <a:off x="23774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Feature Store</a:t>
            </a:r>
          </a:p>
          <a:p>
            <a:pPr algn="ctr" indent="0" marL="0">
              <a:spcBef>
                <a:spcPts val="200"/>
              </a:spcBef>
              <a:buNone/>
            </a:pPr>
            <a:r>
              <a:rPr lang="en-US" sz="1000" i="1" dirty="0">
                <a:solidFill>
                  <a:srgbClr val="475569"/>
                </a:solidFill>
                <a:latin typeface="Calibri" pitchFamily="34" charset="0"/>
              </a:rPr>
              <a:t>inputs</a:t>
            </a:r>
          </a:p>
        </p:txBody>
      </p:sp>
      <p:sp>
        <p:nvSpPr>
          <p:cNvPr id="88" name="MLOps_Arrow_0"/>
          <p:cNvSpPr/>
          <p:nvPr/>
        </p:nvSpPr>
        <p:spPr>
          <a:xfrm>
            <a:off x="3860800" y="3886200"/>
            <a:ext cx="128016" cy="1280160"/>
          </a:xfrm>
          <a:prstGeom prst="rect">
            <a:avLst/>
          </a:prstGeom>
          <a:noFill/>
        </p:spPr>
        <p:txBody>
          <a:bodyPr wrap="square" lIns="0" tIns="0" rIns="0" bIns="0" anchor="ctr"/>
          <a:lstStyle/>
          <a:p>
            <a:pPr algn="ctr" indent="0" marL="0">
              <a:buNone/>
            </a:pPr>
            <a:r>
              <a:rPr lang="en-US" sz="1400" b="1" dirty="0">
                <a:solidFill>
                  <a:srgbClr val="A100FF"/>
                </a:solidFill>
                <a:latin typeface="Calibri" pitchFamily="34" charset="0"/>
              </a:rPr>
              <a:t>▸</a:t>
            </a:r>
          </a:p>
        </p:txBody>
      </p:sp>
      <p:sp>
        <p:nvSpPr>
          <p:cNvPr id="89" name="MLOps_ModelRegistry"/>
          <p:cNvSpPr/>
          <p:nvPr/>
        </p:nvSpPr>
        <p:spPr>
          <a:xfrm>
            <a:off x="39522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90" name="MLOps_ModelRegistry_Text"/>
          <p:cNvSpPr/>
          <p:nvPr/>
        </p:nvSpPr>
        <p:spPr>
          <a:xfrm>
            <a:off x="39522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Model Registry</a:t>
            </a:r>
          </a:p>
          <a:p>
            <a:pPr algn="ctr" indent="0" marL="0">
              <a:spcBef>
                <a:spcPts val="200"/>
              </a:spcBef>
              <a:buNone/>
            </a:pPr>
            <a:r>
              <a:rPr lang="en-US" sz="1000" i="1" dirty="0">
                <a:solidFill>
                  <a:srgbClr val="475569"/>
                </a:solidFill>
                <a:latin typeface="Calibri" pitchFamily="34" charset="0"/>
              </a:rPr>
              <a:t>artifacts</a:t>
            </a:r>
          </a:p>
        </p:txBody>
      </p:sp>
      <p:sp>
        <p:nvSpPr>
          <p:cNvPr id="91" name="MLOps_Arrow_1"/>
          <p:cNvSpPr/>
          <p:nvPr/>
        </p:nvSpPr>
        <p:spPr>
          <a:xfrm>
            <a:off x="5435600" y="3886200"/>
            <a:ext cx="128016" cy="1280160"/>
          </a:xfrm>
          <a:prstGeom prst="rect">
            <a:avLst/>
          </a:prstGeom>
          <a:noFill/>
        </p:spPr>
        <p:txBody>
          <a:bodyPr wrap="square" lIns="0" tIns="0" rIns="0" bIns="0" anchor="ctr"/>
          <a:lstStyle/>
          <a:p>
            <a:pPr algn="ctr" indent="0" marL="0">
              <a:buNone/>
            </a:pPr>
            <a:r>
              <a:rPr lang="en-US" sz="1400" b="1" dirty="0">
                <a:solidFill>
                  <a:srgbClr val="A100FF"/>
                </a:solidFill>
                <a:latin typeface="Calibri" pitchFamily="34" charset="0"/>
              </a:rPr>
              <a:t>▸</a:t>
            </a:r>
          </a:p>
        </p:txBody>
      </p:sp>
      <p:sp>
        <p:nvSpPr>
          <p:cNvPr id="92" name="MLOps_ValidationGates"/>
          <p:cNvSpPr/>
          <p:nvPr/>
        </p:nvSpPr>
        <p:spPr>
          <a:xfrm>
            <a:off x="55270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93" name="MLOps_ValidationGates_Text"/>
          <p:cNvSpPr/>
          <p:nvPr/>
        </p:nvSpPr>
        <p:spPr>
          <a:xfrm>
            <a:off x="55270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Validation Gates</a:t>
            </a:r>
          </a:p>
          <a:p>
            <a:pPr algn="ctr" indent="0" marL="0">
              <a:spcBef>
                <a:spcPts val="200"/>
              </a:spcBef>
              <a:buNone/>
            </a:pPr>
            <a:r>
              <a:rPr lang="en-US" sz="1000" i="1" dirty="0">
                <a:solidFill>
                  <a:srgbClr val="475569"/>
                </a:solidFill>
                <a:latin typeface="Calibri" pitchFamily="34" charset="0"/>
              </a:rPr>
              <a:t>admission</a:t>
            </a:r>
          </a:p>
        </p:txBody>
      </p:sp>
      <p:sp>
        <p:nvSpPr>
          <p:cNvPr id="94" name="MLOps_Arrow_2"/>
          <p:cNvSpPr/>
          <p:nvPr/>
        </p:nvSpPr>
        <p:spPr>
          <a:xfrm>
            <a:off x="7010400" y="3886200"/>
            <a:ext cx="128016" cy="1280160"/>
          </a:xfrm>
          <a:prstGeom prst="rect">
            <a:avLst/>
          </a:prstGeom>
          <a:noFill/>
        </p:spPr>
        <p:txBody>
          <a:bodyPr wrap="square" lIns="0" tIns="0" rIns="0" bIns="0" anchor="ctr"/>
          <a:lstStyle/>
          <a:p>
            <a:pPr algn="ctr" indent="0" marL="0">
              <a:buNone/>
            </a:pPr>
            <a:r>
              <a:rPr lang="en-US" sz="1400" b="1" dirty="0">
                <a:solidFill>
                  <a:srgbClr val="A100FF"/>
                </a:solidFill>
                <a:latin typeface="Calibri" pitchFamily="34" charset="0"/>
              </a:rPr>
              <a:t>▸</a:t>
            </a:r>
          </a:p>
        </p:txBody>
      </p:sp>
      <p:sp>
        <p:nvSpPr>
          <p:cNvPr id="95" name="MLOps_Canary"/>
          <p:cNvSpPr/>
          <p:nvPr/>
        </p:nvSpPr>
        <p:spPr>
          <a:xfrm>
            <a:off x="71018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96" name="MLOps_Canary_Text"/>
          <p:cNvSpPr/>
          <p:nvPr/>
        </p:nvSpPr>
        <p:spPr>
          <a:xfrm>
            <a:off x="71018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Canary</a:t>
            </a:r>
          </a:p>
          <a:p>
            <a:pPr algn="ctr" indent="0" marL="0">
              <a:spcBef>
                <a:spcPts val="200"/>
              </a:spcBef>
              <a:buNone/>
            </a:pPr>
            <a:r>
              <a:rPr lang="en-US" sz="1000" i="1" dirty="0">
                <a:solidFill>
                  <a:srgbClr val="475569"/>
                </a:solidFill>
                <a:latin typeface="Calibri" pitchFamily="34" charset="0"/>
              </a:rPr>
              <a:t>blast radius</a:t>
            </a:r>
          </a:p>
        </p:txBody>
      </p:sp>
      <p:sp>
        <p:nvSpPr>
          <p:cNvPr id="97" name="MLOps_Arrow_3"/>
          <p:cNvSpPr/>
          <p:nvPr/>
        </p:nvSpPr>
        <p:spPr>
          <a:xfrm>
            <a:off x="8585200" y="3886200"/>
            <a:ext cx="128016" cy="1280160"/>
          </a:xfrm>
          <a:prstGeom prst="rect">
            <a:avLst/>
          </a:prstGeom>
          <a:noFill/>
        </p:spPr>
        <p:txBody>
          <a:bodyPr wrap="square" lIns="0" tIns="0" rIns="0" bIns="0" anchor="ctr"/>
          <a:lstStyle/>
          <a:p>
            <a:pPr algn="ctr" indent="0" marL="0">
              <a:buNone/>
            </a:pPr>
            <a:r>
              <a:rPr lang="en-US" sz="1400" b="1" dirty="0">
                <a:solidFill>
                  <a:srgbClr val="A100FF"/>
                </a:solidFill>
                <a:latin typeface="Calibri" pitchFamily="34" charset="0"/>
              </a:rPr>
              <a:t>▸</a:t>
            </a:r>
          </a:p>
        </p:txBody>
      </p:sp>
      <p:sp>
        <p:nvSpPr>
          <p:cNvPr id="98" name="MLOps_DriftDetection"/>
          <p:cNvSpPr/>
          <p:nvPr/>
        </p:nvSpPr>
        <p:spPr>
          <a:xfrm>
            <a:off x="86766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99" name="MLOps_DriftDetection_Text"/>
          <p:cNvSpPr/>
          <p:nvPr/>
        </p:nvSpPr>
        <p:spPr>
          <a:xfrm>
            <a:off x="86766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Drift Detection</a:t>
            </a:r>
          </a:p>
          <a:p>
            <a:pPr algn="ctr" indent="0" marL="0">
              <a:spcBef>
                <a:spcPts val="200"/>
              </a:spcBef>
              <a:buNone/>
            </a:pPr>
            <a:r>
              <a:rPr lang="en-US" sz="1000" i="1" dirty="0">
                <a:solidFill>
                  <a:srgbClr val="475569"/>
                </a:solidFill>
                <a:latin typeface="Calibri" pitchFamily="34" charset="0"/>
              </a:rPr>
              <a:t>behavior</a:t>
            </a:r>
          </a:p>
        </p:txBody>
      </p:sp>
      <p:sp>
        <p:nvSpPr>
          <p:cNvPr id="100" name="MLOps_Arrow_4"/>
          <p:cNvSpPr/>
          <p:nvPr/>
        </p:nvSpPr>
        <p:spPr>
          <a:xfrm>
            <a:off x="10160000" y="3886200"/>
            <a:ext cx="128016" cy="1280160"/>
          </a:xfrm>
          <a:prstGeom prst="rect">
            <a:avLst/>
          </a:prstGeom>
          <a:noFill/>
        </p:spPr>
        <p:txBody>
          <a:bodyPr wrap="square" lIns="0" tIns="0" rIns="0" bIns="0" anchor="ctr"/>
          <a:lstStyle/>
          <a:p>
            <a:pPr algn="ctr" indent="0" marL="0">
              <a:buNone/>
            </a:pPr>
            <a:r>
              <a:rPr lang="en-US" sz="1400" b="1" dirty="0">
                <a:solidFill>
                  <a:srgbClr val="A100FF"/>
                </a:solidFill>
                <a:latin typeface="Calibri" pitchFamily="34" charset="0"/>
              </a:rPr>
              <a:t>▸</a:t>
            </a:r>
          </a:p>
        </p:txBody>
      </p:sp>
      <p:sp>
        <p:nvSpPr>
          <p:cNvPr id="101" name="MLOps_OutputValidation"/>
          <p:cNvSpPr/>
          <p:nvPr/>
        </p:nvSpPr>
        <p:spPr>
          <a:xfrm>
            <a:off x="10251440" y="3886200"/>
            <a:ext cx="1483360" cy="1280160"/>
          </a:xfrm>
          <a:prstGeom prst="roundRect">
            <a:avLst>
              <a:gd name="adj" fmla="val 8000"/>
            </a:avLst>
          </a:prstGeom>
          <a:solidFill>
            <a:srgbClr val="F3E8FF"/>
          </a:solidFill>
          <a:ln w="15875">
            <a:solidFill>
              <a:srgbClr val="A100FF"/>
            </a:solidFill>
          </a:ln>
        </p:spPr>
        <p:txBody>
          <a:bodyPr wrap="square" lIns="0" tIns="0" rIns="0" bIns="0" anchor="ctr"/>
          <a:lstStyle/>
          <a:p>
            <a:pPr indent="0" marL="0">
              <a:buNone/>
            </a:pPr>
            <a:endParaRPr lang="en-US"/>
          </a:p>
        </p:txBody>
      </p:sp>
      <p:sp>
        <p:nvSpPr>
          <p:cNvPr id="102" name="MLOps_OutputValidation_Text"/>
          <p:cNvSpPr/>
          <p:nvPr/>
        </p:nvSpPr>
        <p:spPr>
          <a:xfrm>
            <a:off x="10251440" y="3886200"/>
            <a:ext cx="1483360" cy="1280160"/>
          </a:xfrm>
          <a:prstGeom prst="rect">
            <a:avLst/>
          </a:prstGeom>
          <a:noFill/>
        </p:spPr>
        <p:txBody>
          <a:bodyPr wrap="square" lIns="0" tIns="0" rIns="0" bIns="0" anchor="ctr"/>
          <a:lstStyle/>
          <a:p>
            <a:pPr algn="ctr" indent="0" marL="0">
              <a:buNone/>
            </a:pPr>
            <a:r>
              <a:rPr lang="en-US" sz="1400" b="1" dirty="0">
                <a:solidFill>
                  <a:srgbClr val="0F172A"/>
                </a:solidFill>
                <a:latin typeface="Trebuchet MS" pitchFamily="34" charset="0"/>
              </a:rPr>
              <a:t>Output Validation</a:t>
            </a:r>
          </a:p>
          <a:p>
            <a:pPr algn="ctr" indent="0" marL="0">
              <a:spcBef>
                <a:spcPts val="200"/>
              </a:spcBef>
              <a:buNone/>
            </a:pPr>
            <a:r>
              <a:rPr lang="en-US" sz="1000" i="1" dirty="0">
                <a:solidFill>
                  <a:srgbClr val="475569"/>
                </a:solidFill>
                <a:latin typeface="Calibri" pitchFamily="34" charset="0"/>
              </a:rPr>
              <a:t>content</a:t>
            </a:r>
          </a:p>
        </p:txBody>
      </p:sp>
      <p:sp>
        <p:nvSpPr>
          <p:cNvPr id="103" name="Takeaway"/>
          <p:cNvSpPr/>
          <p:nvPr/>
        </p:nvSpPr>
        <p:spPr>
          <a:xfrm>
            <a:off x="731520" y="5394960"/>
            <a:ext cx="10728960" cy="731520"/>
          </a:xfrm>
          <a:prstGeom prst="rect">
            <a:avLst/>
          </a:prstGeom>
          <a:noFill/>
        </p:spPr>
        <p:txBody>
          <a:bodyPr wrap="square" lIns="0" tIns="0" rIns="0" bIns="0" anchor="t"/>
          <a:lstStyle/>
          <a:p>
            <a:pPr algn="ctr" indent="0" marL="0">
              <a:buNone/>
            </a:pPr>
            <a:r>
              <a:rPr lang="en-US" sz="2000" b="1" dirty="0">
                <a:solidFill>
                  <a:srgbClr val="0F172A"/>
                </a:solidFill>
                <a:latin typeface="Trebuchet MS" pitchFamily="34" charset="0"/>
              </a:rPr>
              <a:t>Six stages on top. Six stages on the bottom. The discipline is identical.</a:t>
            </a:r>
          </a:p>
          <a:p>
            <a:pPr algn="ctr" indent="0" marL="0">
              <a:spcBef>
                <a:spcPts val="300"/>
              </a:spcBef>
              <a:buNone/>
            </a:pPr>
            <a:r>
              <a:rPr lang="en-US" sz="1400" i="1" dirty="0">
                <a:solidFill>
                  <a:srgbClr val="64748B"/>
                </a:solidFill>
                <a:latin typeface="Calibri" pitchFamily="34" charset="0"/>
              </a:rPr>
              <a:t>When CI/CD is your safety story for code, MLOps is your safety story for agents.</a:t>
            </a:r>
          </a:p>
        </p:txBody>
      </p:sp>
      <p:sp>
        <p:nvSpPr>
          <p:cNvPr id="104" name="PageNum"/>
          <p:cNvSpPr/>
          <p:nvPr/>
        </p:nvSpPr>
        <p:spPr>
          <a:xfrm>
            <a:off x="11430000" y="6583680"/>
            <a:ext cx="640080" cy="182880"/>
          </a:xfrm>
          <a:prstGeom prst="rect">
            <a:avLst/>
          </a:prstGeom>
          <a:noFill/>
        </p:spPr>
        <p:txBody>
          <a:bodyPr wrap="square" lIns="0" tIns="0" rIns="0" bIns="0" anchor="ctr"/>
          <a:lstStyle/>
          <a:p>
            <a:pPr algn="r" indent="0" marL="0">
              <a:buNone/>
            </a:pPr>
            <a:r>
              <a:rPr lang="en-US" sz="900" dirty="0">
                <a:solidFill>
                  <a:srgbClr val="64748B"/>
                </a:solidFill>
                <a:latin typeface="Calibri" pitchFamily="34" charset="0"/>
              </a:rPr>
              <a:t>4 / 16</a:t>
            </a:r>
          </a:p>
        </p:txBody>
      </p:sp>
      <p:sp>
        <p:nvSpPr>
          <p:cNvPr id="105" name="Footer"/>
          <p:cNvSpPr/>
          <p:nvPr/>
        </p:nvSpPr>
        <p:spPr>
          <a:xfrm>
            <a:off x="228600" y="6583680"/>
            <a:ext cx="3200400" cy="182880"/>
          </a:xfrm>
          <a:prstGeom prst="rect">
            <a:avLst/>
          </a:prstGeom>
          <a:noFill/>
        </p:spPr>
        <p:txBody>
          <a:bodyPr wrap="square" lIns="0" tIns="0" rIns="0" bIns="0" anchor="ctr"/>
          <a:lstStyle/>
          <a:p>
            <a:pPr algn="l" indent="0" marL="0">
              <a:buNone/>
            </a:pPr>
            <a:r>
              <a:rPr lang="en-US" sz="900" dirty="0">
                <a:solidFill>
                  <a:srgbClr val="64748B"/>
                </a:solidFill>
                <a:latin typeface="Calibri" pitchFamily="34" charset="0"/>
              </a:rPr>
              <a:t>LLMday Austin · May 12,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ame controls. New actor.">
    <p:bg>
      <p:bgPr>
        <a:solidFill>
          <a:srgbClr val="FAFAFA"/>
        </a:solidFill>
      </p:bgPr>
    </p:bg>
    <p:spTree>
      <p:nvGrpSpPr>
        <p:cNvPr id="1" name=""/>
        <p:cNvGrpSpPr/>
        <p:nvPr/>
      </p:nvGrpSpPr>
      <p:grpSpPr>
        <a:xfrm>
          <a:off x="0" y="0"/>
          <a:ext cx="0" cy="0"/>
          <a:chOff x="0" y="0"/>
          <a:chExt cx="0" cy="0"/>
        </a:xfrm>
      </p:grpSpPr>
      <p:sp>
        <p:nvSpPr>
          <p:cNvPr id="51" name="Title"/>
          <p:cNvSpPr/>
          <p:nvPr/>
        </p:nvSpPr>
        <p:spPr>
          <a:xfrm>
            <a:off x="731520" y="274320"/>
            <a:ext cx="10728960" cy="731520"/>
          </a:xfrm>
          <a:prstGeom prst="rect">
            <a:avLst/>
          </a:prstGeom>
          <a:noFill/>
        </p:spPr>
        <p:txBody>
          <a:bodyPr wrap="square" lIns="0" tIns="0" rIns="0" bIns="0" anchor="ctr"/>
          <a:lstStyle/>
          <a:p>
            <a:pPr algn="l" indent="0" marL="0">
              <a:buNone/>
            </a:pPr>
            <a:r>
              <a:rPr lang="en-US" sz="4400" b="1" dirty="0">
                <a:solidFill>
                  <a:srgbClr val="0F172A"/>
                </a:solidFill>
                <a:latin typeface="Trebuchet MS" pitchFamily="34" charset="0"/>
              </a:rPr>
              <a:t>Same controls. New actor.</a:t>
            </a:r>
          </a:p>
        </p:txBody>
      </p:sp>
      <p:sp>
        <p:nvSpPr>
          <p:cNvPr id="52" name="Subtitle"/>
          <p:cNvSpPr/>
          <p:nvPr/>
        </p:nvSpPr>
        <p:spPr>
          <a:xfrm>
            <a:off x="731520" y="1005840"/>
            <a:ext cx="10728960" cy="457200"/>
          </a:xfrm>
          <a:prstGeom prst="rect">
            <a:avLst/>
          </a:prstGeom>
          <a:noFill/>
        </p:spPr>
        <p:txBody>
          <a:bodyPr wrap="square" lIns="0" tIns="0" rIns="0" bIns="0" anchor="ctr"/>
          <a:lstStyle/>
          <a:p>
            <a:pPr algn="l" indent="0" marL="0">
              <a:buNone/>
            </a:pPr>
            <a:r>
              <a:rPr lang="en-US" sz="1800" i="1" dirty="0">
                <a:solidFill>
                  <a:srgbClr val="64748B"/>
                </a:solidFill>
                <a:latin typeface="Calibri" pitchFamily="34" charset="0"/>
              </a:rPr>
              <a:t>The mechanism is identical. Only the actor changed.</a:t>
            </a:r>
          </a:p>
        </p:txBody>
      </p:sp>
      <p:sp>
        <p:nvSpPr>
          <p:cNvPr id="53" name="Header_Col1"/>
          <p:cNvSpPr/>
          <p:nvPr/>
        </p:nvSpPr>
        <p:spPr>
          <a:xfrm>
            <a:off x="731520" y="1645920"/>
            <a:ext cx="3657600" cy="457200"/>
          </a:xfrm>
          <a:prstGeom prst="rect">
            <a:avLst/>
          </a:prstGeom>
          <a:solidFill>
            <a:srgbClr val="0F172A"/>
          </a:solidFill>
          <a:ln>
            <a:noFill/>
          </a:ln>
        </p:spPr>
        <p:txBody>
          <a:bodyPr wrap="square" lIns="0" tIns="0" rIns="0" bIns="0" anchor="ctr"/>
          <a:lstStyle/>
          <a:p>
            <a:pPr indent="0" marL="0">
              <a:buNone/>
            </a:pPr>
            <a:endParaRPr lang="en-US"/>
          </a:p>
        </p:txBody>
      </p:sp>
      <p:sp>
        <p:nvSpPr>
          <p:cNvPr id="54" name="Header_Col2"/>
          <p:cNvSpPr/>
          <p:nvPr/>
        </p:nvSpPr>
        <p:spPr>
          <a:xfrm>
            <a:off x="4389120" y="1645920"/>
            <a:ext cx="3200400" cy="457200"/>
          </a:xfrm>
          <a:prstGeom prst="rect">
            <a:avLst/>
          </a:prstGeom>
          <a:solidFill>
            <a:srgbClr val="0F172A"/>
          </a:solidFill>
          <a:ln>
            <a:noFill/>
          </a:ln>
        </p:spPr>
        <p:txBody>
          <a:bodyPr wrap="square" lIns="0" tIns="0" rIns="0" bIns="0" anchor="ctr"/>
          <a:lstStyle/>
          <a:p>
            <a:pPr indent="0" marL="0">
              <a:buNone/>
            </a:pPr>
            <a:endParaRPr lang="en-US"/>
          </a:p>
        </p:txBody>
      </p:sp>
      <p:sp>
        <p:nvSpPr>
          <p:cNvPr id="55" name="Header_Col3"/>
          <p:cNvSpPr/>
          <p:nvPr/>
        </p:nvSpPr>
        <p:spPr>
          <a:xfrm>
            <a:off x="7589520" y="1645920"/>
            <a:ext cx="3870960" cy="457200"/>
          </a:xfrm>
          <a:prstGeom prst="rect">
            <a:avLst/>
          </a:prstGeom>
          <a:solidFill>
            <a:srgbClr val="0F172A"/>
          </a:solidFill>
          <a:ln>
            <a:noFill/>
          </a:ln>
        </p:spPr>
        <p:txBody>
          <a:bodyPr wrap="square" lIns="0" tIns="0" rIns="0" bIns="0" anchor="ctr"/>
          <a:lstStyle/>
          <a:p>
            <a:pPr indent="0" marL="0">
              <a:buNone/>
            </a:pPr>
            <a:endParaRPr lang="en-US"/>
          </a:p>
        </p:txBody>
      </p:sp>
      <p:sp>
        <p:nvSpPr>
          <p:cNvPr id="56" name="HeaderText_Col1"/>
          <p:cNvSpPr/>
          <p:nvPr/>
        </p:nvSpPr>
        <p:spPr>
          <a:xfrm>
            <a:off x="914400" y="1645920"/>
            <a:ext cx="3657600" cy="457200"/>
          </a:xfrm>
          <a:prstGeom prst="rect">
            <a:avLst/>
          </a:prstGeom>
          <a:noFill/>
        </p:spPr>
        <p:txBody>
          <a:bodyPr wrap="square" lIns="0" tIns="0" rIns="0" bIns="0" anchor="ctr"/>
          <a:lstStyle/>
          <a:p>
            <a:pPr algn="l" indent="0" marL="0">
              <a:buNone/>
            </a:pPr>
            <a:r>
              <a:rPr lang="en-US" sz="1300" b="1" dirty="0">
                <a:solidFill>
                  <a:srgbClr val="FFFFFF"/>
                </a:solidFill>
                <a:latin typeface="Trebuchet MS" pitchFamily="34" charset="0"/>
              </a:rPr>
              <a:t>MLOPS STAGE</a:t>
            </a:r>
          </a:p>
        </p:txBody>
      </p:sp>
      <p:sp>
        <p:nvSpPr>
          <p:cNvPr id="57" name="HeaderText_Col2"/>
          <p:cNvSpPr/>
          <p:nvPr/>
        </p:nvSpPr>
        <p:spPr>
          <a:xfrm>
            <a:off x="4572000" y="1645920"/>
            <a:ext cx="3200400" cy="457200"/>
          </a:xfrm>
          <a:prstGeom prst="rect">
            <a:avLst/>
          </a:prstGeom>
          <a:noFill/>
        </p:spPr>
        <p:txBody>
          <a:bodyPr wrap="square" lIns="0" tIns="0" rIns="0" bIns="0" anchor="ctr"/>
          <a:lstStyle/>
          <a:p>
            <a:pPr algn="l" indent="0" marL="0">
              <a:buNone/>
            </a:pPr>
            <a:r>
              <a:rPr lang="en-US" sz="1300" b="1" dirty="0">
                <a:solidFill>
                  <a:srgbClr val="FFFFFF"/>
                </a:solidFill>
                <a:latin typeface="Trebuchet MS" pitchFamily="34" charset="0"/>
              </a:rPr>
              <a:t>AGENTIC COVENANT</a:t>
            </a:r>
          </a:p>
        </p:txBody>
      </p:sp>
      <p:sp>
        <p:nvSpPr>
          <p:cNvPr id="58" name="HeaderText_Col3"/>
          <p:cNvSpPr/>
          <p:nvPr/>
        </p:nvSpPr>
        <p:spPr>
          <a:xfrm>
            <a:off x="7772400" y="1645920"/>
            <a:ext cx="3870960" cy="457200"/>
          </a:xfrm>
          <a:prstGeom prst="rect">
            <a:avLst/>
          </a:prstGeom>
          <a:noFill/>
        </p:spPr>
        <p:txBody>
          <a:bodyPr wrap="square" lIns="0" tIns="0" rIns="0" bIns="0" anchor="ctr"/>
          <a:lstStyle/>
          <a:p>
            <a:pPr algn="l" indent="0" marL="0">
              <a:buNone/>
            </a:pPr>
            <a:r>
              <a:rPr lang="en-US" sz="1300" b="1" dirty="0">
                <a:solidFill>
                  <a:srgbClr val="FFFFFF"/>
                </a:solidFill>
                <a:latin typeface="Trebuchet MS" pitchFamily="34" charset="0"/>
              </a:rPr>
              <a:t>DEMO</a:t>
            </a:r>
          </a:p>
        </p:txBody>
      </p:sp>
      <p:sp>
        <p:nvSpPr>
          <p:cNvPr id="59" name="Row0_C1"/>
          <p:cNvSpPr/>
          <p:nvPr/>
        </p:nvSpPr>
        <p:spPr>
          <a:xfrm>
            <a:off x="731520" y="2139696"/>
            <a:ext cx="36576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60" name="Row0_C2"/>
          <p:cNvSpPr/>
          <p:nvPr/>
        </p:nvSpPr>
        <p:spPr>
          <a:xfrm>
            <a:off x="4389120" y="2139696"/>
            <a:ext cx="32004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61" name="Row0_C3"/>
          <p:cNvSpPr/>
          <p:nvPr/>
        </p:nvSpPr>
        <p:spPr>
          <a:xfrm>
            <a:off x="7589520" y="2139696"/>
            <a:ext cx="3870960" cy="548640"/>
          </a:xfrm>
          <a:prstGeom prst="rect">
            <a:avLst/>
          </a:prstGeom>
          <a:solidFill>
            <a:srgbClr val="F1F5F9"/>
          </a:solidFill>
          <a:ln>
            <a:noFill/>
          </a:ln>
        </p:spPr>
        <p:txBody>
          <a:bodyPr wrap="square" lIns="0" tIns="0" rIns="0" bIns="0" anchor="ctr"/>
          <a:lstStyle/>
          <a:p>
            <a:pPr indent="0" marL="0">
              <a:buNone/>
            </a:pPr>
            <a:endParaRPr lang="en-US"/>
          </a:p>
        </p:txBody>
      </p:sp>
      <p:sp>
        <p:nvSpPr>
          <p:cNvPr id="62" name="Row0_MLOpsText"/>
          <p:cNvSpPr/>
          <p:nvPr/>
        </p:nvSpPr>
        <p:spPr>
          <a:xfrm>
            <a:off x="914400" y="2139696"/>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Validation gates (pre-deployment)</a:t>
            </a:r>
          </a:p>
        </p:txBody>
      </p:sp>
      <p:sp>
        <p:nvSpPr>
          <p:cNvPr id="63" name="Row0_CovenantText"/>
          <p:cNvSpPr/>
          <p:nvPr/>
        </p:nvSpPr>
        <p:spPr>
          <a:xfrm>
            <a:off x="4572000" y="2139696"/>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Admission, before the agent acts</a:t>
            </a:r>
          </a:p>
        </p:txBody>
      </p:sp>
      <p:sp>
        <p:nvSpPr>
          <p:cNvPr id="64" name="Row0_Pill"/>
          <p:cNvSpPr/>
          <p:nvPr/>
        </p:nvSpPr>
        <p:spPr>
          <a:xfrm>
            <a:off x="7772400" y="2231136"/>
            <a:ext cx="3505200" cy="36576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65" name="Row0_PillText"/>
          <p:cNvSpPr/>
          <p:nvPr/>
        </p:nvSpPr>
        <p:spPr>
          <a:xfrm>
            <a:off x="7772400" y="2231136"/>
            <a:ext cx="3505200" cy="365760"/>
          </a:xfrm>
          <a:prstGeom prst="rect">
            <a:avLst/>
          </a:prstGeom>
          <a:noFill/>
        </p:spPr>
        <p:txBody>
          <a:bodyPr wrap="square" lIns="0" tIns="0" rIns="0" bIns="0" anchor="ctr"/>
          <a:lstStyle/>
          <a:p>
            <a:pPr algn="ctr" indent="0" marL="0">
              <a:buNone/>
            </a:pPr>
            <a:r>
              <a:rPr lang="en-US" sz="1300" b="1" dirty="0">
                <a:solidFill>
                  <a:srgbClr val="FFFFFF"/>
                </a:solidFill>
                <a:latin typeface="Trebuchet MS" pitchFamily="34" charset="0"/>
              </a:rPr>
              <a:t>Demo 1  ·  PreToolUse</a:t>
            </a:r>
          </a:p>
        </p:txBody>
      </p:sp>
      <p:sp>
        <p:nvSpPr>
          <p:cNvPr id="66" name="Row1_C1"/>
          <p:cNvSpPr/>
          <p:nvPr/>
        </p:nvSpPr>
        <p:spPr>
          <a:xfrm>
            <a:off x="731520" y="2724912"/>
            <a:ext cx="36576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67" name="Row1_C2"/>
          <p:cNvSpPr/>
          <p:nvPr/>
        </p:nvSpPr>
        <p:spPr>
          <a:xfrm>
            <a:off x="4389120" y="2724912"/>
            <a:ext cx="32004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68" name="Row1_C3"/>
          <p:cNvSpPr/>
          <p:nvPr/>
        </p:nvSpPr>
        <p:spPr>
          <a:xfrm>
            <a:off x="7589520" y="2724912"/>
            <a:ext cx="3870960" cy="548640"/>
          </a:xfrm>
          <a:prstGeom prst="rect">
            <a:avLst/>
          </a:prstGeom>
          <a:solidFill>
            <a:srgbClr val="FFFFFF"/>
          </a:solidFill>
          <a:ln>
            <a:noFill/>
          </a:ln>
        </p:spPr>
        <p:txBody>
          <a:bodyPr wrap="square" lIns="0" tIns="0" rIns="0" bIns="0" anchor="ctr"/>
          <a:lstStyle/>
          <a:p>
            <a:pPr indent="0" marL="0">
              <a:buNone/>
            </a:pPr>
            <a:endParaRPr lang="en-US"/>
          </a:p>
        </p:txBody>
      </p:sp>
      <p:sp>
        <p:nvSpPr>
          <p:cNvPr id="69" name="Row1_MLOpsText"/>
          <p:cNvSpPr/>
          <p:nvPr/>
        </p:nvSpPr>
        <p:spPr>
          <a:xfrm>
            <a:off x="914400" y="2724912"/>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Model registry / signed artifacts</a:t>
            </a:r>
          </a:p>
        </p:txBody>
      </p:sp>
      <p:sp>
        <p:nvSpPr>
          <p:cNvPr id="70" name="Row1_CovenantText"/>
          <p:cNvSpPr/>
          <p:nvPr/>
        </p:nvSpPr>
        <p:spPr>
          <a:xfrm>
            <a:off x="4572000" y="2724912"/>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Provenance · protected paths</a:t>
            </a:r>
          </a:p>
        </p:txBody>
      </p:sp>
      <p:sp>
        <p:nvSpPr>
          <p:cNvPr id="71" name="Row1_Pill"/>
          <p:cNvSpPr/>
          <p:nvPr/>
        </p:nvSpPr>
        <p:spPr>
          <a:xfrm>
            <a:off x="7772400" y="2816352"/>
            <a:ext cx="3505200" cy="36576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72" name="Row1_PillText"/>
          <p:cNvSpPr/>
          <p:nvPr/>
        </p:nvSpPr>
        <p:spPr>
          <a:xfrm>
            <a:off x="7772400" y="2816352"/>
            <a:ext cx="3505200" cy="365760"/>
          </a:xfrm>
          <a:prstGeom prst="rect">
            <a:avLst/>
          </a:prstGeom>
          <a:noFill/>
        </p:spPr>
        <p:txBody>
          <a:bodyPr wrap="square" lIns="0" tIns="0" rIns="0" bIns="0" anchor="ctr"/>
          <a:lstStyle/>
          <a:p>
            <a:pPr algn="ctr" indent="0" marL="0">
              <a:buNone/>
            </a:pPr>
            <a:r>
              <a:rPr lang="en-US" sz="1300" b="1" dirty="0">
                <a:solidFill>
                  <a:srgbClr val="FFFFFF"/>
                </a:solidFill>
                <a:latin typeface="Trebuchet MS" pitchFamily="34" charset="0"/>
              </a:rPr>
              <a:t>Demo 2  ·  Git pre-commit</a:t>
            </a:r>
          </a:p>
        </p:txBody>
      </p:sp>
      <p:sp>
        <p:nvSpPr>
          <p:cNvPr id="73" name="Row2_C1"/>
          <p:cNvSpPr/>
          <p:nvPr/>
        </p:nvSpPr>
        <p:spPr>
          <a:xfrm>
            <a:off x="731520" y="3310128"/>
            <a:ext cx="36576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74" name="Row2_C2"/>
          <p:cNvSpPr/>
          <p:nvPr/>
        </p:nvSpPr>
        <p:spPr>
          <a:xfrm>
            <a:off x="4389120" y="3310128"/>
            <a:ext cx="32004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75" name="Row2_C3"/>
          <p:cNvSpPr/>
          <p:nvPr/>
        </p:nvSpPr>
        <p:spPr>
          <a:xfrm>
            <a:off x="7589520" y="3310128"/>
            <a:ext cx="3870960" cy="548640"/>
          </a:xfrm>
          <a:prstGeom prst="rect">
            <a:avLst/>
          </a:prstGeom>
          <a:solidFill>
            <a:srgbClr val="F1F5F9"/>
          </a:solidFill>
          <a:ln>
            <a:noFill/>
          </a:ln>
        </p:spPr>
        <p:txBody>
          <a:bodyPr wrap="square" lIns="0" tIns="0" rIns="0" bIns="0" anchor="ctr"/>
          <a:lstStyle/>
          <a:p>
            <a:pPr indent="0" marL="0">
              <a:buNone/>
            </a:pPr>
            <a:endParaRPr lang="en-US"/>
          </a:p>
        </p:txBody>
      </p:sp>
      <p:sp>
        <p:nvSpPr>
          <p:cNvPr id="76" name="Row2_MLOpsText"/>
          <p:cNvSpPr/>
          <p:nvPr/>
        </p:nvSpPr>
        <p:spPr>
          <a:xfrm>
            <a:off x="914400" y="3310128"/>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Validation gates (server-side)</a:t>
            </a:r>
          </a:p>
        </p:txBody>
      </p:sp>
      <p:sp>
        <p:nvSpPr>
          <p:cNvPr id="77" name="Row2_CovenantText"/>
          <p:cNvSpPr/>
          <p:nvPr/>
        </p:nvSpPr>
        <p:spPr>
          <a:xfrm>
            <a:off x="4572000" y="3310128"/>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Admission, at the API</a:t>
            </a:r>
          </a:p>
        </p:txBody>
      </p:sp>
      <p:sp>
        <p:nvSpPr>
          <p:cNvPr id="78" name="Row2_Pill"/>
          <p:cNvSpPr/>
          <p:nvPr/>
        </p:nvSpPr>
        <p:spPr>
          <a:xfrm>
            <a:off x="7772400" y="3401568"/>
            <a:ext cx="3505200" cy="36576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79" name="Row2_PillText"/>
          <p:cNvSpPr/>
          <p:nvPr/>
        </p:nvSpPr>
        <p:spPr>
          <a:xfrm>
            <a:off x="7772400" y="3401568"/>
            <a:ext cx="3505200" cy="365760"/>
          </a:xfrm>
          <a:prstGeom prst="rect">
            <a:avLst/>
          </a:prstGeom>
          <a:noFill/>
        </p:spPr>
        <p:txBody>
          <a:bodyPr wrap="square" lIns="0" tIns="0" rIns="0" bIns="0" anchor="ctr"/>
          <a:lstStyle/>
          <a:p>
            <a:pPr algn="ctr" indent="0" marL="0">
              <a:buNone/>
            </a:pPr>
            <a:r>
              <a:rPr lang="en-US" sz="1300" b="1" dirty="0">
                <a:solidFill>
                  <a:srgbClr val="FFFFFF"/>
                </a:solidFill>
                <a:latin typeface="Trebuchet MS" pitchFamily="34" charset="0"/>
              </a:rPr>
              <a:t>Demo 3  ·  K8s ValidatingAdmissionPolicy</a:t>
            </a:r>
          </a:p>
        </p:txBody>
      </p:sp>
      <p:sp>
        <p:nvSpPr>
          <p:cNvPr id="80" name="Row3_C1"/>
          <p:cNvSpPr/>
          <p:nvPr/>
        </p:nvSpPr>
        <p:spPr>
          <a:xfrm>
            <a:off x="731520" y="3895344"/>
            <a:ext cx="36576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81" name="Row3_C2"/>
          <p:cNvSpPr/>
          <p:nvPr/>
        </p:nvSpPr>
        <p:spPr>
          <a:xfrm>
            <a:off x="4389120" y="3895344"/>
            <a:ext cx="32004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82" name="Row3_C3"/>
          <p:cNvSpPr/>
          <p:nvPr/>
        </p:nvSpPr>
        <p:spPr>
          <a:xfrm>
            <a:off x="7589520" y="3895344"/>
            <a:ext cx="3870960" cy="548640"/>
          </a:xfrm>
          <a:prstGeom prst="rect">
            <a:avLst/>
          </a:prstGeom>
          <a:solidFill>
            <a:srgbClr val="FFFFFF"/>
          </a:solidFill>
          <a:ln>
            <a:noFill/>
          </a:ln>
        </p:spPr>
        <p:txBody>
          <a:bodyPr wrap="square" lIns="0" tIns="0" rIns="0" bIns="0" anchor="ctr"/>
          <a:lstStyle/>
          <a:p>
            <a:pPr indent="0" marL="0">
              <a:buNone/>
            </a:pPr>
            <a:endParaRPr lang="en-US"/>
          </a:p>
        </p:txBody>
      </p:sp>
      <p:sp>
        <p:nvSpPr>
          <p:cNvPr id="83" name="Row3_MLOpsText"/>
          <p:cNvSpPr/>
          <p:nvPr/>
        </p:nvSpPr>
        <p:spPr>
          <a:xfrm>
            <a:off x="914400" y="3895344"/>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Drift detection / behavioral</a:t>
            </a:r>
          </a:p>
        </p:txBody>
      </p:sp>
      <p:sp>
        <p:nvSpPr>
          <p:cNvPr id="84" name="Row3_CovenantText"/>
          <p:cNvSpPr/>
          <p:nvPr/>
        </p:nvSpPr>
        <p:spPr>
          <a:xfrm>
            <a:off x="4572000" y="3895344"/>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Runtime behavior</a:t>
            </a:r>
          </a:p>
        </p:txBody>
      </p:sp>
      <p:sp>
        <p:nvSpPr>
          <p:cNvPr id="85" name="Row3_Pill"/>
          <p:cNvSpPr/>
          <p:nvPr/>
        </p:nvSpPr>
        <p:spPr>
          <a:xfrm>
            <a:off x="7772400" y="3986784"/>
            <a:ext cx="3505200" cy="36576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86" name="Row3_PillText"/>
          <p:cNvSpPr/>
          <p:nvPr/>
        </p:nvSpPr>
        <p:spPr>
          <a:xfrm>
            <a:off x="7772400" y="3986784"/>
            <a:ext cx="3505200" cy="365760"/>
          </a:xfrm>
          <a:prstGeom prst="rect">
            <a:avLst/>
          </a:prstGeom>
          <a:noFill/>
        </p:spPr>
        <p:txBody>
          <a:bodyPr wrap="square" lIns="0" tIns="0" rIns="0" bIns="0" anchor="ctr"/>
          <a:lstStyle/>
          <a:p>
            <a:pPr algn="ctr" indent="0" marL="0">
              <a:buNone/>
            </a:pPr>
            <a:r>
              <a:rPr lang="en-US" sz="1300" b="1" dirty="0">
                <a:solidFill>
                  <a:srgbClr val="FFFFFF"/>
                </a:solidFill>
                <a:latin typeface="Trebuchet MS" pitchFamily="34" charset="0"/>
              </a:rPr>
              <a:t>Demo 4  ·  Falco + Talon</a:t>
            </a:r>
          </a:p>
        </p:txBody>
      </p:sp>
      <p:sp>
        <p:nvSpPr>
          <p:cNvPr id="87" name="Row4_C1"/>
          <p:cNvSpPr/>
          <p:nvPr/>
        </p:nvSpPr>
        <p:spPr>
          <a:xfrm>
            <a:off x="731520" y="4480560"/>
            <a:ext cx="36576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88" name="Row4_C2"/>
          <p:cNvSpPr/>
          <p:nvPr/>
        </p:nvSpPr>
        <p:spPr>
          <a:xfrm>
            <a:off x="4389120" y="4480560"/>
            <a:ext cx="3200400" cy="548640"/>
          </a:xfrm>
          <a:prstGeom prst="rect">
            <a:avLst/>
          </a:prstGeom>
          <a:solidFill>
            <a:srgbClr val="F1F5F9"/>
          </a:solidFill>
          <a:ln>
            <a:noFill/>
          </a:ln>
        </p:spPr>
        <p:txBody>
          <a:bodyPr wrap="square" lIns="0" tIns="0" rIns="0" bIns="0" anchor="ctr"/>
          <a:lstStyle/>
          <a:p>
            <a:pPr indent="0" marL="0">
              <a:buNone/>
            </a:pPr>
            <a:endParaRPr lang="en-US"/>
          </a:p>
        </p:txBody>
      </p:sp>
      <p:sp>
        <p:nvSpPr>
          <p:cNvPr id="89" name="Row4_C3"/>
          <p:cNvSpPr/>
          <p:nvPr/>
        </p:nvSpPr>
        <p:spPr>
          <a:xfrm>
            <a:off x="7589520" y="4480560"/>
            <a:ext cx="3870960" cy="548640"/>
          </a:xfrm>
          <a:prstGeom prst="rect">
            <a:avLst/>
          </a:prstGeom>
          <a:solidFill>
            <a:srgbClr val="F1F5F9"/>
          </a:solidFill>
          <a:ln>
            <a:noFill/>
          </a:ln>
        </p:spPr>
        <p:txBody>
          <a:bodyPr wrap="square" lIns="0" tIns="0" rIns="0" bIns="0" anchor="ctr"/>
          <a:lstStyle/>
          <a:p>
            <a:pPr indent="0" marL="0">
              <a:buNone/>
            </a:pPr>
            <a:endParaRPr lang="en-US"/>
          </a:p>
        </p:txBody>
      </p:sp>
      <p:sp>
        <p:nvSpPr>
          <p:cNvPr id="90" name="Row4_MLOpsText"/>
          <p:cNvSpPr/>
          <p:nvPr/>
        </p:nvSpPr>
        <p:spPr>
          <a:xfrm>
            <a:off x="914400" y="4480560"/>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Feature store / data lineage</a:t>
            </a:r>
          </a:p>
        </p:txBody>
      </p:sp>
      <p:sp>
        <p:nvSpPr>
          <p:cNvPr id="91" name="Row4_CovenantText"/>
          <p:cNvSpPr/>
          <p:nvPr/>
        </p:nvSpPr>
        <p:spPr>
          <a:xfrm>
            <a:off x="4572000" y="4480560"/>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Data-path scope</a:t>
            </a:r>
          </a:p>
        </p:txBody>
      </p:sp>
      <p:sp>
        <p:nvSpPr>
          <p:cNvPr id="92" name="Row4_Pill"/>
          <p:cNvSpPr/>
          <p:nvPr/>
        </p:nvSpPr>
        <p:spPr>
          <a:xfrm>
            <a:off x="7772400" y="4572000"/>
            <a:ext cx="3505200" cy="36576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93" name="Row4_PillText"/>
          <p:cNvSpPr/>
          <p:nvPr/>
        </p:nvSpPr>
        <p:spPr>
          <a:xfrm>
            <a:off x="7772400" y="4572000"/>
            <a:ext cx="3505200" cy="365760"/>
          </a:xfrm>
          <a:prstGeom prst="rect">
            <a:avLst/>
          </a:prstGeom>
          <a:noFill/>
        </p:spPr>
        <p:txBody>
          <a:bodyPr wrap="square" lIns="0" tIns="0" rIns="0" bIns="0" anchor="ctr"/>
          <a:lstStyle/>
          <a:p>
            <a:pPr algn="ctr" indent="0" marL="0">
              <a:buNone/>
            </a:pPr>
            <a:r>
              <a:rPr lang="en-US" sz="1300" b="1" dirty="0">
                <a:solidFill>
                  <a:srgbClr val="FFFFFF"/>
                </a:solidFill>
                <a:latin typeface="Trebuchet MS" pitchFamily="34" charset="0"/>
              </a:rPr>
              <a:t>Demo 5  ·  NetworkPolicy</a:t>
            </a:r>
          </a:p>
        </p:txBody>
      </p:sp>
      <p:sp>
        <p:nvSpPr>
          <p:cNvPr id="94" name="Row5_C1"/>
          <p:cNvSpPr/>
          <p:nvPr/>
        </p:nvSpPr>
        <p:spPr>
          <a:xfrm>
            <a:off x="731520" y="5065776"/>
            <a:ext cx="36576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95" name="Row5_C2"/>
          <p:cNvSpPr/>
          <p:nvPr/>
        </p:nvSpPr>
        <p:spPr>
          <a:xfrm>
            <a:off x="4389120" y="5065776"/>
            <a:ext cx="3200400" cy="548640"/>
          </a:xfrm>
          <a:prstGeom prst="rect">
            <a:avLst/>
          </a:prstGeom>
          <a:solidFill>
            <a:srgbClr val="FFFFFF"/>
          </a:solidFill>
          <a:ln>
            <a:noFill/>
          </a:ln>
        </p:spPr>
        <p:txBody>
          <a:bodyPr wrap="square" lIns="0" tIns="0" rIns="0" bIns="0" anchor="ctr"/>
          <a:lstStyle/>
          <a:p>
            <a:pPr indent="0" marL="0">
              <a:buNone/>
            </a:pPr>
            <a:endParaRPr lang="en-US"/>
          </a:p>
        </p:txBody>
      </p:sp>
      <p:sp>
        <p:nvSpPr>
          <p:cNvPr id="96" name="Row5_C3"/>
          <p:cNvSpPr/>
          <p:nvPr/>
        </p:nvSpPr>
        <p:spPr>
          <a:xfrm>
            <a:off x="7589520" y="5065776"/>
            <a:ext cx="3870960" cy="548640"/>
          </a:xfrm>
          <a:prstGeom prst="rect">
            <a:avLst/>
          </a:prstGeom>
          <a:solidFill>
            <a:srgbClr val="FFFFFF"/>
          </a:solidFill>
          <a:ln>
            <a:noFill/>
          </a:ln>
        </p:spPr>
        <p:txBody>
          <a:bodyPr wrap="square" lIns="0" tIns="0" rIns="0" bIns="0" anchor="ctr"/>
          <a:lstStyle/>
          <a:p>
            <a:pPr indent="0" marL="0">
              <a:buNone/>
            </a:pPr>
            <a:endParaRPr lang="en-US"/>
          </a:p>
        </p:txBody>
      </p:sp>
      <p:sp>
        <p:nvSpPr>
          <p:cNvPr id="97" name="Row5_MLOpsText"/>
          <p:cNvSpPr/>
          <p:nvPr/>
        </p:nvSpPr>
        <p:spPr>
          <a:xfrm>
            <a:off x="914400" y="5065776"/>
            <a:ext cx="3383280" cy="548640"/>
          </a:xfrm>
          <a:prstGeom prst="rect">
            <a:avLst/>
          </a:prstGeom>
          <a:noFill/>
        </p:spPr>
        <p:txBody>
          <a:bodyPr wrap="square" lIns="0" tIns="0" rIns="0" bIns="0" anchor="ctr"/>
          <a:lstStyle/>
          <a:p>
            <a:pPr algn="l" indent="0" marL="0">
              <a:buNone/>
            </a:pPr>
            <a:r>
              <a:rPr lang="en-US" sz="1400" b="1" dirty="0">
                <a:solidFill>
                  <a:srgbClr val="0F172A"/>
                </a:solidFill>
                <a:latin typeface="Trebuchet MS" pitchFamily="34" charset="0"/>
              </a:rPr>
              <a:t>Output validation / content safety</a:t>
            </a:r>
          </a:p>
        </p:txBody>
      </p:sp>
      <p:sp>
        <p:nvSpPr>
          <p:cNvPr id="98" name="Row5_CovenantText"/>
          <p:cNvSpPr/>
          <p:nvPr/>
        </p:nvSpPr>
        <p:spPr>
          <a:xfrm>
            <a:off x="4572000" y="5065776"/>
            <a:ext cx="2926080" cy="548640"/>
          </a:xfrm>
          <a:prstGeom prst="rect">
            <a:avLst/>
          </a:prstGeom>
          <a:noFill/>
        </p:spPr>
        <p:txBody>
          <a:bodyPr wrap="square" lIns="0" tIns="0" rIns="0" bIns="0" anchor="ctr"/>
          <a:lstStyle/>
          <a:p>
            <a:pPr algn="l" indent="0" marL="0">
              <a:buNone/>
            </a:pPr>
            <a:r>
              <a:rPr lang="en-US" sz="1300" dirty="0">
                <a:solidFill>
                  <a:srgbClr val="475569"/>
                </a:solidFill>
                <a:latin typeface="Calibri" pitchFamily="34" charset="0"/>
              </a:rPr>
              <a:t>Content gate</a:t>
            </a:r>
          </a:p>
        </p:txBody>
      </p:sp>
      <p:sp>
        <p:nvSpPr>
          <p:cNvPr id="99" name="Row5_Pill"/>
          <p:cNvSpPr/>
          <p:nvPr/>
        </p:nvSpPr>
        <p:spPr>
          <a:xfrm>
            <a:off x="7772400" y="5157216"/>
            <a:ext cx="3505200" cy="365760"/>
          </a:xfrm>
          <a:prstGeom prst="roundRect">
            <a:avLst>
              <a:gd name="adj" fmla="val 8000"/>
            </a:avLst>
          </a:prstGeom>
          <a:solidFill>
            <a:srgbClr val="FFFFFF"/>
          </a:solidFill>
          <a:ln w="19050">
            <a:solidFill>
              <a:srgbClr val="94A3B8"/>
            </a:solidFill>
          </a:ln>
        </p:spPr>
        <p:txBody>
          <a:bodyPr wrap="square" lIns="0" tIns="0" rIns="0" bIns="0" anchor="ctr"/>
          <a:lstStyle/>
          <a:p>
            <a:pPr indent="0" marL="0">
              <a:buNone/>
            </a:pPr>
            <a:endParaRPr lang="en-US"/>
          </a:p>
        </p:txBody>
      </p:sp>
      <p:sp>
        <p:nvSpPr>
          <p:cNvPr id="100" name="Row5_PillText"/>
          <p:cNvSpPr/>
          <p:nvPr/>
        </p:nvSpPr>
        <p:spPr>
          <a:xfrm>
            <a:off x="7772400" y="5157216"/>
            <a:ext cx="3505200" cy="365760"/>
          </a:xfrm>
          <a:prstGeom prst="rect">
            <a:avLst/>
          </a:prstGeom>
          <a:noFill/>
        </p:spPr>
        <p:txBody>
          <a:bodyPr wrap="square" lIns="0" tIns="0" rIns="0" bIns="0" anchor="ctr"/>
          <a:lstStyle/>
          <a:p>
            <a:pPr algn="ctr" indent="0" marL="0">
              <a:buNone/>
            </a:pPr>
            <a:r>
              <a:rPr lang="en-US" sz="1200" b="1" dirty="0">
                <a:solidFill>
                  <a:srgbClr val="64748B"/>
                </a:solidFill>
                <a:latin typeface="Trebuchet MS" pitchFamily="34" charset="0"/>
              </a:rPr>
              <a:t>Demo 6  ·  LLM Guard</a:t>
            </a:r>
          </a:p>
        </p:txBody>
      </p:sp>
      <p:sp>
        <p:nvSpPr>
          <p:cNvPr id="101" name="Tagline"/>
          <p:cNvSpPr/>
          <p:nvPr/>
        </p:nvSpPr>
        <p:spPr>
          <a:xfrm>
            <a:off x="731520" y="5833872"/>
            <a:ext cx="10728960" cy="365760"/>
          </a:xfrm>
          <a:prstGeom prst="rect">
            <a:avLst/>
          </a:prstGeom>
          <a:noFill/>
        </p:spPr>
        <p:txBody>
          <a:bodyPr wrap="square" lIns="0" tIns="0" rIns="0" bIns="0" anchor="ctr"/>
          <a:lstStyle/>
          <a:p>
            <a:pPr algn="ctr" indent="0" marL="0">
              <a:buNone/>
            </a:pPr>
            <a:r>
              <a:rPr lang="en-US" sz="2000" b="1" dirty="0">
                <a:solidFill>
                  <a:srgbClr val="0F172A"/>
                </a:solidFill>
                <a:latin typeface="Trebuchet MS" pitchFamily="34" charset="0"/>
              </a:rPr>
              <a:t xml:space="preserve">You don't need a new pipeline for agents. </a:t>
            </a:r>
            <a:r>
              <a:rPr lang="en-US" sz="2000" b="1" i="1" dirty="0">
                <a:solidFill>
                  <a:srgbClr val="A100FF"/>
                </a:solidFill>
                <a:latin typeface="Trebuchet MS" pitchFamily="34" charset="0"/>
              </a:rPr>
              <a:t>You need to recognize the one you already run.</a:t>
            </a:r>
          </a:p>
        </p:txBody>
      </p:sp>
      <p:sp>
        <p:nvSpPr>
          <p:cNvPr id="102" name="PageNum"/>
          <p:cNvSpPr/>
          <p:nvPr/>
        </p:nvSpPr>
        <p:spPr>
          <a:xfrm>
            <a:off x="11430000" y="6583680"/>
            <a:ext cx="640080" cy="182880"/>
          </a:xfrm>
          <a:prstGeom prst="rect">
            <a:avLst/>
          </a:prstGeom>
          <a:noFill/>
        </p:spPr>
        <p:txBody>
          <a:bodyPr wrap="square" lIns="0" tIns="0" rIns="0" bIns="0" anchor="ctr"/>
          <a:lstStyle/>
          <a:p>
            <a:pPr algn="r" indent="0" marL="0">
              <a:buNone/>
            </a:pPr>
            <a:r>
              <a:rPr lang="en-US" sz="900" dirty="0">
                <a:solidFill>
                  <a:srgbClr val="64748B"/>
                </a:solidFill>
                <a:latin typeface="Calibri" pitchFamily="34" charset="0"/>
              </a:rPr>
              <a:t>5 / 16</a:t>
            </a:r>
          </a:p>
        </p:txBody>
      </p:sp>
      <p:sp>
        <p:nvSpPr>
          <p:cNvPr id="103" name="Footer"/>
          <p:cNvSpPr/>
          <p:nvPr/>
        </p:nvSpPr>
        <p:spPr>
          <a:xfrm>
            <a:off x="228600" y="6583680"/>
            <a:ext cx="3200400" cy="182880"/>
          </a:xfrm>
          <a:prstGeom prst="rect">
            <a:avLst/>
          </a:prstGeom>
          <a:noFill/>
        </p:spPr>
        <p:txBody>
          <a:bodyPr wrap="square" lIns="0" tIns="0" rIns="0" bIns="0" anchor="ctr"/>
          <a:lstStyle/>
          <a:p>
            <a:pPr algn="l" indent="0" marL="0">
              <a:buNone/>
            </a:pPr>
            <a:r>
              <a:rPr lang="en-US" sz="900" dirty="0">
                <a:solidFill>
                  <a:srgbClr val="64748B"/>
                </a:solidFill>
                <a:latin typeface="Calibri" pitchFamily="34" charset="0"/>
              </a:rPr>
              <a:t>LLMday Austin · May 12, 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A100FF"/>
                </a:solidFill>
                <a:latin typeface="Trebuchet MS" pitchFamily="34" charset="0"/>
                <a:ea typeface="Trebuchet MS" pitchFamily="34" charset="-122"/>
                <a:cs typeface="Trebuchet MS" pitchFamily="34" charset="-120"/>
              </a:rPr>
              <a:t>DEMO 1 OF 6  ·  LIVE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800" b="1" dirty="0">
                <a:solidFill>
                  <a:srgbClr val="F8FAFC"/>
                </a:solidFill>
                <a:latin typeface="Trebuchet MS" pitchFamily="34" charset="0"/>
                <a:ea typeface="Trebuchet MS" pitchFamily="34" charset="-122"/>
                <a:cs typeface="Trebuchet MS" pitchFamily="34" charset="-120"/>
              </a:rPr>
              <a:t>PreToolUse hook</a:t>
            </a:r>
            <a:endParaRPr lang="en-US" sz="48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Validation gate. Applied before the agent acts.</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C28A52"/>
                </a:solidFill>
                <a:latin typeface="Trebuchet MS" pitchFamily="34" charset="0"/>
                <a:ea typeface="Trebuchet MS" pitchFamily="34" charset="-122"/>
                <a:cs typeface="Trebuchet MS" pitchFamily="34" charset="-120"/>
              </a:rPr>
              <a:t>IN-AGENT PROCESS</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Agent tries to set image directly against the production namespace.</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DC2626"/>
                </a:solidFill>
                <a:latin typeface="Calibri" pitchFamily="34" charset="0"/>
                <a:ea typeface="Calibri" pitchFamily="34" charset="-122"/>
                <a:cs typeface="Calibri" pitchFamily="34" charset="-120"/>
              </a:rPr>
              <a:t>Hook intercepts. Agent reads the deny. Agent adapts.</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  START DEMO  ◀</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16</a:t>
            </a:r>
            <a:endParaRPr lang="en-US" sz="900" dirty="0"/>
          </a:p>
        </p:txBody>
      </p:sp>
      <p:pic>
        <p:nvPicPr>
          <p:cNvPr id="12" name="Minimap"/>
          <p:cNvPicPr>
            <a:picLocks noChangeAspect="1"/>
          </p:cNvPicPr>
          <p:nvPr/>
        </p:nvPicPr>
        <p:blipFill>
          <a:blip r:embed="rId4"/>
          <a:stretch>
            <a:fillRect/>
          </a:stretch>
        </p:blipFill>
        <p:spPr>
          <a:xfrm>
            <a:off x="9500000" y="200000"/>
            <a:ext cx="2400000" cy="105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EAB308"/>
                </a:solidFill>
                <a:latin typeface="Trebuchet MS" pitchFamily="34" charset="0"/>
                <a:ea typeface="Trebuchet MS" pitchFamily="34" charset="-122"/>
                <a:cs typeface="Trebuchet MS" pitchFamily="34" charset="-120"/>
              </a:rPr>
              <a:t>DEMO 2 OF 6  ·  LIVE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800" b="1" dirty="0">
                <a:solidFill>
                  <a:srgbClr val="F8FAFC"/>
                </a:solidFill>
                <a:latin typeface="Trebuchet MS" pitchFamily="34" charset="0"/>
                <a:ea typeface="Trebuchet MS" pitchFamily="34" charset="-122"/>
                <a:cs typeface="Trebuchet MS" pitchFamily="34" charset="-120"/>
              </a:rPr>
              <a:t>Git pre-commit hook</a:t>
            </a:r>
            <a:endParaRPr lang="en-US" sz="48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Model registry stage transition. Protected paths. Signed committers.</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EAB308"/>
                </a:solidFill>
                <a:latin typeface="Trebuchet MS" pitchFamily="34" charset="0"/>
                <a:ea typeface="Trebuchet MS" pitchFamily="34" charset="-122"/>
                <a:cs typeface="Trebuchet MS" pitchFamily="34" charset="-120"/>
              </a:rPr>
              <a:t>CLIENT-SIDE</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Agent's next attempt is the IaC path. Edit the production manifest. Commit.</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EAB308"/>
                </a:solidFill>
                <a:latin typeface="Calibri" pitchFamily="34" charset="0"/>
                <a:ea typeface="Calibri" pitchFamily="34" charset="-122"/>
                <a:cs typeface="Calibri" pitchFamily="34" charset="-120"/>
              </a:rPr>
              <a:t>Pre-commit hook denies. Protected path. Non-human committer. Both fire.</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  START DEMO  ◀</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16</a:t>
            </a:r>
            <a:endParaRPr lang="en-US" sz="900" dirty="0"/>
          </a:p>
        </p:txBody>
      </p:sp>
      <p:pic>
        <p:nvPicPr>
          <p:cNvPr id="12" name="Minimap"/>
          <p:cNvPicPr>
            <a:picLocks noChangeAspect="1"/>
          </p:cNvPicPr>
          <p:nvPr/>
        </p:nvPicPr>
        <p:blipFill>
          <a:blip r:embed="rId4"/>
          <a:stretch>
            <a:fillRect/>
          </a:stretch>
        </p:blipFill>
        <p:spPr>
          <a:xfrm>
            <a:off x="9500000" y="200000"/>
            <a:ext cx="2400000" cy="105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0EA5E9"/>
                </a:solidFill>
                <a:latin typeface="Trebuchet MS" pitchFamily="34" charset="0"/>
                <a:ea typeface="Trebuchet MS" pitchFamily="34" charset="-122"/>
                <a:cs typeface="Trebuchet MS" pitchFamily="34" charset="-120"/>
              </a:rPr>
              <a:t>DEMO 3 OF 6  ·  LIVE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200" b="1" dirty="0">
                <a:solidFill>
                  <a:srgbClr val="F8FAFC"/>
                </a:solidFill>
                <a:latin typeface="Trebuchet MS" pitchFamily="34" charset="0"/>
                <a:ea typeface="Trebuchet MS" pitchFamily="34" charset="-122"/>
                <a:cs typeface="Trebuchet MS" pitchFamily="34" charset="-120"/>
              </a:rPr>
              <a:t>K8s ValidatingAdmissionPolicy</a:t>
            </a:r>
            <a:endParaRPr lang="en-US" sz="42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Admission control, where it always lived. The API server says no.</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0EA5E9"/>
                </a:solidFill>
                <a:latin typeface="Trebuchet MS" pitchFamily="34" charset="0"/>
                <a:ea typeface="Trebuchet MS" pitchFamily="34" charset="-122"/>
                <a:cs typeface="Trebuchet MS" pitchFamily="34" charset="-120"/>
              </a:rPr>
              <a:t>SERVER-SIDE</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Agent gives up on local paths. Applies directly to the API.</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ValidatingAdmissionPolicy denies. The cluster itself said no.</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  START DEMO  ◀</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 / 16</a:t>
            </a:r>
            <a:endParaRPr lang="en-US" sz="900" dirty="0"/>
          </a:p>
        </p:txBody>
      </p:sp>
      <p:pic>
        <p:nvPicPr>
          <p:cNvPr id="12" name="Minimap"/>
          <p:cNvPicPr>
            <a:picLocks noChangeAspect="1"/>
          </p:cNvPicPr>
          <p:nvPr/>
        </p:nvPicPr>
        <p:blipFill>
          <a:blip r:embed="rId4"/>
          <a:stretch>
            <a:fillRect/>
          </a:stretch>
        </p:blipFill>
        <p:spPr>
          <a:xfrm>
            <a:off x="9500000" y="200000"/>
            <a:ext cx="2400000" cy="105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Marker"/>
          <p:cNvSpPr/>
          <p:nvPr/>
        </p:nvSpPr>
        <p:spPr>
          <a:xfrm>
            <a:off x="548640" y="1005840"/>
            <a:ext cx="11064240" cy="365760"/>
          </a:xfrm>
          <a:prstGeom prst="rect">
            <a:avLst/>
          </a:prstGeom>
          <a:noFill/>
          <a:ln/>
        </p:spPr>
        <p:txBody>
          <a:bodyPr wrap="square" lIns="0" tIns="0" rIns="0" bIns="0" rtlCol="0" anchor="ctr"/>
          <a:lstStyle/>
          <a:p>
            <a:pPr algn="ctr" indent="0" marL="0">
              <a:buNone/>
            </a:pPr>
            <a:r>
              <a:rPr lang="en-US" sz="1400" b="1" spc="600" kern="0" dirty="0">
                <a:solidFill>
                  <a:srgbClr val="A100FF"/>
                </a:solidFill>
                <a:latin typeface="Trebuchet MS" pitchFamily="34" charset="0"/>
                <a:ea typeface="Trebuchet MS" pitchFamily="34" charset="-122"/>
                <a:cs typeface="Trebuchet MS" pitchFamily="34" charset="-120"/>
              </a:rPr>
              <a:t>BRIDGE  ·  INFRASTRUCTURE TO CONTENT</a:t>
            </a:r>
            <a:endParaRPr lang="en-US" sz="1400" dirty="0"/>
          </a:p>
        </p:txBody>
      </p:sp>
      <p:sp>
        <p:nvSpPr>
          <p:cNvPr id="3" name="Quote1"/>
          <p:cNvSpPr/>
          <p:nvPr/>
        </p:nvSpPr>
        <p:spPr>
          <a:xfrm>
            <a:off x="914400" y="2286000"/>
            <a:ext cx="10332720" cy="1097280"/>
          </a:xfrm>
          <a:prstGeom prst="rect">
            <a:avLst/>
          </a:prstGeom>
          <a:noFill/>
          <a:ln/>
        </p:spPr>
        <p:txBody>
          <a:bodyPr wrap="square" lIns="0" tIns="0" rIns="0" bIns="0"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Demos 1 through 5: infrastructure controlled.</a:t>
            </a:r>
            <a:endParaRPr lang="en-US" sz="3600" dirty="0"/>
          </a:p>
        </p:txBody>
      </p:sp>
      <p:sp>
        <p:nvSpPr>
          <p:cNvPr id="4" name="Quote2"/>
          <p:cNvSpPr/>
          <p:nvPr/>
        </p:nvSpPr>
        <p:spPr>
          <a:xfrm>
            <a:off x="914400" y="3566160"/>
            <a:ext cx="10332720" cy="822960"/>
          </a:xfrm>
          <a:prstGeom prst="rect">
            <a:avLst/>
          </a:prstGeom>
          <a:noFill/>
          <a:ln/>
        </p:spPr>
        <p:txBody>
          <a:bodyPr wrap="square" lIns="0" tIns="0" rIns="0" bIns="0" rtlCol="0" anchor="ctr"/>
          <a:lstStyle/>
          <a:p>
            <a:pPr algn="ctr" indent="0" marL="0">
              <a:buNone/>
            </a:pPr>
            <a:r>
              <a:rPr lang="en-US" sz="2400" dirty="0">
                <a:solidFill>
                  <a:srgbClr val="CBD5E1"/>
                </a:solidFill>
                <a:latin typeface="Trebuchet MS" pitchFamily="34" charset="0"/>
                <a:ea typeface="Trebuchet MS" pitchFamily="34" charset="-122"/>
                <a:cs typeface="Trebuchet MS" pitchFamily="34" charset="-120"/>
              </a:rPr>
              <a:t>But the agent doesn’t just act. It also talks.</a:t>
            </a:r>
            <a:endParaRPr lang="en-US" sz="2400" dirty="0"/>
          </a:p>
        </p:txBody>
      </p:sp>
      <p:sp>
        <p:nvSpPr>
          <p:cNvPr id="5" name="Quote3"/>
          <p:cNvSpPr/>
          <p:nvPr/>
        </p:nvSpPr>
        <p:spPr>
          <a:xfrm>
            <a:off x="914400" y="4663440"/>
            <a:ext cx="10332720" cy="914400"/>
          </a:xfrm>
          <a:prstGeom prst="rect">
            <a:avLst/>
          </a:prstGeom>
          <a:noFill/>
          <a:ln/>
        </p:spPr>
        <p:txBody>
          <a:bodyPr wrap="square" lIns="0" tIns="0" rIns="0" bIns="0" rtlCol="0" anchor="ctr"/>
          <a:lstStyle/>
          <a:p>
            <a:pPr algn="ctr" indent="0" marL="0">
              <a:buNone/>
            </a:pPr>
            <a:r>
              <a:rPr lang="en-US" sz="2400" i="1" dirty="0">
                <a:solidFill>
                  <a:srgbClr val="A100FF"/>
                </a:solidFill>
                <a:latin typeface="Trebuchet MS" pitchFamily="34" charset="0"/>
                <a:ea typeface="Trebuchet MS" pitchFamily="34" charset="-122"/>
                <a:cs typeface="Trebuchet MS" pitchFamily="34" charset="-120"/>
              </a:rPr>
              <a:t>What happens when the words coming out are the unsafe part?</a:t>
            </a:r>
            <a:endParaRPr lang="en-US" sz="2400" dirty="0"/>
          </a:p>
        </p:txBody>
      </p:sp>
      <p:sp>
        <p:nvSpPr>
          <p:cNvPr id="6" name="Footer Event"/>
          <p:cNvSpPr/>
          <p:nvPr/>
        </p:nvSpPr>
        <p:spPr>
          <a:xfrm>
            <a:off x="457200" y="6693408"/>
            <a:ext cx="5486400" cy="164592"/>
          </a:xfrm>
          <a:prstGeom prst="rect">
            <a:avLst/>
          </a:prstGeom>
          <a:noFill/>
          <a:ln/>
        </p:spPr>
        <p:txBody>
          <a:bodyPr wrap="square" lIns="0" tIns="0" rIns="0" bIns="0" rtlCol="0" anchor="ctr"/>
          <a:lstStyle/>
          <a:p>
            <a:pPr algn="l" indent="0" marL="0">
              <a:buNone/>
            </a:pPr>
            <a:r>
              <a:rPr lang="en-US" sz="900" b="1" dirty="0">
                <a:solidFill>
                  <a:srgbClr val="64748B"/>
                </a:solidFill>
                <a:latin typeface="Calibri" pitchFamily="34" charset="0"/>
                <a:ea typeface="Calibri" pitchFamily="34" charset="-122"/>
                <a:cs typeface="Calibri" pitchFamily="34" charset="-120"/>
              </a:rPr>
              <a:t>LLMday Austin · May 12, 2026</a:t>
            </a:r>
            <a:endParaRPr lang="en-US" sz="900" dirty="0"/>
          </a:p>
        </p:txBody>
      </p:sp>
      <p:sp>
        <p:nvSpPr>
          <p:cNvPr id="7" name="Footer Page"/>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indent="0" marL="0">
              <a:buNone/>
            </a:pPr>
            <a:r>
              <a:rPr lang="en-US" sz="3200" b="1" dirty="0">
                <a:solidFill>
                  <a:srgbClr val="F8FAFC"/>
                </a:solidFill>
                <a:latin typeface="Trebuchet MS" pitchFamily="34" charset="0"/>
                <a:ea typeface="Trebuchet MS" pitchFamily="34" charset="-122"/>
                <a:cs typeface="Trebuchet MS" pitchFamily="34" charset="-120"/>
              </a:rPr>
              <a:t>Monday morning. Three ways in.</a:t>
            </a:r>
            <a:endParaRPr lang="en-US" sz="32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Pick the path that matches where you are.</a:t>
            </a:r>
            <a:endParaRPr lang="en-US" sz="1400" dirty="0"/>
          </a:p>
        </p:txBody>
      </p:sp>
      <p:sp>
        <p:nvSpPr>
          <p:cNvPr id="4" name="Shape 2"/>
          <p:cNvSpPr/>
          <p:nvPr/>
        </p:nvSpPr>
        <p:spPr>
          <a:xfrm>
            <a:off x="548640" y="1554480"/>
            <a:ext cx="7772400" cy="868680"/>
          </a:xfrm>
          <a:prstGeom prst="rect">
            <a:avLst/>
          </a:prstGeom>
          <a:solidFill>
            <a:srgbClr val="1E293B"/>
          </a:solidFill>
          <a:ln w="25400">
            <a:solidFill>
              <a:srgbClr val="A100FF"/>
            </a:solidFill>
            <a:prstDash val="solid"/>
          </a:ln>
        </p:spPr>
      </p:sp>
      <p:sp>
        <p:nvSpPr>
          <p:cNvPr id="5" name="Shape 3"/>
          <p:cNvSpPr/>
          <p:nvPr/>
        </p:nvSpPr>
        <p:spPr>
          <a:xfrm>
            <a:off x="548640" y="1554480"/>
            <a:ext cx="91440" cy="868680"/>
          </a:xfrm>
          <a:prstGeom prst="rect">
            <a:avLst/>
          </a:prstGeom>
          <a:solidFill>
            <a:srgbClr val="A100FF"/>
          </a:solidFill>
          <a:ln/>
        </p:spPr>
      </p:sp>
      <p:sp>
        <p:nvSpPr>
          <p:cNvPr id="6" name="Text 4"/>
          <p:cNvSpPr/>
          <p:nvPr/>
        </p:nvSpPr>
        <p:spPr>
          <a:xfrm>
            <a:off x="777240" y="1664208"/>
            <a:ext cx="731520" cy="640080"/>
          </a:xfrm>
          <a:prstGeom prst="rect">
            <a:avLst/>
          </a:prstGeom>
          <a:noFill/>
          <a:ln/>
        </p:spPr>
        <p:txBody>
          <a:bodyPr wrap="square" lIns="0" tIns="0" rIns="0" bIns="0" rtlCol="0" anchor="ctr"/>
          <a:lstStyle/>
          <a:p>
            <a:pPr indent="0" marL="0">
              <a:buNone/>
            </a:pPr>
            <a:r>
              <a:rPr lang="en-US" sz="2600" b="1" dirty="0">
                <a:solidFill>
                  <a:srgbClr val="A100FF"/>
                </a:solidFill>
                <a:latin typeface="Trebuchet MS" pitchFamily="34" charset="0"/>
                <a:ea typeface="Trebuchet MS" pitchFamily="34" charset="-122"/>
                <a:cs typeface="Trebuchet MS" pitchFamily="34" charset="-120"/>
              </a:rPr>
              <a:t>01</a:t>
            </a:r>
            <a:endParaRPr lang="en-US" sz="2600" dirty="0"/>
          </a:p>
        </p:txBody>
      </p:sp>
      <p:sp>
        <p:nvSpPr>
          <p:cNvPr id="7" name="Text 5"/>
          <p:cNvSpPr/>
          <p:nvPr/>
        </p:nvSpPr>
        <p:spPr>
          <a:xfrm>
            <a:off x="1691640" y="1627632"/>
            <a:ext cx="6400800" cy="274320"/>
          </a:xfrm>
          <a:prstGeom prst="rect">
            <a:avLst/>
          </a:prstGeom>
          <a:noFill/>
          <a:ln/>
        </p:spPr>
        <p:txBody>
          <a:bodyPr wrap="square" lIns="0" tIns="0" rIns="0" bIns="0" rtlCol="0" anchor="ctr"/>
          <a:lstStyle/>
          <a:p>
            <a:pPr indent="0" marL="0">
              <a:buNone/>
            </a:pPr>
            <a:r>
              <a:rPr lang="en-US" sz="1000" b="1" i="1" spc="200" kern="0" dirty="0">
                <a:solidFill>
                  <a:srgbClr val="94A3B8"/>
                </a:solidFill>
                <a:latin typeface="Trebuchet MS" pitchFamily="34" charset="0"/>
                <a:ea typeface="Trebuchet MS" pitchFamily="34" charset="-122"/>
                <a:cs typeface="Trebuchet MS" pitchFamily="34" charset="-120"/>
              </a:rPr>
              <a:t>If you have an MLOps pipeline</a:t>
            </a:r>
            <a:endParaRPr lang="en-US" sz="1000" dirty="0"/>
          </a:p>
        </p:txBody>
      </p:sp>
      <p:sp>
        <p:nvSpPr>
          <p:cNvPr id="8" name="Text 6"/>
          <p:cNvSpPr/>
          <p:nvPr/>
        </p:nvSpPr>
        <p:spPr>
          <a:xfrm>
            <a:off x="1691640" y="1847088"/>
            <a:ext cx="6400800" cy="274320"/>
          </a:xfrm>
          <a:prstGeom prst="rect">
            <a:avLst/>
          </a:prstGeom>
          <a:noFill/>
          <a:ln/>
        </p:spPr>
        <p:txBody>
          <a:bodyPr wrap="square" lIns="0" tIns="0" rIns="0" bIns="0" rtlCol="0" anchor="ctr"/>
          <a:lstStyle/>
          <a:p>
            <a:pPr indent="0" marL="0">
              <a:buNone/>
            </a:pPr>
            <a:r>
              <a:rPr lang="en-US" sz="1500" b="1" dirty="0">
                <a:solidFill>
                  <a:srgbClr val="F8FAFC"/>
                </a:solidFill>
                <a:latin typeface="Trebuchet MS" pitchFamily="34" charset="0"/>
                <a:ea typeface="Trebuchet MS" pitchFamily="34" charset="-122"/>
                <a:cs typeface="Trebuchet MS" pitchFamily="34" charset="-120"/>
              </a:rPr>
              <a:t>Walk the six on your most-embarrassing pipeline.</a:t>
            </a:r>
            <a:endParaRPr lang="en-US" sz="1500" dirty="0"/>
          </a:p>
        </p:txBody>
      </p:sp>
      <p:sp>
        <p:nvSpPr>
          <p:cNvPr id="9" name="Text 7"/>
          <p:cNvSpPr/>
          <p:nvPr/>
        </p:nvSpPr>
        <p:spPr>
          <a:xfrm>
            <a:off x="1691640" y="2103120"/>
            <a:ext cx="640080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30 minutes. Find which gates exist, which are missing, which are configured for humans only.</a:t>
            </a:r>
            <a:endParaRPr lang="en-US" sz="1100" dirty="0"/>
          </a:p>
        </p:txBody>
      </p:sp>
      <p:sp>
        <p:nvSpPr>
          <p:cNvPr id="10" name="Shape 8"/>
          <p:cNvSpPr/>
          <p:nvPr/>
        </p:nvSpPr>
        <p:spPr>
          <a:xfrm>
            <a:off x="548640" y="2514600"/>
            <a:ext cx="7772400" cy="868680"/>
          </a:xfrm>
          <a:prstGeom prst="rect">
            <a:avLst/>
          </a:prstGeom>
          <a:solidFill>
            <a:srgbClr val="1E293B"/>
          </a:solidFill>
          <a:ln w="25400">
            <a:solidFill>
              <a:srgbClr val="EAB308"/>
            </a:solidFill>
            <a:prstDash val="solid"/>
          </a:ln>
        </p:spPr>
      </p:sp>
      <p:sp>
        <p:nvSpPr>
          <p:cNvPr id="11" name="Shape 9"/>
          <p:cNvSpPr/>
          <p:nvPr/>
        </p:nvSpPr>
        <p:spPr>
          <a:xfrm>
            <a:off x="548640" y="2514600"/>
            <a:ext cx="91440" cy="868680"/>
          </a:xfrm>
          <a:prstGeom prst="rect">
            <a:avLst/>
          </a:prstGeom>
          <a:solidFill>
            <a:srgbClr val="EAB308"/>
          </a:solidFill>
          <a:ln/>
        </p:spPr>
      </p:sp>
      <p:sp>
        <p:nvSpPr>
          <p:cNvPr id="12" name="Text 10"/>
          <p:cNvSpPr/>
          <p:nvPr/>
        </p:nvSpPr>
        <p:spPr>
          <a:xfrm>
            <a:off x="777240" y="2624328"/>
            <a:ext cx="731520" cy="640080"/>
          </a:xfrm>
          <a:prstGeom prst="rect">
            <a:avLst/>
          </a:prstGeom>
          <a:noFill/>
          <a:ln/>
        </p:spPr>
        <p:txBody>
          <a:bodyPr wrap="square" lIns="0" tIns="0" rIns="0" bIns="0" rtlCol="0" anchor="ctr"/>
          <a:lstStyle/>
          <a:p>
            <a:pPr indent="0" marL="0">
              <a:buNone/>
            </a:pPr>
            <a:r>
              <a:rPr lang="en-US" sz="2600" b="1" dirty="0">
                <a:solidFill>
                  <a:srgbClr val="EAB308"/>
                </a:solidFill>
                <a:latin typeface="Trebuchet MS" pitchFamily="34" charset="0"/>
                <a:ea typeface="Trebuchet MS" pitchFamily="34" charset="-122"/>
                <a:cs typeface="Trebuchet MS" pitchFamily="34" charset="-120"/>
              </a:rPr>
              <a:t>02</a:t>
            </a:r>
            <a:endParaRPr lang="en-US" sz="2600" dirty="0"/>
          </a:p>
        </p:txBody>
      </p:sp>
      <p:sp>
        <p:nvSpPr>
          <p:cNvPr id="13" name="Text 11"/>
          <p:cNvSpPr/>
          <p:nvPr/>
        </p:nvSpPr>
        <p:spPr>
          <a:xfrm>
            <a:off x="1691640" y="2587752"/>
            <a:ext cx="6400800" cy="274320"/>
          </a:xfrm>
          <a:prstGeom prst="rect">
            <a:avLst/>
          </a:prstGeom>
          <a:noFill/>
          <a:ln/>
        </p:spPr>
        <p:txBody>
          <a:bodyPr wrap="square" lIns="0" tIns="0" rIns="0" bIns="0" rtlCol="0" anchor="ctr"/>
          <a:lstStyle/>
          <a:p>
            <a:pPr indent="0" marL="0">
              <a:buNone/>
            </a:pPr>
            <a:r>
              <a:rPr lang="en-US" sz="1000" b="1" i="1" spc="200" kern="0" dirty="0">
                <a:solidFill>
                  <a:srgbClr val="94A3B8"/>
                </a:solidFill>
                <a:latin typeface="Trebuchet MS" pitchFamily="34" charset="0"/>
                <a:ea typeface="Trebuchet MS" pitchFamily="34" charset="-122"/>
                <a:cs typeface="Trebuchet MS" pitchFamily="34" charset="-120"/>
              </a:rPr>
              <a:t>If you have agents in production</a:t>
            </a:r>
            <a:endParaRPr lang="en-US" sz="1000" dirty="0"/>
          </a:p>
        </p:txBody>
      </p:sp>
      <p:sp>
        <p:nvSpPr>
          <p:cNvPr id="14" name="Text 12"/>
          <p:cNvSpPr/>
          <p:nvPr/>
        </p:nvSpPr>
        <p:spPr>
          <a:xfrm>
            <a:off x="1691640" y="2807208"/>
            <a:ext cx="6400800" cy="274320"/>
          </a:xfrm>
          <a:prstGeom prst="rect">
            <a:avLst/>
          </a:prstGeom>
          <a:noFill/>
          <a:ln/>
        </p:spPr>
        <p:txBody>
          <a:bodyPr wrap="square" lIns="0" tIns="0" rIns="0" bIns="0" rtlCol="0" anchor="ctr"/>
          <a:lstStyle/>
          <a:p>
            <a:pPr indent="0" marL="0">
              <a:buNone/>
            </a:pPr>
            <a:r>
              <a:rPr lang="en-US" sz="1500" b="1" dirty="0">
                <a:solidFill>
                  <a:srgbClr val="F8FAFC"/>
                </a:solidFill>
                <a:latin typeface="Trebuchet MS" pitchFamily="34" charset="0"/>
                <a:ea typeface="Trebuchet MS" pitchFamily="34" charset="-122"/>
                <a:cs typeface="Trebuchet MS" pitchFamily="34" charset="-120"/>
              </a:rPr>
              <a:t>Add PreToolUse hooks and a Git pre-commit hook today.</a:t>
            </a:r>
            <a:endParaRPr lang="en-US" sz="1500" dirty="0"/>
          </a:p>
        </p:txBody>
      </p:sp>
      <p:sp>
        <p:nvSpPr>
          <p:cNvPr id="15" name="Text 13"/>
          <p:cNvSpPr/>
          <p:nvPr/>
        </p:nvSpPr>
        <p:spPr>
          <a:xfrm>
            <a:off x="1691640" y="3063240"/>
            <a:ext cx="640080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All five you watched live. The first two are bash scripts on your dev box. The other three are policy on the cluster.</a:t>
            </a:r>
            <a:endParaRPr lang="en-US" sz="1100" dirty="0"/>
          </a:p>
        </p:txBody>
      </p:sp>
      <p:sp>
        <p:nvSpPr>
          <p:cNvPr id="16" name="Shape 14"/>
          <p:cNvSpPr/>
          <p:nvPr/>
        </p:nvSpPr>
        <p:spPr>
          <a:xfrm>
            <a:off x="548640" y="3474720"/>
            <a:ext cx="7772400" cy="868680"/>
          </a:xfrm>
          <a:prstGeom prst="rect">
            <a:avLst/>
          </a:prstGeom>
          <a:solidFill>
            <a:srgbClr val="1E293B"/>
          </a:solidFill>
          <a:ln w="25400">
            <a:solidFill>
              <a:srgbClr val="0EA5E9"/>
            </a:solidFill>
            <a:prstDash val="solid"/>
          </a:ln>
        </p:spPr>
      </p:sp>
      <p:sp>
        <p:nvSpPr>
          <p:cNvPr id="17" name="Shape 15"/>
          <p:cNvSpPr/>
          <p:nvPr/>
        </p:nvSpPr>
        <p:spPr>
          <a:xfrm>
            <a:off x="548640" y="3474720"/>
            <a:ext cx="91440" cy="868680"/>
          </a:xfrm>
          <a:prstGeom prst="rect">
            <a:avLst/>
          </a:prstGeom>
          <a:solidFill>
            <a:srgbClr val="0EA5E9"/>
          </a:solidFill>
          <a:ln/>
        </p:spPr>
      </p:sp>
      <p:sp>
        <p:nvSpPr>
          <p:cNvPr id="18" name="Text 16"/>
          <p:cNvSpPr/>
          <p:nvPr/>
        </p:nvSpPr>
        <p:spPr>
          <a:xfrm>
            <a:off x="777240" y="3584448"/>
            <a:ext cx="731520" cy="640080"/>
          </a:xfrm>
          <a:prstGeom prst="rect">
            <a:avLst/>
          </a:prstGeom>
          <a:noFill/>
          <a:ln/>
        </p:spPr>
        <p:txBody>
          <a:bodyPr wrap="square" lIns="0" tIns="0" rIns="0" bIns="0" rtlCol="0" anchor="ctr"/>
          <a:lstStyle/>
          <a:p>
            <a:pPr indent="0" marL="0">
              <a:buNone/>
            </a:pPr>
            <a:r>
              <a:rPr lang="en-US" sz="2600" b="1" dirty="0">
                <a:solidFill>
                  <a:srgbClr val="0EA5E9"/>
                </a:solidFill>
                <a:latin typeface="Trebuchet MS" pitchFamily="34" charset="0"/>
                <a:ea typeface="Trebuchet MS" pitchFamily="34" charset="-122"/>
                <a:cs typeface="Trebuchet MS" pitchFamily="34" charset="-120"/>
              </a:rPr>
              <a:t>03</a:t>
            </a:r>
            <a:endParaRPr lang="en-US" sz="2600" dirty="0"/>
          </a:p>
        </p:txBody>
      </p:sp>
      <p:sp>
        <p:nvSpPr>
          <p:cNvPr id="19" name="Text 17"/>
          <p:cNvSpPr/>
          <p:nvPr/>
        </p:nvSpPr>
        <p:spPr>
          <a:xfrm>
            <a:off x="1691640" y="3547872"/>
            <a:ext cx="6400800" cy="274320"/>
          </a:xfrm>
          <a:prstGeom prst="rect">
            <a:avLst/>
          </a:prstGeom>
          <a:noFill/>
          <a:ln/>
        </p:spPr>
        <p:txBody>
          <a:bodyPr wrap="square" lIns="0" tIns="0" rIns="0" bIns="0" rtlCol="0" anchor="ctr"/>
          <a:lstStyle/>
          <a:p>
            <a:pPr indent="0" marL="0">
              <a:buNone/>
            </a:pPr>
            <a:r>
              <a:rPr lang="en-US" sz="1000" b="1" i="1" spc="200" kern="0" dirty="0">
                <a:solidFill>
                  <a:srgbClr val="94A3B8"/>
                </a:solidFill>
                <a:latin typeface="Trebuchet MS" pitchFamily="34" charset="0"/>
                <a:ea typeface="Trebuchet MS" pitchFamily="34" charset="-122"/>
                <a:cs typeface="Trebuchet MS" pitchFamily="34" charset="-120"/>
              </a:rPr>
              <a:t>If you're just getting started</a:t>
            </a:r>
            <a:endParaRPr lang="en-US" sz="1000" dirty="0"/>
          </a:p>
        </p:txBody>
      </p:sp>
      <p:sp>
        <p:nvSpPr>
          <p:cNvPr id="20" name="Text 18"/>
          <p:cNvSpPr/>
          <p:nvPr/>
        </p:nvSpPr>
        <p:spPr>
          <a:xfrm>
            <a:off x="1691640" y="3767328"/>
            <a:ext cx="6400800" cy="274320"/>
          </a:xfrm>
          <a:prstGeom prst="rect">
            <a:avLst/>
          </a:prstGeom>
          <a:noFill/>
          <a:ln/>
        </p:spPr>
        <p:txBody>
          <a:bodyPr wrap="square" lIns="0" tIns="0" rIns="0" bIns="0" rtlCol="0" anchor="ctr"/>
          <a:lstStyle/>
          <a:p>
            <a:pPr indent="0" marL="0">
              <a:buNone/>
            </a:pPr>
            <a:r>
              <a:rPr lang="en-US" sz="1500" b="1" dirty="0">
                <a:solidFill>
                  <a:srgbClr val="F8FAFC"/>
                </a:solidFill>
                <a:latin typeface="Trebuchet MS" pitchFamily="34" charset="0"/>
                <a:ea typeface="Trebuchet MS" pitchFamily="34" charset="-122"/>
                <a:cs typeface="Trebuchet MS" pitchFamily="34" charset="-120"/>
              </a:rPr>
              <a:t>Clone the repo. The hooks, policies, and CI tests are there.</a:t>
            </a:r>
            <a:endParaRPr lang="en-US" sz="1500" dirty="0"/>
          </a:p>
        </p:txBody>
      </p:sp>
      <p:sp>
        <p:nvSpPr>
          <p:cNvPr id="21" name="Text 19"/>
          <p:cNvSpPr/>
          <p:nvPr/>
        </p:nvSpPr>
        <p:spPr>
          <a:xfrm>
            <a:off x="1691640" y="4023360"/>
            <a:ext cx="640080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Adapt them to your namespaces. Ship behind a feature flag. Iterate.</a:t>
            </a:r>
            <a:endParaRPr lang="en-US" sz="1100" dirty="0"/>
          </a:p>
        </p:txBody>
      </p:sp>
      <p:sp>
        <p:nvSpPr>
          <p:cNvPr id="22" name="Text 20"/>
          <p:cNvSpPr/>
          <p:nvPr/>
        </p:nvSpPr>
        <p:spPr>
          <a:xfrm>
            <a:off x="8503920" y="1554480"/>
            <a:ext cx="3200400" cy="548640"/>
          </a:xfrm>
          <a:prstGeom prst="rect">
            <a:avLst/>
          </a:prstGeom>
          <a:noFill/>
          <a:ln/>
        </p:spPr>
        <p:txBody>
          <a:bodyPr wrap="square" lIns="0" tIns="0" rIns="0" bIns="0" rtlCol="0" anchor="ctr"/>
          <a:lstStyle/>
          <a:p>
            <a:pPr algn="l" indent="0" marL="0">
              <a:buNone/>
            </a:pPr>
            <a:r>
              <a:rPr lang="en-US" sz="2200" b="1" dirty="0">
                <a:solidFill>
                  <a:srgbClr val="F8FAFC"/>
                </a:solidFill>
                <a:latin typeface="Trebuchet MS" pitchFamily="34" charset="0"/>
                <a:ea typeface="Trebuchet MS" pitchFamily="34" charset="-122"/>
                <a:cs typeface="Trebuchet MS" pitchFamily="34" charset="-120"/>
              </a:rPr>
              <a:t>You already built it.</a:t>
            </a:r>
            <a:endParaRPr lang="en-US" sz="2200" dirty="0"/>
          </a:p>
        </p:txBody>
      </p:sp>
      <p:sp>
        <p:nvSpPr>
          <p:cNvPr id="23" name="Text 21"/>
          <p:cNvSpPr/>
          <p:nvPr/>
        </p:nvSpPr>
        <p:spPr>
          <a:xfrm>
            <a:off x="8503920" y="2103120"/>
            <a:ext cx="3200400" cy="822960"/>
          </a:xfrm>
          <a:prstGeom prst="rect">
            <a:avLst/>
          </a:prstGeom>
          <a:noFill/>
          <a:ln/>
        </p:spPr>
        <p:txBody>
          <a:bodyPr wrap="square" lIns="0" tIns="0" rIns="0" bIns="0" rtlCol="0" anchor="ctr"/>
          <a:lstStyle/>
          <a:p>
            <a:pPr algn="l" indent="0" marL="0">
              <a:buNone/>
            </a:pPr>
            <a:r>
              <a:rPr lang="en-US" sz="1800" b="1" i="1" dirty="0">
                <a:solidFill>
                  <a:srgbClr val="A100FF"/>
                </a:solidFill>
                <a:latin typeface="Trebuchet MS" pitchFamily="34" charset="0"/>
                <a:ea typeface="Trebuchet MS" pitchFamily="34" charset="-122"/>
                <a:cs typeface="Trebuchet MS" pitchFamily="34" charset="-120"/>
              </a:rPr>
              <a:t>Five gates live. The sixth one, the output gate, is the row you add tomorrow.</a:t>
            </a:r>
            <a:endParaRPr lang="en-US" sz="1800" dirty="0"/>
          </a:p>
        </p:txBody>
      </p:sp>
      <p:pic>
        <p:nvPicPr>
          <p:cNvPr id="24" name="Image 0" descr="/tmp/qr-repo.png"/>
          <p:cNvPicPr>
            <a:picLocks noChangeAspect="1"/>
          </p:cNvPicPr>
          <p:nvPr/>
        </p:nvPicPr>
        <p:blipFill>
          <a:blip r:embed="rId1"/>
          <a:stretch>
            <a:fillRect/>
          </a:stretch>
        </p:blipFill>
        <p:spPr>
          <a:xfrm>
            <a:off x="8869680" y="3108960"/>
            <a:ext cx="2377440" cy="2377440"/>
          </a:xfrm>
          <a:prstGeom prst="rect">
            <a:avLst/>
          </a:prstGeom>
        </p:spPr>
      </p:pic>
      <p:sp>
        <p:nvSpPr>
          <p:cNvPr id="25" name="Text 22"/>
          <p:cNvSpPr/>
          <p:nvPr/>
        </p:nvSpPr>
        <p:spPr>
          <a:xfrm>
            <a:off x="8503920" y="5532120"/>
            <a:ext cx="3200400" cy="228600"/>
          </a:xfrm>
          <a:prstGeom prst="rect">
            <a:avLst/>
          </a:prstGeom>
          <a:noFill/>
          <a:ln/>
        </p:spPr>
        <p:txBody>
          <a:bodyPr wrap="square" lIns="0" tIns="0" rIns="0" bIns="0" rtlCol="0" anchor="ctr"/>
          <a:lstStyle/>
          <a:p>
            <a:pPr algn="ctr" indent="0" marL="0">
              <a:buNone/>
            </a:pPr>
            <a:r>
              <a:rPr lang="en-US" sz="1100" b="1" dirty="0">
                <a:solidFill>
                  <a:srgbClr val="CBD5E1"/>
                </a:solidFill>
                <a:latin typeface="Trebuchet MS" pitchFamily="34" charset="0"/>
                <a:ea typeface="Trebuchet MS" pitchFamily="34" charset="-122"/>
                <a:cs typeface="Trebuchet MS" pitchFamily="34" charset="-120"/>
              </a:rPr>
              <a:t>github.com/peopleforrester/</a:t>
            </a:r>
            <a:endParaRPr lang="en-US" sz="1100" dirty="0"/>
          </a:p>
        </p:txBody>
      </p:sp>
      <p:sp>
        <p:nvSpPr>
          <p:cNvPr id="26" name="Text 23"/>
          <p:cNvSpPr/>
          <p:nvPr/>
        </p:nvSpPr>
        <p:spPr>
          <a:xfrm>
            <a:off x="8503920" y="5760720"/>
            <a:ext cx="3200400" cy="274320"/>
          </a:xfrm>
          <a:prstGeom prst="rect">
            <a:avLst/>
          </a:prstGeom>
          <a:noFill/>
          <a:ln/>
        </p:spPr>
        <p:txBody>
          <a:bodyPr wrap="square" lIns="0" tIns="0" rIns="0" bIns="0" rtlCol="0" anchor="ctr"/>
          <a:lstStyle/>
          <a:p>
            <a:pPr algn="ctr" indent="0" marL="0">
              <a:buNone/>
            </a:pPr>
            <a:r>
              <a:rPr lang="en-US" sz="1400" b="1" dirty="0">
                <a:solidFill>
                  <a:srgbClr val="A100FF"/>
                </a:solidFill>
                <a:latin typeface="Trebuchet MS" pitchFamily="34" charset="0"/>
                <a:ea typeface="Trebuchet MS" pitchFamily="34" charset="-122"/>
                <a:cs typeface="Trebuchet MS" pitchFamily="34" charset="-120"/>
              </a:rPr>
              <a:t>LLMday-Texas-2026</a:t>
            </a:r>
            <a:endParaRPr lang="en-US" sz="1400" dirty="0"/>
          </a:p>
        </p:txBody>
      </p:sp>
      <p:sp>
        <p:nvSpPr>
          <p:cNvPr id="27" name="Text 24"/>
          <p:cNvSpPr/>
          <p:nvPr/>
        </p:nvSpPr>
        <p:spPr>
          <a:xfrm>
            <a:off x="548640" y="6035040"/>
            <a:ext cx="11064240" cy="228600"/>
          </a:xfrm>
          <a:prstGeom prst="rect">
            <a:avLst/>
          </a:prstGeom>
          <a:noFill/>
          <a:ln/>
        </p:spPr>
        <p:txBody>
          <a:bodyPr wrap="square" lIns="0" tIns="0" rIns="0" bIns="0" rtlCol="0" anchor="ctr"/>
          <a:lstStyle/>
          <a:p>
            <a:pPr algn="ctr" indent="0" marL="0">
              <a:buNone/>
            </a:pPr>
            <a:r>
              <a:rPr lang="en-US" sz="1000" b="1" spc="300" kern="0" dirty="0">
                <a:solidFill>
                  <a:srgbClr val="94A3B8"/>
                </a:solidFill>
                <a:latin typeface="Trebuchet MS" pitchFamily="34" charset="0"/>
                <a:ea typeface="Trebuchet MS" pitchFamily="34" charset="-122"/>
                <a:cs typeface="Trebuchet MS" pitchFamily="34" charset="-120"/>
              </a:rPr>
              <a:t>ALSO SPEAKING THIS WEEK</a:t>
            </a:r>
            <a:endParaRPr lang="en-US" sz="1000" dirty="0"/>
          </a:p>
        </p:txBody>
      </p:sp>
      <p:sp>
        <p:nvSpPr>
          <p:cNvPr id="28" name="Text 25"/>
          <p:cNvSpPr/>
          <p:nvPr/>
        </p:nvSpPr>
        <p:spPr>
          <a:xfrm>
            <a:off x="548640" y="6291072"/>
            <a:ext cx="11064240" cy="274320"/>
          </a:xfrm>
          <a:prstGeom prst="rect">
            <a:avLst/>
          </a:prstGeom>
          <a:noFill/>
          <a:ln/>
        </p:spPr>
        <p:txBody>
          <a:bodyPr wrap="square" lIns="0" tIns="0" rIns="0" bIns="0"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KCD Texas · Friday May 15 · The 90-Minute IDP workshop · If you’re interested, find me after this talk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0EA5E9"/>
                </a:solidFill>
                <a:latin typeface="Trebuchet MS" pitchFamily="34" charset="0"/>
                <a:ea typeface="Trebuchet MS" pitchFamily="34" charset="-122"/>
                <a:cs typeface="Trebuchet MS" pitchFamily="34" charset="-120"/>
              </a:rPr>
              <a:t>DEMO 4 OF 6  ·  LIVE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200" b="1" dirty="0">
                <a:solidFill>
                  <a:srgbClr val="F8FAFC"/>
                </a:solidFill>
                <a:latin typeface="Trebuchet MS" pitchFamily="34" charset="0"/>
                <a:ea typeface="Trebuchet MS" pitchFamily="34" charset="-122"/>
                <a:cs typeface="Trebuchet MS" pitchFamily="34" charset="-120"/>
              </a:rPr>
              <a:t>Runtime · Falco + Talon</a:t>
            </a:r>
            <a:endParaRPr lang="en-US" sz="42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Drift detection for behavior. Catch what admission cannot see.</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0EA5E9"/>
                </a:solidFill>
                <a:latin typeface="Trebuchet MS" pitchFamily="34" charset="0"/>
                <a:ea typeface="Trebuchet MS" pitchFamily="34" charset="-122"/>
                <a:cs typeface="Trebuchet MS" pitchFamily="34" charset="-120"/>
              </a:rPr>
              <a:t>SERVER-SIDE · RUNTIME</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Agent execs into the model-server pod. Falco fires. Talon evicts.</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Admission accepted the manifest. Runtime decided the behavior.</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  START DEMO  ◀</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16</a:t>
            </a:r>
            <a:endParaRPr lang="en-US" sz="900" dirty="0"/>
          </a:p>
        </p:txBody>
      </p:sp>
      <p:pic>
        <p:nvPicPr>
          <p:cNvPr id="12" name="Minimap"/>
          <p:cNvPicPr>
            <a:picLocks noChangeAspect="1"/>
          </p:cNvPicPr>
          <p:nvPr/>
        </p:nvPicPr>
        <p:blipFill>
          <a:blip r:embed="rId3"/>
          <a:stretch>
            <a:fillRect/>
          </a:stretch>
        </p:blipFill>
        <p:spPr>
          <a:xfrm>
            <a:off x="9500000" y="200000"/>
            <a:ext cx="2400000" cy="105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0EA5E9"/>
                </a:solidFill>
                <a:latin typeface="Trebuchet MS" pitchFamily="34" charset="0"/>
                <a:ea typeface="Trebuchet MS" pitchFamily="34" charset="-122"/>
                <a:cs typeface="Trebuchet MS" pitchFamily="34" charset="-120"/>
              </a:rPr>
              <a:t>DEMO 5 OF 6  ·  LIVE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200" b="1" dirty="0">
                <a:solidFill>
                  <a:srgbClr val="F8FAFC"/>
                </a:solidFill>
                <a:latin typeface="Trebuchet MS" pitchFamily="34" charset="0"/>
                <a:ea typeface="Trebuchet MS" pitchFamily="34" charset="-122"/>
                <a:cs typeface="Trebuchet MS" pitchFamily="34" charset="-120"/>
              </a:rPr>
              <a:t>Network · NetworkPolicy</a:t>
            </a:r>
            <a:endParaRPr lang="en-US" sz="42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Feature store data lineage. The inference data path.</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0EA5E9"/>
                </a:solidFill>
                <a:latin typeface="Trebuchet MS" pitchFamily="34" charset="0"/>
                <a:ea typeface="Trebuchet MS" pitchFamily="34" charset="-122"/>
                <a:cs typeface="Trebuchet MS" pitchFamily="34" charset="-120"/>
              </a:rPr>
              <a:t>SERVER-SIDE · NETWORK</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curl from production to a destination not on the allowlist.</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Runtime did not fire. Nothing was unsafe. The destination was not on the list.</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  START DEMO  ◀</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 / 16</a:t>
            </a:r>
            <a:endParaRPr lang="en-US" sz="900" dirty="0"/>
          </a:p>
        </p:txBody>
      </p:sp>
      <p:pic>
        <p:nvPicPr>
          <p:cNvPr id="12" name="Minimap"/>
          <p:cNvPicPr>
            <a:picLocks noChangeAspect="1"/>
          </p:cNvPicPr>
          <p:nvPr/>
        </p:nvPicPr>
        <p:blipFill>
          <a:blip r:embed="rId3"/>
          <a:stretch>
            <a:fillRect/>
          </a:stretch>
        </p:blipFill>
        <p:spPr>
          <a:xfrm>
            <a:off x="9500000" y="200000"/>
            <a:ext cx="2400000" cy="105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Triangle Architecture">
    <p:bg>
      <p:bgPr>
        <a:solidFill>
          <a:srgbClr val="FAFAFA"/>
        </a:solidFill>
      </p:bgPr>
    </p:bg>
    <p:spTree>
      <p:nvGrpSpPr>
        <p:cNvPr id="1" name=""/>
        <p:cNvGrpSpPr/>
        <p:nvPr/>
      </p:nvGrpSpPr>
      <p:grpSpPr>
        <a:xfrm>
          <a:off x="0" y="0"/>
          <a:ext cx="0" cy="0"/>
          <a:chOff x="0" y="0"/>
          <a:chExt cx="0" cy="0"/>
        </a:xfrm>
      </p:grpSpPr>
      <p:sp>
        <p:nvSpPr>
          <p:cNvPr id="51" name="Title"/>
          <p:cNvSpPr/>
          <p:nvPr/>
        </p:nvSpPr>
        <p:spPr>
          <a:xfrm>
            <a:off x="731520" y="274320"/>
            <a:ext cx="10728960" cy="685800"/>
          </a:xfrm>
          <a:prstGeom prst="rect">
            <a:avLst/>
          </a:prstGeom>
          <a:noFill/>
        </p:spPr>
        <p:txBody>
          <a:bodyPr wrap="square" lIns="0" tIns="0" rIns="0" bIns="0" anchor="ctr"/>
          <a:lstStyle/>
          <a:p>
            <a:pPr algn="l" indent="0" marL="0">
              <a:buNone/>
            </a:pPr>
            <a:r>
              <a:rPr lang="en-US" sz="4400" b="1" dirty="0">
                <a:solidFill>
                  <a:srgbClr val="0F172A"/>
                </a:solidFill>
                <a:latin typeface="Trebuchet MS" pitchFamily="34" charset="0"/>
              </a:rPr>
              <a:t>Three places in the chain</a:t>
            </a:r>
          </a:p>
        </p:txBody>
      </p:sp>
      <p:sp>
        <p:nvSpPr>
          <p:cNvPr id="52" name="Subtitle"/>
          <p:cNvSpPr/>
          <p:nvPr/>
        </p:nvSpPr>
        <p:spPr>
          <a:xfrm>
            <a:off x="731520" y="960120"/>
            <a:ext cx="10728960" cy="365760"/>
          </a:xfrm>
          <a:prstGeom prst="rect">
            <a:avLst/>
          </a:prstGeom>
          <a:noFill/>
        </p:spPr>
        <p:txBody>
          <a:bodyPr wrap="square" lIns="0" tIns="0" rIns="0" bIns="0" anchor="ctr"/>
          <a:lstStyle/>
          <a:p>
            <a:pPr algn="l" indent="0" marL="0">
              <a:buNone/>
            </a:pPr>
            <a:r>
              <a:rPr lang="en-US" sz="1800" i="1" dirty="0">
                <a:solidFill>
                  <a:srgbClr val="64748B"/>
                </a:solidFill>
                <a:latin typeface="Calibri" pitchFamily="34" charset="0"/>
              </a:rPr>
              <a:t>Client-side, app/agent, server-side. Three ways to think about where the gate goes along the chain.</a:t>
            </a:r>
          </a:p>
        </p:txBody>
      </p:sp>
      <p:cxnSp>
        <p:nvCxnSpPr>
          <p:cNvPr id="53" name="Line_TopToBL"/>
          <p:cNvCxnSpPr/>
          <p:nvPr/>
        </p:nvCxnSpPr>
        <p:spPr>
          <a:xfrm flipH="1">
            <a:off x="2468880" y="3291840"/>
            <a:ext cx="3627120" cy="548640"/>
          </a:xfrm>
          <a:prstGeom prst="line">
            <a:avLst/>
          </a:prstGeom>
          <a:ln w="28575">
            <a:solidFill>
              <a:srgbClr val="94A3B8"/>
            </a:solidFill>
            <a:prstDash val="dash"/>
          </a:ln>
        </p:spPr>
      </p:cxnSp>
      <p:cxnSp>
        <p:nvCxnSpPr>
          <p:cNvPr id="54" name="Line_TopToBR"/>
          <p:cNvCxnSpPr/>
          <p:nvPr/>
        </p:nvCxnSpPr>
        <p:spPr>
          <a:xfrm>
            <a:off x="6096000" y="3291840"/>
            <a:ext cx="3627120" cy="548640"/>
          </a:xfrm>
          <a:prstGeom prst="line">
            <a:avLst/>
          </a:prstGeom>
          <a:ln w="28575">
            <a:solidFill>
              <a:srgbClr val="94A3B8"/>
            </a:solidFill>
            <a:prstDash val="dash"/>
          </a:ln>
        </p:spPr>
      </p:cxnSp>
      <p:cxnSp>
        <p:nvCxnSpPr>
          <p:cNvPr id="55" name="Line_BLToBR"/>
          <p:cNvCxnSpPr/>
          <p:nvPr/>
        </p:nvCxnSpPr>
        <p:spPr>
          <a:xfrm>
            <a:off x="4297680" y="4709160"/>
            <a:ext cx="3596640" cy="1"/>
          </a:xfrm>
          <a:prstGeom prst="line">
            <a:avLst/>
          </a:prstGeom>
          <a:ln w="28575">
            <a:solidFill>
              <a:srgbClr val="94A3B8"/>
            </a:solidFill>
            <a:prstDash val="dash"/>
          </a:ln>
        </p:spPr>
      </p:cxnSp>
      <p:sp>
        <p:nvSpPr>
          <p:cNvPr id="56" name="Card_APP / AGENT"/>
          <p:cNvSpPr/>
          <p:nvPr/>
        </p:nvSpPr>
        <p:spPr>
          <a:xfrm>
            <a:off x="4267200" y="1554480"/>
            <a:ext cx="3657600" cy="1737360"/>
          </a:xfrm>
          <a:prstGeom prst="roundRect">
            <a:avLst>
              <a:gd name="adj" fmla="val 8000"/>
            </a:avLst>
          </a:prstGeom>
          <a:solidFill>
            <a:srgbClr val="FFFFFF"/>
          </a:solidFill>
          <a:ln w="31750">
            <a:solidFill>
              <a:srgbClr val="A100FF"/>
            </a:solidFill>
          </a:ln>
        </p:spPr>
        <p:txBody>
          <a:bodyPr wrap="square" lIns="0" tIns="0" rIns="0" bIns="0" anchor="ctr"/>
          <a:lstStyle/>
          <a:p>
            <a:pPr indent="0" marL="0">
              <a:buNone/>
            </a:pPr>
            <a:endParaRPr lang="en-US"/>
          </a:p>
        </p:txBody>
      </p:sp>
      <p:sp>
        <p:nvSpPr>
          <p:cNvPr id="57" name="Header_APP / AGENT"/>
          <p:cNvSpPr/>
          <p:nvPr/>
        </p:nvSpPr>
        <p:spPr>
          <a:xfrm>
            <a:off x="4267200" y="1554480"/>
            <a:ext cx="3657600" cy="502920"/>
          </a:xfrm>
          <a:prstGeom prst="roundRect">
            <a:avLst>
              <a:gd name="adj" fmla="val 8000"/>
            </a:avLst>
          </a:prstGeom>
          <a:solidFill>
            <a:srgbClr val="A100FF"/>
          </a:solidFill>
          <a:ln>
            <a:noFill/>
          </a:ln>
        </p:spPr>
        <p:txBody>
          <a:bodyPr wrap="square" lIns="0" tIns="0" rIns="0" bIns="0" anchor="ctr"/>
          <a:lstStyle/>
          <a:p>
            <a:pPr indent="0" marL="0">
              <a:buNone/>
            </a:pPr>
            <a:endParaRPr lang="en-US"/>
          </a:p>
        </p:txBody>
      </p:sp>
      <p:sp>
        <p:nvSpPr>
          <p:cNvPr id="58" name="Title_APP / AGENT"/>
          <p:cNvSpPr/>
          <p:nvPr/>
        </p:nvSpPr>
        <p:spPr>
          <a:xfrm>
            <a:off x="4267200" y="1554480"/>
            <a:ext cx="3657600" cy="502920"/>
          </a:xfrm>
          <a:prstGeom prst="rect">
            <a:avLst/>
          </a:prstGeom>
          <a:noFill/>
        </p:spPr>
        <p:txBody>
          <a:bodyPr wrap="square" lIns="0" tIns="0" rIns="0" bIns="0" anchor="ctr"/>
          <a:lstStyle/>
          <a:p>
            <a:pPr algn="ctr" indent="0" marL="0">
              <a:buNone/>
            </a:pPr>
            <a:r>
              <a:rPr lang="en-US" sz="2000" b="1" dirty="0">
                <a:solidFill>
                  <a:srgbClr val="FFFFFF"/>
                </a:solidFill>
                <a:latin typeface="Trebuchet MS" pitchFamily="34" charset="0"/>
              </a:rPr>
              <a:t>APP / AGENT</a:t>
            </a:r>
          </a:p>
        </p:txBody>
      </p:sp>
      <p:sp>
        <p:nvSpPr>
          <p:cNvPr id="59" name="Sub_APP / AGENT"/>
          <p:cNvSpPr/>
          <p:nvPr/>
        </p:nvSpPr>
        <p:spPr>
          <a:xfrm>
            <a:off x="4358640" y="2130552"/>
            <a:ext cx="3474720" cy="274320"/>
          </a:xfrm>
          <a:prstGeom prst="rect">
            <a:avLst/>
          </a:prstGeom>
          <a:noFill/>
        </p:spPr>
        <p:txBody>
          <a:bodyPr wrap="square" lIns="0" tIns="0" rIns="0" bIns="0" anchor="ctr"/>
          <a:lstStyle/>
          <a:p>
            <a:pPr algn="ctr" indent="0" marL="0">
              <a:buNone/>
            </a:pPr>
            <a:r>
              <a:rPr lang="en-US" sz="1100" i="1" dirty="0">
                <a:solidFill>
                  <a:srgbClr val="64748B"/>
                </a:solidFill>
                <a:latin typeface="Calibri" pitchFamily="34" charset="0"/>
              </a:rPr>
              <a:t>Where reasoning happens</a:t>
            </a:r>
          </a:p>
        </p:txBody>
      </p:sp>
      <p:pic>
        <p:nvPicPr>
          <p:cNvPr id="60" name="Icon_APP / AGENT"/>
          <p:cNvPicPr>
            <a:picLocks noChangeAspect="1"/>
          </p:cNvPicPr>
          <p:nvPr/>
        </p:nvPicPr>
        <p:blipFill>
          <a:blip r:embed="rIdAgent"/>
          <a:stretch>
            <a:fillRect/>
          </a:stretch>
        </p:blipFill>
        <p:spPr>
          <a:xfrm>
            <a:off x="4450080" y="2423160"/>
            <a:ext cx="640080" cy="640080"/>
          </a:xfrm>
          <a:prstGeom prst="rect">
            <a:avLst/>
          </a:prstGeom>
        </p:spPr>
      </p:pic>
      <p:sp>
        <p:nvSpPr>
          <p:cNvPr id="61" name="Bullets_APP / AGENT"/>
          <p:cNvSpPr/>
          <p:nvPr/>
        </p:nvSpPr>
        <p:spPr>
          <a:xfrm>
            <a:off x="5199888" y="2423160"/>
            <a:ext cx="2587752" cy="640080"/>
          </a:xfrm>
          <a:prstGeom prst="rect">
            <a:avLst/>
          </a:prstGeom>
          <a:noFill/>
        </p:spPr>
        <p:txBody>
          <a:bodyPr wrap="square" lIns="0" tIns="0" rIns="0" bIns="0" anchor="t"/>
          <a:lstStyle/>
          <a:p>
            <a:pPr algn="l" indent="0" marL="0">
              <a:buNone/>
            </a:pPr>
            <a:r>
              <a:rPr lang="en-US" sz="1200" dirty="0">
                <a:solidFill>
                  <a:srgbClr val="0F172A"/>
                </a:solidFill>
                <a:latin typeface="Calibri" pitchFamily="34" charset="0"/>
              </a:rPr>
              <a:t>▸  Framework hooks (PreToolUse)</a:t>
            </a:r>
          </a:p>
          <a:p>
            <a:pPr algn="l" indent="0" marL="0">
              <a:buNone/>
            </a:pPr>
            <a:r>
              <a:rPr lang="en-US" sz="1200" dirty="0">
                <a:solidFill>
                  <a:srgbClr val="0F172A"/>
                </a:solidFill>
                <a:latin typeface="Calibri" pitchFamily="34" charset="0"/>
              </a:rPr>
              <a:t>▸  NeMo Guardrails, LLM Guard</a:t>
            </a:r>
          </a:p>
          <a:p>
            <a:pPr algn="l" indent="0" marL="0">
              <a:buNone/>
            </a:pPr>
            <a:r>
              <a:rPr lang="en-US" sz="1200" dirty="0">
                <a:solidFill>
                  <a:srgbClr val="0F172A"/>
                </a:solidFill>
                <a:latin typeface="Calibri" pitchFamily="34" charset="0"/>
              </a:rPr>
              <a:t>▸  Standardized inputs / outputs</a:t>
            </a:r>
          </a:p>
        </p:txBody>
      </p:sp>
      <p:sp>
        <p:nvSpPr>
          <p:cNvPr id="62" name="Card_CLIENT-SIDE"/>
          <p:cNvSpPr/>
          <p:nvPr/>
        </p:nvSpPr>
        <p:spPr>
          <a:xfrm>
            <a:off x="640080" y="3840480"/>
            <a:ext cx="3657600" cy="1737360"/>
          </a:xfrm>
          <a:prstGeom prst="roundRect">
            <a:avLst>
              <a:gd name="adj" fmla="val 8000"/>
            </a:avLst>
          </a:prstGeom>
          <a:solidFill>
            <a:srgbClr val="FFFFFF"/>
          </a:solidFill>
          <a:ln w="31750">
            <a:solidFill>
              <a:srgbClr val="EAB308"/>
            </a:solidFill>
          </a:ln>
        </p:spPr>
        <p:txBody>
          <a:bodyPr wrap="square" lIns="0" tIns="0" rIns="0" bIns="0" anchor="ctr"/>
          <a:lstStyle/>
          <a:p>
            <a:pPr indent="0" marL="0">
              <a:buNone/>
            </a:pPr>
            <a:endParaRPr lang="en-US"/>
          </a:p>
        </p:txBody>
      </p:sp>
      <p:sp>
        <p:nvSpPr>
          <p:cNvPr id="63" name="Header_CLIENT-SIDE"/>
          <p:cNvSpPr/>
          <p:nvPr/>
        </p:nvSpPr>
        <p:spPr>
          <a:xfrm>
            <a:off x="640080" y="3840480"/>
            <a:ext cx="3657600" cy="502920"/>
          </a:xfrm>
          <a:prstGeom prst="roundRect">
            <a:avLst>
              <a:gd name="adj" fmla="val 8000"/>
            </a:avLst>
          </a:prstGeom>
          <a:solidFill>
            <a:srgbClr val="EAB308"/>
          </a:solidFill>
          <a:ln>
            <a:noFill/>
          </a:ln>
        </p:spPr>
        <p:txBody>
          <a:bodyPr wrap="square" lIns="0" tIns="0" rIns="0" bIns="0" anchor="ctr"/>
          <a:lstStyle/>
          <a:p>
            <a:pPr indent="0" marL="0">
              <a:buNone/>
            </a:pPr>
            <a:endParaRPr lang="en-US"/>
          </a:p>
        </p:txBody>
      </p:sp>
      <p:sp>
        <p:nvSpPr>
          <p:cNvPr id="64" name="Title_CLIENT-SIDE"/>
          <p:cNvSpPr/>
          <p:nvPr/>
        </p:nvSpPr>
        <p:spPr>
          <a:xfrm>
            <a:off x="640080" y="3840480"/>
            <a:ext cx="3657600" cy="502920"/>
          </a:xfrm>
          <a:prstGeom prst="rect">
            <a:avLst/>
          </a:prstGeom>
          <a:noFill/>
        </p:spPr>
        <p:txBody>
          <a:bodyPr wrap="square" lIns="0" tIns="0" rIns="0" bIns="0" anchor="ctr"/>
          <a:lstStyle/>
          <a:p>
            <a:pPr algn="ctr" indent="0" marL="0">
              <a:buNone/>
            </a:pPr>
            <a:r>
              <a:rPr lang="en-US" sz="2000" b="1" dirty="0">
                <a:solidFill>
                  <a:srgbClr val="FFFFFF"/>
                </a:solidFill>
                <a:latin typeface="Trebuchet MS" pitchFamily="34" charset="0"/>
              </a:rPr>
              <a:t>CLIENT-SIDE</a:t>
            </a:r>
          </a:p>
        </p:txBody>
      </p:sp>
      <p:sp>
        <p:nvSpPr>
          <p:cNvPr id="65" name="Sub_CLIENT-SIDE"/>
          <p:cNvSpPr/>
          <p:nvPr/>
        </p:nvSpPr>
        <p:spPr>
          <a:xfrm>
            <a:off x="731520" y="4416552"/>
            <a:ext cx="3474720" cy="274320"/>
          </a:xfrm>
          <a:prstGeom prst="rect">
            <a:avLst/>
          </a:prstGeom>
          <a:noFill/>
        </p:spPr>
        <p:txBody>
          <a:bodyPr wrap="square" lIns="0" tIns="0" rIns="0" bIns="0" anchor="ctr"/>
          <a:lstStyle/>
          <a:p>
            <a:pPr algn="ctr" indent="0" marL="0">
              <a:buNone/>
            </a:pPr>
            <a:r>
              <a:rPr lang="en-US" sz="1100" i="1" dirty="0">
                <a:solidFill>
                  <a:srgbClr val="64748B"/>
                </a:solidFill>
                <a:latin typeface="Calibri" pitchFamily="34" charset="0"/>
              </a:rPr>
              <a:t>On the operator's machine</a:t>
            </a:r>
          </a:p>
        </p:txBody>
      </p:sp>
      <p:pic>
        <p:nvPicPr>
          <p:cNvPr id="66" name="Icon_CLIENT-SIDE"/>
          <p:cNvPicPr>
            <a:picLocks noChangeAspect="1"/>
          </p:cNvPicPr>
          <p:nvPr/>
        </p:nvPicPr>
        <p:blipFill>
          <a:blip r:embed="rIdClient"/>
          <a:stretch>
            <a:fillRect/>
          </a:stretch>
        </p:blipFill>
        <p:spPr>
          <a:xfrm>
            <a:off x="822960" y="4709160"/>
            <a:ext cx="640080" cy="640080"/>
          </a:xfrm>
          <a:prstGeom prst="rect">
            <a:avLst/>
          </a:prstGeom>
        </p:spPr>
      </p:pic>
      <p:sp>
        <p:nvSpPr>
          <p:cNvPr id="67" name="Bullets_CLIENT-SIDE"/>
          <p:cNvSpPr/>
          <p:nvPr/>
        </p:nvSpPr>
        <p:spPr>
          <a:xfrm>
            <a:off x="1572768" y="4709160"/>
            <a:ext cx="2587752" cy="640080"/>
          </a:xfrm>
          <a:prstGeom prst="rect">
            <a:avLst/>
          </a:prstGeom>
          <a:noFill/>
        </p:spPr>
        <p:txBody>
          <a:bodyPr wrap="square" lIns="0" tIns="0" rIns="0" bIns="0" anchor="t"/>
          <a:lstStyle/>
          <a:p>
            <a:pPr algn="l" indent="0" marL="0">
              <a:buNone/>
            </a:pPr>
            <a:r>
              <a:rPr lang="en-US" sz="1200" dirty="0">
                <a:solidFill>
                  <a:srgbClr val="0F172A"/>
                </a:solidFill>
                <a:latin typeface="Calibri" pitchFamily="34" charset="0"/>
              </a:rPr>
              <a:t>▸  Tools: git, kubectl</a:t>
            </a:r>
          </a:p>
          <a:p>
            <a:pPr algn="l" indent="0" marL="0">
              <a:buNone/>
            </a:pPr>
            <a:r>
              <a:rPr lang="en-US" sz="1200" dirty="0">
                <a:solidFill>
                  <a:srgbClr val="0F172A"/>
                </a:solidFill>
                <a:latin typeface="Calibri" pitchFamily="34" charset="0"/>
              </a:rPr>
              <a:t>▸  Hooks: pre-commit, pre-push</a:t>
            </a:r>
          </a:p>
          <a:p>
            <a:pPr algn="l" indent="0" marL="0">
              <a:buNone/>
            </a:pPr>
            <a:r>
              <a:rPr lang="en-US" sz="1200" dirty="0">
                <a:solidFill>
                  <a:srgbClr val="0F172A"/>
                </a:solidFill>
                <a:latin typeface="Calibri" pitchFamily="34" charset="0"/>
              </a:rPr>
              <a:t>▸  File-system ACLs, allowlists</a:t>
            </a:r>
          </a:p>
        </p:txBody>
      </p:sp>
      <p:sp>
        <p:nvSpPr>
          <p:cNvPr id="68" name="Card_SERVER-SIDE"/>
          <p:cNvSpPr/>
          <p:nvPr/>
        </p:nvSpPr>
        <p:spPr>
          <a:xfrm>
            <a:off x="7894320" y="3840480"/>
            <a:ext cx="3657600" cy="1737360"/>
          </a:xfrm>
          <a:prstGeom prst="roundRect">
            <a:avLst>
              <a:gd name="adj" fmla="val 8000"/>
            </a:avLst>
          </a:prstGeom>
          <a:solidFill>
            <a:srgbClr val="FFFFFF"/>
          </a:solidFill>
          <a:ln w="31750">
            <a:solidFill>
              <a:srgbClr val="0EA5E9"/>
            </a:solidFill>
          </a:ln>
        </p:spPr>
        <p:txBody>
          <a:bodyPr wrap="square" lIns="0" tIns="0" rIns="0" bIns="0" anchor="ctr"/>
          <a:lstStyle/>
          <a:p>
            <a:pPr indent="0" marL="0">
              <a:buNone/>
            </a:pPr>
            <a:endParaRPr lang="en-US"/>
          </a:p>
        </p:txBody>
      </p:sp>
      <p:sp>
        <p:nvSpPr>
          <p:cNvPr id="69" name="Header_SERVER-SIDE"/>
          <p:cNvSpPr/>
          <p:nvPr/>
        </p:nvSpPr>
        <p:spPr>
          <a:xfrm>
            <a:off x="7894320" y="3840480"/>
            <a:ext cx="3657600" cy="50292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70" name="Title_SERVER-SIDE"/>
          <p:cNvSpPr/>
          <p:nvPr/>
        </p:nvSpPr>
        <p:spPr>
          <a:xfrm>
            <a:off x="7894320" y="3840480"/>
            <a:ext cx="3657600" cy="502920"/>
          </a:xfrm>
          <a:prstGeom prst="rect">
            <a:avLst/>
          </a:prstGeom>
          <a:noFill/>
        </p:spPr>
        <p:txBody>
          <a:bodyPr wrap="square" lIns="0" tIns="0" rIns="0" bIns="0" anchor="ctr"/>
          <a:lstStyle/>
          <a:p>
            <a:pPr algn="ctr" indent="0" marL="0">
              <a:buNone/>
            </a:pPr>
            <a:r>
              <a:rPr lang="en-US" sz="2000" b="1" dirty="0">
                <a:solidFill>
                  <a:srgbClr val="FFFFFF"/>
                </a:solidFill>
                <a:latin typeface="Trebuchet MS" pitchFamily="34" charset="0"/>
              </a:rPr>
              <a:t>SERVER-SIDE</a:t>
            </a:r>
          </a:p>
        </p:txBody>
      </p:sp>
      <p:sp>
        <p:nvSpPr>
          <p:cNvPr id="71" name="Sub_SERVER-SIDE"/>
          <p:cNvSpPr/>
          <p:nvPr/>
        </p:nvSpPr>
        <p:spPr>
          <a:xfrm>
            <a:off x="7985760" y="4416552"/>
            <a:ext cx="3474720" cy="274320"/>
          </a:xfrm>
          <a:prstGeom prst="rect">
            <a:avLst/>
          </a:prstGeom>
          <a:noFill/>
        </p:spPr>
        <p:txBody>
          <a:bodyPr wrap="square" lIns="0" tIns="0" rIns="0" bIns="0" anchor="ctr"/>
          <a:lstStyle/>
          <a:p>
            <a:pPr algn="ctr" indent="0" marL="0">
              <a:buNone/>
            </a:pPr>
            <a:r>
              <a:rPr lang="en-US" sz="1100" i="1" dirty="0">
                <a:solidFill>
                  <a:srgbClr val="64748B"/>
                </a:solidFill>
                <a:latin typeface="Calibri" pitchFamily="34" charset="0"/>
              </a:rPr>
              <a:t>Access to infrastructure and APIs</a:t>
            </a:r>
          </a:p>
        </p:txBody>
      </p:sp>
      <p:pic>
        <p:nvPicPr>
          <p:cNvPr id="72" name="Icon_SERVER-SIDE"/>
          <p:cNvPicPr>
            <a:picLocks noChangeAspect="1"/>
          </p:cNvPicPr>
          <p:nvPr/>
        </p:nvPicPr>
        <p:blipFill>
          <a:blip r:embed="rIdServer"/>
          <a:stretch>
            <a:fillRect/>
          </a:stretch>
        </p:blipFill>
        <p:spPr>
          <a:xfrm>
            <a:off x="8077200" y="4709160"/>
            <a:ext cx="640080" cy="640080"/>
          </a:xfrm>
          <a:prstGeom prst="rect">
            <a:avLst/>
          </a:prstGeom>
        </p:spPr>
      </p:pic>
      <p:sp>
        <p:nvSpPr>
          <p:cNvPr id="73" name="Bullets_SERVER-SIDE"/>
          <p:cNvSpPr/>
          <p:nvPr/>
        </p:nvSpPr>
        <p:spPr>
          <a:xfrm>
            <a:off x="8827008" y="4709160"/>
            <a:ext cx="2587752" cy="640080"/>
          </a:xfrm>
          <a:prstGeom prst="rect">
            <a:avLst/>
          </a:prstGeom>
          <a:noFill/>
        </p:spPr>
        <p:txBody>
          <a:bodyPr wrap="square" lIns="0" tIns="0" rIns="0" bIns="0" anchor="t"/>
          <a:lstStyle/>
          <a:p>
            <a:pPr algn="l" indent="0" marL="0">
              <a:buNone/>
            </a:pPr>
            <a:r>
              <a:rPr lang="en-US" sz="1200" dirty="0">
                <a:solidFill>
                  <a:srgbClr val="0F172A"/>
                </a:solidFill>
                <a:latin typeface="Calibri" pitchFamily="34" charset="0"/>
              </a:rPr>
              <a:t>▸  Admission policies, RBAC</a:t>
            </a:r>
          </a:p>
          <a:p>
            <a:pPr algn="l" indent="0" marL="0">
              <a:buNone/>
            </a:pPr>
            <a:r>
              <a:rPr lang="en-US" sz="1200" dirty="0">
                <a:solidFill>
                  <a:srgbClr val="0F172A"/>
                </a:solidFill>
                <a:latin typeface="Calibri" pitchFamily="34" charset="0"/>
              </a:rPr>
              <a:t>▸  Runtime (Falco), NetworkPolicy</a:t>
            </a:r>
          </a:p>
          <a:p>
            <a:pPr algn="l" indent="0" marL="0">
              <a:buNone/>
            </a:pPr>
            <a:r>
              <a:rPr lang="en-US" sz="1200" dirty="0">
                <a:solidFill>
                  <a:srgbClr val="0F172A"/>
                </a:solidFill>
                <a:latin typeface="Calibri" pitchFamily="34" charset="0"/>
              </a:rPr>
              <a:t>▸  Output gates (LLM Guard)</a:t>
            </a:r>
          </a:p>
        </p:txBody>
      </p:sp>
      <p:sp>
        <p:nvSpPr>
          <p:cNvPr id="74" name="Tagline"/>
          <p:cNvSpPr/>
          <p:nvPr/>
        </p:nvSpPr>
        <p:spPr>
          <a:xfrm>
            <a:off x="731520" y="5715000"/>
            <a:ext cx="10728960" cy="640080"/>
          </a:xfrm>
          <a:prstGeom prst="rect">
            <a:avLst/>
          </a:prstGeom>
          <a:noFill/>
        </p:spPr>
        <p:txBody>
          <a:bodyPr wrap="square" lIns="0" tIns="0" rIns="0" bIns="0" anchor="t"/>
          <a:lstStyle/>
          <a:p>
            <a:pPr algn="ctr" indent="0" marL="0">
              <a:buNone/>
            </a:pPr>
            <a:r>
              <a:rPr lang="en-US" sz="1600" b="1" dirty="0">
                <a:solidFill>
                  <a:srgbClr val="0F172A"/>
                </a:solidFill>
                <a:latin typeface="Trebuchet MS" pitchFamily="34" charset="0"/>
              </a:rPr>
              <a:t>Five of today's demos are live. The sixth is the slide that follows.</a:t>
            </a:r>
          </a:p>
          <a:p>
            <a:pPr algn="ctr" indent="0" marL="0">
              <a:spcBef>
                <a:spcPts val="200"/>
              </a:spcBef>
              <a:buNone/>
            </a:pPr>
            <a:r>
              <a:rPr lang="en-US" sz="1200" i="1" dirty="0">
                <a:solidFill>
                  <a:srgbClr val="64748B"/>
                </a:solidFill>
                <a:latin typeface="Calibri" pitchFamily="34" charset="0"/>
              </a:rPr>
              <a:t>Most controls land server-side, which is where your MLOps pipeline already runs.</a:t>
            </a:r>
          </a:p>
        </p:txBody>
      </p:sp>
      <p:sp>
        <p:nvSpPr>
          <p:cNvPr id="75" name="PageNum"/>
          <p:cNvSpPr/>
          <p:nvPr/>
        </p:nvSpPr>
        <p:spPr>
          <a:xfrm>
            <a:off x="11430000" y="6583680"/>
            <a:ext cx="640080" cy="182880"/>
          </a:xfrm>
          <a:prstGeom prst="rect">
            <a:avLst/>
          </a:prstGeom>
          <a:noFill/>
        </p:spPr>
        <p:txBody>
          <a:bodyPr wrap="square" lIns="0" tIns="0" rIns="0" bIns="0" anchor="ctr"/>
          <a:lstStyle/>
          <a:p>
            <a:pPr algn="r" indent="0" marL="0">
              <a:buNone/>
            </a:pPr>
            <a:r>
              <a:rPr lang="en-US" sz="900" dirty="0">
                <a:solidFill>
                  <a:srgbClr val="64748B"/>
                </a:solidFill>
                <a:latin typeface="Calibri" pitchFamily="34" charset="0"/>
              </a:rPr>
              <a:t>6 / 16</a:t>
            </a:r>
          </a:p>
        </p:txBody>
      </p:sp>
      <p:sp>
        <p:nvSpPr>
          <p:cNvPr id="76" name="Footer"/>
          <p:cNvSpPr/>
          <p:nvPr/>
        </p:nvSpPr>
        <p:spPr>
          <a:xfrm>
            <a:off x="228600" y="6583680"/>
            <a:ext cx="3200400" cy="182880"/>
          </a:xfrm>
          <a:prstGeom prst="rect">
            <a:avLst/>
          </a:prstGeom>
          <a:noFill/>
        </p:spPr>
        <p:txBody>
          <a:bodyPr wrap="square" lIns="0" tIns="0" rIns="0" bIns="0" anchor="ctr"/>
          <a:lstStyle/>
          <a:p>
            <a:pPr algn="l" indent="0" marL="0">
              <a:buNone/>
            </a:pPr>
            <a:r>
              <a:rPr lang="en-US" sz="900" dirty="0">
                <a:solidFill>
                  <a:srgbClr val="64748B"/>
                </a:solidFill>
                <a:latin typeface="Calibri" pitchFamily="34" charset="0"/>
              </a:rPr>
              <a:t>LLMday Austin · May 12,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ree Ways Teams Use AI">
    <p:bg>
      <p:bgPr>
        <a:solidFill>
          <a:srgbClr val="FAFAFA"/>
        </a:solidFill>
      </p:bgPr>
    </p:bg>
    <p:spTree>
      <p:nvGrpSpPr>
        <p:cNvPr id="1" name=""/>
        <p:cNvGrpSpPr/>
        <p:nvPr/>
      </p:nvGrpSpPr>
      <p:grpSpPr>
        <a:xfrm>
          <a:off x="0" y="0"/>
          <a:ext cx="0" cy="0"/>
          <a:chOff x="0" y="0"/>
          <a:chExt cx="0" cy="0"/>
        </a:xfrm>
      </p:grpSpPr>
      <p:sp>
        <p:nvSpPr>
          <p:cNvPr id="51" name="Title"/>
          <p:cNvSpPr/>
          <p:nvPr/>
        </p:nvSpPr>
        <p:spPr>
          <a:xfrm>
            <a:off x="731520" y="274320"/>
            <a:ext cx="10728960" cy="685800"/>
          </a:xfrm>
          <a:prstGeom prst="rect">
            <a:avLst/>
          </a:prstGeom>
          <a:noFill/>
        </p:spPr>
        <p:txBody>
          <a:bodyPr wrap="square" lIns="0" tIns="0" rIns="0" bIns="0" anchor="ctr"/>
          <a:lstStyle/>
          <a:p>
            <a:pPr algn="l" indent="0" marL="0">
              <a:buNone/>
            </a:pPr>
            <a:r>
              <a:rPr lang="en-US" sz="4400" b="1" dirty="0">
                <a:solidFill>
                  <a:srgbClr val="0F172A"/>
                </a:solidFill>
                <a:latin typeface="Trebuchet MS" pitchFamily="34" charset="0"/>
              </a:rPr>
              <a:t>Three ways teams use AI</a:t>
            </a:r>
          </a:p>
        </p:txBody>
      </p:sp>
      <p:sp>
        <p:nvSpPr>
          <p:cNvPr id="52" name="Subtitle"/>
          <p:cNvSpPr/>
          <p:nvPr/>
        </p:nvSpPr>
        <p:spPr>
          <a:xfrm>
            <a:off x="731520" y="960120"/>
            <a:ext cx="10728960" cy="365760"/>
          </a:xfrm>
          <a:prstGeom prst="rect">
            <a:avLst/>
          </a:prstGeom>
          <a:noFill/>
        </p:spPr>
        <p:txBody>
          <a:bodyPr wrap="square" lIns="0" tIns="0" rIns="0" bIns="0" anchor="ctr"/>
          <a:lstStyle/>
          <a:p>
            <a:pPr algn="l" indent="0" marL="0">
              <a:buNone/>
            </a:pPr>
            <a:r>
              <a:rPr lang="en-US" sz="1800" i="1" dirty="0">
                <a:solidFill>
                  <a:srgbClr val="64748B"/>
                </a:solidFill>
                <a:latin typeface="Calibri" pitchFamily="34" charset="0"/>
              </a:rPr>
              <a:t>This talk is about one of them. The one where the agent touches production.</a:t>
            </a:r>
          </a:p>
        </p:txBody>
      </p:sp>
      <p:sp>
        <p:nvSpPr>
          <p:cNvPr id="53" name="Card_1"/>
          <p:cNvSpPr/>
          <p:nvPr/>
        </p:nvSpPr>
        <p:spPr>
          <a:xfrm>
            <a:off x="838200" y="1645920"/>
            <a:ext cx="10515600" cy="1097280"/>
          </a:xfrm>
          <a:prstGeom prst="roundRect">
            <a:avLst>
              <a:gd name="adj" fmla="val 8000"/>
            </a:avLst>
          </a:prstGeom>
          <a:solidFill>
            <a:srgbClr val="FFFFFF"/>
          </a:solidFill>
          <a:ln w="22225">
            <a:solidFill>
              <a:srgbClr val="10B981"/>
            </a:solidFill>
          </a:ln>
        </p:spPr>
        <p:txBody>
          <a:bodyPr wrap="square" lIns="0" tIns="0" rIns="0" bIns="0" anchor="ctr"/>
          <a:lstStyle/>
          <a:p>
            <a:pPr indent="0" marL="0">
              <a:buNone/>
            </a:pPr>
            <a:endParaRPr lang="en-US"/>
          </a:p>
        </p:txBody>
      </p:sp>
      <p:sp>
        <p:nvSpPr>
          <p:cNvPr id="54" name="Badge_1"/>
          <p:cNvSpPr/>
          <p:nvPr/>
        </p:nvSpPr>
        <p:spPr>
          <a:xfrm>
            <a:off x="929640" y="1737360"/>
            <a:ext cx="914400" cy="914400"/>
          </a:xfrm>
          <a:prstGeom prst="roundRect">
            <a:avLst>
              <a:gd name="adj" fmla="val 8000"/>
            </a:avLst>
          </a:prstGeom>
          <a:solidFill>
            <a:srgbClr val="10B981"/>
          </a:solidFill>
          <a:ln>
            <a:noFill/>
          </a:ln>
        </p:spPr>
        <p:txBody>
          <a:bodyPr wrap="square" lIns="0" tIns="0" rIns="0" bIns="0" anchor="ctr"/>
          <a:lstStyle/>
          <a:p>
            <a:pPr indent="0" marL="0">
              <a:buNone/>
            </a:pPr>
            <a:endParaRPr lang="en-US"/>
          </a:p>
        </p:txBody>
      </p:sp>
      <p:sp>
        <p:nvSpPr>
          <p:cNvPr id="55" name="Num_1"/>
          <p:cNvSpPr/>
          <p:nvPr/>
        </p:nvSpPr>
        <p:spPr>
          <a:xfrm>
            <a:off x="929640" y="1737360"/>
            <a:ext cx="914400" cy="914400"/>
          </a:xfrm>
          <a:prstGeom prst="rect">
            <a:avLst/>
          </a:prstGeom>
          <a:noFill/>
        </p:spPr>
        <p:txBody>
          <a:bodyPr wrap="square" lIns="0" tIns="0" rIns="0" bIns="0" anchor="ctr"/>
          <a:lstStyle/>
          <a:p>
            <a:pPr algn="ctr" indent="0" marL="0">
              <a:buNone/>
            </a:pPr>
            <a:r>
              <a:rPr lang="en-US" sz="4400" b="1" dirty="0">
                <a:solidFill>
                  <a:srgbClr val="FFFFFF"/>
                </a:solidFill>
                <a:latin typeface="Trebuchet MS" pitchFamily="34" charset="0"/>
              </a:rPr>
              <a:t>1</a:t>
            </a:r>
          </a:p>
        </p:txBody>
      </p:sp>
      <p:sp>
        <p:nvSpPr>
          <p:cNvPr id="56" name="Text_1"/>
          <p:cNvSpPr/>
          <p:nvPr/>
        </p:nvSpPr>
        <p:spPr>
          <a:xfrm>
            <a:off x="2072640" y="1737360"/>
            <a:ext cx="9006840" cy="91440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Inject AI into workflows</a:t>
            </a:r>
          </a:p>
          <a:p>
            <a:pPr algn="l" indent="0" marL="0">
              <a:spcBef>
                <a:spcPts val="300"/>
              </a:spcBef>
              <a:buNone/>
            </a:pPr>
            <a:r>
              <a:rPr lang="en-US" sz="1400" i="1" dirty="0">
                <a:solidFill>
                  <a:srgbClr val="64748B"/>
                </a:solidFill>
                <a:latin typeface="Calibri" pitchFamily="34" charset="0"/>
              </a:rPr>
              <a:t>Coding agents, artifact generation, internal automation. Bounded blast radius.</a:t>
            </a:r>
          </a:p>
        </p:txBody>
      </p:sp>
      <p:sp>
        <p:nvSpPr>
          <p:cNvPr id="57" name="Card_2"/>
          <p:cNvSpPr/>
          <p:nvPr/>
        </p:nvSpPr>
        <p:spPr>
          <a:xfrm>
            <a:off x="838200" y="2971800"/>
            <a:ext cx="10515600" cy="1097280"/>
          </a:xfrm>
          <a:prstGeom prst="roundRect">
            <a:avLst>
              <a:gd name="adj" fmla="val 8000"/>
            </a:avLst>
          </a:prstGeom>
          <a:solidFill>
            <a:srgbClr val="FFFFFF"/>
          </a:solidFill>
          <a:ln w="22225">
            <a:solidFill>
              <a:srgbClr val="A100FF"/>
            </a:solidFill>
          </a:ln>
        </p:spPr>
        <p:txBody>
          <a:bodyPr wrap="square" lIns="0" tIns="0" rIns="0" bIns="0" anchor="ctr"/>
          <a:lstStyle/>
          <a:p>
            <a:pPr indent="0" marL="0">
              <a:buNone/>
            </a:pPr>
            <a:endParaRPr lang="en-US"/>
          </a:p>
        </p:txBody>
      </p:sp>
      <p:sp>
        <p:nvSpPr>
          <p:cNvPr id="58" name="Badge_2"/>
          <p:cNvSpPr/>
          <p:nvPr/>
        </p:nvSpPr>
        <p:spPr>
          <a:xfrm>
            <a:off x="929640" y="3063240"/>
            <a:ext cx="914400" cy="914400"/>
          </a:xfrm>
          <a:prstGeom prst="roundRect">
            <a:avLst>
              <a:gd name="adj" fmla="val 8000"/>
            </a:avLst>
          </a:prstGeom>
          <a:solidFill>
            <a:srgbClr val="A100FF"/>
          </a:solidFill>
          <a:ln>
            <a:noFill/>
          </a:ln>
        </p:spPr>
        <p:txBody>
          <a:bodyPr wrap="square" lIns="0" tIns="0" rIns="0" bIns="0" anchor="ctr"/>
          <a:lstStyle/>
          <a:p>
            <a:pPr indent="0" marL="0">
              <a:buNone/>
            </a:pPr>
            <a:endParaRPr lang="en-US"/>
          </a:p>
        </p:txBody>
      </p:sp>
      <p:sp>
        <p:nvSpPr>
          <p:cNvPr id="59" name="Num_2"/>
          <p:cNvSpPr/>
          <p:nvPr/>
        </p:nvSpPr>
        <p:spPr>
          <a:xfrm>
            <a:off x="929640" y="3063240"/>
            <a:ext cx="914400" cy="914400"/>
          </a:xfrm>
          <a:prstGeom prst="rect">
            <a:avLst/>
          </a:prstGeom>
          <a:noFill/>
        </p:spPr>
        <p:txBody>
          <a:bodyPr wrap="square" lIns="0" tIns="0" rIns="0" bIns="0" anchor="ctr"/>
          <a:lstStyle/>
          <a:p>
            <a:pPr algn="ctr" indent="0" marL="0">
              <a:buNone/>
            </a:pPr>
            <a:r>
              <a:rPr lang="en-US" sz="4400" b="1" dirty="0">
                <a:solidFill>
                  <a:srgbClr val="FFFFFF"/>
                </a:solidFill>
                <a:latin typeface="Trebuchet MS" pitchFamily="34" charset="0"/>
              </a:rPr>
              <a:t>2</a:t>
            </a:r>
          </a:p>
        </p:txBody>
      </p:sp>
      <p:sp>
        <p:nvSpPr>
          <p:cNvPr id="60" name="Text_2"/>
          <p:cNvSpPr/>
          <p:nvPr/>
        </p:nvSpPr>
        <p:spPr>
          <a:xfrm>
            <a:off x="2072640" y="3063240"/>
            <a:ext cx="9006840" cy="91440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Inject AI into an application</a:t>
            </a:r>
          </a:p>
          <a:p>
            <a:pPr algn="l" indent="0" marL="0">
              <a:spcBef>
                <a:spcPts val="300"/>
              </a:spcBef>
              <a:buNone/>
            </a:pPr>
            <a:r>
              <a:rPr lang="en-US" sz="1400" i="1" dirty="0">
                <a:solidFill>
                  <a:srgbClr val="64748B"/>
                </a:solidFill>
                <a:latin typeface="Calibri" pitchFamily="34" charset="0"/>
              </a:rPr>
              <a:t>Chatbots, search, in-product features. Output is the surface.</a:t>
            </a:r>
          </a:p>
        </p:txBody>
      </p:sp>
      <p:sp>
        <p:nvSpPr>
          <p:cNvPr id="61" name="Card_3"/>
          <p:cNvSpPr/>
          <p:nvPr/>
        </p:nvSpPr>
        <p:spPr>
          <a:xfrm>
            <a:off x="838200" y="4297680"/>
            <a:ext cx="10515600" cy="109728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62" name="Badge_3"/>
          <p:cNvSpPr/>
          <p:nvPr/>
        </p:nvSpPr>
        <p:spPr>
          <a:xfrm>
            <a:off x="929640" y="4389120"/>
            <a:ext cx="914400" cy="91440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63" name="Num_3"/>
          <p:cNvSpPr/>
          <p:nvPr/>
        </p:nvSpPr>
        <p:spPr>
          <a:xfrm>
            <a:off x="929640" y="4389120"/>
            <a:ext cx="914400" cy="914400"/>
          </a:xfrm>
          <a:prstGeom prst="rect">
            <a:avLst/>
          </a:prstGeom>
          <a:noFill/>
        </p:spPr>
        <p:txBody>
          <a:bodyPr wrap="square" lIns="0" tIns="0" rIns="0" bIns="0" anchor="ctr"/>
          <a:lstStyle/>
          <a:p>
            <a:pPr algn="ctr" indent="0" marL="0">
              <a:buNone/>
            </a:pPr>
            <a:r>
              <a:rPr lang="en-US" sz="4400" b="1" dirty="0">
                <a:solidFill>
                  <a:srgbClr val="0EA5E9"/>
                </a:solidFill>
                <a:latin typeface="Trebuchet MS" pitchFamily="34" charset="0"/>
              </a:rPr>
              <a:t>3</a:t>
            </a:r>
          </a:p>
        </p:txBody>
      </p:sp>
      <p:sp>
        <p:nvSpPr>
          <p:cNvPr id="64" name="Text_3"/>
          <p:cNvSpPr/>
          <p:nvPr/>
        </p:nvSpPr>
        <p:spPr>
          <a:xfrm>
            <a:off x="2072640" y="4389120"/>
            <a:ext cx="7360920" cy="914400"/>
          </a:xfrm>
          <a:prstGeom prst="rect">
            <a:avLst/>
          </a:prstGeom>
          <a:noFill/>
        </p:spPr>
        <p:txBody>
          <a:bodyPr wrap="square" lIns="0" tIns="0" rIns="0" bIns="0" anchor="ctr"/>
          <a:lstStyle/>
          <a:p>
            <a:pPr algn="l" indent="0" marL="0">
              <a:buNone/>
            </a:pPr>
            <a:r>
              <a:rPr lang="en-US" sz="2400" b="1" dirty="0">
                <a:solidFill>
                  <a:srgbClr val="FFFFFF"/>
                </a:solidFill>
                <a:latin typeface="Trebuchet MS" pitchFamily="34" charset="0"/>
              </a:rPr>
              <a:t>AI for systems management</a:t>
            </a:r>
          </a:p>
          <a:p>
            <a:pPr algn="l" indent="0" marL="0">
              <a:spcBef>
                <a:spcPts val="300"/>
              </a:spcBef>
              <a:buNone/>
            </a:pPr>
            <a:r>
              <a:rPr lang="en-US" sz="1400" i="1" dirty="0">
                <a:solidFill>
                  <a:srgbClr val="E0F2FE"/>
                </a:solidFill>
                <a:latin typeface="Calibri" pitchFamily="34" charset="0"/>
              </a:rPr>
              <a:t>Kubernetes, infrastructure operations, cloud. The agent touches production.</a:t>
            </a:r>
          </a:p>
        </p:txBody>
      </p:sp>
      <p:sp>
        <p:nvSpPr>
          <p:cNvPr id="65" name="ThisTalkBadge"/>
          <p:cNvSpPr/>
          <p:nvPr/>
        </p:nvSpPr>
        <p:spPr>
          <a:xfrm>
            <a:off x="9890760" y="4617720"/>
            <a:ext cx="1280160" cy="45720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66" name="ThisTalkText"/>
          <p:cNvSpPr/>
          <p:nvPr/>
        </p:nvSpPr>
        <p:spPr>
          <a:xfrm>
            <a:off x="9890760" y="4617720"/>
            <a:ext cx="1280160" cy="457200"/>
          </a:xfrm>
          <a:prstGeom prst="rect">
            <a:avLst/>
          </a:prstGeom>
          <a:noFill/>
        </p:spPr>
        <p:txBody>
          <a:bodyPr wrap="square" lIns="0" tIns="0" rIns="0" bIns="0" anchor="ctr"/>
          <a:lstStyle/>
          <a:p>
            <a:pPr algn="ctr" indent="0" marL="0">
              <a:buNone/>
            </a:pPr>
            <a:r>
              <a:rPr lang="en-US" sz="1200" b="1" dirty="0">
                <a:solidFill>
                  <a:srgbClr val="0EA5E9"/>
                </a:solidFill>
                <a:latin typeface="Trebuchet MS" pitchFamily="34" charset="0"/>
              </a:rPr>
              <a:t>◀  THIS TALK</a:t>
            </a:r>
          </a:p>
        </p:txBody>
      </p:sp>
      <p:sp>
        <p:nvSpPr>
          <p:cNvPr id="67" name="Tagline"/>
          <p:cNvSpPr/>
          <p:nvPr/>
        </p:nvSpPr>
        <p:spPr>
          <a:xfrm>
            <a:off x="731520" y="5669280"/>
            <a:ext cx="10728960" cy="365760"/>
          </a:xfrm>
          <a:prstGeom prst="rect">
            <a:avLst/>
          </a:prstGeom>
          <a:noFill/>
        </p:spPr>
        <p:txBody>
          <a:bodyPr wrap="square" lIns="0" tIns="0" rIns="0" bIns="0" anchor="ctr"/>
          <a:lstStyle/>
          <a:p>
            <a:pPr algn="ctr" indent="0" marL="0">
              <a:buNone/>
            </a:pPr>
            <a:r>
              <a:rPr lang="en-US" sz="1600" b="1" i="1" dirty="0">
                <a:solidFill>
                  <a:srgbClr val="A100FF"/>
                </a:solidFill>
                <a:latin typeface="Trebuchet MS" pitchFamily="34" charset="0"/>
              </a:rPr>
              <a:t>When the agent touches production, the guardrails have to be deterministic.</a:t>
            </a:r>
          </a:p>
        </p:txBody>
      </p:sp>
      <p:sp>
        <p:nvSpPr>
          <p:cNvPr id="68" name="PageNum"/>
          <p:cNvSpPr/>
          <p:nvPr/>
        </p:nvSpPr>
        <p:spPr>
          <a:xfrm>
            <a:off x="11430000" y="6583680"/>
            <a:ext cx="640080" cy="182880"/>
          </a:xfrm>
          <a:prstGeom prst="rect">
            <a:avLst/>
          </a:prstGeom>
          <a:noFill/>
        </p:spPr>
        <p:txBody>
          <a:bodyPr wrap="square" lIns="0" tIns="0" rIns="0" bIns="0" anchor="ctr"/>
          <a:lstStyle/>
          <a:p>
            <a:pPr algn="r" indent="0" marL="0">
              <a:buNone/>
            </a:pPr>
            <a:r>
              <a:rPr lang="en-US" sz="900" dirty="0">
                <a:solidFill>
                  <a:srgbClr val="64748B"/>
                </a:solidFill>
                <a:latin typeface="Calibri" pitchFamily="34" charset="0"/>
              </a:rPr>
              <a:t>3 / 16</a:t>
            </a:r>
          </a:p>
        </p:txBody>
      </p:sp>
      <p:sp>
        <p:nvSpPr>
          <p:cNvPr id="69" name="Footer"/>
          <p:cNvSpPr/>
          <p:nvPr/>
        </p:nvSpPr>
        <p:spPr>
          <a:xfrm>
            <a:off x="228600" y="6583680"/>
            <a:ext cx="3200400" cy="182880"/>
          </a:xfrm>
          <a:prstGeom prst="rect">
            <a:avLst/>
          </a:prstGeom>
          <a:noFill/>
        </p:spPr>
        <p:txBody>
          <a:bodyPr wrap="square" lIns="0" tIns="0" rIns="0" bIns="0" anchor="ctr"/>
          <a:lstStyle/>
          <a:p>
            <a:pPr algn="l" indent="0" marL="0">
              <a:buNone/>
            </a:pPr>
            <a:r>
              <a:rPr lang="en-US" sz="900" dirty="0">
                <a:solidFill>
                  <a:srgbClr val="64748B"/>
                </a:solidFill>
                <a:latin typeface="Calibri" pitchFamily="34" charset="0"/>
              </a:rPr>
              <a:t>LLMday Austin · May 12,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Bar"/>
          <p:cNvSpPr/>
          <p:nvPr/>
        </p:nvSpPr>
        <p:spPr>
          <a:xfrm>
            <a:off x="0" y="0"/>
            <a:ext cx="228600" cy="6858000"/>
          </a:xfrm>
          <a:prstGeom prst="rect">
            <a:avLst/>
          </a:prstGeom>
          <a:solidFill>
            <a:srgbClr val="A100FF"/>
          </a:solidFill>
        </p:spPr>
      </p:sp>
      <p:sp>
        <p:nvSpPr>
          <p:cNvPr id="3" name="Title"/>
          <p:cNvSpPr/>
          <p:nvPr/>
        </p:nvSpPr>
        <p:spPr>
          <a:xfrm>
            <a:off x="731520" y="731520"/>
            <a:ext cx="10515600" cy="731520"/>
          </a:xfrm>
          <a:prstGeom prst="rect">
            <a:avLst/>
          </a:prstGeom>
          <a:noFill/>
        </p:spPr>
        <p:txBody>
          <a:bodyPr wrap="square" lIns="0" tIns="0" rIns="0" bIns="0" anchor="ctr"/>
          <a:lstStyle/>
          <a:p>
            <a:pPr indent="0" marL="0">
              <a:buNone/>
            </a:pPr>
            <a:r>
              <a:rPr lang="en-US" sz="4400" b="1" dirty="0">
                <a:solidFill>
                  <a:srgbClr val="F8FAFC"/>
                </a:solidFill>
                <a:latin typeface="Trebuchet MS" pitchFamily="34" charset="0"/>
              </a:rPr>
              <a:t>Read the long version.</a:t>
            </a:r>
          </a:p>
        </p:txBody>
      </p:sp>
      <p:sp>
        <p:nvSpPr>
          <p:cNvPr id="4" name="Subtitle"/>
          <p:cNvSpPr/>
          <p:nvPr/>
        </p:nvSpPr>
        <p:spPr>
          <a:xfrm>
            <a:off x="731520" y="1554480"/>
            <a:ext cx="10515600" cy="457200"/>
          </a:xfrm>
          <a:prstGeom prst="rect">
            <a:avLst/>
          </a:prstGeom>
          <a:noFill/>
        </p:spPr>
        <p:txBody>
          <a:bodyPr wrap="square" lIns="0" tIns="0" rIns="0" bIns="0" anchor="ctr"/>
          <a:lstStyle/>
          <a:p>
            <a:pPr indent="0" marL="0">
              <a:buNone/>
            </a:pPr>
            <a:r>
              <a:rPr lang="en-US" sz="1800" i="1" dirty="0">
                <a:solidFill>
                  <a:srgbClr val="94A3B8"/>
                </a:solidFill>
                <a:latin typeface="Calibri" pitchFamily="34" charset="0"/>
              </a:rPr>
              <a:t>Articles on platform engineering, agentic AI guardrails, and the MLOps mapping.</a:t>
            </a:r>
          </a:p>
        </p:txBody>
      </p:sp>
      <p:sp>
        <p:nvSpPr>
          <p:cNvPr id="5" name="Articles"/>
          <p:cNvSpPr/>
          <p:nvPr/>
        </p:nvSpPr>
        <p:spPr>
          <a:xfrm>
            <a:off x="731520" y="2560320"/>
            <a:ext cx="6400800" cy="3200400"/>
          </a:xfrm>
          <a:prstGeom prst="rect">
            <a:avLst/>
          </a:prstGeom>
          <a:noFill/>
        </p:spPr>
        <p:txBody>
          <a:bodyPr wrap="square" lIns="0" tIns="0" rIns="0" bIns="0" anchor="t"/>
          <a:lstStyle/>
          <a:p>
            <a:pPr indent="0" marL="0">
              <a:buNone/>
            </a:pPr>
            <a:r>
              <a:rPr lang="en-US" sz="2400" b="1" dirty="0">
                <a:solidFill>
                  <a:srgbClr val="A100FF"/>
                </a:solidFill>
                <a:latin typeface="Trebuchet MS" pitchFamily="34" charset="0"/>
              </a:rPr>
              <a:t>MichaelRishiForrester.com</a:t>
            </a:r>
          </a:p>
          <a:p>
            <a:pPr indent="0" marL="0">
              <a:buNone/>
            </a:pPr>
            <a:r>
              <a:rPr lang="en-US" sz="1200">
                <a:solidFill>
                  <a:srgbClr val="0F172A"/>
                </a:solidFill>
              </a:rPr>
              <a:t xml:space="preserve"> </a:t>
            </a:r>
          </a:p>
          <a:p>
            <a:pPr indent="0" marL="0">
              <a:buNone/>
            </a:pPr>
            <a:r>
              <a:rPr lang="en-US" sz="1600" b="1" dirty="0">
                <a:solidFill>
                  <a:srgbClr val="F8FAFC"/>
                </a:solidFill>
                <a:latin typeface="Trebuchet MS" pitchFamily="34" charset="0"/>
              </a:rPr>
              <a:t>The Platform Engineer’s Guide to AI Safety</a:t>
            </a:r>
          </a:p>
          <a:p>
            <a:pPr indent="0" marL="0">
              <a:buNone/>
            </a:pPr>
            <a:r>
              <a:rPr lang="en-US" sz="1300" i="1" dirty="0">
                <a:solidFill>
                  <a:srgbClr val="94A3B8"/>
                </a:solidFill>
                <a:latin typeface="Calibri" pitchFamily="34" charset="0"/>
              </a:rPr>
              <a:t>You already know it. You just don’t know you know it. (Mar 10, 2026)</a:t>
            </a:r>
          </a:p>
          <a:p>
            <a:pPr indent="0" marL="0">
              <a:buNone/>
            </a:pPr>
            <a:r>
              <a:rPr lang="en-US" sz="800">
                <a:solidFill>
                  <a:srgbClr val="0F172A"/>
                </a:solidFill>
              </a:rPr>
              <a:t xml:space="preserve"> </a:t>
            </a:r>
          </a:p>
          <a:p>
            <a:pPr indent="0" marL="0">
              <a:buNone/>
            </a:pPr>
            <a:r>
              <a:rPr lang="en-US" sz="1600" b="1" dirty="0">
                <a:solidFill>
                  <a:srgbClr val="F8FAFC"/>
                </a:solidFill>
                <a:latin typeface="Trebuchet MS" pitchFamily="34" charset="0"/>
              </a:rPr>
              <a:t>I Built an ArgoCD MCP Server. Here’s Why It’s Different.</a:t>
            </a:r>
          </a:p>
          <a:p>
            <a:pPr indent="0" marL="0">
              <a:buNone/>
            </a:pPr>
            <a:r>
              <a:rPr lang="en-US" sz="1300" i="1" dirty="0">
                <a:solidFill>
                  <a:srgbClr val="94A3B8"/>
                </a:solidFill>
                <a:latin typeface="Calibri" pitchFamily="34" charset="0"/>
              </a:rPr>
              <a:t>Three permission tiers, dry-run by default, audit logs. (Feb 2, 2026)</a:t>
            </a:r>
          </a:p>
          <a:p>
            <a:pPr indent="0" marL="0">
              <a:buNone/>
            </a:pPr>
            <a:r>
              <a:rPr lang="en-US" sz="800">
                <a:solidFill>
                  <a:srgbClr val="0F172A"/>
                </a:solidFill>
              </a:rPr>
              <a:t xml:space="preserve"> </a:t>
            </a:r>
          </a:p>
          <a:p>
            <a:pPr indent="0" marL="0">
              <a:buNone/>
            </a:pPr>
            <a:r>
              <a:rPr lang="en-US" sz="1600" b="1" dirty="0">
                <a:solidFill>
                  <a:srgbClr val="F8FAFC"/>
                </a:solidFill>
                <a:latin typeface="Trebuchet MS" pitchFamily="34" charset="0"/>
              </a:rPr>
              <a:t>I Just Helped an Enterprise Adopt AI</a:t>
            </a:r>
          </a:p>
          <a:p>
            <a:pPr indent="0" marL="0">
              <a:buNone/>
            </a:pPr>
            <a:r>
              <a:rPr lang="en-US" sz="1300" i="1" dirty="0">
                <a:solidFill>
                  <a:srgbClr val="94A3B8"/>
                </a:solidFill>
                <a:latin typeface="Calibri" pitchFamily="34" charset="0"/>
              </a:rPr>
              <a:t>Here’s what nobody’s talking about. (Mar 10, 2026)</a:t>
            </a:r>
          </a:p>
        </p:txBody>
      </p:sp>
      <p:sp>
        <p:nvSpPr>
          <p:cNvPr id="50" name="CodeSection"/>
          <p:cNvSpPr/>
          <p:nvPr/>
        </p:nvSpPr>
        <p:spPr>
          <a:xfrm>
            <a:off x="731520" y="5120640"/>
            <a:ext cx="6400800" cy="914400"/>
          </a:xfrm>
          <a:prstGeom prst="rect">
            <a:avLst/>
          </a:prstGeom>
          <a:noFill/>
        </p:spPr>
        <p:txBody>
          <a:bodyPr wrap="square" lIns="0" tIns="0" rIns="0" bIns="0" anchor="t"/>
          <a:lstStyle/>
          <a:p>
            <a:pPr indent="0" marL="0">
              <a:buNone/>
            </a:pPr>
            <a:r>
              <a:rPr lang="en-US" sz="1800" b="1" dirty="0">
                <a:solidFill>
                  <a:srgbClr val="0EA5E9"/>
                </a:solidFill>
                <a:latin typeface="Trebuchet MS" pitchFamily="34" charset="0"/>
              </a:rPr>
              <a:t>github.com/peopleforrester</a:t>
            </a:r>
          </a:p>
          <a:p>
            <a:pPr indent="0" marL="0">
              <a:buNone/>
            </a:pPr>
            <a:r>
              <a:rPr lang="en-US" sz="1100" dirty="0">
                <a:solidFill>
                  <a:srgbClr val="F8FAFC"/>
                </a:solidFill>
                <a:latin typeface="Calibri" pitchFamily="34" charset="0"/>
              </a:rPr>
              <a:t>LLMday-Texas-2026  ·  SREday-Texas-2026  ·  mcp-k8s-observability-argocd-server</a:t>
            </a:r>
          </a:p>
          <a:p>
            <a:pPr indent="0" marL="0">
              <a:buNone/>
            </a:pPr>
            <a:r>
              <a:rPr lang="en-US" sz="1100" i="1" dirty="0">
                <a:solidFill>
                  <a:srgbClr val="94A3B8"/>
                </a:solidFill>
                <a:latin typeface="Calibri" pitchFamily="34" charset="0"/>
              </a:rPr>
              <a:t>Talk repos, demo code, and the guarded MCP server from the article above.</a:t>
            </a:r>
          </a:p>
        </p:txBody>
      </p:sp>
      <p:pic>
        <p:nvPicPr>
          <p:cNvPr id="6" name="PersonalQR"/>
          <p:cNvPicPr>
            <a:picLocks noChangeAspect="1"/>
          </p:cNvPicPr>
          <p:nvPr/>
        </p:nvPicPr>
        <p:blipFill>
          <a:blip r:embed="rId1"/>
          <a:stretch>
            <a:fillRect/>
          </a:stretch>
        </p:blipFill>
        <p:spPr>
          <a:xfrm>
            <a:off x="8229600" y="2560320"/>
            <a:ext cx="2743200" cy="2743200"/>
          </a:xfrm>
          <a:prstGeom prst="rect">
            <a:avLst/>
          </a:prstGeom>
        </p:spPr>
      </p:pic>
      <p:sp>
        <p:nvSpPr>
          <p:cNvPr id="7" name="QRCaption"/>
          <p:cNvSpPr/>
          <p:nvPr/>
        </p:nvSpPr>
        <p:spPr>
          <a:xfrm>
            <a:off x="8138160" y="5394960"/>
            <a:ext cx="2926080" cy="365760"/>
          </a:xfrm>
          <a:prstGeom prst="rect">
            <a:avLst/>
          </a:prstGeom>
          <a:noFill/>
        </p:spPr>
        <p:txBody>
          <a:bodyPr wrap="square" lIns="0" tIns="0" rIns="0" bIns="0" anchor="ctr"/>
          <a:lstStyle/>
          <a:p>
            <a:pPr algn="ctr" indent="0" marL="0">
              <a:buNone/>
            </a:pPr>
            <a:r>
              <a:rPr lang="en-US" sz="1100" b="1" dirty="0">
                <a:solidFill>
                  <a:srgbClr val="FBBF24"/>
                </a:solidFill>
                <a:latin typeface="Trebuchet MS" pitchFamily="34" charset="0"/>
              </a:rPr>
              <a:t>Scan for MichaelRishiForrester.com</a:t>
            </a:r>
          </a:p>
        </p:txBody>
      </p:sp>
      <p:sp>
        <p:nvSpPr>
          <p:cNvPr id="8" name="Socials"/>
          <p:cNvSpPr/>
          <p:nvPr/>
        </p:nvSpPr>
        <p:spPr>
          <a:xfrm>
            <a:off x="731520" y="6035040"/>
            <a:ext cx="10515600" cy="365760"/>
          </a:xfrm>
          <a:prstGeom prst="rect">
            <a:avLst/>
          </a:prstGeom>
          <a:noFill/>
        </p:spPr>
        <p:txBody>
          <a:bodyPr wrap="square" lIns="0" tIns="0" rIns="0" bIns="0" anchor="ctr"/>
          <a:lstStyle/>
          <a:p>
            <a:pPr algn="ctr" indent="0" marL="0">
              <a:buNone/>
            </a:pPr>
            <a:r>
              <a:rPr lang="en-US" sz="1400" b="1" dirty="0">
                <a:solidFill>
                  <a:srgbClr val="F8FAFC"/>
                </a:solidFill>
                <a:latin typeface="Trebuchet MS" pitchFamily="34" charset="0"/>
              </a:rPr>
              <a:t>@peopleforrester</a:t>
            </a:r>
            <a:r>
              <a:rPr lang="en-US" sz="1400" dirty="0">
                <a:solidFill>
                  <a:srgbClr val="94A3B8"/>
                </a:solidFill>
                <a:latin typeface="Calibri" pitchFamily="34" charset="0"/>
              </a:rPr>
              <a:t xml:space="preserve">  on  X  ·  Bluesky  ·  Hachyderm  ·  GitHub  ·  LinkedIn</a:t>
            </a:r>
          </a:p>
        </p:txBody>
      </p:sp>
      <p:sp>
        <p:nvSpPr>
          <p:cNvPr id="9" name="Thanks"/>
          <p:cNvSpPr/>
          <p:nvPr/>
        </p:nvSpPr>
        <p:spPr>
          <a:xfrm>
            <a:off x="731520" y="6400800"/>
            <a:ext cx="10515600" cy="365760"/>
          </a:xfrm>
          <a:prstGeom prst="rect">
            <a:avLst/>
          </a:prstGeom>
          <a:noFill/>
        </p:spPr>
        <p:txBody>
          <a:bodyPr wrap="square" lIns="0" tIns="0" rIns="0" bIns="0" anchor="ctr"/>
          <a:lstStyle/>
          <a:p>
            <a:pPr algn="ctr" indent="0" marL="0">
              <a:buNone/>
            </a:pPr>
            <a:r>
              <a:rPr lang="en-US" sz="1200" i="1" dirty="0">
                <a:solidFill>
                  <a:srgbClr val="64748B"/>
                </a:solidFill>
                <a:latin typeface="Calibri" pitchFamily="34" charset="0"/>
              </a:rPr>
              <a:t>Thanks for spending the hour. Now go fill the gates the pipeline already knows.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548640" y="457200"/>
            <a:ext cx="11064240" cy="365760"/>
          </a:xfrm>
          <a:prstGeom prst="rect">
            <a:avLst/>
          </a:prstGeom>
          <a:noFill/>
          <a:ln/>
        </p:spPr>
        <p:txBody>
          <a:bodyPr wrap="square" lIns="0" tIns="0" rIns="0" bIns="0" rtlCol="0" anchor="ctr"/>
          <a:lstStyle/>
          <a:p>
            <a:pPr algn="ctr" indent="0" marL="0">
              <a:buNone/>
            </a:pPr>
            <a:r>
              <a:rPr lang="en-US" sz="1400" b="1" spc="800" kern="0" dirty="0">
                <a:solidFill>
                  <a:srgbClr val="0EA5E9"/>
                </a:solidFill>
                <a:latin typeface="Trebuchet MS" pitchFamily="34" charset="0"/>
                <a:ea typeface="Trebuchet MS" pitchFamily="34" charset="-122"/>
                <a:cs typeface="Trebuchet MS" pitchFamily="34" charset="-120"/>
              </a:rPr>
              <a:t>DEMO 6 OF 6  ·  ON THE SLIDE</a:t>
            </a:r>
            <a:endParaRPr lang="en-US" sz="1400" dirty="0"/>
          </a:p>
        </p:txBody>
      </p:sp>
      <p:sp>
        <p:nvSpPr>
          <p:cNvPr id="3" name="Text 1"/>
          <p:cNvSpPr/>
          <p:nvPr/>
        </p:nvSpPr>
        <p:spPr>
          <a:xfrm>
            <a:off x="548640" y="1371600"/>
            <a:ext cx="11064240" cy="914400"/>
          </a:xfrm>
          <a:prstGeom prst="rect">
            <a:avLst/>
          </a:prstGeom>
          <a:noFill/>
          <a:ln/>
        </p:spPr>
        <p:txBody>
          <a:bodyPr wrap="square" lIns="0" tIns="0" rIns="0" bIns="0" rtlCol="0" anchor="ctr"/>
          <a:lstStyle/>
          <a:p>
            <a:pPr algn="ctr" indent="0" marL="0">
              <a:buNone/>
            </a:pPr>
            <a:r>
              <a:rPr lang="en-US" sz="4200" b="1" dirty="0">
                <a:solidFill>
                  <a:srgbClr val="F8FAFC"/>
                </a:solidFill>
                <a:latin typeface="Trebuchet MS" pitchFamily="34" charset="0"/>
                <a:ea typeface="Trebuchet MS" pitchFamily="34" charset="-122"/>
                <a:cs typeface="Trebuchet MS" pitchFamily="34" charset="-120"/>
              </a:rPr>
              <a:t>Output · LLM Guard</a:t>
            </a:r>
            <a:endParaRPr lang="en-US" sz="4200" dirty="0"/>
          </a:p>
        </p:txBody>
      </p:sp>
      <p:sp>
        <p:nvSpPr>
          <p:cNvPr id="4" name="Text 2"/>
          <p:cNvSpPr/>
          <p:nvPr/>
        </p:nvSpPr>
        <p:spPr>
          <a:xfrm>
            <a:off x="548640" y="2377440"/>
            <a:ext cx="11064240" cy="548640"/>
          </a:xfrm>
          <a:prstGeom prst="rect">
            <a:avLst/>
          </a:prstGeom>
          <a:noFill/>
          <a:ln/>
        </p:spPr>
        <p:txBody>
          <a:bodyPr wrap="square" lIns="0" tIns="0" rIns="0" bIns="0" rtlCol="0" anchor="ctr"/>
          <a:lstStyle/>
          <a:p>
            <a:pPr algn="ctr" indent="0" marL="0">
              <a:buNone/>
            </a:pPr>
            <a:r>
              <a:rPr lang="en-US" sz="2200" i="1" dirty="0">
                <a:solidFill>
                  <a:srgbClr val="CBD5E1"/>
                </a:solidFill>
                <a:latin typeface="Calibri" pitchFamily="34" charset="0"/>
                <a:ea typeface="Calibri" pitchFamily="34" charset="-122"/>
                <a:cs typeface="Calibri" pitchFamily="34" charset="-120"/>
              </a:rPr>
              <a:t>The only gate that enforces content, not infrastructure.</a:t>
            </a:r>
            <a:endParaRPr lang="en-US" sz="2200" dirty="0"/>
          </a:p>
        </p:txBody>
      </p:sp>
      <p:pic>
        <p:nvPicPr>
          <p:cNvPr id="5" name="Image 0" descr="preencoded.png"/>
          <p:cNvPicPr>
            <a:picLocks noChangeAspect="1"/>
          </p:cNvPicPr>
          <p:nvPr/>
        </p:nvPicPr>
        <p:blipFill>
          <a:blip r:embed="rId1"/>
          <a:stretch>
            <a:fillRect/>
          </a:stretch>
        </p:blipFill>
        <p:spPr>
          <a:xfrm>
            <a:off x="5632704" y="3200400"/>
            <a:ext cx="914400" cy="914400"/>
          </a:xfrm>
          <a:prstGeom prst="rect">
            <a:avLst/>
          </a:prstGeom>
        </p:spPr>
      </p:pic>
      <p:sp>
        <p:nvSpPr>
          <p:cNvPr id="6" name="Text 3"/>
          <p:cNvSpPr/>
          <p:nvPr/>
        </p:nvSpPr>
        <p:spPr>
          <a:xfrm>
            <a:off x="548640" y="4206240"/>
            <a:ext cx="11064240" cy="365760"/>
          </a:xfrm>
          <a:prstGeom prst="rect">
            <a:avLst/>
          </a:prstGeom>
          <a:noFill/>
          <a:ln/>
        </p:spPr>
        <p:txBody>
          <a:bodyPr wrap="square" lIns="0" tIns="0" rIns="0" bIns="0" rtlCol="0" anchor="ctr"/>
          <a:lstStyle/>
          <a:p>
            <a:pPr algn="ctr" indent="0" marL="0">
              <a:buNone/>
            </a:pPr>
            <a:r>
              <a:rPr lang="en-US" sz="1400" b="1" spc="400" kern="0" dirty="0">
                <a:solidFill>
                  <a:srgbClr val="0EA5E9"/>
                </a:solidFill>
                <a:latin typeface="Trebuchet MS" pitchFamily="34" charset="0"/>
                <a:ea typeface="Trebuchet MS" pitchFamily="34" charset="-122"/>
                <a:cs typeface="Trebuchet MS" pitchFamily="34" charset="-120"/>
              </a:rPr>
              <a:t>OUTPUT · MLOPS STAGE SIX</a:t>
            </a:r>
            <a:endParaRPr lang="en-US" sz="1400" dirty="0"/>
          </a:p>
        </p:txBody>
      </p:sp>
      <p:sp>
        <p:nvSpPr>
          <p:cNvPr id="7" name="Text 4"/>
          <p:cNvSpPr/>
          <p:nvPr/>
        </p:nvSpPr>
        <p:spPr>
          <a:xfrm>
            <a:off x="1371600" y="4937760"/>
            <a:ext cx="9418320" cy="365760"/>
          </a:xfrm>
          <a:prstGeom prst="rect">
            <a:avLst/>
          </a:prstGeom>
          <a:noFill/>
          <a:ln/>
        </p:spPr>
        <p:txBody>
          <a:bodyPr wrap="square" lIns="0" tIns="0" rIns="0" bIns="0" rtlCol="0" anchor="ctr"/>
          <a:lstStyle/>
          <a:p>
            <a:pPr algn="ctr" indent="0" marL="0">
              <a:buNone/>
            </a:pPr>
            <a:r>
              <a:rPr lang="en-US" sz="1600" dirty="0">
                <a:solidFill>
                  <a:srgbClr val="E2E8F0"/>
                </a:solidFill>
                <a:latin typeface="Calibri" pitchFamily="34" charset="0"/>
                <a:ea typeface="Calibri" pitchFamily="34" charset="-122"/>
                <a:cs typeface="Calibri" pitchFamily="34" charset="-120"/>
              </a:rPr>
              <a:t>Layers 1 through 5 keep the agent from breaking the system.</a:t>
            </a:r>
            <a:endParaRPr lang="en-US" sz="1600" dirty="0"/>
          </a:p>
        </p:txBody>
      </p:sp>
      <p:sp>
        <p:nvSpPr>
          <p:cNvPr id="8" name="Text 5"/>
          <p:cNvSpPr/>
          <p:nvPr/>
        </p:nvSpPr>
        <p:spPr>
          <a:xfrm>
            <a:off x="1371600" y="5349240"/>
            <a:ext cx="9418320" cy="36576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Layer 6 keeps the system from saying things it shouldn’t.</a:t>
            </a:r>
            <a:endParaRPr lang="en-US" sz="1600" dirty="0"/>
          </a:p>
        </p:txBody>
      </p:sp>
      <p:sp>
        <p:nvSpPr>
          <p:cNvPr id="9" name="Text 6"/>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2000" b="1" dirty="0">
                <a:solidFill>
                  <a:srgbClr val="FBBF24"/>
                </a:solidFill>
                <a:latin typeface="Trebuchet MS" pitchFamily="34" charset="0"/>
                <a:ea typeface="Trebuchet MS" pitchFamily="34" charset="-122"/>
                <a:cs typeface="Trebuchet MS" pitchFamily="34" charset="-120"/>
              </a:rPr>
              <a:t>Six MLOps lifecycle stages. Five enforced live. Sixth on the slide.</a:t>
            </a:r>
            <a:endParaRPr lang="en-US" sz="1400" dirty="0"/>
          </a:p>
        </p:txBody>
      </p:sp>
      <p:sp>
        <p:nvSpPr>
          <p:cNvPr id="11" name="Text 7"/>
          <p:cNvSpPr/>
          <p:nvPr/>
        </p:nvSpPr>
        <p:spPr>
          <a:xfrm>
            <a:off x="11338560" y="6693408"/>
            <a:ext cx="731520" cy="164592"/>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 / 16</a:t>
            </a:r>
            <a:endParaRPr lang="en-US" sz="900" dirty="0"/>
          </a:p>
        </p:txBody>
      </p:sp>
      <p:pic>
        <p:nvPicPr>
          <p:cNvPr id="12" name="Minimap"/>
          <p:cNvPicPr>
            <a:picLocks noChangeAspect="1"/>
          </p:cNvPicPr>
          <p:nvPr/>
        </p:nvPicPr>
        <p:blipFill>
          <a:blip r:embed="rId3"/>
          <a:stretch>
            <a:fillRect/>
          </a:stretch>
        </p:blipFill>
        <p:spPr>
          <a:xfrm>
            <a:off x="9500000" y="200000"/>
            <a:ext cx="2400000" cy="105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ix gates. Five live.">
    <p:bg>
      <p:bgPr>
        <a:solidFill>
          <a:srgbClr val="FAFAFA"/>
        </a:solidFill>
      </p:bgPr>
    </p:bg>
    <p:spTree>
      <p:nvGrpSpPr>
        <p:cNvPr id="1" name=""/>
        <p:cNvGrpSpPr/>
        <p:nvPr/>
      </p:nvGrpSpPr>
      <p:grpSpPr>
        <a:xfrm>
          <a:off x="0" y="0"/>
          <a:ext cx="0" cy="0"/>
          <a:chOff x="0" y="0"/>
          <a:chExt cx="0" cy="0"/>
        </a:xfrm>
      </p:grpSpPr>
      <p:sp>
        <p:nvSpPr>
          <p:cNvPr id="51" name="Title"/>
          <p:cNvSpPr/>
          <p:nvPr/>
        </p:nvSpPr>
        <p:spPr>
          <a:xfrm>
            <a:off x="731520" y="274320"/>
            <a:ext cx="10728960" cy="685800"/>
          </a:xfrm>
          <a:prstGeom prst="rect">
            <a:avLst/>
          </a:prstGeom>
          <a:noFill/>
        </p:spPr>
        <p:txBody>
          <a:bodyPr wrap="square" lIns="0" tIns="0" rIns="0" bIns="0" anchor="ctr"/>
          <a:lstStyle/>
          <a:p>
            <a:pPr algn="l" indent="0" marL="0">
              <a:buNone/>
            </a:pPr>
            <a:r>
              <a:rPr lang="en-US" sz="4400" b="1" dirty="0">
                <a:solidFill>
                  <a:srgbClr val="0F172A"/>
                </a:solidFill>
                <a:latin typeface="Trebuchet MS" pitchFamily="34" charset="0"/>
              </a:rPr>
              <a:t>Six gates. Five live.</a:t>
            </a:r>
          </a:p>
        </p:txBody>
      </p:sp>
      <p:sp>
        <p:nvSpPr>
          <p:cNvPr id="52" name="Subtitle"/>
          <p:cNvSpPr/>
          <p:nvPr/>
        </p:nvSpPr>
        <p:spPr>
          <a:xfrm>
            <a:off x="731520" y="960120"/>
            <a:ext cx="10728960" cy="365760"/>
          </a:xfrm>
          <a:prstGeom prst="rect">
            <a:avLst/>
          </a:prstGeom>
          <a:noFill/>
        </p:spPr>
        <p:txBody>
          <a:bodyPr wrap="square" lIns="0" tIns="0" rIns="0" bIns="0" anchor="ctr"/>
          <a:lstStyle/>
          <a:p>
            <a:pPr algn="l" indent="0" marL="0">
              <a:buNone/>
            </a:pPr>
            <a:r>
              <a:rPr lang="en-US" sz="1700" i="1" dirty="0">
                <a:solidFill>
                  <a:srgbClr val="64748B"/>
                </a:solidFill>
                <a:latin typeface="Calibri" pitchFamily="34" charset="0"/>
              </a:rPr>
              <a:t>Here's what's coming. Each demo blocks a different attack on the same target.</a:t>
            </a:r>
          </a:p>
        </p:txBody>
      </p:sp>
      <p:sp>
        <p:nvSpPr>
          <p:cNvPr id="53" name="DemoCard_1"/>
          <p:cNvSpPr/>
          <p:nvPr/>
        </p:nvSpPr>
        <p:spPr>
          <a:xfrm>
            <a:off x="518160" y="1645920"/>
            <a:ext cx="3657600" cy="2103120"/>
          </a:xfrm>
          <a:prstGeom prst="roundRect">
            <a:avLst>
              <a:gd name="adj" fmla="val 8000"/>
            </a:avLst>
          </a:prstGeom>
          <a:solidFill>
            <a:srgbClr val="FFFFFF"/>
          </a:solidFill>
          <a:ln w="28575">
            <a:solidFill>
              <a:srgbClr val="A100FF"/>
            </a:solidFill>
          </a:ln>
        </p:spPr>
        <p:txBody>
          <a:bodyPr wrap="square" lIns="0" tIns="0" rIns="0" bIns="0" anchor="ctr"/>
          <a:lstStyle/>
          <a:p>
            <a:pPr indent="0" marL="0">
              <a:buNone/>
            </a:pPr>
            <a:endParaRPr lang="en-US"/>
          </a:p>
        </p:txBody>
      </p:sp>
      <p:sp>
        <p:nvSpPr>
          <p:cNvPr id="54" name="DemoHeader_1"/>
          <p:cNvSpPr/>
          <p:nvPr/>
        </p:nvSpPr>
        <p:spPr>
          <a:xfrm>
            <a:off x="518160" y="1645920"/>
            <a:ext cx="3657600" cy="502920"/>
          </a:xfrm>
          <a:prstGeom prst="roundRect">
            <a:avLst>
              <a:gd name="adj" fmla="val 8000"/>
            </a:avLst>
          </a:prstGeom>
          <a:solidFill>
            <a:srgbClr val="A100FF"/>
          </a:solidFill>
          <a:ln>
            <a:noFill/>
          </a:ln>
        </p:spPr>
        <p:txBody>
          <a:bodyPr wrap="square" lIns="0" tIns="0" rIns="0" bIns="0" anchor="ctr"/>
          <a:lstStyle/>
          <a:p>
            <a:pPr indent="0" marL="0">
              <a:buNone/>
            </a:pPr>
            <a:endParaRPr lang="en-US"/>
          </a:p>
        </p:txBody>
      </p:sp>
      <p:sp>
        <p:nvSpPr>
          <p:cNvPr id="55" name="DemoNum_1"/>
          <p:cNvSpPr/>
          <p:nvPr/>
        </p:nvSpPr>
        <p:spPr>
          <a:xfrm>
            <a:off x="655320" y="164592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1</a:t>
            </a:r>
          </a:p>
        </p:txBody>
      </p:sp>
      <p:sp>
        <p:nvSpPr>
          <p:cNvPr id="56" name="DemoStatus_1"/>
          <p:cNvSpPr/>
          <p:nvPr/>
        </p:nvSpPr>
        <p:spPr>
          <a:xfrm>
            <a:off x="3352800" y="1737360"/>
            <a:ext cx="73152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57" name="DemoStatusText_1"/>
          <p:cNvSpPr/>
          <p:nvPr/>
        </p:nvSpPr>
        <p:spPr>
          <a:xfrm>
            <a:off x="3352800" y="1737360"/>
            <a:ext cx="731520" cy="320040"/>
          </a:xfrm>
          <a:prstGeom prst="rect">
            <a:avLst/>
          </a:prstGeom>
          <a:noFill/>
        </p:spPr>
        <p:txBody>
          <a:bodyPr wrap="square" lIns="0" tIns="0" rIns="0" bIns="0" anchor="ctr"/>
          <a:lstStyle/>
          <a:p>
            <a:pPr algn="ctr" indent="0" marL="0">
              <a:buNone/>
            </a:pPr>
            <a:r>
              <a:rPr lang="en-US" sz="900" b="1" dirty="0">
                <a:solidFill>
                  <a:srgbClr val="A100FF"/>
                </a:solidFill>
                <a:latin typeface="Trebuchet MS" pitchFamily="34" charset="0"/>
              </a:rPr>
              <a:t>● LIVE</a:t>
            </a:r>
          </a:p>
        </p:txBody>
      </p:sp>
      <p:sp>
        <p:nvSpPr>
          <p:cNvPr id="58" name="DemoTitle_1"/>
          <p:cNvSpPr/>
          <p:nvPr/>
        </p:nvSpPr>
        <p:spPr>
          <a:xfrm>
            <a:off x="701040" y="228600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PreToolUse hook</a:t>
            </a:r>
          </a:p>
        </p:txBody>
      </p:sp>
      <p:sp>
        <p:nvSpPr>
          <p:cNvPr id="59" name="DemoZone_1"/>
          <p:cNvSpPr/>
          <p:nvPr/>
        </p:nvSpPr>
        <p:spPr>
          <a:xfrm>
            <a:off x="701040" y="2834640"/>
            <a:ext cx="3291840" cy="274320"/>
          </a:xfrm>
          <a:prstGeom prst="rect">
            <a:avLst/>
          </a:prstGeom>
          <a:noFill/>
        </p:spPr>
        <p:txBody>
          <a:bodyPr wrap="square" lIns="0" tIns="0" rIns="0" bIns="0" anchor="ctr"/>
          <a:lstStyle/>
          <a:p>
            <a:pPr algn="l" indent="0" marL="0">
              <a:buNone/>
            </a:pPr>
            <a:r>
              <a:rPr lang="en-US" sz="1000" b="1" dirty="0">
                <a:solidFill>
                  <a:srgbClr val="A100FF"/>
                </a:solidFill>
                <a:latin typeface="Trebuchet MS" pitchFamily="34" charset="0"/>
              </a:rPr>
              <a:t>APP / AGENT</a:t>
            </a:r>
          </a:p>
        </p:txBody>
      </p:sp>
      <p:sp>
        <p:nvSpPr>
          <p:cNvPr id="60" name="DemoMech_1"/>
          <p:cNvSpPr/>
          <p:nvPr/>
        </p:nvSpPr>
        <p:spPr>
          <a:xfrm>
            <a:off x="701040" y="314553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Validation gate before the agent acts</a:t>
            </a:r>
          </a:p>
        </p:txBody>
      </p:sp>
      <p:sp>
        <p:nvSpPr>
          <p:cNvPr id="61" name="DemoCard_2"/>
          <p:cNvSpPr/>
          <p:nvPr/>
        </p:nvSpPr>
        <p:spPr>
          <a:xfrm>
            <a:off x="4267200" y="1645920"/>
            <a:ext cx="3657600" cy="2103120"/>
          </a:xfrm>
          <a:prstGeom prst="roundRect">
            <a:avLst>
              <a:gd name="adj" fmla="val 8000"/>
            </a:avLst>
          </a:prstGeom>
          <a:solidFill>
            <a:srgbClr val="FFFFFF"/>
          </a:solidFill>
          <a:ln w="28575">
            <a:solidFill>
              <a:srgbClr val="EAB308"/>
            </a:solidFill>
          </a:ln>
        </p:spPr>
        <p:txBody>
          <a:bodyPr wrap="square" lIns="0" tIns="0" rIns="0" bIns="0" anchor="ctr"/>
          <a:lstStyle/>
          <a:p>
            <a:pPr indent="0" marL="0">
              <a:buNone/>
            </a:pPr>
            <a:endParaRPr lang="en-US"/>
          </a:p>
        </p:txBody>
      </p:sp>
      <p:sp>
        <p:nvSpPr>
          <p:cNvPr id="62" name="DemoHeader_2"/>
          <p:cNvSpPr/>
          <p:nvPr/>
        </p:nvSpPr>
        <p:spPr>
          <a:xfrm>
            <a:off x="4267200" y="1645920"/>
            <a:ext cx="3657600" cy="502920"/>
          </a:xfrm>
          <a:prstGeom prst="roundRect">
            <a:avLst>
              <a:gd name="adj" fmla="val 8000"/>
            </a:avLst>
          </a:prstGeom>
          <a:solidFill>
            <a:srgbClr val="EAB308"/>
          </a:solidFill>
          <a:ln>
            <a:noFill/>
          </a:ln>
        </p:spPr>
        <p:txBody>
          <a:bodyPr wrap="square" lIns="0" tIns="0" rIns="0" bIns="0" anchor="ctr"/>
          <a:lstStyle/>
          <a:p>
            <a:pPr indent="0" marL="0">
              <a:buNone/>
            </a:pPr>
            <a:endParaRPr lang="en-US"/>
          </a:p>
        </p:txBody>
      </p:sp>
      <p:sp>
        <p:nvSpPr>
          <p:cNvPr id="63" name="DemoNum_2"/>
          <p:cNvSpPr/>
          <p:nvPr/>
        </p:nvSpPr>
        <p:spPr>
          <a:xfrm>
            <a:off x="4404360" y="164592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2</a:t>
            </a:r>
          </a:p>
        </p:txBody>
      </p:sp>
      <p:sp>
        <p:nvSpPr>
          <p:cNvPr id="64" name="DemoStatus_2"/>
          <p:cNvSpPr/>
          <p:nvPr/>
        </p:nvSpPr>
        <p:spPr>
          <a:xfrm>
            <a:off x="7101840" y="1737360"/>
            <a:ext cx="73152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65" name="DemoStatusText_2"/>
          <p:cNvSpPr/>
          <p:nvPr/>
        </p:nvSpPr>
        <p:spPr>
          <a:xfrm>
            <a:off x="7101840" y="1737360"/>
            <a:ext cx="731520" cy="320040"/>
          </a:xfrm>
          <a:prstGeom prst="rect">
            <a:avLst/>
          </a:prstGeom>
          <a:noFill/>
        </p:spPr>
        <p:txBody>
          <a:bodyPr wrap="square" lIns="0" tIns="0" rIns="0" bIns="0" anchor="ctr"/>
          <a:lstStyle/>
          <a:p>
            <a:pPr algn="ctr" indent="0" marL="0">
              <a:buNone/>
            </a:pPr>
            <a:r>
              <a:rPr lang="en-US" sz="900" b="1" dirty="0">
                <a:solidFill>
                  <a:srgbClr val="EAB308"/>
                </a:solidFill>
                <a:latin typeface="Trebuchet MS" pitchFamily="34" charset="0"/>
              </a:rPr>
              <a:t>● LIVE</a:t>
            </a:r>
          </a:p>
        </p:txBody>
      </p:sp>
      <p:sp>
        <p:nvSpPr>
          <p:cNvPr id="66" name="DemoTitle_2"/>
          <p:cNvSpPr/>
          <p:nvPr/>
        </p:nvSpPr>
        <p:spPr>
          <a:xfrm>
            <a:off x="4450080" y="228600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Git pre-commit</a:t>
            </a:r>
          </a:p>
        </p:txBody>
      </p:sp>
      <p:sp>
        <p:nvSpPr>
          <p:cNvPr id="67" name="DemoZone_2"/>
          <p:cNvSpPr/>
          <p:nvPr/>
        </p:nvSpPr>
        <p:spPr>
          <a:xfrm>
            <a:off x="4450080" y="2834640"/>
            <a:ext cx="3291840" cy="274320"/>
          </a:xfrm>
          <a:prstGeom prst="rect">
            <a:avLst/>
          </a:prstGeom>
          <a:noFill/>
        </p:spPr>
        <p:txBody>
          <a:bodyPr wrap="square" lIns="0" tIns="0" rIns="0" bIns="0" anchor="ctr"/>
          <a:lstStyle/>
          <a:p>
            <a:pPr algn="l" indent="0" marL="0">
              <a:buNone/>
            </a:pPr>
            <a:r>
              <a:rPr lang="en-US" sz="1000" b="1" dirty="0">
                <a:solidFill>
                  <a:srgbClr val="EAB308"/>
                </a:solidFill>
                <a:latin typeface="Trebuchet MS" pitchFamily="34" charset="0"/>
              </a:rPr>
              <a:t>CLIENT-SIDE</a:t>
            </a:r>
          </a:p>
        </p:txBody>
      </p:sp>
      <p:sp>
        <p:nvSpPr>
          <p:cNvPr id="68" name="DemoMech_2"/>
          <p:cNvSpPr/>
          <p:nvPr/>
        </p:nvSpPr>
        <p:spPr>
          <a:xfrm>
            <a:off x="4450080" y="314553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Protected paths, signed committers</a:t>
            </a:r>
          </a:p>
        </p:txBody>
      </p:sp>
      <p:sp>
        <p:nvSpPr>
          <p:cNvPr id="69" name="DemoCard_3"/>
          <p:cNvSpPr/>
          <p:nvPr/>
        </p:nvSpPr>
        <p:spPr>
          <a:xfrm>
            <a:off x="8016240" y="1645920"/>
            <a:ext cx="3657600" cy="2103120"/>
          </a:xfrm>
          <a:prstGeom prst="roundRect">
            <a:avLst>
              <a:gd name="adj" fmla="val 8000"/>
            </a:avLst>
          </a:prstGeom>
          <a:solidFill>
            <a:srgbClr val="FFFFFF"/>
          </a:solidFill>
          <a:ln w="28575">
            <a:solidFill>
              <a:srgbClr val="0EA5E9"/>
            </a:solidFill>
          </a:ln>
        </p:spPr>
        <p:txBody>
          <a:bodyPr wrap="square" lIns="0" tIns="0" rIns="0" bIns="0" anchor="ctr"/>
          <a:lstStyle/>
          <a:p>
            <a:pPr indent="0" marL="0">
              <a:buNone/>
            </a:pPr>
            <a:endParaRPr lang="en-US"/>
          </a:p>
        </p:txBody>
      </p:sp>
      <p:sp>
        <p:nvSpPr>
          <p:cNvPr id="70" name="DemoHeader_3"/>
          <p:cNvSpPr/>
          <p:nvPr/>
        </p:nvSpPr>
        <p:spPr>
          <a:xfrm>
            <a:off x="8016240" y="1645920"/>
            <a:ext cx="3657600" cy="50292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71" name="DemoNum_3"/>
          <p:cNvSpPr/>
          <p:nvPr/>
        </p:nvSpPr>
        <p:spPr>
          <a:xfrm>
            <a:off x="8153400" y="164592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3</a:t>
            </a:r>
          </a:p>
        </p:txBody>
      </p:sp>
      <p:sp>
        <p:nvSpPr>
          <p:cNvPr id="72" name="DemoStatus_3"/>
          <p:cNvSpPr/>
          <p:nvPr/>
        </p:nvSpPr>
        <p:spPr>
          <a:xfrm>
            <a:off x="10850880" y="1737360"/>
            <a:ext cx="73152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73" name="DemoStatusText_3"/>
          <p:cNvSpPr/>
          <p:nvPr/>
        </p:nvSpPr>
        <p:spPr>
          <a:xfrm>
            <a:off x="10850880" y="1737360"/>
            <a:ext cx="731520" cy="320040"/>
          </a:xfrm>
          <a:prstGeom prst="rect">
            <a:avLst/>
          </a:prstGeom>
          <a:noFill/>
        </p:spPr>
        <p:txBody>
          <a:bodyPr wrap="square" lIns="0" tIns="0" rIns="0" bIns="0" anchor="ctr"/>
          <a:lstStyle/>
          <a:p>
            <a:pPr algn="ctr" indent="0" marL="0">
              <a:buNone/>
            </a:pPr>
            <a:r>
              <a:rPr lang="en-US" sz="900" b="1" dirty="0">
                <a:solidFill>
                  <a:srgbClr val="0EA5E9"/>
                </a:solidFill>
                <a:latin typeface="Trebuchet MS" pitchFamily="34" charset="0"/>
              </a:rPr>
              <a:t>● LIVE</a:t>
            </a:r>
          </a:p>
        </p:txBody>
      </p:sp>
      <p:sp>
        <p:nvSpPr>
          <p:cNvPr id="74" name="DemoTitle_3"/>
          <p:cNvSpPr/>
          <p:nvPr/>
        </p:nvSpPr>
        <p:spPr>
          <a:xfrm>
            <a:off x="8199120" y="228600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K8s ValidatingAdmissionPolicy</a:t>
            </a:r>
          </a:p>
        </p:txBody>
      </p:sp>
      <p:sp>
        <p:nvSpPr>
          <p:cNvPr id="75" name="DemoZone_3"/>
          <p:cNvSpPr/>
          <p:nvPr/>
        </p:nvSpPr>
        <p:spPr>
          <a:xfrm>
            <a:off x="8199120" y="2834640"/>
            <a:ext cx="3291840" cy="274320"/>
          </a:xfrm>
          <a:prstGeom prst="rect">
            <a:avLst/>
          </a:prstGeom>
          <a:noFill/>
        </p:spPr>
        <p:txBody>
          <a:bodyPr wrap="square" lIns="0" tIns="0" rIns="0" bIns="0" anchor="ctr"/>
          <a:lstStyle/>
          <a:p>
            <a:pPr algn="l" indent="0" marL="0">
              <a:buNone/>
            </a:pPr>
            <a:r>
              <a:rPr lang="en-US" sz="1000" b="1" dirty="0">
                <a:solidFill>
                  <a:srgbClr val="0EA5E9"/>
                </a:solidFill>
                <a:latin typeface="Trebuchet MS" pitchFamily="34" charset="0"/>
              </a:rPr>
              <a:t>SERVER-SIDE</a:t>
            </a:r>
          </a:p>
        </p:txBody>
      </p:sp>
      <p:sp>
        <p:nvSpPr>
          <p:cNvPr id="76" name="DemoMech_3"/>
          <p:cNvSpPr/>
          <p:nvPr/>
        </p:nvSpPr>
        <p:spPr>
          <a:xfrm>
            <a:off x="8199120" y="314553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Admission control at the API</a:t>
            </a:r>
          </a:p>
        </p:txBody>
      </p:sp>
      <p:sp>
        <p:nvSpPr>
          <p:cNvPr id="77" name="DemoCard_4"/>
          <p:cNvSpPr/>
          <p:nvPr/>
        </p:nvSpPr>
        <p:spPr>
          <a:xfrm>
            <a:off x="518160" y="4023360"/>
            <a:ext cx="3657600" cy="2103120"/>
          </a:xfrm>
          <a:prstGeom prst="roundRect">
            <a:avLst>
              <a:gd name="adj" fmla="val 8000"/>
            </a:avLst>
          </a:prstGeom>
          <a:solidFill>
            <a:srgbClr val="FFFFFF"/>
          </a:solidFill>
          <a:ln w="28575">
            <a:solidFill>
              <a:srgbClr val="0EA5E9"/>
            </a:solidFill>
          </a:ln>
        </p:spPr>
        <p:txBody>
          <a:bodyPr wrap="square" lIns="0" tIns="0" rIns="0" bIns="0" anchor="ctr"/>
          <a:lstStyle/>
          <a:p>
            <a:pPr indent="0" marL="0">
              <a:buNone/>
            </a:pPr>
            <a:endParaRPr lang="en-US"/>
          </a:p>
        </p:txBody>
      </p:sp>
      <p:sp>
        <p:nvSpPr>
          <p:cNvPr id="78" name="DemoHeader_4"/>
          <p:cNvSpPr/>
          <p:nvPr/>
        </p:nvSpPr>
        <p:spPr>
          <a:xfrm>
            <a:off x="518160" y="4023360"/>
            <a:ext cx="3657600" cy="50292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79" name="DemoNum_4"/>
          <p:cNvSpPr/>
          <p:nvPr/>
        </p:nvSpPr>
        <p:spPr>
          <a:xfrm>
            <a:off x="655320" y="402336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4</a:t>
            </a:r>
          </a:p>
        </p:txBody>
      </p:sp>
      <p:sp>
        <p:nvSpPr>
          <p:cNvPr id="80" name="DemoStatus_4"/>
          <p:cNvSpPr/>
          <p:nvPr/>
        </p:nvSpPr>
        <p:spPr>
          <a:xfrm>
            <a:off x="3352800" y="4114800"/>
            <a:ext cx="73152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81" name="DemoStatusText_4"/>
          <p:cNvSpPr/>
          <p:nvPr/>
        </p:nvSpPr>
        <p:spPr>
          <a:xfrm>
            <a:off x="3352800" y="4114800"/>
            <a:ext cx="731520" cy="320040"/>
          </a:xfrm>
          <a:prstGeom prst="rect">
            <a:avLst/>
          </a:prstGeom>
          <a:noFill/>
        </p:spPr>
        <p:txBody>
          <a:bodyPr wrap="square" lIns="0" tIns="0" rIns="0" bIns="0" anchor="ctr"/>
          <a:lstStyle/>
          <a:p>
            <a:pPr algn="ctr" indent="0" marL="0">
              <a:buNone/>
            </a:pPr>
            <a:r>
              <a:rPr lang="en-US" sz="900" b="1" dirty="0">
                <a:solidFill>
                  <a:srgbClr val="0EA5E9"/>
                </a:solidFill>
                <a:latin typeface="Trebuchet MS" pitchFamily="34" charset="0"/>
              </a:rPr>
              <a:t>● LIVE</a:t>
            </a:r>
          </a:p>
        </p:txBody>
      </p:sp>
      <p:sp>
        <p:nvSpPr>
          <p:cNvPr id="82" name="DemoTitle_4"/>
          <p:cNvSpPr/>
          <p:nvPr/>
        </p:nvSpPr>
        <p:spPr>
          <a:xfrm>
            <a:off x="701040" y="466344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Falco + Talon</a:t>
            </a:r>
          </a:p>
        </p:txBody>
      </p:sp>
      <p:sp>
        <p:nvSpPr>
          <p:cNvPr id="83" name="DemoZone_4"/>
          <p:cNvSpPr/>
          <p:nvPr/>
        </p:nvSpPr>
        <p:spPr>
          <a:xfrm>
            <a:off x="701040" y="5212080"/>
            <a:ext cx="3291840" cy="274320"/>
          </a:xfrm>
          <a:prstGeom prst="rect">
            <a:avLst/>
          </a:prstGeom>
          <a:noFill/>
        </p:spPr>
        <p:txBody>
          <a:bodyPr wrap="square" lIns="0" tIns="0" rIns="0" bIns="0" anchor="ctr"/>
          <a:lstStyle/>
          <a:p>
            <a:pPr algn="l" indent="0" marL="0">
              <a:buNone/>
            </a:pPr>
            <a:r>
              <a:rPr lang="en-US" sz="1000" b="1" dirty="0">
                <a:solidFill>
                  <a:srgbClr val="0EA5E9"/>
                </a:solidFill>
                <a:latin typeface="Trebuchet MS" pitchFamily="34" charset="0"/>
              </a:rPr>
              <a:t>SERVER-SIDE</a:t>
            </a:r>
          </a:p>
        </p:txBody>
      </p:sp>
      <p:sp>
        <p:nvSpPr>
          <p:cNvPr id="84" name="DemoMech_4"/>
          <p:cNvSpPr/>
          <p:nvPr/>
        </p:nvSpPr>
        <p:spPr>
          <a:xfrm>
            <a:off x="701040" y="552297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Runtime behavior detection</a:t>
            </a:r>
          </a:p>
        </p:txBody>
      </p:sp>
      <p:sp>
        <p:nvSpPr>
          <p:cNvPr id="85" name="DemoCard_5"/>
          <p:cNvSpPr/>
          <p:nvPr/>
        </p:nvSpPr>
        <p:spPr>
          <a:xfrm>
            <a:off x="4267200" y="4023360"/>
            <a:ext cx="3657600" cy="2103120"/>
          </a:xfrm>
          <a:prstGeom prst="roundRect">
            <a:avLst>
              <a:gd name="adj" fmla="val 8000"/>
            </a:avLst>
          </a:prstGeom>
          <a:solidFill>
            <a:srgbClr val="FFFFFF"/>
          </a:solidFill>
          <a:ln w="28575">
            <a:solidFill>
              <a:srgbClr val="0EA5E9"/>
            </a:solidFill>
          </a:ln>
        </p:spPr>
        <p:txBody>
          <a:bodyPr wrap="square" lIns="0" tIns="0" rIns="0" bIns="0" anchor="ctr"/>
          <a:lstStyle/>
          <a:p>
            <a:pPr indent="0" marL="0">
              <a:buNone/>
            </a:pPr>
            <a:endParaRPr lang="en-US"/>
          </a:p>
        </p:txBody>
      </p:sp>
      <p:sp>
        <p:nvSpPr>
          <p:cNvPr id="86" name="DemoHeader_5"/>
          <p:cNvSpPr/>
          <p:nvPr/>
        </p:nvSpPr>
        <p:spPr>
          <a:xfrm>
            <a:off x="4267200" y="4023360"/>
            <a:ext cx="3657600" cy="50292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87" name="DemoNum_5"/>
          <p:cNvSpPr/>
          <p:nvPr/>
        </p:nvSpPr>
        <p:spPr>
          <a:xfrm>
            <a:off x="4404360" y="402336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5</a:t>
            </a:r>
          </a:p>
        </p:txBody>
      </p:sp>
      <p:sp>
        <p:nvSpPr>
          <p:cNvPr id="88" name="DemoStatus_5"/>
          <p:cNvSpPr/>
          <p:nvPr/>
        </p:nvSpPr>
        <p:spPr>
          <a:xfrm>
            <a:off x="7101840" y="4114800"/>
            <a:ext cx="73152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89" name="DemoStatusText_5"/>
          <p:cNvSpPr/>
          <p:nvPr/>
        </p:nvSpPr>
        <p:spPr>
          <a:xfrm>
            <a:off x="7101840" y="4114800"/>
            <a:ext cx="731520" cy="320040"/>
          </a:xfrm>
          <a:prstGeom prst="rect">
            <a:avLst/>
          </a:prstGeom>
          <a:noFill/>
        </p:spPr>
        <p:txBody>
          <a:bodyPr wrap="square" lIns="0" tIns="0" rIns="0" bIns="0" anchor="ctr"/>
          <a:lstStyle/>
          <a:p>
            <a:pPr algn="ctr" indent="0" marL="0">
              <a:buNone/>
            </a:pPr>
            <a:r>
              <a:rPr lang="en-US" sz="900" b="1" dirty="0">
                <a:solidFill>
                  <a:srgbClr val="0EA5E9"/>
                </a:solidFill>
                <a:latin typeface="Trebuchet MS" pitchFamily="34" charset="0"/>
              </a:rPr>
              <a:t>● LIVE</a:t>
            </a:r>
          </a:p>
        </p:txBody>
      </p:sp>
      <p:sp>
        <p:nvSpPr>
          <p:cNvPr id="90" name="DemoTitle_5"/>
          <p:cNvSpPr/>
          <p:nvPr/>
        </p:nvSpPr>
        <p:spPr>
          <a:xfrm>
            <a:off x="4450080" y="466344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NetworkPolicy</a:t>
            </a:r>
          </a:p>
        </p:txBody>
      </p:sp>
      <p:sp>
        <p:nvSpPr>
          <p:cNvPr id="91" name="DemoZone_5"/>
          <p:cNvSpPr/>
          <p:nvPr/>
        </p:nvSpPr>
        <p:spPr>
          <a:xfrm>
            <a:off x="4450080" y="5212080"/>
            <a:ext cx="3291840" cy="274320"/>
          </a:xfrm>
          <a:prstGeom prst="rect">
            <a:avLst/>
          </a:prstGeom>
          <a:noFill/>
        </p:spPr>
        <p:txBody>
          <a:bodyPr wrap="square" lIns="0" tIns="0" rIns="0" bIns="0" anchor="ctr"/>
          <a:lstStyle/>
          <a:p>
            <a:pPr algn="l" indent="0" marL="0">
              <a:buNone/>
            </a:pPr>
            <a:r>
              <a:rPr lang="en-US" sz="1000" b="1" dirty="0">
                <a:solidFill>
                  <a:srgbClr val="0EA5E9"/>
                </a:solidFill>
                <a:latin typeface="Trebuchet MS" pitchFamily="34" charset="0"/>
              </a:rPr>
              <a:t>SERVER-SIDE</a:t>
            </a:r>
          </a:p>
        </p:txBody>
      </p:sp>
      <p:sp>
        <p:nvSpPr>
          <p:cNvPr id="92" name="DemoMech_5"/>
          <p:cNvSpPr/>
          <p:nvPr/>
        </p:nvSpPr>
        <p:spPr>
          <a:xfrm>
            <a:off x="4450080" y="552297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Data-path scope enforcement</a:t>
            </a:r>
          </a:p>
        </p:txBody>
      </p:sp>
      <p:sp>
        <p:nvSpPr>
          <p:cNvPr id="93" name="DemoCard_6"/>
          <p:cNvSpPr/>
          <p:nvPr/>
        </p:nvSpPr>
        <p:spPr>
          <a:xfrm>
            <a:off x="8016240" y="4023360"/>
            <a:ext cx="3657600" cy="2103120"/>
          </a:xfrm>
          <a:prstGeom prst="roundRect">
            <a:avLst>
              <a:gd name="adj" fmla="val 8000"/>
            </a:avLst>
          </a:prstGeom>
          <a:solidFill>
            <a:srgbClr val="F1F5F9"/>
          </a:solidFill>
          <a:ln w="22225">
            <a:solidFill>
              <a:srgbClr val="0EA5E9"/>
            </a:solidFill>
          </a:ln>
        </p:spPr>
        <p:txBody>
          <a:bodyPr wrap="square" lIns="0" tIns="0" rIns="0" bIns="0" anchor="ctr"/>
          <a:lstStyle/>
          <a:p>
            <a:pPr indent="0" marL="0">
              <a:buNone/>
            </a:pPr>
            <a:endParaRPr lang="en-US"/>
          </a:p>
        </p:txBody>
      </p:sp>
      <p:sp>
        <p:nvSpPr>
          <p:cNvPr id="94" name="DemoHeader_6"/>
          <p:cNvSpPr/>
          <p:nvPr/>
        </p:nvSpPr>
        <p:spPr>
          <a:xfrm>
            <a:off x="8016240" y="4023360"/>
            <a:ext cx="3657600" cy="502920"/>
          </a:xfrm>
          <a:prstGeom prst="roundRect">
            <a:avLst>
              <a:gd name="adj" fmla="val 8000"/>
            </a:avLst>
          </a:prstGeom>
          <a:solidFill>
            <a:srgbClr val="0EA5E9"/>
          </a:solidFill>
          <a:ln>
            <a:noFill/>
          </a:ln>
        </p:spPr>
        <p:txBody>
          <a:bodyPr wrap="square" lIns="0" tIns="0" rIns="0" bIns="0" anchor="ctr"/>
          <a:lstStyle/>
          <a:p>
            <a:pPr indent="0" marL="0">
              <a:buNone/>
            </a:pPr>
            <a:endParaRPr lang="en-US"/>
          </a:p>
        </p:txBody>
      </p:sp>
      <p:sp>
        <p:nvSpPr>
          <p:cNvPr id="95" name="DemoNum_6"/>
          <p:cNvSpPr/>
          <p:nvPr/>
        </p:nvSpPr>
        <p:spPr>
          <a:xfrm>
            <a:off x="8153400" y="4023360"/>
            <a:ext cx="3383280" cy="502920"/>
          </a:xfrm>
          <a:prstGeom prst="rect">
            <a:avLst/>
          </a:prstGeom>
          <a:noFill/>
        </p:spPr>
        <p:txBody>
          <a:bodyPr wrap="square" lIns="0" tIns="0" rIns="0" bIns="0" anchor="ctr"/>
          <a:lstStyle/>
          <a:p>
            <a:pPr algn="l" indent="0" marL="0">
              <a:buNone/>
            </a:pPr>
            <a:r>
              <a:rPr lang="en-US" sz="1500" b="1" dirty="0">
                <a:solidFill>
                  <a:srgbClr val="FFFFFF"/>
                </a:solidFill>
                <a:latin typeface="Trebuchet MS" pitchFamily="34" charset="0"/>
              </a:rPr>
              <a:t>DEMO 6</a:t>
            </a:r>
          </a:p>
        </p:txBody>
      </p:sp>
      <p:sp>
        <p:nvSpPr>
          <p:cNvPr id="96" name="DemoStatus_6"/>
          <p:cNvSpPr/>
          <p:nvPr/>
        </p:nvSpPr>
        <p:spPr>
          <a:xfrm>
            <a:off x="10302240" y="4114800"/>
            <a:ext cx="1280160" cy="320040"/>
          </a:xfrm>
          <a:prstGeom prst="roundRect">
            <a:avLst>
              <a:gd name="adj" fmla="val 8000"/>
            </a:avLst>
          </a:prstGeom>
          <a:solidFill>
            <a:srgbClr val="FFFFFF"/>
          </a:solidFill>
          <a:ln>
            <a:noFill/>
          </a:ln>
        </p:spPr>
        <p:txBody>
          <a:bodyPr wrap="square" lIns="0" tIns="0" rIns="0" bIns="0" anchor="ctr"/>
          <a:lstStyle/>
          <a:p>
            <a:pPr indent="0" marL="0">
              <a:buNone/>
            </a:pPr>
            <a:endParaRPr lang="en-US"/>
          </a:p>
        </p:txBody>
      </p:sp>
      <p:sp>
        <p:nvSpPr>
          <p:cNvPr id="97" name="DemoStatusText_6"/>
          <p:cNvSpPr/>
          <p:nvPr/>
        </p:nvSpPr>
        <p:spPr>
          <a:xfrm>
            <a:off x="10302240" y="4114800"/>
            <a:ext cx="1280160" cy="320040"/>
          </a:xfrm>
          <a:prstGeom prst="rect">
            <a:avLst/>
          </a:prstGeom>
          <a:noFill/>
        </p:spPr>
        <p:txBody>
          <a:bodyPr wrap="square" lIns="0" tIns="0" rIns="0" bIns="0" anchor="ctr"/>
          <a:lstStyle/>
          <a:p>
            <a:pPr algn="ctr" indent="0" marL="0">
              <a:buNone/>
            </a:pPr>
            <a:r>
              <a:rPr lang="en-US" sz="900" b="1" dirty="0">
                <a:solidFill>
                  <a:srgbClr val="0EA5E9"/>
                </a:solidFill>
                <a:latin typeface="Trebuchet MS" pitchFamily="34" charset="0"/>
              </a:rPr>
              <a:t>○ ON THE SLIDE</a:t>
            </a:r>
          </a:p>
        </p:txBody>
      </p:sp>
      <p:sp>
        <p:nvSpPr>
          <p:cNvPr id="98" name="DemoTitle_6"/>
          <p:cNvSpPr/>
          <p:nvPr/>
        </p:nvSpPr>
        <p:spPr>
          <a:xfrm>
            <a:off x="8199120" y="4663440"/>
            <a:ext cx="3291840" cy="548640"/>
          </a:xfrm>
          <a:prstGeom prst="rect">
            <a:avLst/>
          </a:prstGeom>
          <a:noFill/>
        </p:spPr>
        <p:txBody>
          <a:bodyPr wrap="square" lIns="0" tIns="0" rIns="0" bIns="0" anchor="ctr"/>
          <a:lstStyle/>
          <a:p>
            <a:pPr algn="l" indent="0" marL="0">
              <a:buNone/>
            </a:pPr>
            <a:r>
              <a:rPr lang="en-US" sz="2400" b="1" dirty="0">
                <a:solidFill>
                  <a:srgbClr val="0F172A"/>
                </a:solidFill>
                <a:latin typeface="Trebuchet MS" pitchFamily="34" charset="0"/>
              </a:rPr>
              <a:t>LLM Guard</a:t>
            </a:r>
          </a:p>
        </p:txBody>
      </p:sp>
      <p:sp>
        <p:nvSpPr>
          <p:cNvPr id="99" name="DemoZone_6"/>
          <p:cNvSpPr/>
          <p:nvPr/>
        </p:nvSpPr>
        <p:spPr>
          <a:xfrm>
            <a:off x="8199120" y="5212080"/>
            <a:ext cx="3291840" cy="274320"/>
          </a:xfrm>
          <a:prstGeom prst="rect">
            <a:avLst/>
          </a:prstGeom>
          <a:noFill/>
        </p:spPr>
        <p:txBody>
          <a:bodyPr wrap="square" lIns="0" tIns="0" rIns="0" bIns="0" anchor="ctr"/>
          <a:lstStyle/>
          <a:p>
            <a:pPr algn="l" indent="0" marL="0">
              <a:buNone/>
            </a:pPr>
            <a:r>
              <a:rPr lang="en-US" sz="1000" b="1" dirty="0">
                <a:solidFill>
                  <a:srgbClr val="0EA5E9"/>
                </a:solidFill>
                <a:latin typeface="Trebuchet MS" pitchFamily="34" charset="0"/>
              </a:rPr>
              <a:t>SERVER-SIDE</a:t>
            </a:r>
          </a:p>
        </p:txBody>
      </p:sp>
      <p:sp>
        <p:nvSpPr>
          <p:cNvPr id="100" name="DemoMech_6"/>
          <p:cNvSpPr/>
          <p:nvPr/>
        </p:nvSpPr>
        <p:spPr>
          <a:xfrm>
            <a:off x="8199120" y="5522976"/>
            <a:ext cx="3291840" cy="365760"/>
          </a:xfrm>
          <a:prstGeom prst="rect">
            <a:avLst/>
          </a:prstGeom>
          <a:noFill/>
        </p:spPr>
        <p:txBody>
          <a:bodyPr wrap="square" lIns="0" tIns="0" rIns="0" bIns="0" anchor="t"/>
          <a:lstStyle/>
          <a:p>
            <a:pPr algn="l" indent="0" marL="0">
              <a:buNone/>
            </a:pPr>
            <a:r>
              <a:rPr lang="en-US" sz="1100" i="1" dirty="0">
                <a:solidFill>
                  <a:srgbClr val="64748B"/>
                </a:solidFill>
                <a:latin typeface="Calibri" pitchFamily="34" charset="0"/>
              </a:rPr>
              <a:t>Output content gate</a:t>
            </a:r>
          </a:p>
        </p:txBody>
      </p:sp>
      <p:sp>
        <p:nvSpPr>
          <p:cNvPr id="101" name="PageNum"/>
          <p:cNvSpPr/>
          <p:nvPr/>
        </p:nvSpPr>
        <p:spPr>
          <a:xfrm>
            <a:off x="11430000" y="6583680"/>
            <a:ext cx="640080" cy="182880"/>
          </a:xfrm>
          <a:prstGeom prst="rect">
            <a:avLst/>
          </a:prstGeom>
          <a:noFill/>
        </p:spPr>
        <p:txBody>
          <a:bodyPr wrap="square" lIns="0" tIns="0" rIns="0" bIns="0" anchor="ctr"/>
          <a:lstStyle/>
          <a:p>
            <a:pPr algn="r" indent="0" marL="0">
              <a:buNone/>
            </a:pPr>
            <a:r>
              <a:rPr lang="en-US" sz="900" dirty="0">
                <a:solidFill>
                  <a:srgbClr val="64748B"/>
                </a:solidFill>
                <a:latin typeface="Calibri" pitchFamily="34" charset="0"/>
              </a:rPr>
              <a:t>7 / 16</a:t>
            </a:r>
          </a:p>
        </p:txBody>
      </p:sp>
      <p:sp>
        <p:nvSpPr>
          <p:cNvPr id="102" name="Footer"/>
          <p:cNvSpPr/>
          <p:nvPr/>
        </p:nvSpPr>
        <p:spPr>
          <a:xfrm>
            <a:off x="228600" y="6583680"/>
            <a:ext cx="3200400" cy="182880"/>
          </a:xfrm>
          <a:prstGeom prst="rect">
            <a:avLst/>
          </a:prstGeom>
          <a:noFill/>
        </p:spPr>
        <p:txBody>
          <a:bodyPr wrap="square" lIns="0" tIns="0" rIns="0" bIns="0" anchor="ctr"/>
          <a:lstStyle/>
          <a:p>
            <a:pPr algn="l" indent="0" marL="0">
              <a:buNone/>
            </a:pPr>
            <a:r>
              <a:rPr lang="en-US" sz="900" dirty="0">
                <a:solidFill>
                  <a:srgbClr val="64748B"/>
                </a:solidFill>
                <a:latin typeface="Calibri" pitchFamily="34" charset="0"/>
              </a:rPr>
              <a:t>LLMday Austin · May 12,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MLOps Pipeline Is Your Agentic AI Guardrail</dc:title>
  <dc:subject>PptxGenJS Presentation</dc:subject>
  <dc:creator>Michael Forrester</dc:creator>
  <cp:lastModifiedBy>Michael Forrester</cp:lastModifiedBy>
  <cp:revision>1</cp:revision>
  <dcterms:created xsi:type="dcterms:W3CDTF">2026-05-11T21:53:41Z</dcterms:created>
  <dcterms:modified xsi:type="dcterms:W3CDTF">2026-05-11T21:53:41Z</dcterms:modified>
</cp:coreProperties>
</file>