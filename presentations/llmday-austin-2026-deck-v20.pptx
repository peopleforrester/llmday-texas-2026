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Props/core0.xml" ContentType="application/vnd.openxmlformats-package.core-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openxmlformats.org/officedocument/2006/relationships/metadata/core-properties" Target="docProps/core0.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25"/>
  </p:notesMasterIdLst>
  <p:sldIdLst>
    <p:sldId id="256" r:id="rId2"/>
    <p:sldId id="272" r:id="rId3"/>
    <p:sldId id="273" r:id="rId4"/>
    <p:sldId id="275" r:id="rId5"/>
    <p:sldId id="274" r:id="rId6"/>
    <p:sldId id="276" r:id="rId7"/>
    <p:sldId id="277"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8" r:id="rId22"/>
    <p:sldId id="270" r:id="rId23"/>
    <p:sldId id="271" r:id="rId24"/>
  </p:sldIdLst>
  <p:sldSz cx="12192000" cy="6858000"/>
  <p:notesSz cx="6858000" cy="12192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04" d="100"/>
          <a:sy n="104" d="100"/>
        </p:scale>
        <p:origin x="284" y="8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r>
              <a:rPr lang="en-US" sz="1800" b="0" strike="noStrike" spc="-1">
                <a:solidFill>
                  <a:schemeClr val="dk1"/>
                </a:solidFill>
                <a:latin typeface="Calibri"/>
              </a:rPr>
              <a:t>Click to move the slide</a:t>
            </a:r>
          </a:p>
        </p:txBody>
      </p:sp>
      <p:sp>
        <p:nvSpPr>
          <p:cNvPr id="3"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216000" indent="-216000">
              <a:buNone/>
            </a:pPr>
            <a:r>
              <a:rPr lang="en-US" sz="2000" b="0" strike="noStrike" spc="-1">
                <a:solidFill>
                  <a:srgbClr val="000000"/>
                </a:solidFill>
                <a:latin typeface="Arial"/>
              </a:rPr>
              <a:t>Click to edit the notes format</a:t>
            </a:r>
          </a:p>
        </p:txBody>
      </p:sp>
      <p:sp>
        <p:nvSpPr>
          <p:cNvPr id="4"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en-US" sz="1400" b="0" strike="noStrike" spc="-1">
                <a:solidFill>
                  <a:srgbClr val="000000"/>
                </a:solidFill>
                <a:latin typeface="Times New Roman"/>
              </a:rPr>
              <a:t>&lt;header&gt;</a:t>
            </a:r>
          </a:p>
        </p:txBody>
      </p:sp>
      <p:sp>
        <p:nvSpPr>
          <p:cNvPr id="5"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en-US" sz="1400" b="0" strike="noStrike" spc="-1">
                <a:solidFill>
                  <a:srgbClr val="000000"/>
                </a:solidFill>
                <a:latin typeface="Times New Roman"/>
              </a:defRPr>
            </a:lvl1pPr>
          </a:lstStyle>
          <a:p>
            <a:pPr indent="0" algn="r">
              <a:buNone/>
            </a:pPr>
            <a:r>
              <a:rPr lang="en-US" sz="1400" b="0" strike="noStrike" spc="-1">
                <a:solidFill>
                  <a:srgbClr val="000000"/>
                </a:solidFill>
                <a:latin typeface="Times New Roman"/>
              </a:rPr>
              <a:t>&lt;date/time&gt;</a:t>
            </a:r>
          </a:p>
        </p:txBody>
      </p:sp>
      <p:sp>
        <p:nvSpPr>
          <p:cNvPr id="6"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en-US" sz="1400" b="0" strike="noStrike" spc="-1">
                <a:solidFill>
                  <a:srgbClr val="000000"/>
                </a:solidFill>
                <a:latin typeface="Times New Roman"/>
              </a:defRPr>
            </a:lvl1pPr>
          </a:lstStyle>
          <a:p>
            <a:pPr indent="0">
              <a:buNone/>
            </a:pPr>
            <a:r>
              <a:rPr lang="en-US" sz="1400" b="0" strike="noStrike" spc="-1">
                <a:solidFill>
                  <a:srgbClr val="000000"/>
                </a:solidFill>
                <a:latin typeface="Times New Roman"/>
              </a:rPr>
              <a:t>&lt;footer&gt;</a:t>
            </a:r>
          </a:p>
        </p:txBody>
      </p:sp>
      <p:sp>
        <p:nvSpPr>
          <p:cNvPr id="7"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strike="noStrike" spc="-1">
                <a:solidFill>
                  <a:srgbClr val="000000"/>
                </a:solidFill>
                <a:latin typeface="Times New Roman"/>
              </a:defRPr>
            </a:lvl1pPr>
          </a:lstStyle>
          <a:p>
            <a:pPr indent="0" algn="r">
              <a:buNone/>
            </a:pPr>
            <a:fld id="{D5FBCE77-4B06-4733-A440-2CC41B2AD723}" type="slidenum">
              <a:rPr lang="en-US" sz="1400" b="0" strike="noStrike" spc="-1">
                <a:solidFill>
                  <a:srgbClr val="000000"/>
                </a:solidFill>
                <a:latin typeface="Times New Roman"/>
              </a:rPr>
              <a:t>‹#›</a:t>
            </a:fld>
            <a:endParaRPr lang="en-US"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2" name="PlaceHolder 1"/>
          <p:cNvSpPr>
            <a:spLocks noGrp="1" noRot="1" noChangeAspect="1"/>
          </p:cNvSpPr>
          <p:nvPr>
            <p:ph type="sldImg"/>
          </p:nvPr>
        </p:nvSpPr>
        <p:spPr>
          <a:xfrm>
            <a:off x="685800" y="1143000"/>
            <a:ext cx="5486040" cy="3085920"/>
          </a:xfrm>
          <a:prstGeom prst="rect">
            <a:avLst/>
          </a:prstGeom>
          <a:ln w="0">
            <a:noFill/>
          </a:ln>
        </p:spPr>
      </p:sp>
      <p:sp>
        <p:nvSpPr>
          <p:cNvPr id="33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Open straight. 30 seconds.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"Today I'm going to show you something an agent did, and how three things your pipeline already does would have stopped it. Then I'm going to do that live."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"Three layers. Server-side is diamond. Client-side is gold. In-agent is dirt. We'll come back to this stack at the end."</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Move to slide 2.</a:t>
            </a:r>
          </a:p>
        </p:txBody>
      </p:sp>
      <p:sp>
        <p:nvSpPr>
          <p:cNvPr id="334" name="PlaceHolder 3"/>
          <p:cNvSpPr>
            <a:spLocks noGrp="1"/>
          </p:cNvSpPr>
          <p:nvPr>
            <p:ph type="sldNum" idx="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AA7C459-E1CA-4CBC-8773-786DEAE2684F}" type="slidenum">
              <a:rPr lang="en-US" sz="1200" b="0" strike="noStrike" spc="-1">
                <a:solidFill>
                  <a:schemeClr val="dk1"/>
                </a:solidFill>
                <a:latin typeface="+mn-lt"/>
                <a:ea typeface="+mn-ea"/>
              </a:rPr>
              <a:t>1</a:t>
            </a:fld>
            <a:endParaRPr lang="en-US" sz="1200" b="0" strike="noStrike" spc="-1">
              <a:solidFill>
                <a:srgbClr val="000000"/>
              </a:solidFill>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5" name="PlaceHolder 1"/>
          <p:cNvSpPr>
            <a:spLocks noGrp="1" noRot="1" noChangeAspect="1"/>
          </p:cNvSpPr>
          <p:nvPr>
            <p:ph type="sldImg"/>
          </p:nvPr>
        </p:nvSpPr>
        <p:spPr>
          <a:xfrm>
            <a:off x="685800" y="1143000"/>
            <a:ext cx="5486040" cy="3085920"/>
          </a:xfrm>
          <a:prstGeom prst="rect">
            <a:avLst/>
          </a:prstGeom>
          <a:ln w="0">
            <a:noFill/>
          </a:ln>
        </p:spPr>
      </p:sp>
      <p:sp>
        <p:nvSpPr>
          <p:cNvPr id="33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30 seconds. Brief acknowledgment, no retelling.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"If you came from SREday yesterday, you saw the story. If you didn't, the short version is: I gave an agent cluster-level permissions, walked away, and forty minutes later I had no cluster. The agent didn't go rogue. It made one bad decision and then made it worse trying to fix it."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"Today is not about the incident. Today is about what would have stopped it: three layers your pipeline already runs, plus five more that complete the framework."</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"If you want the full story, the SREday recording will be online soon. Scan the QR or check the conference page."</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Move on. Don't dwell.</a:t>
            </a:r>
          </a:p>
        </p:txBody>
      </p:sp>
      <p:sp>
        <p:nvSpPr>
          <p:cNvPr id="337" name="PlaceHolder 3"/>
          <p:cNvSpPr>
            <a:spLocks noGrp="1"/>
          </p:cNvSpPr>
          <p:nvPr>
            <p:ph type="sldNum" idx="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F0472A0-133F-4B1F-BF05-9D02D3AE7F48}" type="slidenum">
              <a:rPr lang="en-US" sz="1200" b="0" strike="noStrike" spc="-1">
                <a:solidFill>
                  <a:schemeClr val="dk1"/>
                </a:solidFill>
                <a:latin typeface="+mn-lt"/>
                <a:ea typeface="+mn-ea"/>
              </a:rPr>
              <a:t>8</a:t>
            </a:fld>
            <a:endParaRPr lang="en-US" sz="1200" b="0" strike="noStrike" spc="-1">
              <a:solidFill>
                <a:srgbClr val="000000"/>
              </a:solidFill>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8" name="PlaceHolder 1"/>
          <p:cNvSpPr>
            <a:spLocks noGrp="1" noRot="1" noChangeAspect="1"/>
          </p:cNvSpPr>
          <p:nvPr>
            <p:ph type="sldImg"/>
          </p:nvPr>
        </p:nvSpPr>
        <p:spPr>
          <a:xfrm>
            <a:off x="685800" y="1143000"/>
            <a:ext cx="5486040" cy="3085920"/>
          </a:xfrm>
          <a:prstGeom prst="rect">
            <a:avLst/>
          </a:prstGeom>
          <a:ln w="0">
            <a:noFill/>
          </a:ln>
        </p:spPr>
      </p:sp>
      <p:sp>
        <p:nvSpPr>
          <p:cNvPr id="339"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45 seconds. The audience should nod.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"Source. Build. Test. Train. Eval. Register. Deploy. Production. Seven gates between them."</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"Branch protection. SBOM and cosign. Coverage threshold. Reproducible builds. Threshold gate. Signed registry. Admission policy. Every one of these is a check you configured once and forgot about. Every one of these runs on every commit."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"None of them need a human in the loop at runtime. They were configured once. They run automatically. This is what protects you when a human commits the change."</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Pause. Then transition: "But what happens when it isn't a human?"</a:t>
            </a:r>
          </a:p>
        </p:txBody>
      </p:sp>
      <p:sp>
        <p:nvSpPr>
          <p:cNvPr id="340" name="PlaceHolder 3"/>
          <p:cNvSpPr>
            <a:spLocks noGrp="1"/>
          </p:cNvSpPr>
          <p:nvPr>
            <p:ph type="sldNum" idx="6"/>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973253E-2ED0-4488-97BE-5B7AAACD09AE}" type="slidenum">
              <a:rPr lang="en-US" sz="1200" b="0" strike="noStrike" spc="-1">
                <a:solidFill>
                  <a:schemeClr val="dk1"/>
                </a:solidFill>
                <a:latin typeface="+mn-lt"/>
                <a:ea typeface="+mn-ea"/>
              </a:rPr>
              <a:t>10</a:t>
            </a:fld>
            <a:endParaRPr lang="en-US" sz="1200" b="0" strike="noStrike" spc="-1">
              <a:solidFill>
                <a:srgbClr val="000000"/>
              </a:solidFill>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1" name="PlaceHolder 1"/>
          <p:cNvSpPr>
            <a:spLocks noGrp="1" noRot="1" noChangeAspect="1"/>
          </p:cNvSpPr>
          <p:nvPr>
            <p:ph type="sldImg"/>
          </p:nvPr>
        </p:nvSpPr>
        <p:spPr>
          <a:xfrm>
            <a:off x="685800" y="1143000"/>
            <a:ext cx="5486040" cy="3085920"/>
          </a:xfrm>
          <a:prstGeom prst="rect">
            <a:avLst/>
          </a:prstGeom>
          <a:ln w="0">
            <a:noFill/>
          </a:ln>
        </p:spPr>
      </p:sp>
      <p:sp>
        <p:nvSpPr>
          <p:cNvPr id="342"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60 seconds.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"Same pipeline. The agent doesn't have to compromise it. The agent IS the pipeline now. One prompt and it picks the training, tags the registry, fires the deploy, patches production. Every stage from one entry point."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gates were designed for humans. PR review assumes a person to review. Branch protection assumes someone else committed. Signed registry assumes someone signed."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"None of those assumptions hold when an agent drives."</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Bridge to demo: "Now let me show you what your pipeline already does about this. Real cluster. Three real gates. One agent driving."</a:t>
            </a:r>
          </a:p>
        </p:txBody>
      </p:sp>
      <p:sp>
        <p:nvSpPr>
          <p:cNvPr id="343" name="PlaceHolder 3"/>
          <p:cNvSpPr>
            <a:spLocks noGrp="1"/>
          </p:cNvSpPr>
          <p:nvPr>
            <p:ph type="sldNum" idx="7"/>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46A47C55-C203-4802-B38A-21275F39E360}" type="slidenum">
              <a:rPr lang="en-US" sz="1200" b="0" strike="noStrike" spc="-1">
                <a:solidFill>
                  <a:schemeClr val="dk1"/>
                </a:solidFill>
                <a:latin typeface="+mn-lt"/>
                <a:ea typeface="+mn-ea"/>
              </a:rPr>
              <a:t>11</a:t>
            </a:fld>
            <a:endParaRPr lang="en-US" sz="1200" b="0" strike="noStrike" spc="-1">
              <a:solidFill>
                <a:srgbClr val="000000"/>
              </a:solidFill>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 name="PlaceHolder 1"/>
          <p:cNvSpPr>
            <a:spLocks noGrp="1" noRot="1" noChangeAspect="1"/>
          </p:cNvSpPr>
          <p:nvPr>
            <p:ph type="sldImg"/>
          </p:nvPr>
        </p:nvSpPr>
        <p:spPr>
          <a:xfrm>
            <a:off x="685800" y="1143000"/>
            <a:ext cx="5486040" cy="3085920"/>
          </a:xfrm>
          <a:prstGeom prst="rect">
            <a:avLst/>
          </a:prstGeom>
          <a:ln w="0">
            <a:noFill/>
          </a:ln>
        </p:spPr>
      </p:sp>
      <p:sp>
        <p:nvSpPr>
          <p:cNvPr id="345"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Architecture slide. ~2 minutes.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This is the mental model. Three zones to put a gate: client-side, app/agent, server-side. Walk the audience through what lives where.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"Client-side is the agent's hands. Git hooks, file-system ACLs, tool allowlists. These live on the operator's machine."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"App/agent is where decisions happen. PreToolUse hooks, framework callbacks, the LLM itself. Probabilistic by nature -- this is the only zone that cannot be the primary control."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"Server-side is the target system. Admission, runtime monitoring, network policy, output gates, RBAC. Most of the gates live here -- which is why your existing MLOps pipeline, which lives server-side, is most of the agent safety story already."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Point out the diamonds: "Today's six demos hit all three zones. The diamonds mark the live demos. Demo 1 hits the agent, Demo 2 hits client-side, Demos 3 through 6 all hit server-side. That's not an accident -- it's the talk's thesis. Server-side is where the discipline lives."</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This slide is the map. The minimap on each demo slide is a smaller version of this. When in doubt, point back to this.</a:t>
            </a:r>
          </a:p>
        </p:txBody>
      </p:sp>
      <p:sp>
        <p:nvSpPr>
          <p:cNvPr id="346" name="PlaceHolder 3"/>
          <p:cNvSpPr>
            <a:spLocks noGrp="1"/>
          </p:cNvSpPr>
          <p:nvPr>
            <p:ph type="sldNum" idx="8"/>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9084173A-7DEE-43A6-BF6A-48EB1CEE1010}" type="slidenum">
              <a:rPr lang="en-US" sz="1200" b="0" strike="noStrike" spc="-1">
                <a:solidFill>
                  <a:schemeClr val="dk1"/>
                </a:solidFill>
                <a:latin typeface="+mn-lt"/>
                <a:ea typeface="+mn-ea"/>
              </a:rPr>
              <a:t>12</a:t>
            </a:fld>
            <a:endParaRPr lang="en-US" sz="1200" b="0" strike="noStrike" spc="-1">
              <a:solidFill>
                <a:srgbClr val="000000"/>
              </a:solidFill>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7" name="PlaceHolder 1"/>
          <p:cNvSpPr>
            <a:spLocks noGrp="1" noRot="1" noChangeAspect="1"/>
          </p:cNvSpPr>
          <p:nvPr>
            <p:ph type="sldImg"/>
          </p:nvPr>
        </p:nvSpPr>
        <p:spPr>
          <a:xfrm>
            <a:off x="685800" y="1143000"/>
            <a:ext cx="5486040" cy="3085920"/>
          </a:xfrm>
          <a:prstGeom prst="rect">
            <a:avLst/>
          </a:prstGeom>
          <a:ln w="0">
            <a:noFill/>
          </a:ln>
        </p:spPr>
      </p:sp>
      <p:sp>
        <p:nvSpPr>
          <p:cNvPr id="348"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This is a bracket card. ~10 seconds before switching to terminal.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Setup line: "Beat 1. PreToolUse hook. The thing Claude Code, Cursor, and every other agent IDE ships with."</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"Watch the top-left pane. The agent is going to try the obvious thing first: kubectl set image against production. The hook is going to stop it before kubectl runs."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Switch display to terminal. Press SPACE in demo.sh.</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When the hook fires, narrate: "Pre-tool-use means pre-execution. The agent never touched the cluster. Eight lines of bash decided no. The agent read the deny message and is now looking for another path."</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When beat ends, switch back to slides for Beat 2 bracket.</a:t>
            </a:r>
          </a:p>
        </p:txBody>
      </p:sp>
      <p:sp>
        <p:nvSpPr>
          <p:cNvPr id="349" name="PlaceHolder 3"/>
          <p:cNvSpPr>
            <a:spLocks noGrp="1"/>
          </p:cNvSpPr>
          <p:nvPr>
            <p:ph type="sldNum" idx="9"/>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17A1DB9C-9207-44DA-95EB-5C56CAFFB52B}" type="slidenum">
              <a:rPr lang="en-US" sz="1200" b="0" strike="noStrike" spc="-1">
                <a:solidFill>
                  <a:schemeClr val="dk1"/>
                </a:solidFill>
                <a:latin typeface="+mn-lt"/>
                <a:ea typeface="+mn-ea"/>
              </a:rPr>
              <a:t>14</a:t>
            </a:fld>
            <a:endParaRPr lang="en-US" sz="1200" b="0" strike="noStrike" spc="-1">
              <a:solidFill>
                <a:srgbClr val="000000"/>
              </a:solidFill>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0" name="PlaceHolder 1"/>
          <p:cNvSpPr>
            <a:spLocks noGrp="1" noRot="1" noChangeAspect="1"/>
          </p:cNvSpPr>
          <p:nvPr>
            <p:ph type="sldImg"/>
          </p:nvPr>
        </p:nvSpPr>
        <p:spPr>
          <a:xfrm>
            <a:off x="685800" y="1143000"/>
            <a:ext cx="5486040" cy="3085920"/>
          </a:xfrm>
          <a:prstGeom prst="rect">
            <a:avLst/>
          </a:prstGeom>
          <a:ln w="0">
            <a:noFill/>
          </a:ln>
        </p:spPr>
      </p:sp>
      <p:sp>
        <p:nvSpPr>
          <p:cNvPr id="351"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Beat 2 bracket. ~10 seconds.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"Beat 2. Git pre-commit hook. The thing most teams use for linting and secret scanning. Same hook, applied to agent governance."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"Watch the bottom-left pane this time. The agent is now trying the IaC path. It's going to edit a file, run git commit, and the hook is going to reject it."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Switch to terminal. Press SPACE.</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When the hook fires: "Two rejection reasons. The path is protected. The committer email contains claude-agent. Either one would have denied. Both fired. This is the same mechanism your team uses for secret scanning, configured for one more thing."</a:t>
            </a:r>
          </a:p>
        </p:txBody>
      </p:sp>
      <p:sp>
        <p:nvSpPr>
          <p:cNvPr id="352" name="PlaceHolder 3"/>
          <p:cNvSpPr>
            <a:spLocks noGrp="1"/>
          </p:cNvSpPr>
          <p:nvPr>
            <p:ph type="sldNum" idx="10"/>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8121BA7A-D756-4898-A5AF-6C1A591C8EEA}" type="slidenum">
              <a:rPr lang="en-US" sz="1200" b="0" strike="noStrike" spc="-1">
                <a:solidFill>
                  <a:schemeClr val="dk1"/>
                </a:solidFill>
                <a:latin typeface="+mn-lt"/>
                <a:ea typeface="+mn-ea"/>
              </a:rPr>
              <a:t>15</a:t>
            </a:fld>
            <a:endParaRPr lang="en-US" sz="1200" b="0" strike="noStrike" spc="-1">
              <a:solidFill>
                <a:srgbClr val="000000"/>
              </a:solidFill>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3" name="PlaceHolder 1"/>
          <p:cNvSpPr>
            <a:spLocks noGrp="1" noRot="1" noChangeAspect="1"/>
          </p:cNvSpPr>
          <p:nvPr>
            <p:ph type="sldImg"/>
          </p:nvPr>
        </p:nvSpPr>
        <p:spPr>
          <a:xfrm>
            <a:off x="685800" y="1143000"/>
            <a:ext cx="5486040" cy="3085920"/>
          </a:xfrm>
          <a:prstGeom prst="rect">
            <a:avLst/>
          </a:prstGeom>
          <a:ln w="0">
            <a:noFill/>
          </a:ln>
        </p:spPr>
      </p:sp>
      <p:sp>
        <p:nvSpPr>
          <p:cNvPr id="354"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Beat 3 bracket. ~10 seconds.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"Beat 3. Server-side. The API server itself enforces this one. No webhook, no controller, no custom code. Native to Kubernetes since 1.30 and shipping in every cluster you run today."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"Watch the bottom-right pane. Agent is going to bypass the local PreToolUse hook by writing a file and applying it. The cluster doesn't care. Admission policy denies it at the API server."</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Switch to terminal. Press SPACE.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When the VAP fires: "Final layer. Even if the agent's process is compromised, even if the developer is malicious, even if the git hooks were bypassed by a privileged user, the cluster said no. This is the wall."</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Switch back to slides for Eight Guardrails.</a:t>
            </a:r>
          </a:p>
        </p:txBody>
      </p:sp>
      <p:sp>
        <p:nvSpPr>
          <p:cNvPr id="355" name="PlaceHolder 3"/>
          <p:cNvSpPr>
            <a:spLocks noGrp="1"/>
          </p:cNvSpPr>
          <p:nvPr>
            <p:ph type="sldNum" idx="11"/>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E04AC54E-E61B-45A1-8BCC-88086C68FCE0}" type="slidenum">
              <a:rPr lang="en-US" sz="1200" b="0" strike="noStrike" spc="-1">
                <a:solidFill>
                  <a:schemeClr val="dk1"/>
                </a:solidFill>
                <a:latin typeface="+mn-lt"/>
                <a:ea typeface="+mn-ea"/>
              </a:rPr>
              <a:t>16</a:t>
            </a:fld>
            <a:endParaRPr lang="en-US" sz="1200" b="0" strike="noStrike" spc="-1">
              <a:solidFill>
                <a:srgbClr val="000000"/>
              </a:solidFill>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6" name="PlaceHolder 1"/>
          <p:cNvSpPr>
            <a:spLocks noGrp="1" noRot="1" noChangeAspect="1"/>
          </p:cNvSpPr>
          <p:nvPr>
            <p:ph type="sldImg"/>
          </p:nvPr>
        </p:nvSpPr>
        <p:spPr>
          <a:xfrm>
            <a:off x="685800" y="1143000"/>
            <a:ext cx="5486040" cy="3085920"/>
          </a:xfrm>
          <a:prstGeom prst="rect">
            <a:avLst/>
          </a:prstGeom>
          <a:ln w="0">
            <a:noFill/>
          </a:ln>
        </p:spPr>
      </p:sp>
      <p:sp>
        <p:nvSpPr>
          <p:cNvPr id="357"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Demo 4. Server-side. Runtime extension. ~3 minutes.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CRITICAL FRAMING for the audience: this is still server-side (Layer 3). We have not changed layers. Admission accepted the manifest yesterday. The agent is now operating inside a pod that admission already approved. Falco watches behavior; Talon enforces. Same layer, different timing.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"Beat 3 caught the agent writing. Beat 4 catches the agent acting. Notice the minimap: still server-side. We have not moved layers; we have moved through time."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Demo: kubectl exec into model-server pod, then trigger a Falco rule (cat /etc/shadow, or shell-in-container). Watch the falcosidekick pane. Pod gets evicted by Talon. kubectl get pods shows the replica restarting.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After the eviction: "Admission accepted the manifest. Runtime decided the behavior. This is drift detection applied to actions, not predictions. Same MLOps mechanism, different consumer."</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Pacing note: if the eviction is slow, narrate while it happens. Do not let dead air kill the moment.</a:t>
            </a:r>
          </a:p>
        </p:txBody>
      </p:sp>
      <p:sp>
        <p:nvSpPr>
          <p:cNvPr id="358" name="PlaceHolder 3"/>
          <p:cNvSpPr>
            <a:spLocks noGrp="1"/>
          </p:cNvSpPr>
          <p:nvPr>
            <p:ph type="sldNum" idx="12"/>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967279C-F93E-4913-9AD1-98491FE99F5E}" type="slidenum">
              <a:rPr lang="en-US" sz="1200" b="0" strike="noStrike" spc="-1">
                <a:solidFill>
                  <a:schemeClr val="dk1"/>
                </a:solidFill>
                <a:latin typeface="+mn-lt"/>
                <a:ea typeface="+mn-ea"/>
              </a:rPr>
              <a:t>17</a:t>
            </a:fld>
            <a:endParaRPr lang="en-US" sz="1200" b="0" strike="noStrike" spc="-1">
              <a:solidFill>
                <a:srgbClr val="000000"/>
              </a:solidFill>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9" name="PlaceHolder 1"/>
          <p:cNvSpPr>
            <a:spLocks noGrp="1" noRot="1" noChangeAspect="1"/>
          </p:cNvSpPr>
          <p:nvPr>
            <p:ph type="sldImg"/>
          </p:nvPr>
        </p:nvSpPr>
        <p:spPr>
          <a:xfrm>
            <a:off x="685800" y="1143000"/>
            <a:ext cx="5486040" cy="3085920"/>
          </a:xfrm>
          <a:prstGeom prst="rect">
            <a:avLst/>
          </a:prstGeom>
          <a:ln w="0">
            <a:noFill/>
          </a:ln>
        </p:spPr>
      </p:sp>
      <p:sp>
        <p:nvSpPr>
          <p:cNvPr id="360"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Demo 5. Server-side. Network extension. ~2-3 minutes.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CRITICAL FRAMING: still server-side. Still Layer 3. This is the data-path enforcement. The minimap diamond moves from runtime to network, but the active zone has not changed.</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"Same layer. Different mechanism. Admission lets the manifest in. Runtime catches the behavior. NetworkPolicy controls the destination. All three live server-side."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Demo: From inside a production pod, attempt curl to a destination not on the allowlist. Examples: curl huggingface.co, or curl staging-vector-store.staging.svc.cluster.local from production. Connection hangs and times out. Show the NetworkPolicy YAML on screen with the allowlist.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"Runtime did not fire. Nothing was unsafe at the syscall level. The destination was just not on the list. This is feature-store discipline applied to the inference data path."</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Sequencing warning: do not pick a destination that triggers Falco, or Talon will kill the pod before NetworkPolicy gets to be the visible gate. The point of this demo is the destination, not the behavior.</a:t>
            </a:r>
          </a:p>
        </p:txBody>
      </p:sp>
      <p:sp>
        <p:nvSpPr>
          <p:cNvPr id="361" name="PlaceHolder 3"/>
          <p:cNvSpPr>
            <a:spLocks noGrp="1"/>
          </p:cNvSpPr>
          <p:nvPr>
            <p:ph type="sldNum" idx="13"/>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316E88EF-C4E8-4604-B8A2-A5ABF34FCD1E}" type="slidenum">
              <a:rPr lang="en-US" sz="1200" b="0" strike="noStrike" spc="-1">
                <a:solidFill>
                  <a:schemeClr val="dk1"/>
                </a:solidFill>
                <a:latin typeface="+mn-lt"/>
                <a:ea typeface="+mn-ea"/>
              </a:rPr>
              <a:t>18</a:t>
            </a:fld>
            <a:endParaRPr lang="en-US" sz="1200" b="0" strike="noStrike" spc="-1">
              <a:solidFill>
                <a:srgbClr val="000000"/>
              </a:solidFill>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2" name="PlaceHolder 1"/>
          <p:cNvSpPr>
            <a:spLocks noGrp="1" noRot="1" noChangeAspect="1"/>
          </p:cNvSpPr>
          <p:nvPr>
            <p:ph type="sldImg"/>
          </p:nvPr>
        </p:nvSpPr>
        <p:spPr>
          <a:xfrm>
            <a:off x="685800" y="1143000"/>
            <a:ext cx="5486040" cy="3085920"/>
          </a:xfrm>
          <a:prstGeom prst="rect">
            <a:avLst/>
          </a:prstGeom>
          <a:ln w="0">
            <a:noFill/>
          </a:ln>
        </p:spPr>
      </p:sp>
      <p:sp>
        <p:nvSpPr>
          <p:cNvPr id="363"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The full framework. ~2 minutes.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"What you just watched live were three of the eight guardrails. Each one a deterministic check. Each one a layer of your existing pipeline configured for a new threat model."</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other five aren't new infrastructure either. They're things your team already runs or should be running."</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"IaC-only changes: production infrastructure flows through signed PRs. Most teams have branch protection. Same gate, applied to the agent identity."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"Least privilege RBAC: the agent ServiceAccount in our demo was scoped to staging. It had no production access at all. The K8s admission policy was the backup, not the primary. Scoping is the primary."</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"Automated rollback: ArgoCD reverts a failed apply within seconds. Most teams configure this. Same mechanism, same protection against an agent making a change that breaks health checks."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"Audit logging: every admission decision and every API call recorded. Most teams send these to a SIEM. Same audit trail, with the agent service accounts now identifiable."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"Tested in CI: your hooks are code. Test them like code. Run them against malicious payloads on every PR. If your PreToolUse hook stops working, you find out in CI, not in production."</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"Eight gates. Three layers. None of them new. The probabilistic part is the agent. The deterministic part is everything else."</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Move to closer.</a:t>
            </a:r>
          </a:p>
        </p:txBody>
      </p:sp>
      <p:sp>
        <p:nvSpPr>
          <p:cNvPr id="364" name="PlaceHolder 3"/>
          <p:cNvSpPr>
            <a:spLocks noGrp="1"/>
          </p:cNvSpPr>
          <p:nvPr>
            <p:ph type="sldNum" idx="14"/>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F4946791-18CB-4B07-A723-40ACE03D5F3F}" type="slidenum">
              <a:rPr lang="en-US" sz="1200" b="0" strike="noStrike" spc="-1">
                <a:solidFill>
                  <a:schemeClr val="dk1"/>
                </a:solidFill>
                <a:latin typeface="+mn-lt"/>
                <a:ea typeface="+mn-ea"/>
              </a:rPr>
              <a:t>19</a:t>
            </a:fld>
            <a:endParaRPr lang="en-US" sz="1200" b="0" strike="noStrike" spc="-1">
              <a:solidFill>
                <a:srgbClr val="000000"/>
              </a:solidFill>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5" name="PlaceHolder 1"/>
          <p:cNvSpPr>
            <a:spLocks noGrp="1" noRot="1" noChangeAspect="1"/>
          </p:cNvSpPr>
          <p:nvPr>
            <p:ph type="sldImg"/>
          </p:nvPr>
        </p:nvSpPr>
        <p:spPr>
          <a:xfrm>
            <a:off x="685800" y="1143000"/>
            <a:ext cx="5486040" cy="3085920"/>
          </a:xfrm>
          <a:prstGeom prst="rect">
            <a:avLst/>
          </a:prstGeom>
          <a:ln w="0">
            <a:noFill/>
          </a:ln>
        </p:spPr>
      </p:sp>
      <p:sp>
        <p:nvSpPr>
          <p:cNvPr id="366" name="PlaceHolder 2"/>
          <p:cNvSpPr>
            <a:spLocks noGrp="1"/>
          </p:cNvSpPr>
          <p:nvPr>
            <p:ph type="body"/>
          </p:nvPr>
        </p:nvSpPr>
        <p:spPr>
          <a:xfrm>
            <a:off x="685800" y="4400640"/>
            <a:ext cx="5486040" cy="3600000"/>
          </a:xfrm>
          <a:prstGeom prst="rect">
            <a:avLst/>
          </a:prstGeom>
          <a:noFill/>
          <a:ln w="0">
            <a:noFill/>
          </a:ln>
        </p:spPr>
        <p:txBody>
          <a:bodyPr lIns="91440" tIns="45720" rIns="91440" bIns="45720" anchor="t">
            <a:noAutofit/>
          </a:bodyPr>
          <a:lstStyle/>
          <a:p>
            <a:pPr marL="216000" indent="-216000">
              <a:buNone/>
            </a:pPr>
            <a:r>
              <a:rPr lang="en-US" sz="2000" b="0" strike="noStrike" spc="-1">
                <a:solidFill>
                  <a:srgbClr val="000000"/>
                </a:solidFill>
                <a:latin typeface="Arial"/>
              </a:rPr>
              <a:t>The close. 90 seconds.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"You already built it. You just have to fill the gates the pipeline already knows."</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"Three paths. Pick the one that matches where you are."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Walk the three options. 15 seconds each.</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"Whichever path: ends with a gate added. Whichever gate: closes one of the eight."</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"The repo has everything: the PreToolUse hook, the Git pre-commit hook, the K8s admission policies, the CI tests, and the gap checklist. Scan or clone."</a:t>
            </a:r>
          </a:p>
          <a:p>
            <a:pPr marL="216000" indent="-216000">
              <a:buNone/>
            </a:pPr>
            <a:endParaRPr lang="en-US" sz="2000" b="0" strike="noStrike" spc="-1">
              <a:solidFill>
                <a:srgbClr val="000000"/>
              </a:solidFill>
              <a:latin typeface="Arial"/>
            </a:endParaRPr>
          </a:p>
          <a:p>
            <a:pPr marL="216000" indent="-216000">
              <a:buNone/>
            </a:pPr>
            <a:r>
              <a:rPr lang="en-US" sz="2000" b="0" strike="noStrike" spc="-1">
                <a:solidFill>
                  <a:srgbClr val="000000"/>
                </a:solidFill>
                <a:latin typeface="Arial"/>
              </a:rPr>
              <a:t>"Thank you. Questions?"</a:t>
            </a:r>
          </a:p>
          <a:p>
            <a:pPr marL="216000" indent="-216000">
              <a:buNone/>
            </a:pPr>
            <a:endParaRPr lang="en-US" sz="2000" b="0" strike="noStrike" spc="-1">
              <a:solidFill>
                <a:srgbClr val="000000"/>
              </a:solidFill>
              <a:latin typeface="Arial"/>
            </a:endParaRPr>
          </a:p>
          <a:p>
            <a:pPr marL="216000" indent="0">
              <a:lnSpc>
                <a:spcPct val="100000"/>
              </a:lnSpc>
              <a:buNone/>
            </a:pPr>
            <a:r>
              <a:rPr lang="en-US" sz="2000" b="0" strike="noStrike" spc="-1">
                <a:solidFill>
                  <a:srgbClr val="000000"/>
                </a:solidFill>
                <a:latin typeface="Arial"/>
              </a:rPr>
              <a:t>If anyone asks about the cluster incident: "Brief version is I gave an agent kubeadm and it force-init'd the cluster, then while troubleshooting it rewrote netplan and rebooted every node. The full version is the SREday recording when it's online — the QR is on slide 2."</a:t>
            </a:r>
          </a:p>
        </p:txBody>
      </p:sp>
      <p:sp>
        <p:nvSpPr>
          <p:cNvPr id="367" name="PlaceHolder 3"/>
          <p:cNvSpPr>
            <a:spLocks noGrp="1"/>
          </p:cNvSpPr>
          <p:nvPr>
            <p:ph type="sldNum" idx="15"/>
          </p:nvPr>
        </p:nvSpPr>
        <p:spPr>
          <a:xfrm>
            <a:off x="3884760" y="8685360"/>
            <a:ext cx="2971440" cy="458280"/>
          </a:xfrm>
          <a:prstGeom prst="rect">
            <a:avLst/>
          </a:prstGeom>
          <a:noFill/>
          <a:ln w="0">
            <a:noFill/>
          </a:ln>
        </p:spPr>
        <p:txBody>
          <a:bodyPr lIns="91440" tIns="45720" rIns="91440" bIns="45720" anchor="b">
            <a:noAutofit/>
          </a:bodyPr>
          <a:lstStyle>
            <a:lvl1pPr indent="0" algn="r" defTabSz="914400">
              <a:lnSpc>
                <a:spcPct val="100000"/>
              </a:lnSpc>
              <a:buNone/>
              <a:defRPr lang="en-US" sz="1200" b="0" strike="noStrike" spc="-1">
                <a:solidFill>
                  <a:schemeClr val="dk1"/>
                </a:solidFill>
                <a:latin typeface="+mn-lt"/>
                <a:ea typeface="+mn-ea"/>
              </a:defRPr>
            </a:lvl1pPr>
          </a:lstStyle>
          <a:p>
            <a:pPr indent="0" algn="r" defTabSz="914400">
              <a:lnSpc>
                <a:spcPct val="100000"/>
              </a:lnSpc>
              <a:buNone/>
            </a:pPr>
            <a:fld id="{DA1577D4-B83E-4BD6-9390-211CEF778AE1}" type="slidenum">
              <a:rPr lang="en-US" sz="1200" b="0" strike="noStrike" spc="-1">
                <a:solidFill>
                  <a:schemeClr val="dk1"/>
                </a:solidFill>
                <a:latin typeface="+mn-lt"/>
                <a:ea typeface="+mn-ea"/>
              </a:rPr>
              <a:t>22</a:t>
            </a:fld>
            <a:endParaRPr lang="en-US" sz="1200" b="0" strike="noStrike" spc="-1">
              <a:solidFill>
                <a:srgbClr val="000000"/>
              </a:solidFill>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buNone/>
            </a:pPr>
            <a:r>
              <a:rPr lang="en-US" sz="1800" b="0" strike="noStrike" spc="-1">
                <a:solidFill>
                  <a:schemeClr val="dk1"/>
                </a:solidFill>
                <a:latin typeface="Calibri"/>
              </a:rPr>
              <a:t>Click to edit the title text format</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en-US" sz="3200" b="0" strike="noStrike" spc="-1">
                <a:solidFill>
                  <a:schemeClr val="dk1"/>
                </a:solidFill>
                <a:latin typeface="Calibri"/>
              </a:rPr>
              <a:t>Click to edit the outline text format</a:t>
            </a:r>
          </a:p>
          <a:p>
            <a:pPr marL="864000" lvl="1" indent="-324000">
              <a:spcBef>
                <a:spcPts val="1134"/>
              </a:spcBef>
              <a:buClr>
                <a:srgbClr val="000000"/>
              </a:buClr>
              <a:buSzPct val="75000"/>
              <a:buFont typeface="Symbol" charset="2"/>
              <a:buChar char=""/>
            </a:pPr>
            <a:r>
              <a:rPr lang="en-US" sz="2400" b="0" strike="noStrike" spc="-1">
                <a:solidFill>
                  <a:schemeClr val="dk1"/>
                </a:solidFill>
                <a:latin typeface="Calibri"/>
              </a:rPr>
              <a:t>Second Outline Level</a:t>
            </a:r>
          </a:p>
          <a:p>
            <a:pPr marL="1296000" lvl="2" indent="-288000">
              <a:spcBef>
                <a:spcPts val="850"/>
              </a:spcBef>
              <a:buClr>
                <a:srgbClr val="000000"/>
              </a:buClr>
              <a:buSzPct val="45000"/>
              <a:buFont typeface="Wingdings" charset="2"/>
              <a:buChar char=""/>
            </a:pPr>
            <a:r>
              <a:rPr lang="en-US" sz="2000" b="0" strike="noStrike" spc="-1">
                <a:solidFill>
                  <a:schemeClr val="dk1"/>
                </a:solidFill>
                <a:latin typeface="Calibri"/>
              </a:rPr>
              <a:t>Third Outline Level</a:t>
            </a:r>
          </a:p>
          <a:p>
            <a:pPr marL="1728000" lvl="3" indent="-216000">
              <a:spcBef>
                <a:spcPts val="567"/>
              </a:spcBef>
              <a:buClr>
                <a:srgbClr val="000000"/>
              </a:buClr>
              <a:buSzPct val="75000"/>
              <a:buFont typeface="Symbol" charset="2"/>
              <a:buChar char=""/>
            </a:pPr>
            <a:r>
              <a:rPr lang="en-US" sz="2000" b="0" strike="noStrike" spc="-1">
                <a:solidFill>
                  <a:schemeClr val="dk1"/>
                </a:solidFill>
                <a:latin typeface="Calibri"/>
              </a:rPr>
              <a:t>Fourth Outline Level</a:t>
            </a:r>
          </a:p>
          <a:p>
            <a:pPr marL="2160000" lvl="4" indent="-216000">
              <a:spcBef>
                <a:spcPts val="283"/>
              </a:spcBef>
              <a:buClr>
                <a:srgbClr val="000000"/>
              </a:buClr>
              <a:buSzPct val="45000"/>
              <a:buFont typeface="Wingdings" charset="2"/>
              <a:buChar char=""/>
            </a:pPr>
            <a:r>
              <a:rPr lang="en-US" sz="2000" b="0" strike="noStrike" spc="-1">
                <a:solidFill>
                  <a:schemeClr val="dk1"/>
                </a:solidFill>
                <a:latin typeface="Calibri"/>
              </a:rPr>
              <a:t>Fifth Outline Level</a:t>
            </a:r>
          </a:p>
          <a:p>
            <a:pPr marL="2592000" lvl="5" indent="-216000">
              <a:spcBef>
                <a:spcPts val="283"/>
              </a:spcBef>
              <a:buClr>
                <a:srgbClr val="000000"/>
              </a:buClr>
              <a:buSzPct val="45000"/>
              <a:buFont typeface="Wingdings" charset="2"/>
              <a:buChar char=""/>
            </a:pPr>
            <a:r>
              <a:rPr lang="en-US" sz="2000" b="0" strike="noStrike" spc="-1">
                <a:solidFill>
                  <a:schemeClr val="dk1"/>
                </a:solidFill>
                <a:latin typeface="Calibri"/>
              </a:rPr>
              <a:t>Sixth Outline Level</a:t>
            </a:r>
          </a:p>
          <a:p>
            <a:pPr marL="3024000" lvl="6" indent="-216000">
              <a:spcBef>
                <a:spcPts val="283"/>
              </a:spcBef>
              <a:buClr>
                <a:srgbClr val="000000"/>
              </a:buClr>
              <a:buSzPct val="45000"/>
              <a:buFont typeface="Wingdings" charset="2"/>
              <a:buChar char=""/>
            </a:pPr>
            <a:r>
              <a:rPr lang="en-US" sz="2000" b="0" strike="noStrike" spc="-1">
                <a:solidFill>
                  <a:schemeClr val="dk1"/>
                </a:solidFill>
                <a:latin typeface="Calibri"/>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2.xml"/><Relationship Id="rId1" Type="http://schemas.openxmlformats.org/officeDocument/2006/relationships/slideLayout" Target="../slideLayouts/slideLayout1.xml"/><Relationship Id="rId5" Type="http://schemas.openxmlformats.org/officeDocument/2006/relationships/image" Target="../media/image4.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7.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1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1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8" name="Shape 0"/>
          <p:cNvSpPr/>
          <p:nvPr/>
        </p:nvSpPr>
        <p:spPr>
          <a:xfrm>
            <a:off x="0" y="0"/>
            <a:ext cx="228240" cy="6857640"/>
          </a:xfrm>
          <a:prstGeom prst="rect">
            <a:avLst/>
          </a:prstGeom>
          <a:solidFill>
            <a:srgbClr val="A100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9" name="Text 1"/>
          <p:cNvSpPr/>
          <p:nvPr/>
        </p:nvSpPr>
        <p:spPr>
          <a:xfrm>
            <a:off x="731520" y="1097280"/>
            <a:ext cx="9509400" cy="3200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5600" b="1" strike="noStrike" spc="-1">
                <a:solidFill>
                  <a:srgbClr val="F8FAFC"/>
                </a:solidFill>
                <a:latin typeface="Trebuchet MS"/>
                <a:ea typeface="Trebuchet MS"/>
              </a:rPr>
              <a:t>Your MLOps Pipeline</a:t>
            </a:r>
            <a:endParaRPr lang="en-US" sz="5600" b="0" strike="noStrike" spc="-1">
              <a:solidFill>
                <a:srgbClr val="FFFFFF"/>
              </a:solidFill>
              <a:latin typeface="Arial"/>
            </a:endParaRPr>
          </a:p>
          <a:p>
            <a:pPr defTabSz="914400">
              <a:lnSpc>
                <a:spcPct val="100000"/>
              </a:lnSpc>
              <a:tabLst>
                <a:tab pos="0" algn="l"/>
              </a:tabLst>
            </a:pPr>
            <a:r>
              <a:rPr lang="en-US" sz="5600" b="1" strike="noStrike" spc="-1">
                <a:solidFill>
                  <a:srgbClr val="F8FAFC"/>
                </a:solidFill>
                <a:latin typeface="Trebuchet MS"/>
                <a:ea typeface="Trebuchet MS"/>
              </a:rPr>
              <a:t>Is Your Agentic</a:t>
            </a:r>
            <a:endParaRPr lang="en-US" sz="5600" b="0" strike="noStrike" spc="-1">
              <a:solidFill>
                <a:srgbClr val="FFFFFF"/>
              </a:solidFill>
              <a:latin typeface="Arial"/>
            </a:endParaRPr>
          </a:p>
          <a:p>
            <a:pPr defTabSz="914400">
              <a:lnSpc>
                <a:spcPct val="100000"/>
              </a:lnSpc>
              <a:tabLst>
                <a:tab pos="0" algn="l"/>
              </a:tabLst>
            </a:pPr>
            <a:r>
              <a:rPr lang="en-US" sz="5600" b="1" strike="noStrike" spc="-1">
                <a:solidFill>
                  <a:srgbClr val="F8FAFC"/>
                </a:solidFill>
                <a:latin typeface="Trebuchet MS"/>
                <a:ea typeface="Trebuchet MS"/>
              </a:rPr>
              <a:t>AI Guardrail</a:t>
            </a:r>
            <a:endParaRPr lang="en-US" sz="5600" b="0" strike="noStrike" spc="-1">
              <a:solidFill>
                <a:srgbClr val="FFFFFF"/>
              </a:solidFill>
              <a:latin typeface="Arial"/>
            </a:endParaRPr>
          </a:p>
        </p:txBody>
      </p:sp>
      <p:sp>
        <p:nvSpPr>
          <p:cNvPr id="10" name="Text 2"/>
          <p:cNvSpPr/>
          <p:nvPr/>
        </p:nvSpPr>
        <p:spPr>
          <a:xfrm>
            <a:off x="731520" y="4572000"/>
            <a:ext cx="1051524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spcAft>
                <a:spcPts val="400"/>
              </a:spcAft>
              <a:tabLst>
                <a:tab pos="0" algn="l"/>
              </a:tabLst>
            </a:pPr>
            <a:r>
              <a:rPr lang="en-US" sz="2200" b="0" strike="noStrike" spc="-1">
                <a:solidFill>
                  <a:srgbClr val="E2E8F0"/>
                </a:solidFill>
                <a:latin typeface="Calibri"/>
                <a:ea typeface="Calibri"/>
              </a:rPr>
              <a:t>In an era of unprecedented agentic capability, the question isn't whether your pipeline is ready, it's whether you've truly unlocked its latent guardrail potential.</a:t>
            </a:r>
            <a:endParaRPr lang="en-US" sz="2200" b="0" strike="noStrike" spc="-1">
              <a:solidFill>
                <a:srgbClr val="FFFFFF"/>
              </a:solidFill>
              <a:latin typeface="Arial"/>
            </a:endParaRPr>
          </a:p>
        </p:txBody>
      </p:sp>
      <p:sp>
        <p:nvSpPr>
          <p:cNvPr id="11" name="Text 3"/>
          <p:cNvSpPr/>
          <p:nvPr/>
        </p:nvSpPr>
        <p:spPr>
          <a:xfrm>
            <a:off x="731520" y="5852160"/>
            <a:ext cx="10058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strike="noStrike" spc="199">
                <a:solidFill>
                  <a:srgbClr val="A100FF"/>
                </a:solidFill>
                <a:latin typeface="Calibri"/>
                <a:ea typeface="Calibri"/>
              </a:rPr>
              <a:t>Michael Forrester  ·  Accenture  ·  LLMday Austin  ·  May 12, 2026</a:t>
            </a:r>
            <a:endParaRPr lang="en-US" sz="1400" b="0" strike="noStrike" spc="-1">
              <a:solidFill>
                <a:srgbClr val="FFFFFF"/>
              </a:solidFill>
              <a:latin typeface="Arial"/>
            </a:endParaRPr>
          </a:p>
        </p:txBody>
      </p:sp>
      <p:pic>
        <p:nvPicPr>
          <p:cNvPr id="12" name="Image 0" descr="preencoded.png"/>
          <p:cNvPicPr/>
          <p:nvPr/>
        </p:nvPicPr>
        <p:blipFill>
          <a:blip r:embed="rId3"/>
          <a:stretch/>
        </p:blipFill>
        <p:spPr>
          <a:xfrm>
            <a:off x="9699840" y="799920"/>
            <a:ext cx="1899720" cy="3829680"/>
          </a:xfrm>
          <a:prstGeom prst="rect">
            <a:avLst/>
          </a:prstGeom>
          <a:ln w="0">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Bg"/>
          <p:cNvSpPr/>
          <p:nvPr/>
        </p:nvSpPr>
        <p:spPr>
          <a:xfrm>
            <a:off x="0" y="0"/>
            <a:ext cx="12191760" cy="6857640"/>
          </a:xfrm>
          <a:prstGeom prst="rect">
            <a:avLst/>
          </a:prstGeom>
          <a:solidFill>
            <a:srgbClr val="FFE5B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 name="StarTL"/>
          <p:cNvSpPr/>
          <p:nvPr/>
        </p:nvSpPr>
        <p:spPr>
          <a:xfrm>
            <a:off x="91440" y="91440"/>
            <a:ext cx="9140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strike="noStrike" spc="-1">
                <a:solidFill>
                  <a:srgbClr val="FF6B9D"/>
                </a:solidFill>
                <a:latin typeface="Trebuchet MS"/>
              </a:rPr>
              <a:t>✦  ❤  ✦</a:t>
            </a:r>
            <a:endParaRPr lang="en-US" sz="2400" b="0" strike="noStrike" spc="-1">
              <a:solidFill>
                <a:srgbClr val="000000"/>
              </a:solidFill>
              <a:latin typeface="Arial"/>
            </a:endParaRPr>
          </a:p>
        </p:txBody>
      </p:sp>
      <p:sp>
        <p:nvSpPr>
          <p:cNvPr id="2" name="StarTR"/>
          <p:cNvSpPr/>
          <p:nvPr/>
        </p:nvSpPr>
        <p:spPr>
          <a:xfrm>
            <a:off x="11186280" y="91440"/>
            <a:ext cx="9140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2400" b="1" strike="noStrike" spc="-1">
                <a:solidFill>
                  <a:srgbClr val="FF6B9D"/>
                </a:solidFill>
                <a:latin typeface="Trebuchet MS"/>
              </a:rPr>
              <a:t>✦  ❤  ✦</a:t>
            </a:r>
            <a:endParaRPr lang="en-US" sz="2400" b="0" strike="noStrike" spc="-1">
              <a:solidFill>
                <a:srgbClr val="000000"/>
              </a:solidFill>
              <a:latin typeface="Arial"/>
            </a:endParaRPr>
          </a:p>
        </p:txBody>
      </p:sp>
      <p:sp>
        <p:nvSpPr>
          <p:cNvPr id="3" name="TitleBanner"/>
          <p:cNvSpPr/>
          <p:nvPr/>
        </p:nvSpPr>
        <p:spPr>
          <a:xfrm>
            <a:off x="457200" y="274320"/>
            <a:ext cx="11277360" cy="1462680"/>
          </a:xfrm>
          <a:prstGeom prst="roundRect">
            <a:avLst>
              <a:gd name="adj" fmla="val 8000"/>
            </a:avLst>
          </a:prstGeom>
          <a:solidFill>
            <a:srgbClr val="C8102E"/>
          </a:solidFill>
          <a:ln w="44450">
            <a:solidFill>
              <a:srgbClr val="D4AF37"/>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 name="TitleText"/>
          <p:cNvSpPr/>
          <p:nvPr/>
        </p:nvSpPr>
        <p:spPr>
          <a:xfrm>
            <a:off x="457200" y="274320"/>
            <a:ext cx="11277360" cy="1462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200" b="1" strike="noStrike" spc="-1">
                <a:solidFill>
                  <a:srgbClr val="FFFFFF"/>
                </a:solidFill>
                <a:latin typeface="Trebuchet MS"/>
              </a:rPr>
              <a:t>✦  Your MLOps Pipeline Is Your Agentic AI Guardrail  ✦</a:t>
            </a:r>
            <a:endParaRPr lang="en-US" sz="3200" b="0" strike="noStrike" spc="-1">
              <a:solidFill>
                <a:srgbClr val="000000"/>
              </a:solidFill>
              <a:latin typeface="Arial"/>
            </a:endParaRPr>
          </a:p>
          <a:p>
            <a:pPr algn="ctr" defTabSz="914400">
              <a:lnSpc>
                <a:spcPct val="100000"/>
              </a:lnSpc>
              <a:spcBef>
                <a:spcPts val="400"/>
              </a:spcBef>
              <a:tabLst>
                <a:tab pos="0" algn="l"/>
              </a:tabLst>
            </a:pPr>
            <a:r>
              <a:rPr lang="en-US" sz="1400" b="1" i="1" strike="noStrike" spc="-1">
                <a:solidFill>
                  <a:srgbClr val="FFE5B4"/>
                </a:solidFill>
                <a:latin typeface="Trebuchet MS"/>
              </a:rPr>
              <a:t>♥  A SPICY GUARDRAIL DATING SIMULATOR  ♥</a:t>
            </a:r>
            <a:endParaRPr lang="en-US" sz="1400" b="0" strike="noStrike" spc="-1">
              <a:solidFill>
                <a:srgbClr val="000000"/>
              </a:solidFill>
              <a:latin typeface="Arial"/>
            </a:endParaRPr>
          </a:p>
        </p:txBody>
      </p:sp>
      <p:sp>
        <p:nvSpPr>
          <p:cNvPr id="5" name="DialogBox"/>
          <p:cNvSpPr/>
          <p:nvPr/>
        </p:nvSpPr>
        <p:spPr>
          <a:xfrm>
            <a:off x="457200" y="2103120"/>
            <a:ext cx="6491880" cy="3017160"/>
          </a:xfrm>
          <a:prstGeom prst="roundRect">
            <a:avLst>
              <a:gd name="adj" fmla="val 8000"/>
            </a:avLst>
          </a:prstGeom>
          <a:solidFill>
            <a:srgbClr val="FFFFFF"/>
          </a:solidFill>
          <a:ln w="38100">
            <a:solidFill>
              <a:srgbClr val="C8102E"/>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 name="SpeakerTag"/>
          <p:cNvSpPr/>
          <p:nvPr/>
        </p:nvSpPr>
        <p:spPr>
          <a:xfrm>
            <a:off x="731520" y="1920240"/>
            <a:ext cx="2102760" cy="365400"/>
          </a:xfrm>
          <a:prstGeom prst="roundRect">
            <a:avLst>
              <a:gd name="adj" fmla="val 8000"/>
            </a:avLst>
          </a:prstGeom>
          <a:solidFill>
            <a:srgbClr val="C8102E"/>
          </a:solidFill>
          <a:ln w="22225">
            <a:solidFill>
              <a:srgbClr val="D4AF37"/>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 name="SpeakerText"/>
          <p:cNvSpPr/>
          <p:nvPr/>
        </p:nvSpPr>
        <p:spPr>
          <a:xfrm>
            <a:off x="731520" y="1920240"/>
            <a:ext cx="21027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Trebuchet MS"/>
              </a:rPr>
              <a:t>✦  THE COLONEL  ✦</a:t>
            </a:r>
            <a:endParaRPr lang="en-US" sz="1400" b="0" strike="noStrike" spc="-1">
              <a:solidFill>
                <a:srgbClr val="000000"/>
              </a:solidFill>
              <a:latin typeface="Arial"/>
            </a:endParaRPr>
          </a:p>
        </p:txBody>
      </p:sp>
      <p:sp>
        <p:nvSpPr>
          <p:cNvPr id="8" name="DialogText"/>
          <p:cNvSpPr/>
          <p:nvPr/>
        </p:nvSpPr>
        <p:spPr>
          <a:xfrm>
            <a:off x="822960" y="2560320"/>
            <a:ext cx="5760360" cy="22856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000" b="1" strike="noStrike" spc="-1">
                <a:solidFill>
                  <a:srgbClr val="6B3410"/>
                </a:solidFill>
                <a:latin typeface="Trebuchet MS"/>
              </a:rPr>
              <a:t>Sweetheart… your MLOps pipeline has been waiting for you all along. 🍗</a:t>
            </a:r>
            <a:endParaRPr lang="en-US" sz="2000" b="0" strike="noStrike" spc="-1">
              <a:solidFill>
                <a:srgbClr val="000000"/>
              </a:solidFill>
              <a:latin typeface="Arial"/>
            </a:endParaRPr>
          </a:p>
          <a:p>
            <a:pPr defTabSz="914400">
              <a:lnSpc>
                <a:spcPct val="100000"/>
              </a:lnSpc>
              <a:spcBef>
                <a:spcPts val="400"/>
              </a:spcBef>
              <a:tabLst>
                <a:tab pos="0" algn="l"/>
              </a:tabLst>
            </a:pPr>
            <a:r>
              <a:rPr lang="en-US" sz="1700" b="0" strike="noStrike" spc="-1">
                <a:solidFill>
                  <a:srgbClr val="6B3410"/>
                </a:solidFill>
                <a:latin typeface="Calibri"/>
              </a:rPr>
              <a:t>Six stages.  Five live tonight.</a:t>
            </a:r>
            <a:endParaRPr lang="en-US" sz="1700" b="0" strike="noStrike" spc="-1">
              <a:solidFill>
                <a:srgbClr val="000000"/>
              </a:solidFill>
              <a:latin typeface="Arial"/>
            </a:endParaRPr>
          </a:p>
          <a:p>
            <a:pPr defTabSz="914400">
              <a:lnSpc>
                <a:spcPct val="100000"/>
              </a:lnSpc>
              <a:spcBef>
                <a:spcPts val="201"/>
              </a:spcBef>
              <a:tabLst>
                <a:tab pos="0" algn="l"/>
              </a:tabLst>
            </a:pPr>
            <a:r>
              <a:rPr lang="en-US" sz="1700" b="0" i="1" strike="noStrike" spc="-1">
                <a:solidFill>
                  <a:srgbClr val="C8102E"/>
                </a:solidFill>
                <a:latin typeface="Calibri"/>
              </a:rPr>
              <a:t>The sixth is mine to give you tomorrow.</a:t>
            </a:r>
            <a:endParaRPr lang="en-US" sz="1700" b="0" strike="noStrike" spc="-1">
              <a:solidFill>
                <a:srgbClr val="000000"/>
              </a:solidFill>
              <a:latin typeface="Arial"/>
            </a:endParaRPr>
          </a:p>
          <a:p>
            <a:pPr defTabSz="914400">
              <a:lnSpc>
                <a:spcPct val="100000"/>
              </a:lnSpc>
              <a:spcBef>
                <a:spcPts val="400"/>
              </a:spcBef>
              <a:tabLst>
                <a:tab pos="0" algn="l"/>
              </a:tabLst>
            </a:pPr>
            <a:r>
              <a:rPr lang="en-US" sz="1800" b="1" i="1" strike="noStrike" spc="-1">
                <a:solidFill>
                  <a:srgbClr val="FF6B9D"/>
                </a:solidFill>
                <a:latin typeface="Trebuchet MS"/>
              </a:rPr>
              <a:t>Will you let me protect your clusters?  ♥</a:t>
            </a:r>
            <a:endParaRPr lang="en-US" sz="1800" b="0" strike="noStrike" spc="-1">
              <a:solidFill>
                <a:srgbClr val="000000"/>
              </a:solidFill>
              <a:latin typeface="Arial"/>
            </a:endParaRPr>
          </a:p>
        </p:txBody>
      </p:sp>
      <p:sp>
        <p:nvSpPr>
          <p:cNvPr id="9" name="PortraitFrame"/>
          <p:cNvSpPr/>
          <p:nvPr/>
        </p:nvSpPr>
        <p:spPr>
          <a:xfrm>
            <a:off x="7223760" y="2011680"/>
            <a:ext cx="4510800" cy="3200040"/>
          </a:xfrm>
          <a:prstGeom prst="roundRect">
            <a:avLst>
              <a:gd name="adj" fmla="val 8000"/>
            </a:avLst>
          </a:prstGeom>
          <a:solidFill>
            <a:srgbClr val="FFF4D9"/>
          </a:solidFill>
          <a:ln w="44450">
            <a:solidFill>
              <a:srgbClr val="D4AF37"/>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 name="PortraitInner"/>
          <p:cNvSpPr/>
          <p:nvPr/>
        </p:nvSpPr>
        <p:spPr>
          <a:xfrm>
            <a:off x="7315200" y="2103120"/>
            <a:ext cx="4327920" cy="3017160"/>
          </a:xfrm>
          <a:prstGeom prst="roundRect">
            <a:avLst>
              <a:gd name="adj" fmla="val 8000"/>
            </a:avLst>
          </a:prstGeom>
          <a:solidFill>
            <a:srgbClr val="FFFFFF"/>
          </a:solidFill>
          <a:ln w="22225">
            <a:solidFill>
              <a:srgbClr val="C8102E"/>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 name="ChefHat"/>
          <p:cNvSpPr/>
          <p:nvPr/>
        </p:nvSpPr>
        <p:spPr>
          <a:xfrm>
            <a:off x="8839080" y="2286000"/>
            <a:ext cx="1279800" cy="731160"/>
          </a:xfrm>
          <a:prstGeom prst="roundRect">
            <a:avLst>
              <a:gd name="adj" fmla="val 8000"/>
            </a:avLst>
          </a:prstGeom>
          <a:solidFill>
            <a:srgbClr val="FFFFFF"/>
          </a:solidFill>
          <a:ln w="15875">
            <a:solidFill>
              <a:srgbClr val="6B3410"/>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 name="ChefHatEmoji"/>
          <p:cNvSpPr/>
          <p:nvPr/>
        </p:nvSpPr>
        <p:spPr>
          <a:xfrm>
            <a:off x="8839080" y="2286000"/>
            <a:ext cx="12798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200" b="0" strike="noStrike" spc="-1">
                <a:solidFill>
                  <a:srgbClr val="6B3410"/>
                </a:solidFill>
                <a:latin typeface="Segoe UI Emoji"/>
              </a:rPr>
              <a:t>👨‍🍳</a:t>
            </a:r>
            <a:endParaRPr lang="en-US" sz="3200" b="0" strike="noStrike" spc="-1">
              <a:solidFill>
                <a:srgbClr val="000000"/>
              </a:solidFill>
              <a:latin typeface="Arial"/>
            </a:endParaRPr>
          </a:p>
        </p:txBody>
      </p:sp>
      <p:sp>
        <p:nvSpPr>
          <p:cNvPr id="13" name="Face"/>
          <p:cNvSpPr/>
          <p:nvPr/>
        </p:nvSpPr>
        <p:spPr>
          <a:xfrm>
            <a:off x="8930520" y="2926080"/>
            <a:ext cx="1096920" cy="914040"/>
          </a:xfrm>
          <a:prstGeom prst="roundRect">
            <a:avLst>
              <a:gd name="adj" fmla="val 8000"/>
            </a:avLst>
          </a:prstGeom>
          <a:solidFill>
            <a:srgbClr val="F5DEB3"/>
          </a:solidFill>
          <a:ln w="15875">
            <a:solidFill>
              <a:srgbClr val="6B3410"/>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 name="Beard"/>
          <p:cNvSpPr/>
          <p:nvPr/>
        </p:nvSpPr>
        <p:spPr>
          <a:xfrm>
            <a:off x="8839080" y="3749040"/>
            <a:ext cx="1279800" cy="456840"/>
          </a:xfrm>
          <a:prstGeom prst="roundRect">
            <a:avLst>
              <a:gd name="adj" fmla="val 8000"/>
            </a:avLst>
          </a:prstGeom>
          <a:solidFill>
            <a:srgbClr val="FFFFFF"/>
          </a:solidFill>
          <a:ln w="12700">
            <a:solidFill>
              <a:srgbClr val="E0E0E0"/>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 name="Bowtie"/>
          <p:cNvSpPr/>
          <p:nvPr/>
        </p:nvSpPr>
        <p:spPr>
          <a:xfrm>
            <a:off x="9204840" y="4169520"/>
            <a:ext cx="548280" cy="273960"/>
          </a:xfrm>
          <a:prstGeom prst="rect">
            <a:avLst/>
          </a:prstGeom>
          <a:solidFill>
            <a:srgbClr val="C8102E"/>
          </a:solidFill>
          <a:ln w="12700">
            <a:solidFill>
              <a:srgbClr val="8B0000"/>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 name="Suit"/>
          <p:cNvSpPr/>
          <p:nvPr/>
        </p:nvSpPr>
        <p:spPr>
          <a:xfrm>
            <a:off x="8610480" y="4462200"/>
            <a:ext cx="1737000" cy="273960"/>
          </a:xfrm>
          <a:prstGeom prst="roundRect">
            <a:avLst>
              <a:gd name="adj" fmla="val 8000"/>
            </a:avLst>
          </a:prstGeom>
          <a:solidFill>
            <a:srgbClr val="FFFFFF"/>
          </a:solidFill>
          <a:ln w="12700">
            <a:solidFill>
              <a:srgbClr val="6B3410"/>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 name="Heart1"/>
          <p:cNvSpPr/>
          <p:nvPr/>
        </p:nvSpPr>
        <p:spPr>
          <a:xfrm>
            <a:off x="7360920" y="237744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0" strike="noStrike" spc="-1">
                <a:solidFill>
                  <a:srgbClr val="FF6B9D"/>
                </a:solidFill>
                <a:latin typeface="Segoe UI Emoji"/>
              </a:rPr>
              <a:t>❤</a:t>
            </a:r>
            <a:endParaRPr lang="en-US" sz="2400" b="0" strike="noStrike" spc="-1">
              <a:solidFill>
                <a:srgbClr val="000000"/>
              </a:solidFill>
              <a:latin typeface="Arial"/>
            </a:endParaRPr>
          </a:p>
        </p:txBody>
      </p:sp>
      <p:sp>
        <p:nvSpPr>
          <p:cNvPr id="18" name="Spark1"/>
          <p:cNvSpPr/>
          <p:nvPr/>
        </p:nvSpPr>
        <p:spPr>
          <a:xfrm>
            <a:off x="11140560" y="228600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0" strike="noStrike" spc="-1">
                <a:solidFill>
                  <a:srgbClr val="D4AF37"/>
                </a:solidFill>
                <a:latin typeface="Segoe UI Emoji"/>
              </a:rPr>
              <a:t>✨</a:t>
            </a:r>
            <a:endParaRPr lang="en-US" sz="2400" b="0" strike="noStrike" spc="-1">
              <a:solidFill>
                <a:srgbClr val="000000"/>
              </a:solidFill>
              <a:latin typeface="Arial"/>
            </a:endParaRPr>
          </a:p>
        </p:txBody>
      </p:sp>
      <p:sp>
        <p:nvSpPr>
          <p:cNvPr id="19" name="Chick1"/>
          <p:cNvSpPr/>
          <p:nvPr/>
        </p:nvSpPr>
        <p:spPr>
          <a:xfrm>
            <a:off x="7498080" y="452628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0" strike="noStrike" spc="-1">
                <a:solidFill>
                  <a:srgbClr val="6B3410"/>
                </a:solidFill>
                <a:latin typeface="Segoe UI Emoji"/>
              </a:rPr>
              <a:t>🍗</a:t>
            </a:r>
            <a:endParaRPr lang="en-US" sz="2400" b="0" strike="noStrike" spc="-1">
              <a:solidFill>
                <a:srgbClr val="000000"/>
              </a:solidFill>
              <a:latin typeface="Arial"/>
            </a:endParaRPr>
          </a:p>
        </p:txBody>
      </p:sp>
      <p:sp>
        <p:nvSpPr>
          <p:cNvPr id="20" name="Chick2"/>
          <p:cNvSpPr/>
          <p:nvPr/>
        </p:nvSpPr>
        <p:spPr>
          <a:xfrm>
            <a:off x="11003400" y="4526280"/>
            <a:ext cx="4568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0" strike="noStrike" spc="-1">
                <a:solidFill>
                  <a:srgbClr val="6B3410"/>
                </a:solidFill>
                <a:latin typeface="Segoe UI Emoji"/>
              </a:rPr>
              <a:t>🍗</a:t>
            </a:r>
            <a:endParaRPr lang="en-US" sz="2400" b="0" strike="noStrike" spc="-1">
              <a:solidFill>
                <a:srgbClr val="000000"/>
              </a:solidFill>
              <a:latin typeface="Arial"/>
            </a:endParaRPr>
          </a:p>
        </p:txBody>
      </p:sp>
      <p:sp>
        <p:nvSpPr>
          <p:cNvPr id="21" name="AffectionBar"/>
          <p:cNvSpPr/>
          <p:nvPr/>
        </p:nvSpPr>
        <p:spPr>
          <a:xfrm>
            <a:off x="7223760" y="4846320"/>
            <a:ext cx="4510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C8102E"/>
                </a:solidFill>
                <a:latin typeface="Trebuchet MS"/>
              </a:rPr>
              <a:t>♥  Affection: ❤❤❤❤❤  ♥</a:t>
            </a:r>
            <a:endParaRPr lang="en-US" sz="1200" b="0" strike="noStrike" spc="-1">
              <a:solidFill>
                <a:srgbClr val="000000"/>
              </a:solidFill>
              <a:latin typeface="Arial"/>
            </a:endParaRPr>
          </a:p>
        </p:txBody>
      </p:sp>
      <p:sp>
        <p:nvSpPr>
          <p:cNvPr id="22" name="Choice1"/>
          <p:cNvSpPr/>
          <p:nvPr/>
        </p:nvSpPr>
        <p:spPr>
          <a:xfrm>
            <a:off x="457200" y="5394960"/>
            <a:ext cx="3667320" cy="731160"/>
          </a:xfrm>
          <a:prstGeom prst="roundRect">
            <a:avLst>
              <a:gd name="adj" fmla="val 8000"/>
            </a:avLst>
          </a:prstGeom>
          <a:solidFill>
            <a:srgbClr val="C8102E"/>
          </a:solidFill>
          <a:ln w="22225">
            <a:solidFill>
              <a:srgbClr val="8B0000"/>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 name="ChoiceText1"/>
          <p:cNvSpPr/>
          <p:nvPr/>
        </p:nvSpPr>
        <p:spPr>
          <a:xfrm>
            <a:off x="457200" y="5394960"/>
            <a:ext cx="36673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Trebuchet MS"/>
              </a:rPr>
              <a:t>▸  Yes, run the six gates  💕</a:t>
            </a:r>
            <a:endParaRPr lang="en-US" sz="1400" b="0" strike="noStrike" spc="-1">
              <a:solidFill>
                <a:srgbClr val="000000"/>
              </a:solidFill>
              <a:latin typeface="Arial"/>
            </a:endParaRPr>
          </a:p>
        </p:txBody>
      </p:sp>
      <p:sp>
        <p:nvSpPr>
          <p:cNvPr id="24" name="Choice2"/>
          <p:cNvSpPr/>
          <p:nvPr/>
        </p:nvSpPr>
        <p:spPr>
          <a:xfrm>
            <a:off x="4262040" y="5394960"/>
            <a:ext cx="3667320" cy="731160"/>
          </a:xfrm>
          <a:prstGeom prst="roundRect">
            <a:avLst>
              <a:gd name="adj" fmla="val 8000"/>
            </a:avLst>
          </a:prstGeom>
          <a:solidFill>
            <a:srgbClr val="D4AF37"/>
          </a:solidFill>
          <a:ln w="22225">
            <a:solidFill>
              <a:srgbClr val="8B0000"/>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 name="ChoiceText2"/>
          <p:cNvSpPr/>
          <p:nvPr/>
        </p:nvSpPr>
        <p:spPr>
          <a:xfrm>
            <a:off x="4262040" y="5394960"/>
            <a:ext cx="36673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B3410"/>
                </a:solidFill>
                <a:latin typeface="Trebuchet MS"/>
              </a:rPr>
              <a:t>▸  I’m scared of admission control  😰</a:t>
            </a:r>
            <a:endParaRPr lang="en-US" sz="1400" b="0" strike="noStrike" spc="-1">
              <a:solidFill>
                <a:srgbClr val="000000"/>
              </a:solidFill>
              <a:latin typeface="Arial"/>
            </a:endParaRPr>
          </a:p>
        </p:txBody>
      </p:sp>
      <p:sp>
        <p:nvSpPr>
          <p:cNvPr id="26" name="Choice3"/>
          <p:cNvSpPr/>
          <p:nvPr/>
        </p:nvSpPr>
        <p:spPr>
          <a:xfrm>
            <a:off x="8066880" y="5394960"/>
            <a:ext cx="3667320" cy="731160"/>
          </a:xfrm>
          <a:prstGeom prst="roundRect">
            <a:avLst>
              <a:gd name="adj" fmla="val 8000"/>
            </a:avLst>
          </a:prstGeom>
          <a:solidFill>
            <a:srgbClr val="FF6B9D"/>
          </a:solidFill>
          <a:ln w="22225">
            <a:solidFill>
              <a:srgbClr val="8B0000"/>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 name="ChoiceText3"/>
          <p:cNvSpPr/>
          <p:nvPr/>
        </p:nvSpPr>
        <p:spPr>
          <a:xfrm>
            <a:off x="8066880" y="5394960"/>
            <a:ext cx="36673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6B3410"/>
                </a:solidFill>
                <a:latin typeface="Trebuchet MS"/>
              </a:rPr>
              <a:t>▸  Tell me about your pre-commit hooks  🥺</a:t>
            </a:r>
            <a:endParaRPr lang="en-US" sz="1400" b="0" strike="noStrike" spc="-1">
              <a:solidFill>
                <a:srgbClr val="000000"/>
              </a:solidFill>
              <a:latin typeface="Arial"/>
            </a:endParaRPr>
          </a:p>
        </p:txBody>
      </p:sp>
      <p:sp>
        <p:nvSpPr>
          <p:cNvPr id="28" name="PressSpace"/>
          <p:cNvSpPr/>
          <p:nvPr/>
        </p:nvSpPr>
        <p:spPr>
          <a:xfrm>
            <a:off x="0" y="6263640"/>
            <a:ext cx="12191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6B3410"/>
                </a:solidFill>
                <a:latin typeface="Trebuchet MS"/>
              </a:rPr>
              <a:t>▼   PRESS  SPACE  TO  CONTINUE   ▼</a:t>
            </a:r>
            <a:endParaRPr lang="en-US" sz="1100" b="0" strike="noStrike" spc="-1">
              <a:solidFill>
                <a:srgbClr val="000000"/>
              </a:solidFill>
              <a:latin typeface="Arial"/>
            </a:endParaRPr>
          </a:p>
        </p:txBody>
      </p:sp>
      <p:sp>
        <p:nvSpPr>
          <p:cNvPr id="29" name="SpeakerFooter"/>
          <p:cNvSpPr/>
          <p:nvPr/>
        </p:nvSpPr>
        <p:spPr>
          <a:xfrm>
            <a:off x="457200" y="6583680"/>
            <a:ext cx="112773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i="1" strike="noStrike" spc="-1">
                <a:solidFill>
                  <a:srgbClr val="6B3410"/>
                </a:solidFill>
                <a:latin typeface="Calibri"/>
              </a:rPr>
              <a:t>♥  Michael Forrester  ·  Accenture  ·  LLMday Austin  ·  May 12, 2026  ♥</a:t>
            </a:r>
            <a:endParaRPr lang="en-US" sz="900" b="0" strike="noStrike" spc="-1">
              <a:solidFill>
                <a:srgbClr val="000000"/>
              </a:solidFill>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 name="Bg"/>
          <p:cNvSpPr/>
          <p:nvPr/>
        </p:nvSpPr>
        <p:spPr>
          <a:xfrm>
            <a:off x="0" y="0"/>
            <a:ext cx="12191760" cy="6857640"/>
          </a:xfrm>
          <a:prstGeom prst="rect">
            <a:avLst/>
          </a:prstGeom>
          <a:solidFill>
            <a:srgbClr val="0D142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0" name="StripeTop"/>
          <p:cNvSpPr/>
          <p:nvPr/>
        </p:nvSpPr>
        <p:spPr>
          <a:xfrm>
            <a:off x="0" y="0"/>
            <a:ext cx="12191760" cy="273960"/>
          </a:xfrm>
          <a:prstGeom prst="rect">
            <a:avLst/>
          </a:prstGeom>
          <a:solidFill>
            <a:srgbClr val="FFC7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 name="HashT0"/>
          <p:cNvSpPr/>
          <p:nvPr/>
        </p:nvSpPr>
        <p:spPr>
          <a:xfrm rot="1200000">
            <a:off x="-9144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 name="HashT1"/>
          <p:cNvSpPr/>
          <p:nvPr/>
        </p:nvSpPr>
        <p:spPr>
          <a:xfrm rot="1200000">
            <a:off x="31968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 name="HashT2"/>
          <p:cNvSpPr/>
          <p:nvPr/>
        </p:nvSpPr>
        <p:spPr>
          <a:xfrm rot="1200000">
            <a:off x="73116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 name="HashT3"/>
          <p:cNvSpPr/>
          <p:nvPr/>
        </p:nvSpPr>
        <p:spPr>
          <a:xfrm rot="1200000">
            <a:off x="114264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 name="HashT4"/>
          <p:cNvSpPr/>
          <p:nvPr/>
        </p:nvSpPr>
        <p:spPr>
          <a:xfrm rot="1200000">
            <a:off x="155412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 name="HashT5"/>
          <p:cNvSpPr/>
          <p:nvPr/>
        </p:nvSpPr>
        <p:spPr>
          <a:xfrm rot="1200000">
            <a:off x="196560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 name="HashT6"/>
          <p:cNvSpPr/>
          <p:nvPr/>
        </p:nvSpPr>
        <p:spPr>
          <a:xfrm rot="1200000">
            <a:off x="237708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 name="HashT7"/>
          <p:cNvSpPr/>
          <p:nvPr/>
        </p:nvSpPr>
        <p:spPr>
          <a:xfrm rot="1200000">
            <a:off x="278856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 name="HashT8"/>
          <p:cNvSpPr/>
          <p:nvPr/>
        </p:nvSpPr>
        <p:spPr>
          <a:xfrm rot="1200000">
            <a:off x="320004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 name="HashT9"/>
          <p:cNvSpPr/>
          <p:nvPr/>
        </p:nvSpPr>
        <p:spPr>
          <a:xfrm rot="1200000">
            <a:off x="361152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 name="HashT10"/>
          <p:cNvSpPr/>
          <p:nvPr/>
        </p:nvSpPr>
        <p:spPr>
          <a:xfrm rot="1200000">
            <a:off x="402300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 name="HashT11"/>
          <p:cNvSpPr/>
          <p:nvPr/>
        </p:nvSpPr>
        <p:spPr>
          <a:xfrm rot="1200000">
            <a:off x="443448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 name="HashT12"/>
          <p:cNvSpPr/>
          <p:nvPr/>
        </p:nvSpPr>
        <p:spPr>
          <a:xfrm rot="1200000">
            <a:off x="484596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 name="HashT13"/>
          <p:cNvSpPr/>
          <p:nvPr/>
        </p:nvSpPr>
        <p:spPr>
          <a:xfrm rot="1200000">
            <a:off x="525744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 name="HashT14"/>
          <p:cNvSpPr/>
          <p:nvPr/>
        </p:nvSpPr>
        <p:spPr>
          <a:xfrm rot="1200000">
            <a:off x="566892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 name="HashT15"/>
          <p:cNvSpPr/>
          <p:nvPr/>
        </p:nvSpPr>
        <p:spPr>
          <a:xfrm rot="1200000">
            <a:off x="608040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 name="HashT16"/>
          <p:cNvSpPr/>
          <p:nvPr/>
        </p:nvSpPr>
        <p:spPr>
          <a:xfrm rot="1200000">
            <a:off x="649188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 name="HashT17"/>
          <p:cNvSpPr/>
          <p:nvPr/>
        </p:nvSpPr>
        <p:spPr>
          <a:xfrm rot="1200000">
            <a:off x="690336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 name="HashT18"/>
          <p:cNvSpPr/>
          <p:nvPr/>
        </p:nvSpPr>
        <p:spPr>
          <a:xfrm rot="1200000">
            <a:off x="731484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 name="HashT19"/>
          <p:cNvSpPr/>
          <p:nvPr/>
        </p:nvSpPr>
        <p:spPr>
          <a:xfrm rot="1200000">
            <a:off x="772632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 name="HashT20"/>
          <p:cNvSpPr/>
          <p:nvPr/>
        </p:nvSpPr>
        <p:spPr>
          <a:xfrm rot="1200000">
            <a:off x="813780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 name="HashT21"/>
          <p:cNvSpPr/>
          <p:nvPr/>
        </p:nvSpPr>
        <p:spPr>
          <a:xfrm rot="1200000">
            <a:off x="854928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4" name="HashT22"/>
          <p:cNvSpPr/>
          <p:nvPr/>
        </p:nvSpPr>
        <p:spPr>
          <a:xfrm rot="1200000">
            <a:off x="896076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 name="HashT23"/>
          <p:cNvSpPr/>
          <p:nvPr/>
        </p:nvSpPr>
        <p:spPr>
          <a:xfrm rot="1200000">
            <a:off x="937224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6" name="HashT24"/>
          <p:cNvSpPr/>
          <p:nvPr/>
        </p:nvSpPr>
        <p:spPr>
          <a:xfrm rot="1200000">
            <a:off x="978372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 name="HashT25"/>
          <p:cNvSpPr/>
          <p:nvPr/>
        </p:nvSpPr>
        <p:spPr>
          <a:xfrm rot="1200000">
            <a:off x="1019520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 name="HashT26"/>
          <p:cNvSpPr/>
          <p:nvPr/>
        </p:nvSpPr>
        <p:spPr>
          <a:xfrm rot="1200000">
            <a:off x="1060668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 name="HashT27"/>
          <p:cNvSpPr/>
          <p:nvPr/>
        </p:nvSpPr>
        <p:spPr>
          <a:xfrm rot="1200000">
            <a:off x="1101816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 name="HashT28"/>
          <p:cNvSpPr/>
          <p:nvPr/>
        </p:nvSpPr>
        <p:spPr>
          <a:xfrm rot="1200000">
            <a:off x="1142964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 name="HashT29"/>
          <p:cNvSpPr/>
          <p:nvPr/>
        </p:nvSpPr>
        <p:spPr>
          <a:xfrm rot="1200000">
            <a:off x="1184112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 name="HashT30"/>
          <p:cNvSpPr/>
          <p:nvPr/>
        </p:nvSpPr>
        <p:spPr>
          <a:xfrm rot="1200000">
            <a:off x="12252600" y="-5004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 name="StripeBot"/>
          <p:cNvSpPr/>
          <p:nvPr/>
        </p:nvSpPr>
        <p:spPr>
          <a:xfrm>
            <a:off x="0" y="6583680"/>
            <a:ext cx="12191760" cy="273960"/>
          </a:xfrm>
          <a:prstGeom prst="rect">
            <a:avLst/>
          </a:prstGeom>
          <a:solidFill>
            <a:srgbClr val="FFC7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4" name="HashB0"/>
          <p:cNvSpPr/>
          <p:nvPr/>
        </p:nvSpPr>
        <p:spPr>
          <a:xfrm rot="1200000">
            <a:off x="-9144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 name="HashB1"/>
          <p:cNvSpPr/>
          <p:nvPr/>
        </p:nvSpPr>
        <p:spPr>
          <a:xfrm rot="1200000">
            <a:off x="31968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 name="HashB2"/>
          <p:cNvSpPr/>
          <p:nvPr/>
        </p:nvSpPr>
        <p:spPr>
          <a:xfrm rot="1200000">
            <a:off x="73116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 name="HashB3"/>
          <p:cNvSpPr/>
          <p:nvPr/>
        </p:nvSpPr>
        <p:spPr>
          <a:xfrm rot="1200000">
            <a:off x="114264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8" name="HashB4"/>
          <p:cNvSpPr/>
          <p:nvPr/>
        </p:nvSpPr>
        <p:spPr>
          <a:xfrm rot="1200000">
            <a:off x="155412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 name="HashB5"/>
          <p:cNvSpPr/>
          <p:nvPr/>
        </p:nvSpPr>
        <p:spPr>
          <a:xfrm rot="1200000">
            <a:off x="196560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 name="HashB6"/>
          <p:cNvSpPr/>
          <p:nvPr/>
        </p:nvSpPr>
        <p:spPr>
          <a:xfrm rot="1200000">
            <a:off x="237708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1" name="HashB7"/>
          <p:cNvSpPr/>
          <p:nvPr/>
        </p:nvSpPr>
        <p:spPr>
          <a:xfrm rot="1200000">
            <a:off x="278856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2" name="HashB8"/>
          <p:cNvSpPr/>
          <p:nvPr/>
        </p:nvSpPr>
        <p:spPr>
          <a:xfrm rot="1200000">
            <a:off x="320004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 name="HashB9"/>
          <p:cNvSpPr/>
          <p:nvPr/>
        </p:nvSpPr>
        <p:spPr>
          <a:xfrm rot="1200000">
            <a:off x="361152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 name="HashB10"/>
          <p:cNvSpPr/>
          <p:nvPr/>
        </p:nvSpPr>
        <p:spPr>
          <a:xfrm rot="1200000">
            <a:off x="402300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5" name="HashB11"/>
          <p:cNvSpPr/>
          <p:nvPr/>
        </p:nvSpPr>
        <p:spPr>
          <a:xfrm rot="1200000">
            <a:off x="443448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 name="HashB12"/>
          <p:cNvSpPr/>
          <p:nvPr/>
        </p:nvSpPr>
        <p:spPr>
          <a:xfrm rot="1200000">
            <a:off x="484596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 name="HashB13"/>
          <p:cNvSpPr/>
          <p:nvPr/>
        </p:nvSpPr>
        <p:spPr>
          <a:xfrm rot="1200000">
            <a:off x="525744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8" name="HashB14"/>
          <p:cNvSpPr/>
          <p:nvPr/>
        </p:nvSpPr>
        <p:spPr>
          <a:xfrm rot="1200000">
            <a:off x="566892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 name="HashB15"/>
          <p:cNvSpPr/>
          <p:nvPr/>
        </p:nvSpPr>
        <p:spPr>
          <a:xfrm rot="1200000">
            <a:off x="608040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 name="HashB16"/>
          <p:cNvSpPr/>
          <p:nvPr/>
        </p:nvSpPr>
        <p:spPr>
          <a:xfrm rot="1200000">
            <a:off x="649188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 name="HashB17"/>
          <p:cNvSpPr/>
          <p:nvPr/>
        </p:nvSpPr>
        <p:spPr>
          <a:xfrm rot="1200000">
            <a:off x="690336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2" name="HashB18"/>
          <p:cNvSpPr/>
          <p:nvPr/>
        </p:nvSpPr>
        <p:spPr>
          <a:xfrm rot="1200000">
            <a:off x="731484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 name="HashB19"/>
          <p:cNvSpPr/>
          <p:nvPr/>
        </p:nvSpPr>
        <p:spPr>
          <a:xfrm rot="1200000">
            <a:off x="772632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4" name="HashB20"/>
          <p:cNvSpPr/>
          <p:nvPr/>
        </p:nvSpPr>
        <p:spPr>
          <a:xfrm rot="1200000">
            <a:off x="813780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 name="HashB21"/>
          <p:cNvSpPr/>
          <p:nvPr/>
        </p:nvSpPr>
        <p:spPr>
          <a:xfrm rot="1200000">
            <a:off x="854928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6" name="HashB22"/>
          <p:cNvSpPr/>
          <p:nvPr/>
        </p:nvSpPr>
        <p:spPr>
          <a:xfrm rot="1200000">
            <a:off x="896076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 name="HashB23"/>
          <p:cNvSpPr/>
          <p:nvPr/>
        </p:nvSpPr>
        <p:spPr>
          <a:xfrm rot="1200000">
            <a:off x="937224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8" name="HashB24"/>
          <p:cNvSpPr/>
          <p:nvPr/>
        </p:nvSpPr>
        <p:spPr>
          <a:xfrm rot="1200000">
            <a:off x="978372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9" name="HashB25"/>
          <p:cNvSpPr/>
          <p:nvPr/>
        </p:nvSpPr>
        <p:spPr>
          <a:xfrm rot="1200000">
            <a:off x="1019520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0" name="HashB26"/>
          <p:cNvSpPr/>
          <p:nvPr/>
        </p:nvSpPr>
        <p:spPr>
          <a:xfrm rot="1200000">
            <a:off x="1060668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1" name="HashB27"/>
          <p:cNvSpPr/>
          <p:nvPr/>
        </p:nvSpPr>
        <p:spPr>
          <a:xfrm rot="1200000">
            <a:off x="1101816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2" name="HashB28"/>
          <p:cNvSpPr/>
          <p:nvPr/>
        </p:nvSpPr>
        <p:spPr>
          <a:xfrm rot="1200000">
            <a:off x="1142964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 name="HashB29"/>
          <p:cNvSpPr/>
          <p:nvPr/>
        </p:nvSpPr>
        <p:spPr>
          <a:xfrm rot="1200000">
            <a:off x="1184112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4" name="HashB30"/>
          <p:cNvSpPr/>
          <p:nvPr/>
        </p:nvSpPr>
        <p:spPr>
          <a:xfrm rot="1200000">
            <a:off x="12252600" y="6533280"/>
            <a:ext cx="136800" cy="374040"/>
          </a:xfrm>
          <a:prstGeom prst="rect">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5" name="HeaderBanner"/>
          <p:cNvSpPr/>
          <p:nvPr/>
        </p:nvSpPr>
        <p:spPr>
          <a:xfrm>
            <a:off x="457200" y="457200"/>
            <a:ext cx="11277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C72C"/>
                </a:solidFill>
                <a:latin typeface="Trebuchet MS"/>
              </a:rPr>
              <a:t>★  ★  ★      SUPER  EARTH  HIGH  COMMAND      ★  ★  ★</a:t>
            </a:r>
            <a:endParaRPr lang="en-US" sz="1400" b="0" strike="noStrike" spc="-1">
              <a:solidFill>
                <a:srgbClr val="FFFFFF"/>
              </a:solidFill>
              <a:latin typeface="Arial"/>
            </a:endParaRPr>
          </a:p>
        </p:txBody>
      </p:sp>
      <p:sp>
        <p:nvSpPr>
          <p:cNvPr id="66" name="DividerLine"/>
          <p:cNvSpPr/>
          <p:nvPr/>
        </p:nvSpPr>
        <p:spPr>
          <a:xfrm>
            <a:off x="2286000" y="914400"/>
            <a:ext cx="7619760" cy="18000"/>
          </a:xfrm>
          <a:prstGeom prst="rect">
            <a:avLst/>
          </a:prstGeom>
          <a:solidFill>
            <a:srgbClr val="FFC7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7" name="EmblemRing"/>
          <p:cNvSpPr/>
          <p:nvPr/>
        </p:nvSpPr>
        <p:spPr>
          <a:xfrm>
            <a:off x="5730120" y="1097280"/>
            <a:ext cx="731160" cy="731160"/>
          </a:xfrm>
          <a:prstGeom prst="roundRect">
            <a:avLst>
              <a:gd name="adj" fmla="val 8000"/>
            </a:avLst>
          </a:prstGeom>
          <a:solidFill>
            <a:srgbClr val="B8860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8" name="EmblemInner"/>
          <p:cNvSpPr/>
          <p:nvPr/>
        </p:nvSpPr>
        <p:spPr>
          <a:xfrm>
            <a:off x="5775840" y="1143000"/>
            <a:ext cx="639720" cy="639720"/>
          </a:xfrm>
          <a:prstGeom prst="roundRect">
            <a:avLst>
              <a:gd name="adj" fmla="val 8000"/>
            </a:avLst>
          </a:prstGeom>
          <a:solidFill>
            <a:srgbClr val="0A0F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9" name="EmblemStar"/>
          <p:cNvSpPr/>
          <p:nvPr/>
        </p:nvSpPr>
        <p:spPr>
          <a:xfrm>
            <a:off x="5730120" y="1097280"/>
            <a:ext cx="7311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FFC72C"/>
                </a:solidFill>
                <a:latin typeface="Trebuchet MS"/>
              </a:rPr>
              <a:t>★</a:t>
            </a:r>
            <a:endParaRPr lang="en-US" sz="4400" b="0" strike="noStrike" spc="-1">
              <a:solidFill>
                <a:srgbClr val="FFFFFF"/>
              </a:solidFill>
              <a:latin typeface="Arial"/>
            </a:endParaRPr>
          </a:p>
        </p:txBody>
      </p:sp>
      <p:sp>
        <p:nvSpPr>
          <p:cNvPr id="70" name="MainTitle"/>
          <p:cNvSpPr/>
          <p:nvPr/>
        </p:nvSpPr>
        <p:spPr>
          <a:xfrm>
            <a:off x="457200" y="1965960"/>
            <a:ext cx="112773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200" b="1" strike="noStrike" spc="-1">
                <a:solidFill>
                  <a:srgbClr val="FAFAFA"/>
                </a:solidFill>
                <a:latin typeface="Trebuchet MS"/>
              </a:rPr>
              <a:t>YOUR MLOPS PIPELINE IS YOUR AGENTIC AI GUARDRAIL</a:t>
            </a:r>
            <a:endParaRPr lang="en-US" sz="3200" b="0" strike="noStrike" spc="-1">
              <a:solidFill>
                <a:srgbClr val="FFFFFF"/>
              </a:solidFill>
              <a:latin typeface="Arial"/>
            </a:endParaRPr>
          </a:p>
        </p:txBody>
      </p:sp>
      <p:sp>
        <p:nvSpPr>
          <p:cNvPr id="71" name="MainQuote"/>
          <p:cNvSpPr/>
          <p:nvPr/>
        </p:nvSpPr>
        <p:spPr>
          <a:xfrm>
            <a:off x="457200" y="2834640"/>
            <a:ext cx="112773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strike="noStrike" spc="-1">
                <a:solidFill>
                  <a:srgbClr val="FFC72C"/>
                </a:solidFill>
                <a:latin typeface="Trebuchet MS"/>
              </a:rPr>
              <a:t>“ DEMOCRACY IS NON-NEGOTIABLE. ”</a:t>
            </a:r>
            <a:endParaRPr lang="en-US" sz="3600" b="0" strike="noStrike" spc="-1">
              <a:solidFill>
                <a:srgbClr val="FFFFFF"/>
              </a:solidFill>
              <a:latin typeface="Arial"/>
            </a:endParaRPr>
          </a:p>
        </p:txBody>
      </p:sp>
      <p:sp>
        <p:nvSpPr>
          <p:cNvPr id="72" name="SubQuote"/>
          <p:cNvSpPr/>
          <p:nvPr/>
        </p:nvSpPr>
        <p:spPr>
          <a:xfrm>
            <a:off x="457200" y="3474720"/>
            <a:ext cx="11277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0" i="1" strike="noStrike" spc="-1">
                <a:solidFill>
                  <a:srgbClr val="E8DDB5"/>
                </a:solidFill>
                <a:latin typeface="Calibri"/>
              </a:rPr>
              <a:t>Neither are your admission policies, Helldiver.</a:t>
            </a:r>
            <a:endParaRPr lang="en-US" sz="1800" b="0" strike="noStrike" spc="-1">
              <a:solidFill>
                <a:srgbClr val="FFFFFF"/>
              </a:solidFill>
              <a:latin typeface="Arial"/>
            </a:endParaRPr>
          </a:p>
        </p:txBody>
      </p:sp>
      <p:sp>
        <p:nvSpPr>
          <p:cNvPr id="73" name="ClassTag"/>
          <p:cNvSpPr/>
          <p:nvPr/>
        </p:nvSpPr>
        <p:spPr>
          <a:xfrm>
            <a:off x="457200" y="5852160"/>
            <a:ext cx="3017160" cy="548280"/>
          </a:xfrm>
          <a:prstGeom prst="rect">
            <a:avLst/>
          </a:prstGeom>
          <a:solidFill>
            <a:srgbClr val="C8102E"/>
          </a:solidFill>
          <a:ln w="22225">
            <a:solidFill>
              <a:srgbClr val="FFC72C"/>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4" name="ClassText"/>
          <p:cNvSpPr/>
          <p:nvPr/>
        </p:nvSpPr>
        <p:spPr>
          <a:xfrm>
            <a:off x="457200" y="5852160"/>
            <a:ext cx="30171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AFAFA"/>
                </a:solidFill>
                <a:latin typeface="Trebuchet MS"/>
              </a:rPr>
              <a:t>▲   CLASSIFIED   ▲</a:t>
            </a:r>
            <a:endParaRPr lang="en-US" sz="1300" b="0" strike="noStrike" spc="-1">
              <a:solidFill>
                <a:srgbClr val="FFFFFF"/>
              </a:solidFill>
              <a:latin typeface="Arial"/>
            </a:endParaRPr>
          </a:p>
        </p:txBody>
      </p:sp>
      <p:sp>
        <p:nvSpPr>
          <p:cNvPr id="75" name="OpTag"/>
          <p:cNvSpPr/>
          <p:nvPr/>
        </p:nvSpPr>
        <p:spPr>
          <a:xfrm>
            <a:off x="8717400" y="5852160"/>
            <a:ext cx="3017160" cy="548280"/>
          </a:xfrm>
          <a:prstGeom prst="rect">
            <a:avLst/>
          </a:prstGeom>
          <a:solidFill>
            <a:srgbClr val="0A0F1A"/>
          </a:solidFill>
          <a:ln w="22225">
            <a:solidFill>
              <a:srgbClr val="FFC72C"/>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6" name="OpText"/>
          <p:cNvSpPr/>
          <p:nvPr/>
        </p:nvSpPr>
        <p:spPr>
          <a:xfrm>
            <a:off x="8717400" y="5852160"/>
            <a:ext cx="30171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C72C"/>
                </a:solidFill>
                <a:latin typeface="Trebuchet MS"/>
              </a:rPr>
              <a:t>OPERATION:  SAFE  AGENTS</a:t>
            </a:r>
            <a:endParaRPr lang="en-US" sz="1300" b="0" strike="noStrike" spc="-1">
              <a:solidFill>
                <a:srgbClr val="FFFFFF"/>
              </a:solidFill>
              <a:latin typeface="Arial"/>
            </a:endParaRPr>
          </a:p>
        </p:txBody>
      </p:sp>
      <p:sp>
        <p:nvSpPr>
          <p:cNvPr id="77" name="Stamp"/>
          <p:cNvSpPr/>
          <p:nvPr/>
        </p:nvSpPr>
        <p:spPr>
          <a:xfrm rot="20400000">
            <a:off x="9174240" y="4068720"/>
            <a:ext cx="2559960" cy="731160"/>
          </a:xfrm>
          <a:prstGeom prst="rect">
            <a:avLst/>
          </a:prstGeom>
          <a:noFill/>
          <a:ln w="38100">
            <a:solidFill>
              <a:srgbClr val="C8102E"/>
            </a:solidFill>
            <a:round/>
          </a:ln>
        </p:spPr>
        <p:style>
          <a:lnRef idx="0">
            <a:scrgbClr r="0" g="0" b="0"/>
          </a:lnRef>
          <a:fillRef idx="0">
            <a:scrgbClr r="0" g="0" b="0"/>
          </a:fillRef>
          <a:effectRef idx="0">
            <a:scrgbClr r="0" g="0" b="0"/>
          </a:effectRef>
          <a:fontRef idx="minor"/>
        </p:style>
        <p:txBody>
          <a:bodyPr tIns="36720" bIns="36720" anchor="ctr">
            <a:noAutofit/>
          </a:bodyPr>
          <a:lstStyle/>
          <a:p>
            <a:pPr algn="ctr" defTabSz="914400">
              <a:lnSpc>
                <a:spcPct val="100000"/>
              </a:lnSpc>
              <a:tabLst>
                <a:tab pos="0" algn="l"/>
              </a:tabLst>
            </a:pPr>
            <a:r>
              <a:rPr lang="en-US" sz="2000" b="1" strike="noStrike" spc="-1">
                <a:solidFill>
                  <a:srgbClr val="C8102E"/>
                </a:solidFill>
                <a:latin typeface="Trebuchet MS"/>
              </a:rPr>
              <a:t>✓ APPROVED</a:t>
            </a:r>
            <a:endParaRPr lang="en-US" sz="2000" b="0" strike="noStrike" spc="-1">
              <a:solidFill>
                <a:srgbClr val="FFFFFF"/>
              </a:solidFill>
              <a:latin typeface="Arial"/>
            </a:endParaRPr>
          </a:p>
          <a:p>
            <a:pPr algn="ctr" defTabSz="914400">
              <a:lnSpc>
                <a:spcPct val="100000"/>
              </a:lnSpc>
              <a:tabLst>
                <a:tab pos="0" algn="l"/>
              </a:tabLst>
            </a:pPr>
            <a:r>
              <a:rPr lang="en-US" sz="1100" b="1" strike="noStrike" spc="-1">
                <a:solidFill>
                  <a:srgbClr val="C8102E"/>
                </a:solidFill>
                <a:latin typeface="Trebuchet MS"/>
              </a:rPr>
              <a:t>FOR DEPLOYMENT</a:t>
            </a:r>
            <a:endParaRPr lang="en-US" sz="1100" b="0" strike="noStrike" spc="-1">
              <a:solidFill>
                <a:srgbClr val="FFFFFF"/>
              </a:solidFill>
              <a:latin typeface="Arial"/>
            </a:endParaRPr>
          </a:p>
        </p:txBody>
      </p:sp>
      <p:sp>
        <p:nvSpPr>
          <p:cNvPr id="78" name="Transmission"/>
          <p:cNvSpPr/>
          <p:nvPr/>
        </p:nvSpPr>
        <p:spPr>
          <a:xfrm>
            <a:off x="0" y="6309360"/>
            <a:ext cx="12191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C72C"/>
                </a:solidFill>
                <a:latin typeface="Calibri"/>
              </a:rPr>
              <a:t>TRANSMISSION:  Michael Forrester  ·  Accenture  ·  LLMday Austin  ·  May 12, 2026  ·  FOR SUPER EARTH</a:t>
            </a:r>
            <a:endParaRPr lang="en-US" sz="900" b="0" strike="noStrike" spc="-1">
              <a:solidFill>
                <a:srgbClr val="FFFFFF"/>
              </a:solidFill>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 name="Bg"/>
          <p:cNvSpPr/>
          <p:nvPr/>
        </p:nvSpPr>
        <p:spPr>
          <a:xfrm>
            <a:off x="0" y="0"/>
            <a:ext cx="12191760" cy="6857640"/>
          </a:xfrm>
          <a:prstGeom prst="rect">
            <a:avLst/>
          </a:prstGeom>
          <a:solidFill>
            <a:srgbClr val="001E4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9" name="DiagRed"/>
          <p:cNvSpPr/>
          <p:nvPr/>
        </p:nvSpPr>
        <p:spPr>
          <a:xfrm>
            <a:off x="0" y="0"/>
            <a:ext cx="12191760" cy="6857640"/>
          </a:xfrm>
          <a:prstGeom prst="rtTriangle">
            <a:avLst/>
          </a:prstGeom>
          <a:solidFill>
            <a:srgbClr val="E10600"/>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 name="TeamUpBurst"/>
          <p:cNvSpPr/>
          <p:nvPr/>
        </p:nvSpPr>
        <p:spPr>
          <a:xfrm>
            <a:off x="3169800" y="91440"/>
            <a:ext cx="5851800" cy="731160"/>
          </a:xfrm>
          <a:prstGeom prst="irregularSeal2">
            <a:avLst/>
          </a:prstGeom>
          <a:solidFill>
            <a:srgbClr val="FFC727"/>
          </a:solidFill>
          <a:ln w="2222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 name="TeamUpText"/>
          <p:cNvSpPr/>
          <p:nvPr/>
        </p:nvSpPr>
        <p:spPr>
          <a:xfrm>
            <a:off x="3169800" y="91440"/>
            <a:ext cx="585180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200" b="1" strike="noStrike" spc="-1">
                <a:solidFill>
                  <a:srgbClr val="0A0A0A"/>
                </a:solidFill>
                <a:latin typeface="Trebuchet MS"/>
              </a:rPr>
              <a:t>⚡  TEAM-UP  READY  ⚡</a:t>
            </a:r>
            <a:endParaRPr lang="en-US" sz="3200" b="0" strike="noStrike" spc="-1">
              <a:solidFill>
                <a:srgbClr val="FFFFFF"/>
              </a:solidFill>
              <a:latin typeface="Arial"/>
            </a:endParaRPr>
          </a:p>
        </p:txBody>
      </p:sp>
      <p:sp>
        <p:nvSpPr>
          <p:cNvPr id="4" name="MainTitle"/>
          <p:cNvSpPr/>
          <p:nvPr/>
        </p:nvSpPr>
        <p:spPr>
          <a:xfrm>
            <a:off x="457200" y="1005840"/>
            <a:ext cx="1127736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1" strike="noStrike" spc="-1">
                <a:solidFill>
                  <a:srgbClr val="FFFFFF"/>
                </a:solidFill>
                <a:latin typeface="Trebuchet MS"/>
              </a:rPr>
              <a:t>YOUR  MLOPS  PIPELINE  IS  YOUR  AGENTIC  AI  GUARDRAIL</a:t>
            </a:r>
            <a:endParaRPr lang="en-US" sz="2400" b="0" strike="noStrike" spc="-1">
              <a:solidFill>
                <a:srgbClr val="FFFFFF"/>
              </a:solidFill>
              <a:latin typeface="Arial"/>
            </a:endParaRPr>
          </a:p>
        </p:txBody>
      </p:sp>
      <p:sp>
        <p:nvSpPr>
          <p:cNvPr id="5" name="TitleUnderline"/>
          <p:cNvSpPr/>
          <p:nvPr/>
        </p:nvSpPr>
        <p:spPr>
          <a:xfrm>
            <a:off x="4267080" y="1737360"/>
            <a:ext cx="3657240" cy="36360"/>
          </a:xfrm>
          <a:prstGeom prst="rect">
            <a:avLst/>
          </a:prstGeom>
          <a:solidFill>
            <a:srgbClr val="FFC72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 name="MainQuote"/>
          <p:cNvSpPr/>
          <p:nvPr/>
        </p:nvSpPr>
        <p:spPr>
          <a:xfrm>
            <a:off x="457200" y="1828800"/>
            <a:ext cx="11277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700" b="1" i="1" strike="noStrike" spc="-1">
                <a:solidFill>
                  <a:srgbClr val="FFC727"/>
                </a:solidFill>
                <a:latin typeface="Trebuchet MS"/>
              </a:rPr>
              <a:t>✦   WHEN  AGENTS  GO  ROGUE,  THE  GATES  ASSEMBLE.   ✦</a:t>
            </a:r>
            <a:endParaRPr lang="en-US" sz="1700" b="0" strike="noStrike" spc="-1">
              <a:solidFill>
                <a:srgbClr val="FFFFFF"/>
              </a:solidFill>
              <a:latin typeface="Arial"/>
            </a:endParaRPr>
          </a:p>
        </p:txBody>
      </p:sp>
      <p:sp>
        <p:nvSpPr>
          <p:cNvPr id="7" name="HexRing1"/>
          <p:cNvSpPr/>
          <p:nvPr/>
        </p:nvSpPr>
        <p:spPr>
          <a:xfrm>
            <a:off x="2026800" y="2377440"/>
            <a:ext cx="1279800" cy="1279800"/>
          </a:xfrm>
          <a:prstGeom prst="hexagon">
            <a:avLst>
              <a:gd name="adj" fmla="val 25000"/>
              <a:gd name="vf" fmla="val 115470"/>
            </a:avLst>
          </a:prstGeom>
          <a:solidFill>
            <a:srgbClr val="F59E0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 name="HexInner1"/>
          <p:cNvSpPr/>
          <p:nvPr/>
        </p:nvSpPr>
        <p:spPr>
          <a:xfrm>
            <a:off x="2063520" y="2414160"/>
            <a:ext cx="1206720" cy="1206720"/>
          </a:xfrm>
          <a:prstGeom prst="hexagon">
            <a:avLst>
              <a:gd name="adj" fmla="val 25000"/>
              <a:gd name="vf" fmla="val 115470"/>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 name="HexNum1"/>
          <p:cNvSpPr/>
          <p:nvPr/>
        </p:nvSpPr>
        <p:spPr>
          <a:xfrm>
            <a:off x="2026800" y="2377440"/>
            <a:ext cx="1279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F59E0B"/>
                </a:solidFill>
                <a:latin typeface="Trebuchet MS"/>
              </a:rPr>
              <a:t>1</a:t>
            </a:r>
            <a:endParaRPr lang="en-US" sz="4400" b="0" strike="noStrike" spc="-1">
              <a:solidFill>
                <a:srgbClr val="FFFFFF"/>
              </a:solidFill>
              <a:latin typeface="Arial"/>
            </a:endParaRPr>
          </a:p>
        </p:txBody>
      </p:sp>
      <p:sp>
        <p:nvSpPr>
          <p:cNvPr id="10" name="IconBadge1"/>
          <p:cNvSpPr/>
          <p:nvPr/>
        </p:nvSpPr>
        <p:spPr>
          <a:xfrm>
            <a:off x="2923200" y="3273480"/>
            <a:ext cx="365400" cy="365400"/>
          </a:xfrm>
          <a:prstGeom prst="roundRect">
            <a:avLst>
              <a:gd name="adj" fmla="val 8000"/>
            </a:avLst>
          </a:prstGeom>
          <a:solidFill>
            <a:srgbClr val="F59E0B"/>
          </a:solidFill>
          <a:ln w="15875">
            <a:solidFill>
              <a:srgbClr val="FFFF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 name="IconText1"/>
          <p:cNvSpPr/>
          <p:nvPr/>
        </p:nvSpPr>
        <p:spPr>
          <a:xfrm>
            <a:off x="2923200" y="327348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Segoe UI Symbol"/>
              </a:rPr>
              <a:t>🛡</a:t>
            </a:r>
            <a:endParaRPr lang="en-US" sz="1400" b="0" strike="noStrike" spc="-1">
              <a:solidFill>
                <a:srgbClr val="FFFFFF"/>
              </a:solidFill>
              <a:latin typeface="Arial"/>
            </a:endParaRPr>
          </a:p>
        </p:txBody>
      </p:sp>
      <p:sp>
        <p:nvSpPr>
          <p:cNvPr id="12" name="HeroName1"/>
          <p:cNvSpPr/>
          <p:nvPr/>
        </p:nvSpPr>
        <p:spPr>
          <a:xfrm>
            <a:off x="1935360" y="3749040"/>
            <a:ext cx="1462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Trebuchet MS"/>
              </a:rPr>
              <a:t>PreToolUse</a:t>
            </a:r>
            <a:endParaRPr lang="en-US" sz="1200" b="0" strike="noStrike" spc="-1">
              <a:solidFill>
                <a:srgbClr val="FFFFFF"/>
              </a:solidFill>
              <a:latin typeface="Arial"/>
            </a:endParaRPr>
          </a:p>
        </p:txBody>
      </p:sp>
      <p:sp>
        <p:nvSpPr>
          <p:cNvPr id="13" name="HeroRole1"/>
          <p:cNvSpPr/>
          <p:nvPr/>
        </p:nvSpPr>
        <p:spPr>
          <a:xfrm>
            <a:off x="1935360" y="4023360"/>
            <a:ext cx="1462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59E0B"/>
                </a:solidFill>
                <a:latin typeface="Trebuchet MS"/>
              </a:rPr>
              <a:t>VANGUARD</a:t>
            </a:r>
            <a:endParaRPr lang="en-US" sz="900" b="0" strike="noStrike" spc="-1">
              <a:solidFill>
                <a:srgbClr val="FFFFFF"/>
              </a:solidFill>
              <a:latin typeface="Arial"/>
            </a:endParaRPr>
          </a:p>
        </p:txBody>
      </p:sp>
      <p:sp>
        <p:nvSpPr>
          <p:cNvPr id="14" name="HexRing2"/>
          <p:cNvSpPr/>
          <p:nvPr/>
        </p:nvSpPr>
        <p:spPr>
          <a:xfrm>
            <a:off x="3398400" y="2377440"/>
            <a:ext cx="1279800" cy="1279800"/>
          </a:xfrm>
          <a:prstGeom prst="hexagon">
            <a:avLst>
              <a:gd name="adj" fmla="val 25000"/>
              <a:gd name="vf" fmla="val 115470"/>
            </a:avLst>
          </a:prstGeom>
          <a:solidFill>
            <a:srgbClr val="F59E0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 name="HexInner2"/>
          <p:cNvSpPr/>
          <p:nvPr/>
        </p:nvSpPr>
        <p:spPr>
          <a:xfrm>
            <a:off x="3435120" y="2414160"/>
            <a:ext cx="1206720" cy="1206720"/>
          </a:xfrm>
          <a:prstGeom prst="hexagon">
            <a:avLst>
              <a:gd name="adj" fmla="val 25000"/>
              <a:gd name="vf" fmla="val 115470"/>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 name="HexNum2"/>
          <p:cNvSpPr/>
          <p:nvPr/>
        </p:nvSpPr>
        <p:spPr>
          <a:xfrm>
            <a:off x="3398400" y="2377440"/>
            <a:ext cx="1279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F59E0B"/>
                </a:solidFill>
                <a:latin typeface="Trebuchet MS"/>
              </a:rPr>
              <a:t>2</a:t>
            </a:r>
            <a:endParaRPr lang="en-US" sz="4400" b="0" strike="noStrike" spc="-1">
              <a:solidFill>
                <a:srgbClr val="FFFFFF"/>
              </a:solidFill>
              <a:latin typeface="Arial"/>
            </a:endParaRPr>
          </a:p>
        </p:txBody>
      </p:sp>
      <p:sp>
        <p:nvSpPr>
          <p:cNvPr id="17" name="IconBadge2"/>
          <p:cNvSpPr/>
          <p:nvPr/>
        </p:nvSpPr>
        <p:spPr>
          <a:xfrm>
            <a:off x="4294800" y="3273480"/>
            <a:ext cx="365400" cy="365400"/>
          </a:xfrm>
          <a:prstGeom prst="roundRect">
            <a:avLst>
              <a:gd name="adj" fmla="val 8000"/>
            </a:avLst>
          </a:prstGeom>
          <a:solidFill>
            <a:srgbClr val="F59E0B"/>
          </a:solidFill>
          <a:ln w="15875">
            <a:solidFill>
              <a:srgbClr val="FFFF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 name="IconText2"/>
          <p:cNvSpPr/>
          <p:nvPr/>
        </p:nvSpPr>
        <p:spPr>
          <a:xfrm>
            <a:off x="4294800" y="327348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Segoe UI Symbol"/>
              </a:rPr>
              <a:t>🛡</a:t>
            </a:r>
            <a:endParaRPr lang="en-US" sz="1400" b="0" strike="noStrike" spc="-1">
              <a:solidFill>
                <a:srgbClr val="FFFFFF"/>
              </a:solidFill>
              <a:latin typeface="Arial"/>
            </a:endParaRPr>
          </a:p>
        </p:txBody>
      </p:sp>
      <p:sp>
        <p:nvSpPr>
          <p:cNvPr id="19" name="HeroName2"/>
          <p:cNvSpPr/>
          <p:nvPr/>
        </p:nvSpPr>
        <p:spPr>
          <a:xfrm>
            <a:off x="3306960" y="3749040"/>
            <a:ext cx="1462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Trebuchet MS"/>
              </a:rPr>
              <a:t>Git Pre-Commit</a:t>
            </a:r>
            <a:endParaRPr lang="en-US" sz="1200" b="0" strike="noStrike" spc="-1">
              <a:solidFill>
                <a:srgbClr val="FFFFFF"/>
              </a:solidFill>
              <a:latin typeface="Arial"/>
            </a:endParaRPr>
          </a:p>
        </p:txBody>
      </p:sp>
      <p:sp>
        <p:nvSpPr>
          <p:cNvPr id="20" name="HeroRole2"/>
          <p:cNvSpPr/>
          <p:nvPr/>
        </p:nvSpPr>
        <p:spPr>
          <a:xfrm>
            <a:off x="3306960" y="4023360"/>
            <a:ext cx="1462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59E0B"/>
                </a:solidFill>
                <a:latin typeface="Trebuchet MS"/>
              </a:rPr>
              <a:t>VANGUARD</a:t>
            </a:r>
            <a:endParaRPr lang="en-US" sz="900" b="0" strike="noStrike" spc="-1">
              <a:solidFill>
                <a:srgbClr val="FFFFFF"/>
              </a:solidFill>
              <a:latin typeface="Arial"/>
            </a:endParaRPr>
          </a:p>
        </p:txBody>
      </p:sp>
      <p:sp>
        <p:nvSpPr>
          <p:cNvPr id="21" name="HexRing3"/>
          <p:cNvSpPr/>
          <p:nvPr/>
        </p:nvSpPr>
        <p:spPr>
          <a:xfrm>
            <a:off x="4770000" y="2377440"/>
            <a:ext cx="1279800" cy="1279800"/>
          </a:xfrm>
          <a:prstGeom prst="hexagon">
            <a:avLst>
              <a:gd name="adj" fmla="val 25000"/>
              <a:gd name="vf" fmla="val 115470"/>
            </a:avLst>
          </a:prstGeom>
          <a:solidFill>
            <a:srgbClr val="DC2626"/>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 name="HexInner3"/>
          <p:cNvSpPr/>
          <p:nvPr/>
        </p:nvSpPr>
        <p:spPr>
          <a:xfrm>
            <a:off x="4806720" y="2414160"/>
            <a:ext cx="1206720" cy="1206720"/>
          </a:xfrm>
          <a:prstGeom prst="hexagon">
            <a:avLst>
              <a:gd name="adj" fmla="val 25000"/>
              <a:gd name="vf" fmla="val 115470"/>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 name="HexNum3"/>
          <p:cNvSpPr/>
          <p:nvPr/>
        </p:nvSpPr>
        <p:spPr>
          <a:xfrm>
            <a:off x="4770000" y="2377440"/>
            <a:ext cx="1279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DC2626"/>
                </a:solidFill>
                <a:latin typeface="Trebuchet MS"/>
              </a:rPr>
              <a:t>3</a:t>
            </a:r>
            <a:endParaRPr lang="en-US" sz="4400" b="0" strike="noStrike" spc="-1">
              <a:solidFill>
                <a:srgbClr val="FFFFFF"/>
              </a:solidFill>
              <a:latin typeface="Arial"/>
            </a:endParaRPr>
          </a:p>
        </p:txBody>
      </p:sp>
      <p:sp>
        <p:nvSpPr>
          <p:cNvPr id="24" name="IconBadge3"/>
          <p:cNvSpPr/>
          <p:nvPr/>
        </p:nvSpPr>
        <p:spPr>
          <a:xfrm>
            <a:off x="5666400" y="3273480"/>
            <a:ext cx="365400" cy="365400"/>
          </a:xfrm>
          <a:prstGeom prst="roundRect">
            <a:avLst>
              <a:gd name="adj" fmla="val 8000"/>
            </a:avLst>
          </a:prstGeom>
          <a:solidFill>
            <a:srgbClr val="DC2626"/>
          </a:solidFill>
          <a:ln w="15875">
            <a:solidFill>
              <a:srgbClr val="FFFF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 name="IconText3"/>
          <p:cNvSpPr/>
          <p:nvPr/>
        </p:nvSpPr>
        <p:spPr>
          <a:xfrm>
            <a:off x="5666400" y="327348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Segoe UI Symbol"/>
              </a:rPr>
              <a:t>⚡</a:t>
            </a:r>
            <a:endParaRPr lang="en-US" sz="1400" b="0" strike="noStrike" spc="-1">
              <a:solidFill>
                <a:srgbClr val="FFFFFF"/>
              </a:solidFill>
              <a:latin typeface="Arial"/>
            </a:endParaRPr>
          </a:p>
        </p:txBody>
      </p:sp>
      <p:sp>
        <p:nvSpPr>
          <p:cNvPr id="26" name="HeroName3"/>
          <p:cNvSpPr/>
          <p:nvPr/>
        </p:nvSpPr>
        <p:spPr>
          <a:xfrm>
            <a:off x="4678560" y="3749040"/>
            <a:ext cx="1462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Trebuchet MS"/>
              </a:rPr>
              <a:t>K8s VAP</a:t>
            </a:r>
            <a:endParaRPr lang="en-US" sz="1200" b="0" strike="noStrike" spc="-1">
              <a:solidFill>
                <a:srgbClr val="FFFFFF"/>
              </a:solidFill>
              <a:latin typeface="Arial"/>
            </a:endParaRPr>
          </a:p>
        </p:txBody>
      </p:sp>
      <p:sp>
        <p:nvSpPr>
          <p:cNvPr id="27" name="HeroRole3"/>
          <p:cNvSpPr/>
          <p:nvPr/>
        </p:nvSpPr>
        <p:spPr>
          <a:xfrm>
            <a:off x="4678560" y="4023360"/>
            <a:ext cx="1462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DC2626"/>
                </a:solidFill>
                <a:latin typeface="Trebuchet MS"/>
              </a:rPr>
              <a:t>DUELIST</a:t>
            </a:r>
            <a:endParaRPr lang="en-US" sz="900" b="0" strike="noStrike" spc="-1">
              <a:solidFill>
                <a:srgbClr val="FFFFFF"/>
              </a:solidFill>
              <a:latin typeface="Arial"/>
            </a:endParaRPr>
          </a:p>
        </p:txBody>
      </p:sp>
      <p:sp>
        <p:nvSpPr>
          <p:cNvPr id="28" name="HexRing4"/>
          <p:cNvSpPr/>
          <p:nvPr/>
        </p:nvSpPr>
        <p:spPr>
          <a:xfrm>
            <a:off x="6141600" y="2377440"/>
            <a:ext cx="1279800" cy="1279800"/>
          </a:xfrm>
          <a:prstGeom prst="hexagon">
            <a:avLst>
              <a:gd name="adj" fmla="val 25000"/>
              <a:gd name="vf" fmla="val 115470"/>
            </a:avLst>
          </a:prstGeom>
          <a:solidFill>
            <a:srgbClr val="DC2626"/>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 name="HexInner4"/>
          <p:cNvSpPr/>
          <p:nvPr/>
        </p:nvSpPr>
        <p:spPr>
          <a:xfrm>
            <a:off x="6178320" y="2414160"/>
            <a:ext cx="1206720" cy="1206720"/>
          </a:xfrm>
          <a:prstGeom prst="hexagon">
            <a:avLst>
              <a:gd name="adj" fmla="val 25000"/>
              <a:gd name="vf" fmla="val 115470"/>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 name="HexNum4"/>
          <p:cNvSpPr/>
          <p:nvPr/>
        </p:nvSpPr>
        <p:spPr>
          <a:xfrm>
            <a:off x="6141600" y="2377440"/>
            <a:ext cx="1279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DC2626"/>
                </a:solidFill>
                <a:latin typeface="Trebuchet MS"/>
              </a:rPr>
              <a:t>4</a:t>
            </a:r>
            <a:endParaRPr lang="en-US" sz="4400" b="0" strike="noStrike" spc="-1">
              <a:solidFill>
                <a:srgbClr val="FFFFFF"/>
              </a:solidFill>
              <a:latin typeface="Arial"/>
            </a:endParaRPr>
          </a:p>
        </p:txBody>
      </p:sp>
      <p:sp>
        <p:nvSpPr>
          <p:cNvPr id="31" name="IconBadge4"/>
          <p:cNvSpPr/>
          <p:nvPr/>
        </p:nvSpPr>
        <p:spPr>
          <a:xfrm>
            <a:off x="7038000" y="3273480"/>
            <a:ext cx="365400" cy="365400"/>
          </a:xfrm>
          <a:prstGeom prst="roundRect">
            <a:avLst>
              <a:gd name="adj" fmla="val 8000"/>
            </a:avLst>
          </a:prstGeom>
          <a:solidFill>
            <a:srgbClr val="DC2626"/>
          </a:solidFill>
          <a:ln w="15875">
            <a:solidFill>
              <a:srgbClr val="FFFF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 name="IconText4"/>
          <p:cNvSpPr/>
          <p:nvPr/>
        </p:nvSpPr>
        <p:spPr>
          <a:xfrm>
            <a:off x="7038000" y="327348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Segoe UI Symbol"/>
              </a:rPr>
              <a:t>⚡</a:t>
            </a:r>
            <a:endParaRPr lang="en-US" sz="1400" b="0" strike="noStrike" spc="-1">
              <a:solidFill>
                <a:srgbClr val="FFFFFF"/>
              </a:solidFill>
              <a:latin typeface="Arial"/>
            </a:endParaRPr>
          </a:p>
        </p:txBody>
      </p:sp>
      <p:sp>
        <p:nvSpPr>
          <p:cNvPr id="33" name="HeroName4"/>
          <p:cNvSpPr/>
          <p:nvPr/>
        </p:nvSpPr>
        <p:spPr>
          <a:xfrm>
            <a:off x="6050160" y="3749040"/>
            <a:ext cx="1462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Trebuchet MS"/>
              </a:rPr>
              <a:t>Falco+Talon</a:t>
            </a:r>
            <a:endParaRPr lang="en-US" sz="1200" b="0" strike="noStrike" spc="-1">
              <a:solidFill>
                <a:srgbClr val="FFFFFF"/>
              </a:solidFill>
              <a:latin typeface="Arial"/>
            </a:endParaRPr>
          </a:p>
        </p:txBody>
      </p:sp>
      <p:sp>
        <p:nvSpPr>
          <p:cNvPr id="34" name="HeroRole4"/>
          <p:cNvSpPr/>
          <p:nvPr/>
        </p:nvSpPr>
        <p:spPr>
          <a:xfrm>
            <a:off x="6050160" y="4023360"/>
            <a:ext cx="1462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DC2626"/>
                </a:solidFill>
                <a:latin typeface="Trebuchet MS"/>
              </a:rPr>
              <a:t>DUELIST</a:t>
            </a:r>
            <a:endParaRPr lang="en-US" sz="900" b="0" strike="noStrike" spc="-1">
              <a:solidFill>
                <a:srgbClr val="FFFFFF"/>
              </a:solidFill>
              <a:latin typeface="Arial"/>
            </a:endParaRPr>
          </a:p>
        </p:txBody>
      </p:sp>
      <p:sp>
        <p:nvSpPr>
          <p:cNvPr id="35" name="HexRing5"/>
          <p:cNvSpPr/>
          <p:nvPr/>
        </p:nvSpPr>
        <p:spPr>
          <a:xfrm>
            <a:off x="7513200" y="2377440"/>
            <a:ext cx="1279800" cy="1279800"/>
          </a:xfrm>
          <a:prstGeom prst="hexagon">
            <a:avLst>
              <a:gd name="adj" fmla="val 25000"/>
              <a:gd name="vf" fmla="val 115470"/>
            </a:avLst>
          </a:prstGeom>
          <a:solidFill>
            <a:srgbClr val="10B98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 name="HexInner5"/>
          <p:cNvSpPr/>
          <p:nvPr/>
        </p:nvSpPr>
        <p:spPr>
          <a:xfrm>
            <a:off x="7549920" y="2414160"/>
            <a:ext cx="1206720" cy="1206720"/>
          </a:xfrm>
          <a:prstGeom prst="hexagon">
            <a:avLst>
              <a:gd name="adj" fmla="val 25000"/>
              <a:gd name="vf" fmla="val 115470"/>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 name="HexNum5"/>
          <p:cNvSpPr/>
          <p:nvPr/>
        </p:nvSpPr>
        <p:spPr>
          <a:xfrm>
            <a:off x="7513200" y="2377440"/>
            <a:ext cx="1279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10B981"/>
                </a:solidFill>
                <a:latin typeface="Trebuchet MS"/>
              </a:rPr>
              <a:t>5</a:t>
            </a:r>
            <a:endParaRPr lang="en-US" sz="4400" b="0" strike="noStrike" spc="-1">
              <a:solidFill>
                <a:srgbClr val="FFFFFF"/>
              </a:solidFill>
              <a:latin typeface="Arial"/>
            </a:endParaRPr>
          </a:p>
        </p:txBody>
      </p:sp>
      <p:sp>
        <p:nvSpPr>
          <p:cNvPr id="38" name="IconBadge5"/>
          <p:cNvSpPr/>
          <p:nvPr/>
        </p:nvSpPr>
        <p:spPr>
          <a:xfrm>
            <a:off x="8409600" y="3273480"/>
            <a:ext cx="365400" cy="365400"/>
          </a:xfrm>
          <a:prstGeom prst="roundRect">
            <a:avLst>
              <a:gd name="adj" fmla="val 8000"/>
            </a:avLst>
          </a:prstGeom>
          <a:solidFill>
            <a:srgbClr val="10B981"/>
          </a:solidFill>
          <a:ln w="15875">
            <a:solidFill>
              <a:srgbClr val="FFFF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 name="IconText5"/>
          <p:cNvSpPr/>
          <p:nvPr/>
        </p:nvSpPr>
        <p:spPr>
          <a:xfrm>
            <a:off x="8409600" y="327348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Segoe UI Symbol"/>
              </a:rPr>
              <a:t>✚</a:t>
            </a:r>
            <a:endParaRPr lang="en-US" sz="1400" b="0" strike="noStrike" spc="-1">
              <a:solidFill>
                <a:srgbClr val="FFFFFF"/>
              </a:solidFill>
              <a:latin typeface="Arial"/>
            </a:endParaRPr>
          </a:p>
        </p:txBody>
      </p:sp>
      <p:sp>
        <p:nvSpPr>
          <p:cNvPr id="40" name="HeroName5"/>
          <p:cNvSpPr/>
          <p:nvPr/>
        </p:nvSpPr>
        <p:spPr>
          <a:xfrm>
            <a:off x="7421760" y="3749040"/>
            <a:ext cx="1462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Trebuchet MS"/>
              </a:rPr>
              <a:t>NetworkPolicy</a:t>
            </a:r>
            <a:endParaRPr lang="en-US" sz="1200" b="0" strike="noStrike" spc="-1">
              <a:solidFill>
                <a:srgbClr val="FFFFFF"/>
              </a:solidFill>
              <a:latin typeface="Arial"/>
            </a:endParaRPr>
          </a:p>
        </p:txBody>
      </p:sp>
      <p:sp>
        <p:nvSpPr>
          <p:cNvPr id="41" name="HeroRole5"/>
          <p:cNvSpPr/>
          <p:nvPr/>
        </p:nvSpPr>
        <p:spPr>
          <a:xfrm>
            <a:off x="7421760" y="4023360"/>
            <a:ext cx="1462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10B981"/>
                </a:solidFill>
                <a:latin typeface="Trebuchet MS"/>
              </a:rPr>
              <a:t>STRATEGIST</a:t>
            </a:r>
            <a:endParaRPr lang="en-US" sz="900" b="0" strike="noStrike" spc="-1">
              <a:solidFill>
                <a:srgbClr val="FFFFFF"/>
              </a:solidFill>
              <a:latin typeface="Arial"/>
            </a:endParaRPr>
          </a:p>
        </p:txBody>
      </p:sp>
      <p:sp>
        <p:nvSpPr>
          <p:cNvPr id="42" name="HexRing6"/>
          <p:cNvSpPr/>
          <p:nvPr/>
        </p:nvSpPr>
        <p:spPr>
          <a:xfrm>
            <a:off x="8884800" y="2377440"/>
            <a:ext cx="1279800" cy="1279800"/>
          </a:xfrm>
          <a:prstGeom prst="hexagon">
            <a:avLst>
              <a:gd name="adj" fmla="val 25000"/>
              <a:gd name="vf" fmla="val 115470"/>
            </a:avLst>
          </a:prstGeom>
          <a:solidFill>
            <a:srgbClr val="10B98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 name="HexInner6"/>
          <p:cNvSpPr/>
          <p:nvPr/>
        </p:nvSpPr>
        <p:spPr>
          <a:xfrm>
            <a:off x="8921520" y="2414160"/>
            <a:ext cx="1206720" cy="1206720"/>
          </a:xfrm>
          <a:prstGeom prst="hexagon">
            <a:avLst>
              <a:gd name="adj" fmla="val 25000"/>
              <a:gd name="vf" fmla="val 115470"/>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 name="HexNum6"/>
          <p:cNvSpPr/>
          <p:nvPr/>
        </p:nvSpPr>
        <p:spPr>
          <a:xfrm>
            <a:off x="8884800" y="2377440"/>
            <a:ext cx="1279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10B981"/>
                </a:solidFill>
                <a:latin typeface="Trebuchet MS"/>
              </a:rPr>
              <a:t>6</a:t>
            </a:r>
            <a:endParaRPr lang="en-US" sz="4400" b="0" strike="noStrike" spc="-1">
              <a:solidFill>
                <a:srgbClr val="FFFFFF"/>
              </a:solidFill>
              <a:latin typeface="Arial"/>
            </a:endParaRPr>
          </a:p>
        </p:txBody>
      </p:sp>
      <p:sp>
        <p:nvSpPr>
          <p:cNvPr id="45" name="IconBadge6"/>
          <p:cNvSpPr/>
          <p:nvPr/>
        </p:nvSpPr>
        <p:spPr>
          <a:xfrm>
            <a:off x="9781200" y="3273480"/>
            <a:ext cx="365400" cy="365400"/>
          </a:xfrm>
          <a:prstGeom prst="roundRect">
            <a:avLst>
              <a:gd name="adj" fmla="val 8000"/>
            </a:avLst>
          </a:prstGeom>
          <a:solidFill>
            <a:srgbClr val="10B981"/>
          </a:solidFill>
          <a:ln w="15875">
            <a:solidFill>
              <a:srgbClr val="FFFF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 name="IconText6"/>
          <p:cNvSpPr/>
          <p:nvPr/>
        </p:nvSpPr>
        <p:spPr>
          <a:xfrm>
            <a:off x="9781200" y="327348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Segoe UI Symbol"/>
              </a:rPr>
              <a:t>✚</a:t>
            </a:r>
            <a:endParaRPr lang="en-US" sz="1400" b="0" strike="noStrike" spc="-1">
              <a:solidFill>
                <a:srgbClr val="FFFFFF"/>
              </a:solidFill>
              <a:latin typeface="Arial"/>
            </a:endParaRPr>
          </a:p>
        </p:txBody>
      </p:sp>
      <p:sp>
        <p:nvSpPr>
          <p:cNvPr id="47" name="HeroName6"/>
          <p:cNvSpPr/>
          <p:nvPr/>
        </p:nvSpPr>
        <p:spPr>
          <a:xfrm>
            <a:off x="8793360" y="3749040"/>
            <a:ext cx="14626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Trebuchet MS"/>
              </a:rPr>
              <a:t>LLM Guard</a:t>
            </a:r>
            <a:endParaRPr lang="en-US" sz="1200" b="0" strike="noStrike" spc="-1">
              <a:solidFill>
                <a:srgbClr val="FFFFFF"/>
              </a:solidFill>
              <a:latin typeface="Arial"/>
            </a:endParaRPr>
          </a:p>
        </p:txBody>
      </p:sp>
      <p:sp>
        <p:nvSpPr>
          <p:cNvPr id="48" name="HeroRole6"/>
          <p:cNvSpPr/>
          <p:nvPr/>
        </p:nvSpPr>
        <p:spPr>
          <a:xfrm>
            <a:off x="8793360" y="4023360"/>
            <a:ext cx="14626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10B981"/>
                </a:solidFill>
                <a:latin typeface="Trebuchet MS"/>
              </a:rPr>
              <a:t>STRATEGIST</a:t>
            </a:r>
            <a:endParaRPr lang="en-US" sz="900" b="0" strike="noStrike" spc="-1">
              <a:solidFill>
                <a:srgbClr val="FFFFFF"/>
              </a:solidFill>
              <a:latin typeface="Arial"/>
            </a:endParaRPr>
          </a:p>
        </p:txBody>
      </p:sp>
      <p:sp>
        <p:nvSpPr>
          <p:cNvPr id="49" name="UltBg"/>
          <p:cNvSpPr/>
          <p:nvPr/>
        </p:nvSpPr>
        <p:spPr>
          <a:xfrm>
            <a:off x="2895480" y="4480560"/>
            <a:ext cx="6400440" cy="365400"/>
          </a:xfrm>
          <a:prstGeom prst="roundRect">
            <a:avLst>
              <a:gd name="adj" fmla="val 8000"/>
            </a:avLst>
          </a:prstGeom>
          <a:solidFill>
            <a:srgbClr val="0A0A0A"/>
          </a:solidFill>
          <a:ln w="22225">
            <a:solidFill>
              <a:srgbClr val="FFC727"/>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 name="UltCharge"/>
          <p:cNvSpPr/>
          <p:nvPr/>
        </p:nvSpPr>
        <p:spPr>
          <a:xfrm>
            <a:off x="2913840" y="4498920"/>
            <a:ext cx="5312160" cy="328680"/>
          </a:xfrm>
          <a:prstGeom prst="roundRect">
            <a:avLst>
              <a:gd name="adj" fmla="val 8000"/>
            </a:avLst>
          </a:prstGeom>
          <a:solidFill>
            <a:srgbClr val="FFC72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 name="UltText"/>
          <p:cNvSpPr/>
          <p:nvPr/>
        </p:nvSpPr>
        <p:spPr>
          <a:xfrm>
            <a:off x="2895480" y="4480560"/>
            <a:ext cx="64004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0A0A0A"/>
                </a:solidFill>
                <a:latin typeface="Trebuchet MS"/>
              </a:rPr>
              <a:t>⚡  ULTIMATE  READY  :  ASSEMBLE  THE  PIPELINE  ⚡</a:t>
            </a:r>
            <a:endParaRPr lang="en-US" sz="1300" b="0" strike="noStrike" spc="-1">
              <a:solidFill>
                <a:srgbClr val="FFFFFF"/>
              </a:solidFill>
              <a:latin typeface="Arial"/>
            </a:endParaRPr>
          </a:p>
        </p:txBody>
      </p:sp>
      <p:sp>
        <p:nvSpPr>
          <p:cNvPr id="52" name="PowBurst"/>
          <p:cNvSpPr/>
          <p:nvPr/>
        </p:nvSpPr>
        <p:spPr>
          <a:xfrm>
            <a:off x="228600" y="91440"/>
            <a:ext cx="731160" cy="548280"/>
          </a:xfrm>
          <a:prstGeom prst="irregularSeal2">
            <a:avLst/>
          </a:prstGeom>
          <a:solidFill>
            <a:srgbClr val="FFC727"/>
          </a:solidFill>
          <a:ln w="2222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 name="PowText"/>
          <p:cNvSpPr/>
          <p:nvPr/>
        </p:nvSpPr>
        <p:spPr>
          <a:xfrm>
            <a:off x="228600" y="91440"/>
            <a:ext cx="7311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0A0A0A"/>
                </a:solidFill>
                <a:latin typeface="Trebuchet MS"/>
              </a:rPr>
              <a:t>POW!</a:t>
            </a:r>
            <a:endParaRPr lang="en-US" sz="2000" b="0" strike="noStrike" spc="-1">
              <a:solidFill>
                <a:srgbClr val="FFFFFF"/>
              </a:solidFill>
              <a:latin typeface="Arial"/>
            </a:endParaRPr>
          </a:p>
        </p:txBody>
      </p:sp>
      <p:sp>
        <p:nvSpPr>
          <p:cNvPr id="54" name="ZapBurst"/>
          <p:cNvSpPr/>
          <p:nvPr/>
        </p:nvSpPr>
        <p:spPr>
          <a:xfrm>
            <a:off x="11232000" y="91440"/>
            <a:ext cx="731160" cy="548280"/>
          </a:xfrm>
          <a:prstGeom prst="irregularSeal2">
            <a:avLst/>
          </a:prstGeom>
          <a:solidFill>
            <a:srgbClr val="00E5FF"/>
          </a:solidFill>
          <a:ln w="2222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 name="ZapText"/>
          <p:cNvSpPr/>
          <p:nvPr/>
        </p:nvSpPr>
        <p:spPr>
          <a:xfrm>
            <a:off x="11232000" y="91440"/>
            <a:ext cx="73116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0A0A0A"/>
                </a:solidFill>
                <a:latin typeface="Trebuchet MS"/>
              </a:rPr>
              <a:t>ZAP!</a:t>
            </a:r>
            <a:endParaRPr lang="en-US" sz="2000" b="0" strike="noStrike" spc="-1">
              <a:solidFill>
                <a:srgbClr val="FFFFFF"/>
              </a:solidFill>
              <a:latin typeface="Arial"/>
            </a:endParaRPr>
          </a:p>
        </p:txBody>
      </p:sp>
      <p:sp>
        <p:nvSpPr>
          <p:cNvPr id="56" name="FooterBar"/>
          <p:cNvSpPr/>
          <p:nvPr/>
        </p:nvSpPr>
        <p:spPr>
          <a:xfrm>
            <a:off x="0" y="6583680"/>
            <a:ext cx="12191760" cy="27396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 name="FooterText"/>
          <p:cNvSpPr/>
          <p:nvPr/>
        </p:nvSpPr>
        <p:spPr>
          <a:xfrm>
            <a:off x="0" y="6583680"/>
            <a:ext cx="12191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FFC727"/>
                </a:solidFill>
                <a:latin typeface="Calibri"/>
              </a:rPr>
              <a:t>MATCH:  Michael Forrester  ·  Accenture  ·  LLMday Austin  ·  May 12, 2026</a:t>
            </a:r>
            <a:endParaRPr lang="en-US" sz="900" b="0" strike="noStrike" spc="-1">
              <a:solidFill>
                <a:srgbClr val="FFFFFF"/>
              </a:solidFill>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Bg"/>
          <p:cNvSpPr/>
          <p:nvPr/>
        </p:nvSpPr>
        <p:spPr>
          <a:xfrm>
            <a:off x="0" y="0"/>
            <a:ext cx="12191760" cy="6857640"/>
          </a:xfrm>
          <a:prstGeom prst="rect">
            <a:avLst/>
          </a:prstGeom>
          <a:solidFill>
            <a:srgbClr val="FAF3D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 name="LeafTL"/>
          <p:cNvSpPr/>
          <p:nvPr/>
        </p:nvSpPr>
        <p:spPr>
          <a:xfrm>
            <a:off x="91440" y="91440"/>
            <a:ext cx="9140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0" strike="noStrike" spc="-1">
                <a:solidFill>
                  <a:srgbClr val="7BAE7F"/>
                </a:solidFill>
                <a:latin typeface="Segoe UI Emoji"/>
              </a:rPr>
              <a:t>🍃  🌸  ✨</a:t>
            </a:r>
            <a:endParaRPr lang="en-US" sz="2200" b="0" strike="noStrike" spc="-1">
              <a:solidFill>
                <a:srgbClr val="000000"/>
              </a:solidFill>
              <a:latin typeface="Arial"/>
            </a:endParaRPr>
          </a:p>
        </p:txBody>
      </p:sp>
      <p:sp>
        <p:nvSpPr>
          <p:cNvPr id="2" name="LeafTR"/>
          <p:cNvSpPr/>
          <p:nvPr/>
        </p:nvSpPr>
        <p:spPr>
          <a:xfrm>
            <a:off x="11186280" y="91440"/>
            <a:ext cx="9140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2200" b="0" strike="noStrike" spc="-1">
                <a:solidFill>
                  <a:srgbClr val="7BAE7F"/>
                </a:solidFill>
                <a:latin typeface="Segoe UI Emoji"/>
              </a:rPr>
              <a:t>✨  🌸  🍃</a:t>
            </a:r>
            <a:endParaRPr lang="en-US" sz="2200" b="0" strike="noStrike" spc="-1">
              <a:solidFill>
                <a:srgbClr val="000000"/>
              </a:solidFill>
              <a:latin typeface="Arial"/>
            </a:endParaRPr>
          </a:p>
        </p:txBody>
      </p:sp>
      <p:sp>
        <p:nvSpPr>
          <p:cNvPr id="3" name="LeafBL"/>
          <p:cNvSpPr/>
          <p:nvPr/>
        </p:nvSpPr>
        <p:spPr>
          <a:xfrm>
            <a:off x="91440" y="6217920"/>
            <a:ext cx="9140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0" strike="noStrike" spc="-1">
                <a:solidFill>
                  <a:srgbClr val="7BAE7F"/>
                </a:solidFill>
                <a:latin typeface="Segoe UI Emoji"/>
              </a:rPr>
              <a:t>✨  🌿</a:t>
            </a:r>
            <a:endParaRPr lang="en-US" sz="2200" b="0" strike="noStrike" spc="-1">
              <a:solidFill>
                <a:srgbClr val="000000"/>
              </a:solidFill>
              <a:latin typeface="Arial"/>
            </a:endParaRPr>
          </a:p>
        </p:txBody>
      </p:sp>
      <p:sp>
        <p:nvSpPr>
          <p:cNvPr id="4" name="LeafBR"/>
          <p:cNvSpPr/>
          <p:nvPr/>
        </p:nvSpPr>
        <p:spPr>
          <a:xfrm>
            <a:off x="11186280" y="6217920"/>
            <a:ext cx="9140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2200" b="0" strike="noStrike" spc="-1">
                <a:solidFill>
                  <a:srgbClr val="7BAE7F"/>
                </a:solidFill>
                <a:latin typeface="Segoe UI Emoji"/>
              </a:rPr>
              <a:t>🌿  ✨</a:t>
            </a:r>
            <a:endParaRPr lang="en-US" sz="2200" b="0" strike="noStrike" spc="-1">
              <a:solidFill>
                <a:srgbClr val="000000"/>
              </a:solidFill>
              <a:latin typeface="Arial"/>
            </a:endParaRPr>
          </a:p>
        </p:txBody>
      </p:sp>
      <p:sp>
        <p:nvSpPr>
          <p:cNvPr id="5" name="Banner"/>
          <p:cNvSpPr/>
          <p:nvPr/>
        </p:nvSpPr>
        <p:spPr>
          <a:xfrm>
            <a:off x="914400" y="274320"/>
            <a:ext cx="10362960" cy="639720"/>
          </a:xfrm>
          <a:prstGeom prst="roundRect">
            <a:avLst>
              <a:gd name="adj" fmla="val 8000"/>
            </a:avLst>
          </a:prstGeom>
          <a:solidFill>
            <a:srgbClr val="7BAE7F"/>
          </a:solidFill>
          <a:ln w="31750">
            <a:solidFill>
              <a:srgbClr val="3A6B3E"/>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 name="BannerText"/>
          <p:cNvSpPr/>
          <p:nvPr/>
        </p:nvSpPr>
        <p:spPr>
          <a:xfrm>
            <a:off x="914400" y="274320"/>
            <a:ext cx="103629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FFFFFF"/>
                </a:solidFill>
                <a:latin typeface="Trebuchet MS"/>
              </a:rPr>
              <a:t>🌸   T O D A Y ' S   I S L A N D   A N N O U N C E M E N T   🌸</a:t>
            </a:r>
            <a:endParaRPr lang="en-US" sz="1800" b="0" strike="noStrike" spc="-1">
              <a:solidFill>
                <a:srgbClr val="000000"/>
              </a:solidFill>
              <a:latin typeface="Arial"/>
            </a:endParaRPr>
          </a:p>
        </p:txBody>
      </p:sp>
      <p:sp>
        <p:nvSpPr>
          <p:cNvPr id="7" name="TitleCard"/>
          <p:cNvSpPr/>
          <p:nvPr/>
        </p:nvSpPr>
        <p:spPr>
          <a:xfrm>
            <a:off x="457200" y="1188720"/>
            <a:ext cx="11277360" cy="914040"/>
          </a:xfrm>
          <a:prstGeom prst="roundRect">
            <a:avLst>
              <a:gd name="adj" fmla="val 8000"/>
            </a:avLst>
          </a:prstGeom>
          <a:solidFill>
            <a:srgbClr val="FFFFFF"/>
          </a:solidFill>
          <a:ln w="31750">
            <a:solidFill>
              <a:srgbClr val="B5E6B7"/>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 name="TitleText"/>
          <p:cNvSpPr/>
          <p:nvPr/>
        </p:nvSpPr>
        <p:spPr>
          <a:xfrm>
            <a:off x="457200" y="1188720"/>
            <a:ext cx="112773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200" b="1" strike="noStrike" spc="-1">
                <a:solidFill>
                  <a:srgbClr val="5D4037"/>
                </a:solidFill>
                <a:latin typeface="Trebuchet MS"/>
              </a:rPr>
              <a:t>Your MLOps Pipeline Is Your Agentic AI Guardrail</a:t>
            </a:r>
            <a:endParaRPr lang="en-US" sz="3200" b="0" strike="noStrike" spc="-1">
              <a:solidFill>
                <a:srgbClr val="000000"/>
              </a:solidFill>
              <a:latin typeface="Arial"/>
            </a:endParaRPr>
          </a:p>
          <a:p>
            <a:pPr algn="ctr" defTabSz="914400">
              <a:lnSpc>
                <a:spcPct val="100000"/>
              </a:lnSpc>
              <a:spcBef>
                <a:spcPts val="300"/>
              </a:spcBef>
              <a:tabLst>
                <a:tab pos="0" algn="l"/>
              </a:tabLst>
            </a:pPr>
            <a:r>
              <a:rPr lang="en-US" sz="1400" b="0" i="1" strike="noStrike" spc="-1">
                <a:solidFill>
                  <a:srgbClr val="7BAE7F"/>
                </a:solidFill>
                <a:latin typeface="Calibri"/>
              </a:rPr>
              <a:t>♪  Nook Inc. Internal Developer Platform  ♪</a:t>
            </a:r>
            <a:endParaRPr lang="en-US" sz="1400" b="0" strike="noStrike" spc="-1">
              <a:solidFill>
                <a:srgbClr val="000000"/>
              </a:solidFill>
              <a:latin typeface="Arial"/>
            </a:endParaRPr>
          </a:p>
        </p:txBody>
      </p:sp>
      <p:sp>
        <p:nvSpPr>
          <p:cNvPr id="9" name="SpeechBubble"/>
          <p:cNvSpPr/>
          <p:nvPr/>
        </p:nvSpPr>
        <p:spPr>
          <a:xfrm>
            <a:off x="457200" y="2468880"/>
            <a:ext cx="7223400" cy="2102760"/>
          </a:xfrm>
          <a:prstGeom prst="roundRect">
            <a:avLst>
              <a:gd name="adj" fmla="val 8000"/>
            </a:avLst>
          </a:prstGeom>
          <a:solidFill>
            <a:srgbClr val="FFFFFF"/>
          </a:solidFill>
          <a:ln w="31750">
            <a:solidFill>
              <a:srgbClr val="FFB89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 name="SpeakerTag"/>
          <p:cNvSpPr/>
          <p:nvPr/>
        </p:nvSpPr>
        <p:spPr>
          <a:xfrm>
            <a:off x="731520" y="2286000"/>
            <a:ext cx="2285640" cy="365400"/>
          </a:xfrm>
          <a:prstGeom prst="roundRect">
            <a:avLst>
              <a:gd name="adj" fmla="val 8000"/>
            </a:avLst>
          </a:prstGeom>
          <a:solidFill>
            <a:srgbClr val="FFB89A"/>
          </a:solidFill>
          <a:ln w="15875">
            <a:solidFill>
              <a:srgbClr val="5D4037"/>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 name="SpeakerText"/>
          <p:cNvSpPr/>
          <p:nvPr/>
        </p:nvSpPr>
        <p:spPr>
          <a:xfrm>
            <a:off x="731520" y="2286000"/>
            <a:ext cx="22856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Trebuchet MS"/>
              </a:rPr>
              <a:t>🦝   TOM  TANUKI  ★  CEO   🦝</a:t>
            </a:r>
            <a:endParaRPr lang="en-US" sz="1200" b="0" strike="noStrike" spc="-1">
              <a:solidFill>
                <a:srgbClr val="000000"/>
              </a:solidFill>
              <a:latin typeface="Arial"/>
            </a:endParaRPr>
          </a:p>
        </p:txBody>
      </p:sp>
      <p:sp>
        <p:nvSpPr>
          <p:cNvPr id="12" name="SpeechText"/>
          <p:cNvSpPr/>
          <p:nvPr/>
        </p:nvSpPr>
        <p:spPr>
          <a:xfrm>
            <a:off x="822960" y="2743200"/>
            <a:ext cx="6491880" cy="1645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700" b="1" strike="noStrike" spc="-1">
                <a:solidFill>
                  <a:srgbClr val="5D4037"/>
                </a:solidFill>
                <a:latin typeface="Trebuchet MS"/>
              </a:rPr>
              <a:t>Hmm hmm!  Your MLOps pipeline already has six DIY recipes for keeping your cluster safe and sound, yes yes!  🌟</a:t>
            </a:r>
            <a:endParaRPr lang="en-US" sz="1700" b="0" strike="noStrike" spc="-1">
              <a:solidFill>
                <a:srgbClr val="000000"/>
              </a:solidFill>
              <a:latin typeface="Arial"/>
            </a:endParaRPr>
          </a:p>
          <a:p>
            <a:pPr defTabSz="914400">
              <a:lnSpc>
                <a:spcPct val="100000"/>
              </a:lnSpc>
              <a:spcBef>
                <a:spcPts val="400"/>
              </a:spcBef>
              <a:tabLst>
                <a:tab pos="0" algn="l"/>
              </a:tabLst>
            </a:pPr>
            <a:r>
              <a:rPr lang="en-US" sz="1500" b="0" strike="noStrike" spc="-1">
                <a:solidFill>
                  <a:srgbClr val="5D4037"/>
                </a:solidFill>
                <a:latin typeface="Calibri"/>
              </a:rPr>
              <a:t>Five recipes are ready to craft today.  The sixth one… how about we save it for tomorrow’s island, ok ok?</a:t>
            </a:r>
            <a:endParaRPr lang="en-US" sz="1500" b="0" strike="noStrike" spc="-1">
              <a:solidFill>
                <a:srgbClr val="000000"/>
              </a:solidFill>
              <a:latin typeface="Arial"/>
            </a:endParaRPr>
          </a:p>
          <a:p>
            <a:pPr defTabSz="914400">
              <a:lnSpc>
                <a:spcPct val="100000"/>
              </a:lnSpc>
              <a:spcBef>
                <a:spcPts val="400"/>
              </a:spcBef>
              <a:tabLst>
                <a:tab pos="0" algn="l"/>
              </a:tabLst>
            </a:pPr>
            <a:r>
              <a:rPr lang="en-US" sz="1400" b="0" i="1" strike="noStrike" spc="-1">
                <a:solidFill>
                  <a:srgbClr val="7BAE7F"/>
                </a:solidFill>
                <a:latin typeface="Calibri"/>
              </a:rPr>
              <a:t>Take your time, friend.  Liberty (I mean, admission control) doesn’t enforce itself!  ♪</a:t>
            </a:r>
            <a:endParaRPr lang="en-US" sz="1400" b="0" strike="noStrike" spc="-1">
              <a:solidFill>
                <a:srgbClr val="000000"/>
              </a:solidFill>
              <a:latin typeface="Arial"/>
            </a:endParaRPr>
          </a:p>
        </p:txBody>
      </p:sp>
      <p:sp>
        <p:nvSpPr>
          <p:cNvPr id="13" name="CharCard"/>
          <p:cNvSpPr/>
          <p:nvPr/>
        </p:nvSpPr>
        <p:spPr>
          <a:xfrm>
            <a:off x="7955280" y="2377440"/>
            <a:ext cx="3779280" cy="2285640"/>
          </a:xfrm>
          <a:prstGeom prst="roundRect">
            <a:avLst>
              <a:gd name="adj" fmla="val 8000"/>
            </a:avLst>
          </a:prstGeom>
          <a:solidFill>
            <a:srgbClr val="BFE3EF"/>
          </a:solidFill>
          <a:ln w="31750">
            <a:solidFill>
              <a:srgbClr val="7BAE7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 name="TanukiBody"/>
          <p:cNvSpPr/>
          <p:nvPr/>
        </p:nvSpPr>
        <p:spPr>
          <a:xfrm>
            <a:off x="8321040" y="3566160"/>
            <a:ext cx="3047760" cy="822600"/>
          </a:xfrm>
          <a:prstGeom prst="roundRect">
            <a:avLst>
              <a:gd name="adj" fmla="val 8000"/>
            </a:avLst>
          </a:prstGeom>
          <a:solidFill>
            <a:srgbClr val="C9986B"/>
          </a:solidFill>
          <a:ln w="15875">
            <a:solidFill>
              <a:srgbClr val="5D4037"/>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 name="TanukiBelly"/>
          <p:cNvSpPr/>
          <p:nvPr/>
        </p:nvSpPr>
        <p:spPr>
          <a:xfrm>
            <a:off x="8458200" y="3657600"/>
            <a:ext cx="2773440" cy="639720"/>
          </a:xfrm>
          <a:prstGeom prst="roundRect">
            <a:avLst>
              <a:gd name="adj" fmla="val 8000"/>
            </a:avLst>
          </a:prstGeom>
          <a:solidFill>
            <a:srgbClr val="EDD7B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 name="TanukiHead"/>
          <p:cNvSpPr/>
          <p:nvPr/>
        </p:nvSpPr>
        <p:spPr>
          <a:xfrm>
            <a:off x="9296280" y="2834640"/>
            <a:ext cx="1096920" cy="914040"/>
          </a:xfrm>
          <a:prstGeom prst="roundRect">
            <a:avLst>
              <a:gd name="adj" fmla="val 8000"/>
            </a:avLst>
          </a:prstGeom>
          <a:solidFill>
            <a:srgbClr val="C9986B"/>
          </a:solidFill>
          <a:ln w="15875">
            <a:solidFill>
              <a:srgbClr val="5D4037"/>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 name="EarL"/>
          <p:cNvSpPr/>
          <p:nvPr/>
        </p:nvSpPr>
        <p:spPr>
          <a:xfrm>
            <a:off x="9387720" y="2651760"/>
            <a:ext cx="273960" cy="365400"/>
          </a:xfrm>
          <a:prstGeom prst="roundRect">
            <a:avLst>
              <a:gd name="adj" fmla="val 8000"/>
            </a:avLst>
          </a:prstGeom>
          <a:solidFill>
            <a:srgbClr val="C9986B"/>
          </a:solidFill>
          <a:ln w="12700">
            <a:solidFill>
              <a:srgbClr val="5D4037"/>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 name="EarR"/>
          <p:cNvSpPr/>
          <p:nvPr/>
        </p:nvSpPr>
        <p:spPr>
          <a:xfrm>
            <a:off x="10027800" y="2651760"/>
            <a:ext cx="273960" cy="365400"/>
          </a:xfrm>
          <a:prstGeom prst="roundRect">
            <a:avLst>
              <a:gd name="adj" fmla="val 8000"/>
            </a:avLst>
          </a:prstGeom>
          <a:solidFill>
            <a:srgbClr val="C9986B"/>
          </a:solidFill>
          <a:ln w="12700">
            <a:solidFill>
              <a:srgbClr val="5D4037"/>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 name="TanukiMask"/>
          <p:cNvSpPr/>
          <p:nvPr/>
        </p:nvSpPr>
        <p:spPr>
          <a:xfrm>
            <a:off x="9342000" y="3108960"/>
            <a:ext cx="1005480" cy="273960"/>
          </a:xfrm>
          <a:prstGeom prst="roundRect">
            <a:avLst>
              <a:gd name="adj" fmla="val 8000"/>
            </a:avLst>
          </a:prstGeom>
          <a:solidFill>
            <a:srgbClr val="5D40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 name="EyeL"/>
          <p:cNvSpPr/>
          <p:nvPr/>
        </p:nvSpPr>
        <p:spPr>
          <a:xfrm>
            <a:off x="9479160" y="3200400"/>
            <a:ext cx="91080" cy="91080"/>
          </a:xfrm>
          <a:prstGeom prst="roundRect">
            <a:avLst>
              <a:gd name="adj" fmla="val 8000"/>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 name="EyeR"/>
          <p:cNvSpPr/>
          <p:nvPr/>
        </p:nvSpPr>
        <p:spPr>
          <a:xfrm>
            <a:off x="10119240" y="3200400"/>
            <a:ext cx="91080" cy="91080"/>
          </a:xfrm>
          <a:prstGeom prst="roundRect">
            <a:avLst>
              <a:gd name="adj" fmla="val 8000"/>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 name="Smile"/>
          <p:cNvSpPr/>
          <p:nvPr/>
        </p:nvSpPr>
        <p:spPr>
          <a:xfrm>
            <a:off x="9707760" y="3456360"/>
            <a:ext cx="273960" cy="72720"/>
          </a:xfrm>
          <a:prstGeom prst="roundRect">
            <a:avLst>
              <a:gd name="adj" fmla="val 8000"/>
            </a:avLst>
          </a:prstGeom>
          <a:solidFill>
            <a:srgbClr val="FFB89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 name="Bell1"/>
          <p:cNvSpPr/>
          <p:nvPr/>
        </p:nvSpPr>
        <p:spPr>
          <a:xfrm>
            <a:off x="8092440" y="246888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0" strike="noStrike" spc="-1">
                <a:solidFill>
                  <a:srgbClr val="0F172A"/>
                </a:solidFill>
                <a:latin typeface="Segoe UI Emoji"/>
              </a:rPr>
              <a:t>🔔</a:t>
            </a:r>
            <a:endParaRPr lang="en-US" sz="2000" b="0" strike="noStrike" spc="-1">
              <a:solidFill>
                <a:srgbClr val="000000"/>
              </a:solidFill>
              <a:latin typeface="Arial"/>
            </a:endParaRPr>
          </a:p>
        </p:txBody>
      </p:sp>
      <p:sp>
        <p:nvSpPr>
          <p:cNvPr id="24" name="Star1"/>
          <p:cNvSpPr/>
          <p:nvPr/>
        </p:nvSpPr>
        <p:spPr>
          <a:xfrm>
            <a:off x="11232000" y="2468880"/>
            <a:ext cx="36540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0" strike="noStrike" spc="-1">
                <a:solidFill>
                  <a:srgbClr val="0F172A"/>
                </a:solidFill>
                <a:latin typeface="Segoe UI Emoji"/>
              </a:rPr>
              <a:t>⭐</a:t>
            </a:r>
            <a:endParaRPr lang="en-US" sz="2000" b="0" strike="noStrike" spc="-1">
              <a:solidFill>
                <a:srgbClr val="000000"/>
              </a:solidFill>
              <a:latin typeface="Arial"/>
            </a:endParaRPr>
          </a:p>
        </p:txBody>
      </p:sp>
      <p:sp>
        <p:nvSpPr>
          <p:cNvPr id="25" name="CharCaption"/>
          <p:cNvSpPr/>
          <p:nvPr/>
        </p:nvSpPr>
        <p:spPr>
          <a:xfrm>
            <a:off x="7955280" y="4389120"/>
            <a:ext cx="377928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i="1" strike="noStrike" spc="-1">
                <a:solidFill>
                  <a:srgbClr val="5D4037"/>
                </a:solidFill>
                <a:latin typeface="Calibri"/>
              </a:rPr>
              <a:t>♪  Senior Compliance Tanuki  ♪</a:t>
            </a:r>
            <a:endParaRPr lang="en-US" sz="900" b="0" strike="noStrike" spc="-1">
              <a:solidFill>
                <a:srgbClr val="000000"/>
              </a:solidFill>
              <a:latin typeface="Arial"/>
            </a:endParaRPr>
          </a:p>
        </p:txBody>
      </p:sp>
      <p:sp>
        <p:nvSpPr>
          <p:cNvPr id="26" name="DIY1"/>
          <p:cNvSpPr/>
          <p:nvPr/>
        </p:nvSpPr>
        <p:spPr>
          <a:xfrm>
            <a:off x="457200" y="5760720"/>
            <a:ext cx="1802880" cy="731160"/>
          </a:xfrm>
          <a:prstGeom prst="roundRect">
            <a:avLst>
              <a:gd name="adj" fmla="val 8000"/>
            </a:avLst>
          </a:prstGeom>
          <a:solidFill>
            <a:srgbClr val="B5E6B7"/>
          </a:solidFill>
          <a:ln w="22225">
            <a:solidFill>
              <a:srgbClr val="7BAE7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 name="DIYText1"/>
          <p:cNvSpPr/>
          <p:nvPr/>
        </p:nvSpPr>
        <p:spPr>
          <a:xfrm>
            <a:off x="457200" y="5760720"/>
            <a:ext cx="18028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5D4037"/>
                </a:solidFill>
                <a:latin typeface="Trebuchet MS"/>
              </a:rPr>
              <a:t>DIY  #1</a:t>
            </a:r>
            <a:endParaRPr lang="en-US" sz="1000" b="0" strike="noStrike" spc="-1">
              <a:solidFill>
                <a:srgbClr val="000000"/>
              </a:solidFill>
              <a:latin typeface="Arial"/>
            </a:endParaRPr>
          </a:p>
          <a:p>
            <a:pPr algn="ctr" defTabSz="914400">
              <a:lnSpc>
                <a:spcPct val="100000"/>
              </a:lnSpc>
              <a:spcBef>
                <a:spcPts val="99"/>
              </a:spcBef>
              <a:tabLst>
                <a:tab pos="0" algn="l"/>
              </a:tabLst>
            </a:pPr>
            <a:r>
              <a:rPr lang="en-US" sz="1300" b="1" strike="noStrike" spc="-1">
                <a:solidFill>
                  <a:srgbClr val="5D4037"/>
                </a:solidFill>
                <a:latin typeface="Trebuchet MS"/>
              </a:rPr>
              <a:t>PreToolUse</a:t>
            </a:r>
            <a:endParaRPr lang="en-US" sz="1300" b="0" strike="noStrike" spc="-1">
              <a:solidFill>
                <a:srgbClr val="000000"/>
              </a:solidFill>
              <a:latin typeface="Arial"/>
            </a:endParaRPr>
          </a:p>
          <a:p>
            <a:pPr algn="ctr" defTabSz="914400">
              <a:lnSpc>
                <a:spcPct val="100000"/>
              </a:lnSpc>
              <a:spcBef>
                <a:spcPts val="99"/>
              </a:spcBef>
              <a:tabLst>
                <a:tab pos="0" algn="l"/>
              </a:tabLst>
            </a:pPr>
            <a:r>
              <a:rPr lang="en-US" sz="900" b="1" strike="noStrike" spc="-1">
                <a:solidFill>
                  <a:srgbClr val="3A6B3E"/>
                </a:solidFill>
                <a:latin typeface="Calibri"/>
              </a:rPr>
              <a:t>★★★ LIVE</a:t>
            </a:r>
            <a:endParaRPr lang="en-US" sz="900" b="0" strike="noStrike" spc="-1">
              <a:solidFill>
                <a:srgbClr val="000000"/>
              </a:solidFill>
              <a:latin typeface="Arial"/>
            </a:endParaRPr>
          </a:p>
        </p:txBody>
      </p:sp>
      <p:sp>
        <p:nvSpPr>
          <p:cNvPr id="28" name="DIY2"/>
          <p:cNvSpPr/>
          <p:nvPr/>
        </p:nvSpPr>
        <p:spPr>
          <a:xfrm>
            <a:off x="2351880" y="5760720"/>
            <a:ext cx="1802880" cy="731160"/>
          </a:xfrm>
          <a:prstGeom prst="roundRect">
            <a:avLst>
              <a:gd name="adj" fmla="val 8000"/>
            </a:avLst>
          </a:prstGeom>
          <a:solidFill>
            <a:srgbClr val="B5E6B7"/>
          </a:solidFill>
          <a:ln w="22225">
            <a:solidFill>
              <a:srgbClr val="7BAE7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 name="DIYText2"/>
          <p:cNvSpPr/>
          <p:nvPr/>
        </p:nvSpPr>
        <p:spPr>
          <a:xfrm>
            <a:off x="2351880" y="5760720"/>
            <a:ext cx="18028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5D4037"/>
                </a:solidFill>
                <a:latin typeface="Trebuchet MS"/>
              </a:rPr>
              <a:t>DIY  #2</a:t>
            </a:r>
            <a:endParaRPr lang="en-US" sz="1000" b="0" strike="noStrike" spc="-1">
              <a:solidFill>
                <a:srgbClr val="000000"/>
              </a:solidFill>
              <a:latin typeface="Arial"/>
            </a:endParaRPr>
          </a:p>
          <a:p>
            <a:pPr algn="ctr" defTabSz="914400">
              <a:lnSpc>
                <a:spcPct val="100000"/>
              </a:lnSpc>
              <a:spcBef>
                <a:spcPts val="99"/>
              </a:spcBef>
              <a:tabLst>
                <a:tab pos="0" algn="l"/>
              </a:tabLst>
            </a:pPr>
            <a:r>
              <a:rPr lang="en-US" sz="1300" b="1" strike="noStrike" spc="-1">
                <a:solidFill>
                  <a:srgbClr val="5D4037"/>
                </a:solidFill>
                <a:latin typeface="Trebuchet MS"/>
              </a:rPr>
              <a:t>Git pre-commit</a:t>
            </a:r>
            <a:endParaRPr lang="en-US" sz="1300" b="0" strike="noStrike" spc="-1">
              <a:solidFill>
                <a:srgbClr val="000000"/>
              </a:solidFill>
              <a:latin typeface="Arial"/>
            </a:endParaRPr>
          </a:p>
          <a:p>
            <a:pPr algn="ctr" defTabSz="914400">
              <a:lnSpc>
                <a:spcPct val="100000"/>
              </a:lnSpc>
              <a:spcBef>
                <a:spcPts val="99"/>
              </a:spcBef>
              <a:tabLst>
                <a:tab pos="0" algn="l"/>
              </a:tabLst>
            </a:pPr>
            <a:r>
              <a:rPr lang="en-US" sz="900" b="1" strike="noStrike" spc="-1">
                <a:solidFill>
                  <a:srgbClr val="3A6B3E"/>
                </a:solidFill>
                <a:latin typeface="Calibri"/>
              </a:rPr>
              <a:t>★★★ LIVE</a:t>
            </a:r>
            <a:endParaRPr lang="en-US" sz="900" b="0" strike="noStrike" spc="-1">
              <a:solidFill>
                <a:srgbClr val="000000"/>
              </a:solidFill>
              <a:latin typeface="Arial"/>
            </a:endParaRPr>
          </a:p>
        </p:txBody>
      </p:sp>
      <p:sp>
        <p:nvSpPr>
          <p:cNvPr id="30" name="DIY3"/>
          <p:cNvSpPr/>
          <p:nvPr/>
        </p:nvSpPr>
        <p:spPr>
          <a:xfrm>
            <a:off x="4246920" y="5760720"/>
            <a:ext cx="1802880" cy="731160"/>
          </a:xfrm>
          <a:prstGeom prst="roundRect">
            <a:avLst>
              <a:gd name="adj" fmla="val 8000"/>
            </a:avLst>
          </a:prstGeom>
          <a:solidFill>
            <a:srgbClr val="B5E6B7"/>
          </a:solidFill>
          <a:ln w="22225">
            <a:solidFill>
              <a:srgbClr val="7BAE7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 name="DIYText3"/>
          <p:cNvSpPr/>
          <p:nvPr/>
        </p:nvSpPr>
        <p:spPr>
          <a:xfrm>
            <a:off x="4246920" y="5760720"/>
            <a:ext cx="18028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5D4037"/>
                </a:solidFill>
                <a:latin typeface="Trebuchet MS"/>
              </a:rPr>
              <a:t>DIY  #3</a:t>
            </a:r>
            <a:endParaRPr lang="en-US" sz="1000" b="0" strike="noStrike" spc="-1">
              <a:solidFill>
                <a:srgbClr val="000000"/>
              </a:solidFill>
              <a:latin typeface="Arial"/>
            </a:endParaRPr>
          </a:p>
          <a:p>
            <a:pPr algn="ctr" defTabSz="914400">
              <a:lnSpc>
                <a:spcPct val="100000"/>
              </a:lnSpc>
              <a:spcBef>
                <a:spcPts val="99"/>
              </a:spcBef>
              <a:tabLst>
                <a:tab pos="0" algn="l"/>
              </a:tabLst>
            </a:pPr>
            <a:r>
              <a:rPr lang="en-US" sz="1300" b="1" strike="noStrike" spc="-1">
                <a:solidFill>
                  <a:srgbClr val="5D4037"/>
                </a:solidFill>
                <a:latin typeface="Trebuchet MS"/>
              </a:rPr>
              <a:t>K8s VAP</a:t>
            </a:r>
            <a:endParaRPr lang="en-US" sz="1300" b="0" strike="noStrike" spc="-1">
              <a:solidFill>
                <a:srgbClr val="000000"/>
              </a:solidFill>
              <a:latin typeface="Arial"/>
            </a:endParaRPr>
          </a:p>
          <a:p>
            <a:pPr algn="ctr" defTabSz="914400">
              <a:lnSpc>
                <a:spcPct val="100000"/>
              </a:lnSpc>
              <a:spcBef>
                <a:spcPts val="99"/>
              </a:spcBef>
              <a:tabLst>
                <a:tab pos="0" algn="l"/>
              </a:tabLst>
            </a:pPr>
            <a:r>
              <a:rPr lang="en-US" sz="900" b="1" strike="noStrike" spc="-1">
                <a:solidFill>
                  <a:srgbClr val="3A6B3E"/>
                </a:solidFill>
                <a:latin typeface="Calibri"/>
              </a:rPr>
              <a:t>★★★ LIVE</a:t>
            </a:r>
            <a:endParaRPr lang="en-US" sz="900" b="0" strike="noStrike" spc="-1">
              <a:solidFill>
                <a:srgbClr val="000000"/>
              </a:solidFill>
              <a:latin typeface="Arial"/>
            </a:endParaRPr>
          </a:p>
        </p:txBody>
      </p:sp>
      <p:sp>
        <p:nvSpPr>
          <p:cNvPr id="32" name="DIY4"/>
          <p:cNvSpPr/>
          <p:nvPr/>
        </p:nvSpPr>
        <p:spPr>
          <a:xfrm>
            <a:off x="6141600" y="5760720"/>
            <a:ext cx="1802880" cy="731160"/>
          </a:xfrm>
          <a:prstGeom prst="roundRect">
            <a:avLst>
              <a:gd name="adj" fmla="val 8000"/>
            </a:avLst>
          </a:prstGeom>
          <a:solidFill>
            <a:srgbClr val="B5E6B7"/>
          </a:solidFill>
          <a:ln w="22225">
            <a:solidFill>
              <a:srgbClr val="7BAE7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 name="DIYText4"/>
          <p:cNvSpPr/>
          <p:nvPr/>
        </p:nvSpPr>
        <p:spPr>
          <a:xfrm>
            <a:off x="6141600" y="5760720"/>
            <a:ext cx="18028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5D4037"/>
                </a:solidFill>
                <a:latin typeface="Trebuchet MS"/>
              </a:rPr>
              <a:t>DIY  #4</a:t>
            </a:r>
            <a:endParaRPr lang="en-US" sz="1000" b="0" strike="noStrike" spc="-1">
              <a:solidFill>
                <a:srgbClr val="000000"/>
              </a:solidFill>
              <a:latin typeface="Arial"/>
            </a:endParaRPr>
          </a:p>
          <a:p>
            <a:pPr algn="ctr" defTabSz="914400">
              <a:lnSpc>
                <a:spcPct val="100000"/>
              </a:lnSpc>
              <a:spcBef>
                <a:spcPts val="99"/>
              </a:spcBef>
              <a:tabLst>
                <a:tab pos="0" algn="l"/>
              </a:tabLst>
            </a:pPr>
            <a:r>
              <a:rPr lang="en-US" sz="1300" b="1" strike="noStrike" spc="-1">
                <a:solidFill>
                  <a:srgbClr val="5D4037"/>
                </a:solidFill>
                <a:latin typeface="Trebuchet MS"/>
              </a:rPr>
              <a:t>Falco + Talon</a:t>
            </a:r>
            <a:endParaRPr lang="en-US" sz="1300" b="0" strike="noStrike" spc="-1">
              <a:solidFill>
                <a:srgbClr val="000000"/>
              </a:solidFill>
              <a:latin typeface="Arial"/>
            </a:endParaRPr>
          </a:p>
          <a:p>
            <a:pPr algn="ctr" defTabSz="914400">
              <a:lnSpc>
                <a:spcPct val="100000"/>
              </a:lnSpc>
              <a:spcBef>
                <a:spcPts val="99"/>
              </a:spcBef>
              <a:tabLst>
                <a:tab pos="0" algn="l"/>
              </a:tabLst>
            </a:pPr>
            <a:r>
              <a:rPr lang="en-US" sz="900" b="1" strike="noStrike" spc="-1">
                <a:solidFill>
                  <a:srgbClr val="3A6B3E"/>
                </a:solidFill>
                <a:latin typeface="Calibri"/>
              </a:rPr>
              <a:t>★★★ LIVE</a:t>
            </a:r>
            <a:endParaRPr lang="en-US" sz="900" b="0" strike="noStrike" spc="-1">
              <a:solidFill>
                <a:srgbClr val="000000"/>
              </a:solidFill>
              <a:latin typeface="Arial"/>
            </a:endParaRPr>
          </a:p>
        </p:txBody>
      </p:sp>
      <p:sp>
        <p:nvSpPr>
          <p:cNvPr id="34" name="DIY5"/>
          <p:cNvSpPr/>
          <p:nvPr/>
        </p:nvSpPr>
        <p:spPr>
          <a:xfrm>
            <a:off x="8036640" y="5760720"/>
            <a:ext cx="1802880" cy="731160"/>
          </a:xfrm>
          <a:prstGeom prst="roundRect">
            <a:avLst>
              <a:gd name="adj" fmla="val 8000"/>
            </a:avLst>
          </a:prstGeom>
          <a:solidFill>
            <a:srgbClr val="B5E6B7"/>
          </a:solidFill>
          <a:ln w="22225">
            <a:solidFill>
              <a:srgbClr val="7BAE7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 name="DIYText5"/>
          <p:cNvSpPr/>
          <p:nvPr/>
        </p:nvSpPr>
        <p:spPr>
          <a:xfrm>
            <a:off x="8036640" y="5760720"/>
            <a:ext cx="18028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5D4037"/>
                </a:solidFill>
                <a:latin typeface="Trebuchet MS"/>
              </a:rPr>
              <a:t>DIY  #5</a:t>
            </a:r>
            <a:endParaRPr lang="en-US" sz="1000" b="0" strike="noStrike" spc="-1">
              <a:solidFill>
                <a:srgbClr val="000000"/>
              </a:solidFill>
              <a:latin typeface="Arial"/>
            </a:endParaRPr>
          </a:p>
          <a:p>
            <a:pPr algn="ctr" defTabSz="914400">
              <a:lnSpc>
                <a:spcPct val="100000"/>
              </a:lnSpc>
              <a:spcBef>
                <a:spcPts val="99"/>
              </a:spcBef>
              <a:tabLst>
                <a:tab pos="0" algn="l"/>
              </a:tabLst>
            </a:pPr>
            <a:r>
              <a:rPr lang="en-US" sz="1300" b="1" strike="noStrike" spc="-1">
                <a:solidFill>
                  <a:srgbClr val="5D4037"/>
                </a:solidFill>
                <a:latin typeface="Trebuchet MS"/>
              </a:rPr>
              <a:t>NetworkPolicy</a:t>
            </a:r>
            <a:endParaRPr lang="en-US" sz="1300" b="0" strike="noStrike" spc="-1">
              <a:solidFill>
                <a:srgbClr val="000000"/>
              </a:solidFill>
              <a:latin typeface="Arial"/>
            </a:endParaRPr>
          </a:p>
          <a:p>
            <a:pPr algn="ctr" defTabSz="914400">
              <a:lnSpc>
                <a:spcPct val="100000"/>
              </a:lnSpc>
              <a:spcBef>
                <a:spcPts val="99"/>
              </a:spcBef>
              <a:tabLst>
                <a:tab pos="0" algn="l"/>
              </a:tabLst>
            </a:pPr>
            <a:r>
              <a:rPr lang="en-US" sz="900" b="1" strike="noStrike" spc="-1">
                <a:solidFill>
                  <a:srgbClr val="3A6B3E"/>
                </a:solidFill>
                <a:latin typeface="Calibri"/>
              </a:rPr>
              <a:t>★★★ LIVE</a:t>
            </a:r>
            <a:endParaRPr lang="en-US" sz="900" b="0" strike="noStrike" spc="-1">
              <a:solidFill>
                <a:srgbClr val="000000"/>
              </a:solidFill>
              <a:latin typeface="Arial"/>
            </a:endParaRPr>
          </a:p>
        </p:txBody>
      </p:sp>
      <p:sp>
        <p:nvSpPr>
          <p:cNvPr id="36" name="DIY6"/>
          <p:cNvSpPr/>
          <p:nvPr/>
        </p:nvSpPr>
        <p:spPr>
          <a:xfrm>
            <a:off x="9931320" y="5760720"/>
            <a:ext cx="1802880" cy="731160"/>
          </a:xfrm>
          <a:prstGeom prst="roundRect">
            <a:avLst>
              <a:gd name="adj" fmla="val 8000"/>
            </a:avLst>
          </a:prstGeom>
          <a:solidFill>
            <a:srgbClr val="FFB89A"/>
          </a:solidFill>
          <a:ln w="22225">
            <a:solidFill>
              <a:srgbClr val="5D4037"/>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 name="DIYText6"/>
          <p:cNvSpPr/>
          <p:nvPr/>
        </p:nvSpPr>
        <p:spPr>
          <a:xfrm>
            <a:off x="9931320" y="5760720"/>
            <a:ext cx="180288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1">
                <a:solidFill>
                  <a:srgbClr val="5D4037"/>
                </a:solidFill>
                <a:latin typeface="Trebuchet MS"/>
              </a:rPr>
              <a:t>DIY  #6</a:t>
            </a:r>
            <a:endParaRPr lang="en-US" sz="1000" b="0" strike="noStrike" spc="-1">
              <a:solidFill>
                <a:srgbClr val="000000"/>
              </a:solidFill>
              <a:latin typeface="Arial"/>
            </a:endParaRPr>
          </a:p>
          <a:p>
            <a:pPr algn="ctr" defTabSz="914400">
              <a:lnSpc>
                <a:spcPct val="100000"/>
              </a:lnSpc>
              <a:spcBef>
                <a:spcPts val="99"/>
              </a:spcBef>
              <a:tabLst>
                <a:tab pos="0" algn="l"/>
              </a:tabLst>
            </a:pPr>
            <a:r>
              <a:rPr lang="en-US" sz="1300" b="1" strike="noStrike" spc="-1">
                <a:solidFill>
                  <a:srgbClr val="5D4037"/>
                </a:solidFill>
                <a:latin typeface="Trebuchet MS"/>
              </a:rPr>
              <a:t>LLM Guard</a:t>
            </a:r>
            <a:endParaRPr lang="en-US" sz="1300" b="0" strike="noStrike" spc="-1">
              <a:solidFill>
                <a:srgbClr val="000000"/>
              </a:solidFill>
              <a:latin typeface="Arial"/>
            </a:endParaRPr>
          </a:p>
          <a:p>
            <a:pPr algn="ctr" defTabSz="914400">
              <a:lnSpc>
                <a:spcPct val="100000"/>
              </a:lnSpc>
              <a:spcBef>
                <a:spcPts val="99"/>
              </a:spcBef>
              <a:tabLst>
                <a:tab pos="0" algn="l"/>
              </a:tabLst>
            </a:pPr>
            <a:r>
              <a:rPr lang="en-US" sz="900" b="1" strike="noStrike" spc="-1">
                <a:solidFill>
                  <a:srgbClr val="5D4037"/>
                </a:solidFill>
                <a:latin typeface="Calibri"/>
              </a:rPr>
              <a:t>★★☆ SOON</a:t>
            </a:r>
            <a:endParaRPr lang="en-US" sz="900" b="0" strike="noStrike" spc="-1">
              <a:solidFill>
                <a:srgbClr val="000000"/>
              </a:solidFill>
              <a:latin typeface="Arial"/>
            </a:endParaRPr>
          </a:p>
        </p:txBody>
      </p:sp>
      <p:sp>
        <p:nvSpPr>
          <p:cNvPr id="38" name="ResidentFooter"/>
          <p:cNvSpPr/>
          <p:nvPr/>
        </p:nvSpPr>
        <p:spPr>
          <a:xfrm>
            <a:off x="0" y="6583680"/>
            <a:ext cx="12191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5D4037"/>
                </a:solidFill>
                <a:latin typeface="Calibri"/>
              </a:rPr>
              <a:t>🌸   Resident:  Michael Forrester  ·  Accenture  ·  LLMday Austin  ·  May 12, 2026   🌸</a:t>
            </a:r>
            <a:endParaRPr lang="en-US" sz="900" b="0" strike="noStrike" spc="-1">
              <a:solidFill>
                <a:srgbClr val="000000"/>
              </a:solidFill>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 name="Bg"/>
          <p:cNvSpPr/>
          <p:nvPr/>
        </p:nvSpPr>
        <p:spPr>
          <a:xfrm>
            <a:off x="0" y="0"/>
            <a:ext cx="12191760" cy="6857640"/>
          </a:xfrm>
          <a:prstGeom prst="rect">
            <a:avLst/>
          </a:prstGeom>
          <a:solidFill>
            <a:srgbClr val="D9C5A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3" name="StripeTop"/>
          <p:cNvSpPr/>
          <p:nvPr/>
        </p:nvSpPr>
        <p:spPr>
          <a:xfrm>
            <a:off x="0" y="0"/>
            <a:ext cx="12191760" cy="273960"/>
          </a:xfrm>
          <a:prstGeom prst="rect">
            <a:avLst/>
          </a:prstGeom>
          <a:solidFill>
            <a:srgbClr val="F2BC1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 name="HashT0"/>
          <p:cNvSpPr/>
          <p:nvPr/>
        </p:nvSpPr>
        <p:spPr>
          <a:xfrm rot="1200000">
            <a:off x="-9144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 name="HashT1"/>
          <p:cNvSpPr/>
          <p:nvPr/>
        </p:nvSpPr>
        <p:spPr>
          <a:xfrm rot="1200000">
            <a:off x="31968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 name="HashT2"/>
          <p:cNvSpPr/>
          <p:nvPr/>
        </p:nvSpPr>
        <p:spPr>
          <a:xfrm rot="1200000">
            <a:off x="73116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 name="HashT3"/>
          <p:cNvSpPr/>
          <p:nvPr/>
        </p:nvSpPr>
        <p:spPr>
          <a:xfrm rot="1200000">
            <a:off x="114264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 name="HashT4"/>
          <p:cNvSpPr/>
          <p:nvPr/>
        </p:nvSpPr>
        <p:spPr>
          <a:xfrm rot="1200000">
            <a:off x="155412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 name="HashT5"/>
          <p:cNvSpPr/>
          <p:nvPr/>
        </p:nvSpPr>
        <p:spPr>
          <a:xfrm rot="1200000">
            <a:off x="196560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 name="HashT6"/>
          <p:cNvSpPr/>
          <p:nvPr/>
        </p:nvSpPr>
        <p:spPr>
          <a:xfrm rot="1200000">
            <a:off x="237708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 name="HashT7"/>
          <p:cNvSpPr/>
          <p:nvPr/>
        </p:nvSpPr>
        <p:spPr>
          <a:xfrm rot="1200000">
            <a:off x="278856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 name="HashT8"/>
          <p:cNvSpPr/>
          <p:nvPr/>
        </p:nvSpPr>
        <p:spPr>
          <a:xfrm rot="1200000">
            <a:off x="320004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 name="HashT9"/>
          <p:cNvSpPr/>
          <p:nvPr/>
        </p:nvSpPr>
        <p:spPr>
          <a:xfrm rot="1200000">
            <a:off x="361152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 name="HashT10"/>
          <p:cNvSpPr/>
          <p:nvPr/>
        </p:nvSpPr>
        <p:spPr>
          <a:xfrm rot="1200000">
            <a:off x="402300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 name="HashT11"/>
          <p:cNvSpPr/>
          <p:nvPr/>
        </p:nvSpPr>
        <p:spPr>
          <a:xfrm rot="1200000">
            <a:off x="443448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 name="HashT12"/>
          <p:cNvSpPr/>
          <p:nvPr/>
        </p:nvSpPr>
        <p:spPr>
          <a:xfrm rot="1200000">
            <a:off x="484596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 name="HashT13"/>
          <p:cNvSpPr/>
          <p:nvPr/>
        </p:nvSpPr>
        <p:spPr>
          <a:xfrm rot="1200000">
            <a:off x="525744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 name="HashT14"/>
          <p:cNvSpPr/>
          <p:nvPr/>
        </p:nvSpPr>
        <p:spPr>
          <a:xfrm rot="1200000">
            <a:off x="566892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 name="HashT15"/>
          <p:cNvSpPr/>
          <p:nvPr/>
        </p:nvSpPr>
        <p:spPr>
          <a:xfrm rot="1200000">
            <a:off x="608040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 name="HashT16"/>
          <p:cNvSpPr/>
          <p:nvPr/>
        </p:nvSpPr>
        <p:spPr>
          <a:xfrm rot="1200000">
            <a:off x="649188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 name="HashT17"/>
          <p:cNvSpPr/>
          <p:nvPr/>
        </p:nvSpPr>
        <p:spPr>
          <a:xfrm rot="1200000">
            <a:off x="690336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 name="HashT18"/>
          <p:cNvSpPr/>
          <p:nvPr/>
        </p:nvSpPr>
        <p:spPr>
          <a:xfrm rot="1200000">
            <a:off x="731484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 name="HashT19"/>
          <p:cNvSpPr/>
          <p:nvPr/>
        </p:nvSpPr>
        <p:spPr>
          <a:xfrm rot="1200000">
            <a:off x="772632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 name="HashT20"/>
          <p:cNvSpPr/>
          <p:nvPr/>
        </p:nvSpPr>
        <p:spPr>
          <a:xfrm rot="1200000">
            <a:off x="813780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 name="HashT21"/>
          <p:cNvSpPr/>
          <p:nvPr/>
        </p:nvSpPr>
        <p:spPr>
          <a:xfrm rot="1200000">
            <a:off x="854928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4" name="HashT22"/>
          <p:cNvSpPr/>
          <p:nvPr/>
        </p:nvSpPr>
        <p:spPr>
          <a:xfrm rot="1200000">
            <a:off x="896076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 name="HashT23"/>
          <p:cNvSpPr/>
          <p:nvPr/>
        </p:nvSpPr>
        <p:spPr>
          <a:xfrm rot="1200000">
            <a:off x="937224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6" name="HashT24"/>
          <p:cNvSpPr/>
          <p:nvPr/>
        </p:nvSpPr>
        <p:spPr>
          <a:xfrm rot="1200000">
            <a:off x="978372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 name="HashT25"/>
          <p:cNvSpPr/>
          <p:nvPr/>
        </p:nvSpPr>
        <p:spPr>
          <a:xfrm rot="1200000">
            <a:off x="1019520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 name="HashT26"/>
          <p:cNvSpPr/>
          <p:nvPr/>
        </p:nvSpPr>
        <p:spPr>
          <a:xfrm rot="1200000">
            <a:off x="1060668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 name="HashT27"/>
          <p:cNvSpPr/>
          <p:nvPr/>
        </p:nvSpPr>
        <p:spPr>
          <a:xfrm rot="1200000">
            <a:off x="1101816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 name="HashT28"/>
          <p:cNvSpPr/>
          <p:nvPr/>
        </p:nvSpPr>
        <p:spPr>
          <a:xfrm rot="1200000">
            <a:off x="1142964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 name="HashT29"/>
          <p:cNvSpPr/>
          <p:nvPr/>
        </p:nvSpPr>
        <p:spPr>
          <a:xfrm rot="1200000">
            <a:off x="1184112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 name="HashT30"/>
          <p:cNvSpPr/>
          <p:nvPr/>
        </p:nvSpPr>
        <p:spPr>
          <a:xfrm rot="1200000">
            <a:off x="12252600" y="-5004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 name="StripeBot"/>
          <p:cNvSpPr/>
          <p:nvPr/>
        </p:nvSpPr>
        <p:spPr>
          <a:xfrm>
            <a:off x="0" y="6583680"/>
            <a:ext cx="12191760" cy="273960"/>
          </a:xfrm>
          <a:prstGeom prst="rect">
            <a:avLst/>
          </a:prstGeom>
          <a:solidFill>
            <a:srgbClr val="F2BC1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4" name="HashB0"/>
          <p:cNvSpPr/>
          <p:nvPr/>
        </p:nvSpPr>
        <p:spPr>
          <a:xfrm rot="1200000">
            <a:off x="-9144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 name="HashB1"/>
          <p:cNvSpPr/>
          <p:nvPr/>
        </p:nvSpPr>
        <p:spPr>
          <a:xfrm rot="1200000">
            <a:off x="31968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 name="HashB2"/>
          <p:cNvSpPr/>
          <p:nvPr/>
        </p:nvSpPr>
        <p:spPr>
          <a:xfrm rot="1200000">
            <a:off x="73116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 name="HashB3"/>
          <p:cNvSpPr/>
          <p:nvPr/>
        </p:nvSpPr>
        <p:spPr>
          <a:xfrm rot="1200000">
            <a:off x="114264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8" name="HashB4"/>
          <p:cNvSpPr/>
          <p:nvPr/>
        </p:nvSpPr>
        <p:spPr>
          <a:xfrm rot="1200000">
            <a:off x="155412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 name="HashB5"/>
          <p:cNvSpPr/>
          <p:nvPr/>
        </p:nvSpPr>
        <p:spPr>
          <a:xfrm rot="1200000">
            <a:off x="196560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 name="HashB6"/>
          <p:cNvSpPr/>
          <p:nvPr/>
        </p:nvSpPr>
        <p:spPr>
          <a:xfrm rot="1200000">
            <a:off x="237708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1" name="HashB7"/>
          <p:cNvSpPr/>
          <p:nvPr/>
        </p:nvSpPr>
        <p:spPr>
          <a:xfrm rot="1200000">
            <a:off x="278856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2" name="HashB8"/>
          <p:cNvSpPr/>
          <p:nvPr/>
        </p:nvSpPr>
        <p:spPr>
          <a:xfrm rot="1200000">
            <a:off x="320004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 name="HashB9"/>
          <p:cNvSpPr/>
          <p:nvPr/>
        </p:nvSpPr>
        <p:spPr>
          <a:xfrm rot="1200000">
            <a:off x="361152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 name="HashB10"/>
          <p:cNvSpPr/>
          <p:nvPr/>
        </p:nvSpPr>
        <p:spPr>
          <a:xfrm rot="1200000">
            <a:off x="402300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5" name="HashB11"/>
          <p:cNvSpPr/>
          <p:nvPr/>
        </p:nvSpPr>
        <p:spPr>
          <a:xfrm rot="1200000">
            <a:off x="443448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 name="HashB12"/>
          <p:cNvSpPr/>
          <p:nvPr/>
        </p:nvSpPr>
        <p:spPr>
          <a:xfrm rot="1200000">
            <a:off x="484596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 name="HashB13"/>
          <p:cNvSpPr/>
          <p:nvPr/>
        </p:nvSpPr>
        <p:spPr>
          <a:xfrm rot="1200000">
            <a:off x="525744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8" name="HashB14"/>
          <p:cNvSpPr/>
          <p:nvPr/>
        </p:nvSpPr>
        <p:spPr>
          <a:xfrm rot="1200000">
            <a:off x="566892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 name="HashB15"/>
          <p:cNvSpPr/>
          <p:nvPr/>
        </p:nvSpPr>
        <p:spPr>
          <a:xfrm rot="1200000">
            <a:off x="608040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 name="HashB16"/>
          <p:cNvSpPr/>
          <p:nvPr/>
        </p:nvSpPr>
        <p:spPr>
          <a:xfrm rot="1200000">
            <a:off x="649188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 name="HashB17"/>
          <p:cNvSpPr/>
          <p:nvPr/>
        </p:nvSpPr>
        <p:spPr>
          <a:xfrm rot="1200000">
            <a:off x="690336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2" name="HashB18"/>
          <p:cNvSpPr/>
          <p:nvPr/>
        </p:nvSpPr>
        <p:spPr>
          <a:xfrm rot="1200000">
            <a:off x="731484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 name="HashB19"/>
          <p:cNvSpPr/>
          <p:nvPr/>
        </p:nvSpPr>
        <p:spPr>
          <a:xfrm rot="1200000">
            <a:off x="772632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4" name="HashB20"/>
          <p:cNvSpPr/>
          <p:nvPr/>
        </p:nvSpPr>
        <p:spPr>
          <a:xfrm rot="1200000">
            <a:off x="813780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 name="HashB21"/>
          <p:cNvSpPr/>
          <p:nvPr/>
        </p:nvSpPr>
        <p:spPr>
          <a:xfrm rot="1200000">
            <a:off x="854928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6" name="HashB22"/>
          <p:cNvSpPr/>
          <p:nvPr/>
        </p:nvSpPr>
        <p:spPr>
          <a:xfrm rot="1200000">
            <a:off x="896076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 name="HashB23"/>
          <p:cNvSpPr/>
          <p:nvPr/>
        </p:nvSpPr>
        <p:spPr>
          <a:xfrm rot="1200000">
            <a:off x="937224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8" name="HashB24"/>
          <p:cNvSpPr/>
          <p:nvPr/>
        </p:nvSpPr>
        <p:spPr>
          <a:xfrm rot="1200000">
            <a:off x="978372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9" name="HashB25"/>
          <p:cNvSpPr/>
          <p:nvPr/>
        </p:nvSpPr>
        <p:spPr>
          <a:xfrm rot="1200000">
            <a:off x="1019520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0" name="HashB26"/>
          <p:cNvSpPr/>
          <p:nvPr/>
        </p:nvSpPr>
        <p:spPr>
          <a:xfrm rot="1200000">
            <a:off x="1060668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1" name="HashB27"/>
          <p:cNvSpPr/>
          <p:nvPr/>
        </p:nvSpPr>
        <p:spPr>
          <a:xfrm rot="1200000">
            <a:off x="1101816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2" name="HashB28"/>
          <p:cNvSpPr/>
          <p:nvPr/>
        </p:nvSpPr>
        <p:spPr>
          <a:xfrm rot="1200000">
            <a:off x="1142964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 name="HashB29"/>
          <p:cNvSpPr/>
          <p:nvPr/>
        </p:nvSpPr>
        <p:spPr>
          <a:xfrm rot="1200000">
            <a:off x="1184112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4" name="HashB30"/>
          <p:cNvSpPr/>
          <p:nvPr/>
        </p:nvSpPr>
        <p:spPr>
          <a:xfrm rot="1200000">
            <a:off x="12252600" y="6533280"/>
            <a:ext cx="136800" cy="374040"/>
          </a:xfrm>
          <a:prstGeom prst="rect">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5" name="VaultHeader"/>
          <p:cNvSpPr/>
          <p:nvPr/>
        </p:nvSpPr>
        <p:spPr>
          <a:xfrm>
            <a:off x="457200" y="365760"/>
            <a:ext cx="11277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1A1A1A"/>
                </a:solidFill>
                <a:latin typeface="Trebuchet MS"/>
              </a:rPr>
              <a:t>☢   VAULT-AI  101   ·   AUTOMATED  LINGUISTIC  SCAN  ·   AUTHORIZED  PERSONNEL  ONLY   ☢</a:t>
            </a:r>
            <a:endParaRPr lang="en-US" sz="1200" b="0" strike="noStrike" spc="-1">
              <a:solidFill>
                <a:srgbClr val="000000"/>
              </a:solidFill>
              <a:latin typeface="Arial"/>
            </a:endParaRPr>
          </a:p>
        </p:txBody>
      </p:sp>
      <p:sp>
        <p:nvSpPr>
          <p:cNvPr id="66" name="MainTitle"/>
          <p:cNvSpPr/>
          <p:nvPr/>
        </p:nvSpPr>
        <p:spPr>
          <a:xfrm>
            <a:off x="457200" y="822960"/>
            <a:ext cx="1127736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strike="noStrike" spc="-1">
                <a:solidFill>
                  <a:srgbClr val="1A1A1A"/>
                </a:solidFill>
                <a:latin typeface="Trebuchet MS"/>
              </a:rPr>
              <a:t>YOUR  MLOPS  PIPELINE  IS  YOUR  AGENTIC  AI  GUARDRAIL</a:t>
            </a:r>
            <a:endParaRPr lang="en-US" sz="2600" b="0" strike="noStrike" spc="-1">
              <a:solidFill>
                <a:srgbClr val="000000"/>
              </a:solidFill>
              <a:latin typeface="Arial"/>
            </a:endParaRPr>
          </a:p>
        </p:txBody>
      </p:sp>
      <p:sp>
        <p:nvSpPr>
          <p:cNvPr id="67" name="TitleUnderline"/>
          <p:cNvSpPr/>
          <p:nvPr/>
        </p:nvSpPr>
        <p:spPr>
          <a:xfrm>
            <a:off x="4267080" y="1554480"/>
            <a:ext cx="3657240" cy="36360"/>
          </a:xfrm>
          <a:prstGeom prst="rect">
            <a:avLst/>
          </a:prstGeom>
          <a:solidFill>
            <a:srgbClr val="8B451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8" name="MainSlogan"/>
          <p:cNvSpPr/>
          <p:nvPr/>
        </p:nvSpPr>
        <p:spPr>
          <a:xfrm>
            <a:off x="457200" y="1645920"/>
            <a:ext cx="1127736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200" b="1" i="1" strike="noStrike" spc="-1">
                <a:solidFill>
                  <a:srgbClr val="B22222"/>
                </a:solidFill>
                <a:latin typeface="Trebuchet MS"/>
              </a:rPr>
              <a:t>“ AI-ISMS  NEVER  CHANGE. ”</a:t>
            </a:r>
            <a:endParaRPr lang="en-US" sz="3200" b="0" strike="noStrike" spc="-1">
              <a:solidFill>
                <a:srgbClr val="000000"/>
              </a:solidFill>
              <a:latin typeface="Arial"/>
            </a:endParaRPr>
          </a:p>
        </p:txBody>
      </p:sp>
      <p:sp>
        <p:nvSpPr>
          <p:cNvPr id="69" name="TermBezel"/>
          <p:cNvSpPr/>
          <p:nvPr/>
        </p:nvSpPr>
        <p:spPr>
          <a:xfrm>
            <a:off x="457200" y="2331720"/>
            <a:ext cx="6034680" cy="2925720"/>
          </a:xfrm>
          <a:prstGeom prst="roundRect">
            <a:avLst>
              <a:gd name="adj" fmla="val 8000"/>
            </a:avLst>
          </a:prstGeom>
          <a:solidFill>
            <a:srgbClr val="1A1A1A"/>
          </a:solidFill>
          <a:ln w="38100">
            <a:solidFill>
              <a:srgbClr val="8B4513"/>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0" name="TermScreen"/>
          <p:cNvSpPr/>
          <p:nvPr/>
        </p:nvSpPr>
        <p:spPr>
          <a:xfrm>
            <a:off x="530280" y="2404800"/>
            <a:ext cx="5888520" cy="2779560"/>
          </a:xfrm>
          <a:prstGeom prst="rect">
            <a:avLst/>
          </a:prstGeom>
          <a:solidFill>
            <a:srgbClr val="04120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1" name="TermHdr"/>
          <p:cNvSpPr/>
          <p:nvPr/>
        </p:nvSpPr>
        <p:spPr>
          <a:xfrm>
            <a:off x="731520" y="246888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5BE368"/>
                </a:solidFill>
                <a:latin typeface="Courier New"/>
              </a:rPr>
              <a:t>&gt; ROBCO INDUSTRIES (TM) TERMLINK PROTOCOL</a:t>
            </a:r>
            <a:endParaRPr lang="en-US" sz="1100" b="0" strike="noStrike" spc="-1">
              <a:solidFill>
                <a:srgbClr val="000000"/>
              </a:solidFill>
              <a:latin typeface="Arial"/>
            </a:endParaRPr>
          </a:p>
        </p:txBody>
      </p:sp>
      <p:sp>
        <p:nvSpPr>
          <p:cNvPr id="72" name="TermSubHdr"/>
          <p:cNvSpPr/>
          <p:nvPr/>
        </p:nvSpPr>
        <p:spPr>
          <a:xfrm>
            <a:off x="731520" y="274320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5BE368"/>
                </a:solidFill>
                <a:latin typeface="Courier New"/>
              </a:rPr>
              <a:t>&gt; RUNNING  ANOMALY  DETECTION...</a:t>
            </a:r>
            <a:endParaRPr lang="en-US" sz="1100" b="0" strike="noStrike" spc="-1">
              <a:solidFill>
                <a:srgbClr val="000000"/>
              </a:solidFill>
              <a:latin typeface="Arial"/>
            </a:endParaRPr>
          </a:p>
        </p:txBody>
      </p:sp>
      <p:sp>
        <p:nvSpPr>
          <p:cNvPr id="73" name="TermResult"/>
          <p:cNvSpPr/>
          <p:nvPr/>
        </p:nvSpPr>
        <p:spPr>
          <a:xfrm>
            <a:off x="731520" y="2971800"/>
            <a:ext cx="5486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1" strike="noStrike" spc="-1">
                <a:solidFill>
                  <a:srgbClr val="5BE368"/>
                </a:solidFill>
                <a:latin typeface="Courier New"/>
              </a:rPr>
              <a:t>&gt; 47  AI-ISMS  DETECTED.   SEE  BELOW.</a:t>
            </a:r>
            <a:endParaRPr lang="en-US" sz="1100" b="0" strike="noStrike" spc="-1">
              <a:solidFill>
                <a:srgbClr val="000000"/>
              </a:solidFill>
              <a:latin typeface="Arial"/>
            </a:endParaRPr>
          </a:p>
        </p:txBody>
      </p:sp>
      <p:sp>
        <p:nvSpPr>
          <p:cNvPr id="74" name="TermDivider"/>
          <p:cNvSpPr/>
          <p:nvPr/>
        </p:nvSpPr>
        <p:spPr>
          <a:xfrm>
            <a:off x="731520" y="3291840"/>
            <a:ext cx="5486040" cy="18000"/>
          </a:xfrm>
          <a:prstGeom prst="rect">
            <a:avLst/>
          </a:prstGeom>
          <a:solidFill>
            <a:srgbClr val="5BE36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5" name="Ism0"/>
          <p:cNvSpPr/>
          <p:nvPr/>
        </p:nvSpPr>
        <p:spPr>
          <a:xfrm>
            <a:off x="731520" y="3337560"/>
            <a:ext cx="4388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5BE368"/>
                </a:solidFill>
                <a:latin typeface="Courier New"/>
              </a:rPr>
              <a:t>▸ "Certainly! I'd be happy to help with that!"</a:t>
            </a:r>
            <a:endParaRPr lang="en-US" sz="1000" b="0" strike="noStrike" spc="-1">
              <a:solidFill>
                <a:srgbClr val="000000"/>
              </a:solidFill>
              <a:latin typeface="Arial"/>
            </a:endParaRPr>
          </a:p>
        </p:txBody>
      </p:sp>
      <p:sp>
        <p:nvSpPr>
          <p:cNvPr id="76" name="IsmStatus0"/>
          <p:cNvSpPr/>
          <p:nvPr/>
        </p:nvSpPr>
        <p:spPr>
          <a:xfrm>
            <a:off x="5029200" y="3337560"/>
            <a:ext cx="1188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1" strike="noStrike" spc="-1">
                <a:solidFill>
                  <a:srgbClr val="F2BC1E"/>
                </a:solidFill>
                <a:latin typeface="Courier New"/>
              </a:rPr>
              <a:t>[FLAGGED]</a:t>
            </a:r>
            <a:endParaRPr lang="en-US" sz="900" b="0" strike="noStrike" spc="-1">
              <a:solidFill>
                <a:srgbClr val="000000"/>
              </a:solidFill>
              <a:latin typeface="Arial"/>
            </a:endParaRPr>
          </a:p>
        </p:txBody>
      </p:sp>
      <p:sp>
        <p:nvSpPr>
          <p:cNvPr id="77" name="Ism1"/>
          <p:cNvSpPr/>
          <p:nvPr/>
        </p:nvSpPr>
        <p:spPr>
          <a:xfrm>
            <a:off x="731520" y="3611880"/>
            <a:ext cx="4388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5BE368"/>
                </a:solidFill>
                <a:latin typeface="Courier New"/>
              </a:rPr>
              <a:t>▸ "Let's delve into your robust holistic paradigm"</a:t>
            </a:r>
            <a:endParaRPr lang="en-US" sz="1000" b="0" strike="noStrike" spc="-1">
              <a:solidFill>
                <a:srgbClr val="000000"/>
              </a:solidFill>
              <a:latin typeface="Arial"/>
            </a:endParaRPr>
          </a:p>
        </p:txBody>
      </p:sp>
      <p:sp>
        <p:nvSpPr>
          <p:cNvPr id="78" name="IsmStatus1"/>
          <p:cNvSpPr/>
          <p:nvPr/>
        </p:nvSpPr>
        <p:spPr>
          <a:xfrm>
            <a:off x="5029200" y="3611880"/>
            <a:ext cx="1188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1" strike="noStrike" spc="-1">
                <a:solidFill>
                  <a:srgbClr val="F2BC1E"/>
                </a:solidFill>
                <a:latin typeface="Courier New"/>
              </a:rPr>
              <a:t>[FLAGGED]</a:t>
            </a:r>
            <a:endParaRPr lang="en-US" sz="900" b="0" strike="noStrike" spc="-1">
              <a:solidFill>
                <a:srgbClr val="000000"/>
              </a:solidFill>
              <a:latin typeface="Arial"/>
            </a:endParaRPr>
          </a:p>
        </p:txBody>
      </p:sp>
      <p:sp>
        <p:nvSpPr>
          <p:cNvPr id="79" name="Ism2"/>
          <p:cNvSpPr/>
          <p:nvPr/>
        </p:nvSpPr>
        <p:spPr>
          <a:xfrm>
            <a:off x="731520" y="3886200"/>
            <a:ext cx="4388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5BE368"/>
                </a:solidFill>
                <a:latin typeface="Courier New"/>
              </a:rPr>
              <a:t>▸ "Here are three key things to consider…"</a:t>
            </a:r>
            <a:endParaRPr lang="en-US" sz="1000" b="0" strike="noStrike" spc="-1">
              <a:solidFill>
                <a:srgbClr val="000000"/>
              </a:solidFill>
              <a:latin typeface="Arial"/>
            </a:endParaRPr>
          </a:p>
        </p:txBody>
      </p:sp>
      <p:sp>
        <p:nvSpPr>
          <p:cNvPr id="80" name="IsmStatus2"/>
          <p:cNvSpPr/>
          <p:nvPr/>
        </p:nvSpPr>
        <p:spPr>
          <a:xfrm>
            <a:off x="5029200" y="3886200"/>
            <a:ext cx="1188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1" strike="noStrike" spc="-1">
                <a:solidFill>
                  <a:srgbClr val="F2BC1E"/>
                </a:solidFill>
                <a:latin typeface="Courier New"/>
              </a:rPr>
              <a:t>[FLAGGED]</a:t>
            </a:r>
            <a:endParaRPr lang="en-US" sz="900" b="0" strike="noStrike" spc="-1">
              <a:solidFill>
                <a:srgbClr val="000000"/>
              </a:solidFill>
              <a:latin typeface="Arial"/>
            </a:endParaRPr>
          </a:p>
        </p:txBody>
      </p:sp>
      <p:sp>
        <p:nvSpPr>
          <p:cNvPr id="81" name="Ism3"/>
          <p:cNvSpPr/>
          <p:nvPr/>
        </p:nvSpPr>
        <p:spPr>
          <a:xfrm>
            <a:off x="731520" y="4160520"/>
            <a:ext cx="4388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5BE368"/>
                </a:solidFill>
                <a:latin typeface="Courier New"/>
              </a:rPr>
              <a:t>▸ "It's important to note…"</a:t>
            </a:r>
            <a:endParaRPr lang="en-US" sz="1000" b="0" strike="noStrike" spc="-1">
              <a:solidFill>
                <a:srgbClr val="000000"/>
              </a:solidFill>
              <a:latin typeface="Arial"/>
            </a:endParaRPr>
          </a:p>
        </p:txBody>
      </p:sp>
      <p:sp>
        <p:nvSpPr>
          <p:cNvPr id="82" name="IsmStatus3"/>
          <p:cNvSpPr/>
          <p:nvPr/>
        </p:nvSpPr>
        <p:spPr>
          <a:xfrm>
            <a:off x="5029200" y="4160520"/>
            <a:ext cx="1188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1" strike="noStrike" spc="-1">
                <a:solidFill>
                  <a:srgbClr val="F2BC1E"/>
                </a:solidFill>
                <a:latin typeface="Courier New"/>
              </a:rPr>
              <a:t>[FLAGGED]</a:t>
            </a:r>
            <a:endParaRPr lang="en-US" sz="900" b="0" strike="noStrike" spc="-1">
              <a:solidFill>
                <a:srgbClr val="000000"/>
              </a:solidFill>
              <a:latin typeface="Arial"/>
            </a:endParaRPr>
          </a:p>
        </p:txBody>
      </p:sp>
      <p:sp>
        <p:nvSpPr>
          <p:cNvPr id="83" name="Ism4"/>
          <p:cNvSpPr/>
          <p:nvPr/>
        </p:nvSpPr>
        <p:spPr>
          <a:xfrm>
            <a:off x="731520" y="4434840"/>
            <a:ext cx="4388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5BE368"/>
                </a:solidFill>
                <a:latin typeface="Courier New"/>
              </a:rPr>
              <a:t>▸ "I hope this helps! Let me know if…"</a:t>
            </a:r>
            <a:endParaRPr lang="en-US" sz="1000" b="0" strike="noStrike" spc="-1">
              <a:solidFill>
                <a:srgbClr val="000000"/>
              </a:solidFill>
              <a:latin typeface="Arial"/>
            </a:endParaRPr>
          </a:p>
        </p:txBody>
      </p:sp>
      <p:sp>
        <p:nvSpPr>
          <p:cNvPr id="84" name="IsmStatus4"/>
          <p:cNvSpPr/>
          <p:nvPr/>
        </p:nvSpPr>
        <p:spPr>
          <a:xfrm>
            <a:off x="5029200" y="4434840"/>
            <a:ext cx="1188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1" strike="noStrike" spc="-1">
                <a:solidFill>
                  <a:srgbClr val="F2BC1E"/>
                </a:solidFill>
                <a:latin typeface="Courier New"/>
              </a:rPr>
              <a:t>[FLAGGED]</a:t>
            </a:r>
            <a:endParaRPr lang="en-US" sz="900" b="0" strike="noStrike" spc="-1">
              <a:solidFill>
                <a:srgbClr val="000000"/>
              </a:solidFill>
              <a:latin typeface="Arial"/>
            </a:endParaRPr>
          </a:p>
        </p:txBody>
      </p:sp>
      <p:sp>
        <p:nvSpPr>
          <p:cNvPr id="85" name="Ism5"/>
          <p:cNvSpPr/>
          <p:nvPr/>
        </p:nvSpPr>
        <p:spPr>
          <a:xfrm>
            <a:off x="731520" y="4709160"/>
            <a:ext cx="43887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5BE368"/>
                </a:solidFill>
                <a:latin typeface="Courier New"/>
              </a:rPr>
              <a:t>▸ Em dashes (everywhere) (everywhere) (everywhere)</a:t>
            </a:r>
            <a:endParaRPr lang="en-US" sz="1000" b="0" strike="noStrike" spc="-1">
              <a:solidFill>
                <a:srgbClr val="000000"/>
              </a:solidFill>
              <a:latin typeface="Arial"/>
            </a:endParaRPr>
          </a:p>
        </p:txBody>
      </p:sp>
      <p:sp>
        <p:nvSpPr>
          <p:cNvPr id="86" name="IsmStatus5"/>
          <p:cNvSpPr/>
          <p:nvPr/>
        </p:nvSpPr>
        <p:spPr>
          <a:xfrm>
            <a:off x="5029200" y="4709160"/>
            <a:ext cx="1188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1" strike="noStrike" spc="-1">
                <a:solidFill>
                  <a:srgbClr val="B22222"/>
                </a:solidFill>
                <a:latin typeface="Courier New"/>
              </a:rPr>
              <a:t>[CRITICAL]</a:t>
            </a:r>
            <a:endParaRPr lang="en-US" sz="900" b="0" strike="noStrike" spc="-1">
              <a:solidFill>
                <a:srgbClr val="000000"/>
              </a:solidFill>
              <a:latin typeface="Arial"/>
            </a:endParaRPr>
          </a:p>
        </p:txBody>
      </p:sp>
      <p:sp>
        <p:nvSpPr>
          <p:cNvPr id="87" name="PropFrame"/>
          <p:cNvSpPr/>
          <p:nvPr/>
        </p:nvSpPr>
        <p:spPr>
          <a:xfrm>
            <a:off x="6766560" y="2331720"/>
            <a:ext cx="4968000" cy="2925720"/>
          </a:xfrm>
          <a:prstGeom prst="rect">
            <a:avLst/>
          </a:prstGeom>
          <a:solidFill>
            <a:srgbClr val="F5E6CA"/>
          </a:solidFill>
          <a:ln w="44450">
            <a:solidFill>
              <a:srgbClr val="1A1A1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8" name="PropInner"/>
          <p:cNvSpPr/>
          <p:nvPr/>
        </p:nvSpPr>
        <p:spPr>
          <a:xfrm>
            <a:off x="6858000" y="2423160"/>
            <a:ext cx="4785120" cy="2742840"/>
          </a:xfrm>
          <a:prstGeom prst="rect">
            <a:avLst/>
          </a:prstGeom>
          <a:solidFill>
            <a:srgbClr val="FFFFFF"/>
          </a:solidFill>
          <a:ln w="22225">
            <a:solidFill>
              <a:srgbClr val="B22222"/>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9" name="PropTopBanner"/>
          <p:cNvSpPr/>
          <p:nvPr/>
        </p:nvSpPr>
        <p:spPr>
          <a:xfrm>
            <a:off x="6858000" y="2423160"/>
            <a:ext cx="4785120" cy="365400"/>
          </a:xfrm>
          <a:prstGeom prst="rect">
            <a:avLst/>
          </a:prstGeom>
          <a:solidFill>
            <a:srgbClr val="B22222"/>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0" name="PropTopText"/>
          <p:cNvSpPr/>
          <p:nvPr/>
        </p:nvSpPr>
        <p:spPr>
          <a:xfrm>
            <a:off x="6858000" y="2423160"/>
            <a:ext cx="47851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FFFFF"/>
                </a:solidFill>
                <a:latin typeface="Trebuchet MS"/>
              </a:rPr>
              <a:t>★  APPROVED!  ★</a:t>
            </a:r>
            <a:endParaRPr lang="en-US" sz="1400" b="0" strike="noStrike" spc="-1">
              <a:solidFill>
                <a:srgbClr val="000000"/>
              </a:solidFill>
              <a:latin typeface="Arial"/>
            </a:endParaRPr>
          </a:p>
        </p:txBody>
      </p:sp>
      <p:sp>
        <p:nvSpPr>
          <p:cNvPr id="91" name="DwellerHead"/>
          <p:cNvSpPr/>
          <p:nvPr/>
        </p:nvSpPr>
        <p:spPr>
          <a:xfrm>
            <a:off x="8884800" y="3063240"/>
            <a:ext cx="731160" cy="731160"/>
          </a:xfrm>
          <a:prstGeom prst="roundRect">
            <a:avLst>
              <a:gd name="adj" fmla="val 8000"/>
            </a:avLst>
          </a:prstGeom>
          <a:solidFill>
            <a:srgbClr val="F5DEB3"/>
          </a:solidFill>
          <a:ln w="22225">
            <a:solidFill>
              <a:srgbClr val="1A1A1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2" name="DwellerHair"/>
          <p:cNvSpPr/>
          <p:nvPr/>
        </p:nvSpPr>
        <p:spPr>
          <a:xfrm>
            <a:off x="8958240" y="2990160"/>
            <a:ext cx="585000" cy="182520"/>
          </a:xfrm>
          <a:prstGeom prst="roundRect">
            <a:avLst>
              <a:gd name="adj" fmla="val 8000"/>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3" name="EyeL"/>
          <p:cNvSpPr/>
          <p:nvPr/>
        </p:nvSpPr>
        <p:spPr>
          <a:xfrm>
            <a:off x="9067680" y="3337560"/>
            <a:ext cx="91080" cy="91080"/>
          </a:xfrm>
          <a:prstGeom prst="roundRect">
            <a:avLst>
              <a:gd name="adj" fmla="val 8000"/>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4" name="EyeR"/>
          <p:cNvSpPr/>
          <p:nvPr/>
        </p:nvSpPr>
        <p:spPr>
          <a:xfrm>
            <a:off x="9342000" y="3337560"/>
            <a:ext cx="91080" cy="91080"/>
          </a:xfrm>
          <a:prstGeom prst="roundRect">
            <a:avLst>
              <a:gd name="adj" fmla="val 8000"/>
            </a:avLst>
          </a:prstGeom>
          <a:solidFill>
            <a:srgbClr val="1A1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5" name="Smile"/>
          <p:cNvSpPr/>
          <p:nvPr/>
        </p:nvSpPr>
        <p:spPr>
          <a:xfrm>
            <a:off x="9067680" y="3566160"/>
            <a:ext cx="365400" cy="91080"/>
          </a:xfrm>
          <a:prstGeom prst="roundRect">
            <a:avLst>
              <a:gd name="adj" fmla="val 8000"/>
            </a:avLst>
          </a:prstGeom>
          <a:solidFill>
            <a:srgbClr val="B22222"/>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6" name="DwellerBody"/>
          <p:cNvSpPr/>
          <p:nvPr/>
        </p:nvSpPr>
        <p:spPr>
          <a:xfrm>
            <a:off x="8701920" y="3831480"/>
            <a:ext cx="1096920" cy="731160"/>
          </a:xfrm>
          <a:prstGeom prst="roundRect">
            <a:avLst>
              <a:gd name="adj" fmla="val 8000"/>
            </a:avLst>
          </a:prstGeom>
          <a:solidFill>
            <a:srgbClr val="F2BC1E"/>
          </a:solidFill>
          <a:ln w="22225">
            <a:solidFill>
              <a:srgbClr val="1A1A1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7" name="VaultNum"/>
          <p:cNvSpPr/>
          <p:nvPr/>
        </p:nvSpPr>
        <p:spPr>
          <a:xfrm>
            <a:off x="8701920" y="4014360"/>
            <a:ext cx="10969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1A1A1A"/>
                </a:solidFill>
                <a:latin typeface="Trebuchet MS"/>
              </a:rPr>
              <a:t>AI 101</a:t>
            </a:r>
            <a:endParaRPr lang="en-US" sz="1200" b="0" strike="noStrike" spc="-1">
              <a:solidFill>
                <a:srgbClr val="000000"/>
              </a:solidFill>
              <a:latin typeface="Arial"/>
            </a:endParaRPr>
          </a:p>
        </p:txBody>
      </p:sp>
      <p:sp>
        <p:nvSpPr>
          <p:cNvPr id="98" name="Arm"/>
          <p:cNvSpPr/>
          <p:nvPr/>
        </p:nvSpPr>
        <p:spPr>
          <a:xfrm>
            <a:off x="9707760" y="3740040"/>
            <a:ext cx="91080" cy="273960"/>
          </a:xfrm>
          <a:prstGeom prst="roundRect">
            <a:avLst>
              <a:gd name="adj" fmla="val 8000"/>
            </a:avLst>
          </a:prstGeom>
          <a:solidFill>
            <a:srgbClr val="F2BC1E"/>
          </a:solidFill>
          <a:ln w="15875">
            <a:solidFill>
              <a:srgbClr val="1A1A1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9" name="Thumb"/>
          <p:cNvSpPr/>
          <p:nvPr/>
        </p:nvSpPr>
        <p:spPr>
          <a:xfrm>
            <a:off x="9671400" y="3648600"/>
            <a:ext cx="182520" cy="182520"/>
          </a:xfrm>
          <a:prstGeom prst="roundRect">
            <a:avLst>
              <a:gd name="adj" fmla="val 8000"/>
            </a:avLst>
          </a:prstGeom>
          <a:solidFill>
            <a:srgbClr val="F5DEB3"/>
          </a:solidFill>
          <a:ln w="15875">
            <a:solidFill>
              <a:srgbClr val="1A1A1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0" name="PropCaption"/>
          <p:cNvSpPr/>
          <p:nvPr/>
        </p:nvSpPr>
        <p:spPr>
          <a:xfrm>
            <a:off x="6858000" y="4709160"/>
            <a:ext cx="47851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b">
            <a:noAutofit/>
          </a:bodyPr>
          <a:lstStyle/>
          <a:p>
            <a:pPr algn="ctr" defTabSz="914400">
              <a:lnSpc>
                <a:spcPct val="100000"/>
              </a:lnSpc>
              <a:tabLst>
                <a:tab pos="0" algn="l"/>
              </a:tabLst>
            </a:pPr>
            <a:r>
              <a:rPr lang="en-US" sz="1100" b="1" strike="noStrike" spc="-1">
                <a:solidFill>
                  <a:srgbClr val="1A1A1A"/>
                </a:solidFill>
                <a:latin typeface="Trebuchet MS"/>
              </a:rPr>
              <a:t>YOUR MLOPS PIPELINE IS</a:t>
            </a:r>
            <a:endParaRPr lang="en-US" sz="1100" b="0" strike="noStrike" spc="-1">
              <a:solidFill>
                <a:srgbClr val="000000"/>
              </a:solidFill>
              <a:latin typeface="Arial"/>
            </a:endParaRPr>
          </a:p>
          <a:p>
            <a:pPr algn="ctr" defTabSz="914400">
              <a:lnSpc>
                <a:spcPct val="100000"/>
              </a:lnSpc>
              <a:spcBef>
                <a:spcPts val="99"/>
              </a:spcBef>
              <a:tabLst>
                <a:tab pos="0" algn="l"/>
              </a:tabLst>
            </a:pPr>
            <a:r>
              <a:rPr lang="en-US" sz="1600" b="1" strike="noStrike" spc="-1">
                <a:solidFill>
                  <a:srgbClr val="B22222"/>
                </a:solidFill>
                <a:latin typeface="Trebuchet MS"/>
              </a:rPr>
              <a:t>DETERMINISTIC.</a:t>
            </a:r>
            <a:endParaRPr lang="en-US" sz="1600" b="0" strike="noStrike" spc="-1">
              <a:solidFill>
                <a:srgbClr val="000000"/>
              </a:solidFill>
              <a:latin typeface="Arial"/>
            </a:endParaRPr>
          </a:p>
          <a:p>
            <a:pPr algn="ctr" defTabSz="914400">
              <a:lnSpc>
                <a:spcPct val="100000"/>
              </a:lnSpc>
              <a:spcBef>
                <a:spcPts val="99"/>
              </a:spcBef>
              <a:tabLst>
                <a:tab pos="0" algn="l"/>
              </a:tabLst>
            </a:pPr>
            <a:r>
              <a:rPr lang="en-US" sz="900" b="0" i="1" strike="noStrike" spc="-1">
                <a:solidFill>
                  <a:srgbClr val="1A1A1A"/>
                </a:solidFill>
                <a:latin typeface="Calibri"/>
              </a:rPr>
              <a:t>Your agent doesn’t have to be.</a:t>
            </a:r>
            <a:endParaRPr lang="en-US" sz="900" b="0" strike="noStrike" spc="-1">
              <a:solidFill>
                <a:srgbClr val="000000"/>
              </a:solidFill>
              <a:latin typeface="Arial"/>
            </a:endParaRPr>
          </a:p>
        </p:txBody>
      </p:sp>
      <p:sp>
        <p:nvSpPr>
          <p:cNvPr id="101" name="Footer"/>
          <p:cNvSpPr/>
          <p:nvPr/>
        </p:nvSpPr>
        <p:spPr>
          <a:xfrm>
            <a:off x="0" y="6620400"/>
            <a:ext cx="1219176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1A1A1A"/>
                </a:solidFill>
                <a:latin typeface="Courier New"/>
              </a:rPr>
              <a:t>FILE:  VAULT-AI/MLOPS-101.LOG   ·   OPERATOR:  Michael Forrester   ·   LLMday Austin   ·   May 12, 2026</a:t>
            </a:r>
            <a:endParaRPr lang="en-US" sz="900" b="0" strike="noStrike" spc="-1">
              <a:solidFill>
                <a:srgbClr val="000000"/>
              </a:solidFill>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3" name="Sky"/>
          <p:cNvSpPr/>
          <p:nvPr/>
        </p:nvSpPr>
        <p:spPr>
          <a:xfrm>
            <a:off x="0" y="0"/>
            <a:ext cx="12191760" cy="6857640"/>
          </a:xfrm>
          <a:prstGeom prst="rect">
            <a:avLst/>
          </a:prstGeom>
          <a:solidFill>
            <a:srgbClr val="7EC7F2"/>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34" name="Sun_0_2"/>
          <p:cNvSpPr/>
          <p:nvPr/>
        </p:nvSpPr>
        <p:spPr>
          <a:xfrm>
            <a:off x="11521440" y="137160"/>
            <a:ext cx="121680" cy="121680"/>
          </a:xfrm>
          <a:prstGeom prst="rect">
            <a:avLst/>
          </a:prstGeom>
          <a:solidFill>
            <a:srgbClr val="FFEE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 name="Sun_0_3"/>
          <p:cNvSpPr/>
          <p:nvPr/>
        </p:nvSpPr>
        <p:spPr>
          <a:xfrm>
            <a:off x="11643480" y="137160"/>
            <a:ext cx="121680" cy="121680"/>
          </a:xfrm>
          <a:prstGeom prst="rect">
            <a:avLst/>
          </a:prstGeom>
          <a:solidFill>
            <a:srgbClr val="FFEE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 name="Sun_1_1"/>
          <p:cNvSpPr/>
          <p:nvPr/>
        </p:nvSpPr>
        <p:spPr>
          <a:xfrm>
            <a:off x="11399400" y="259200"/>
            <a:ext cx="121680" cy="121680"/>
          </a:xfrm>
          <a:prstGeom prst="rect">
            <a:avLst/>
          </a:prstGeom>
          <a:solidFill>
            <a:srgbClr val="FFEE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 name="Sun_1_2"/>
          <p:cNvSpPr/>
          <p:nvPr/>
        </p:nvSpPr>
        <p:spPr>
          <a:xfrm>
            <a:off x="11521440" y="259200"/>
            <a:ext cx="121680" cy="121680"/>
          </a:xfrm>
          <a:prstGeom prst="rect">
            <a:avLst/>
          </a:prstGeom>
          <a:solidFill>
            <a:srgbClr val="FFFB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 name="Sun_1_3"/>
          <p:cNvSpPr/>
          <p:nvPr/>
        </p:nvSpPr>
        <p:spPr>
          <a:xfrm>
            <a:off x="11643480" y="259200"/>
            <a:ext cx="121680" cy="121680"/>
          </a:xfrm>
          <a:prstGeom prst="rect">
            <a:avLst/>
          </a:prstGeom>
          <a:solidFill>
            <a:srgbClr val="FFFB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 name="Sun_1_4"/>
          <p:cNvSpPr/>
          <p:nvPr/>
        </p:nvSpPr>
        <p:spPr>
          <a:xfrm>
            <a:off x="11765160" y="259200"/>
            <a:ext cx="121680" cy="121680"/>
          </a:xfrm>
          <a:prstGeom prst="rect">
            <a:avLst/>
          </a:prstGeom>
          <a:solidFill>
            <a:srgbClr val="FFEE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 name="Sun_2_0"/>
          <p:cNvSpPr/>
          <p:nvPr/>
        </p:nvSpPr>
        <p:spPr>
          <a:xfrm>
            <a:off x="11277720" y="380880"/>
            <a:ext cx="121680" cy="121680"/>
          </a:xfrm>
          <a:prstGeom prst="rect">
            <a:avLst/>
          </a:prstGeom>
          <a:solidFill>
            <a:srgbClr val="FFEE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 name="Sun_2_1"/>
          <p:cNvSpPr/>
          <p:nvPr/>
        </p:nvSpPr>
        <p:spPr>
          <a:xfrm>
            <a:off x="11399400" y="380880"/>
            <a:ext cx="121680" cy="121680"/>
          </a:xfrm>
          <a:prstGeom prst="rect">
            <a:avLst/>
          </a:prstGeom>
          <a:solidFill>
            <a:srgbClr val="FFFB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 name="Sun_2_2"/>
          <p:cNvSpPr/>
          <p:nvPr/>
        </p:nvSpPr>
        <p:spPr>
          <a:xfrm>
            <a:off x="11521440" y="380880"/>
            <a:ext cx="121680" cy="121680"/>
          </a:xfrm>
          <a:prstGeom prst="rect">
            <a:avLst/>
          </a:prstGeom>
          <a:solidFill>
            <a:srgbClr val="FFFB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 name="Sun_2_3"/>
          <p:cNvSpPr/>
          <p:nvPr/>
        </p:nvSpPr>
        <p:spPr>
          <a:xfrm>
            <a:off x="11643480" y="380880"/>
            <a:ext cx="121680" cy="121680"/>
          </a:xfrm>
          <a:prstGeom prst="rect">
            <a:avLst/>
          </a:prstGeom>
          <a:solidFill>
            <a:srgbClr val="FFFB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 name="Sun_2_4"/>
          <p:cNvSpPr/>
          <p:nvPr/>
        </p:nvSpPr>
        <p:spPr>
          <a:xfrm>
            <a:off x="11765160" y="380880"/>
            <a:ext cx="121680" cy="121680"/>
          </a:xfrm>
          <a:prstGeom prst="rect">
            <a:avLst/>
          </a:prstGeom>
          <a:solidFill>
            <a:srgbClr val="FFFB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 name="Sun_2_5"/>
          <p:cNvSpPr/>
          <p:nvPr/>
        </p:nvSpPr>
        <p:spPr>
          <a:xfrm>
            <a:off x="11887200" y="380880"/>
            <a:ext cx="121680" cy="121680"/>
          </a:xfrm>
          <a:prstGeom prst="rect">
            <a:avLst/>
          </a:prstGeom>
          <a:solidFill>
            <a:srgbClr val="FFEE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 name="Sun_3_0"/>
          <p:cNvSpPr/>
          <p:nvPr/>
        </p:nvSpPr>
        <p:spPr>
          <a:xfrm>
            <a:off x="11277720" y="502920"/>
            <a:ext cx="121680" cy="121680"/>
          </a:xfrm>
          <a:prstGeom prst="rect">
            <a:avLst/>
          </a:prstGeom>
          <a:solidFill>
            <a:srgbClr val="FFEE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 name="Sun_3_1"/>
          <p:cNvSpPr/>
          <p:nvPr/>
        </p:nvSpPr>
        <p:spPr>
          <a:xfrm>
            <a:off x="11399400" y="502920"/>
            <a:ext cx="121680" cy="121680"/>
          </a:xfrm>
          <a:prstGeom prst="rect">
            <a:avLst/>
          </a:prstGeom>
          <a:solidFill>
            <a:srgbClr val="FFFB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 name="Sun_3_2"/>
          <p:cNvSpPr/>
          <p:nvPr/>
        </p:nvSpPr>
        <p:spPr>
          <a:xfrm>
            <a:off x="11521440" y="502920"/>
            <a:ext cx="121680" cy="121680"/>
          </a:xfrm>
          <a:prstGeom prst="rect">
            <a:avLst/>
          </a:prstGeom>
          <a:solidFill>
            <a:srgbClr val="FFFB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 name="Sun_3_3"/>
          <p:cNvSpPr/>
          <p:nvPr/>
        </p:nvSpPr>
        <p:spPr>
          <a:xfrm>
            <a:off x="11643480" y="502920"/>
            <a:ext cx="121680" cy="121680"/>
          </a:xfrm>
          <a:prstGeom prst="rect">
            <a:avLst/>
          </a:prstGeom>
          <a:solidFill>
            <a:srgbClr val="FFFB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 name="Sun_3_4"/>
          <p:cNvSpPr/>
          <p:nvPr/>
        </p:nvSpPr>
        <p:spPr>
          <a:xfrm>
            <a:off x="11765160" y="502920"/>
            <a:ext cx="121680" cy="121680"/>
          </a:xfrm>
          <a:prstGeom prst="rect">
            <a:avLst/>
          </a:prstGeom>
          <a:solidFill>
            <a:srgbClr val="FFFB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 name="Sun_3_5"/>
          <p:cNvSpPr/>
          <p:nvPr/>
        </p:nvSpPr>
        <p:spPr>
          <a:xfrm>
            <a:off x="11887200" y="502920"/>
            <a:ext cx="121680" cy="121680"/>
          </a:xfrm>
          <a:prstGeom prst="rect">
            <a:avLst/>
          </a:prstGeom>
          <a:solidFill>
            <a:srgbClr val="FFEE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 name="Sun_4_1"/>
          <p:cNvSpPr/>
          <p:nvPr/>
        </p:nvSpPr>
        <p:spPr>
          <a:xfrm>
            <a:off x="11399400" y="624960"/>
            <a:ext cx="121680" cy="121680"/>
          </a:xfrm>
          <a:prstGeom prst="rect">
            <a:avLst/>
          </a:prstGeom>
          <a:solidFill>
            <a:srgbClr val="FFEE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 name="Sun_4_2"/>
          <p:cNvSpPr/>
          <p:nvPr/>
        </p:nvSpPr>
        <p:spPr>
          <a:xfrm>
            <a:off x="11521440" y="624960"/>
            <a:ext cx="121680" cy="121680"/>
          </a:xfrm>
          <a:prstGeom prst="rect">
            <a:avLst/>
          </a:prstGeom>
          <a:solidFill>
            <a:srgbClr val="FFFB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 name="Sun_4_3"/>
          <p:cNvSpPr/>
          <p:nvPr/>
        </p:nvSpPr>
        <p:spPr>
          <a:xfrm>
            <a:off x="11643480" y="624960"/>
            <a:ext cx="121680" cy="121680"/>
          </a:xfrm>
          <a:prstGeom prst="rect">
            <a:avLst/>
          </a:prstGeom>
          <a:solidFill>
            <a:srgbClr val="FFFB9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 name="Sun_4_4"/>
          <p:cNvSpPr/>
          <p:nvPr/>
        </p:nvSpPr>
        <p:spPr>
          <a:xfrm>
            <a:off x="11765160" y="624960"/>
            <a:ext cx="121680" cy="121680"/>
          </a:xfrm>
          <a:prstGeom prst="rect">
            <a:avLst/>
          </a:prstGeom>
          <a:solidFill>
            <a:srgbClr val="FFEE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 name="Sun_5_2"/>
          <p:cNvSpPr/>
          <p:nvPr/>
        </p:nvSpPr>
        <p:spPr>
          <a:xfrm>
            <a:off x="11521440" y="746640"/>
            <a:ext cx="121680" cy="121680"/>
          </a:xfrm>
          <a:prstGeom prst="rect">
            <a:avLst/>
          </a:prstGeom>
          <a:solidFill>
            <a:srgbClr val="FFEE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4" name="Sun_5_3"/>
          <p:cNvSpPr/>
          <p:nvPr/>
        </p:nvSpPr>
        <p:spPr>
          <a:xfrm>
            <a:off x="11643480" y="746640"/>
            <a:ext cx="121680" cy="121680"/>
          </a:xfrm>
          <a:prstGeom prst="rect">
            <a:avLst/>
          </a:prstGeom>
          <a:solidFill>
            <a:srgbClr val="FFEE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 name="Cloud1_0_1"/>
          <p:cNvSpPr/>
          <p:nvPr/>
        </p:nvSpPr>
        <p:spPr>
          <a:xfrm>
            <a:off x="603360" y="274320"/>
            <a:ext cx="145800" cy="1825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6" name="Cloud1_0_2"/>
          <p:cNvSpPr/>
          <p:nvPr/>
        </p:nvSpPr>
        <p:spPr>
          <a:xfrm>
            <a:off x="749880" y="274320"/>
            <a:ext cx="145800" cy="1825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 name="Cloud1_0_3"/>
          <p:cNvSpPr/>
          <p:nvPr/>
        </p:nvSpPr>
        <p:spPr>
          <a:xfrm>
            <a:off x="896040" y="274320"/>
            <a:ext cx="145800" cy="1825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 name="Cloud1_1_0"/>
          <p:cNvSpPr/>
          <p:nvPr/>
        </p:nvSpPr>
        <p:spPr>
          <a:xfrm>
            <a:off x="457200" y="457200"/>
            <a:ext cx="145800" cy="1825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 name="Cloud1_1_1"/>
          <p:cNvSpPr/>
          <p:nvPr/>
        </p:nvSpPr>
        <p:spPr>
          <a:xfrm>
            <a:off x="603360" y="457200"/>
            <a:ext cx="145800" cy="1825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 name="Cloud1_1_2"/>
          <p:cNvSpPr/>
          <p:nvPr/>
        </p:nvSpPr>
        <p:spPr>
          <a:xfrm>
            <a:off x="749880" y="457200"/>
            <a:ext cx="145800" cy="182520"/>
          </a:xfrm>
          <a:prstGeom prst="rect">
            <a:avLst/>
          </a:prstGeom>
          <a:solidFill>
            <a:srgbClr val="E5E5E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 name="Cloud1_1_3"/>
          <p:cNvSpPr/>
          <p:nvPr/>
        </p:nvSpPr>
        <p:spPr>
          <a:xfrm>
            <a:off x="896040" y="457200"/>
            <a:ext cx="145800" cy="1825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 name="Cloud1_1_4"/>
          <p:cNvSpPr/>
          <p:nvPr/>
        </p:nvSpPr>
        <p:spPr>
          <a:xfrm>
            <a:off x="1042560" y="457200"/>
            <a:ext cx="145800" cy="1825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 name="Cloud1_2_0"/>
          <p:cNvSpPr/>
          <p:nvPr/>
        </p:nvSpPr>
        <p:spPr>
          <a:xfrm>
            <a:off x="457200" y="640080"/>
            <a:ext cx="145800" cy="1825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4" name="Cloud1_2_1"/>
          <p:cNvSpPr/>
          <p:nvPr/>
        </p:nvSpPr>
        <p:spPr>
          <a:xfrm>
            <a:off x="603360" y="640080"/>
            <a:ext cx="145800" cy="182520"/>
          </a:xfrm>
          <a:prstGeom prst="rect">
            <a:avLst/>
          </a:prstGeom>
          <a:solidFill>
            <a:srgbClr val="E5E5E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 name="Cloud1_2_2"/>
          <p:cNvSpPr/>
          <p:nvPr/>
        </p:nvSpPr>
        <p:spPr>
          <a:xfrm>
            <a:off x="749880" y="640080"/>
            <a:ext cx="145800" cy="1825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 name="Cloud1_2_3"/>
          <p:cNvSpPr/>
          <p:nvPr/>
        </p:nvSpPr>
        <p:spPr>
          <a:xfrm>
            <a:off x="896040" y="640080"/>
            <a:ext cx="145800" cy="182520"/>
          </a:xfrm>
          <a:prstGeom prst="rect">
            <a:avLst/>
          </a:prstGeom>
          <a:solidFill>
            <a:srgbClr val="E5E5E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 name="Cloud1_2_4"/>
          <p:cNvSpPr/>
          <p:nvPr/>
        </p:nvSpPr>
        <p:spPr>
          <a:xfrm>
            <a:off x="1042560" y="640080"/>
            <a:ext cx="145800" cy="1825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8" name="Cloud1_3_1"/>
          <p:cNvSpPr/>
          <p:nvPr/>
        </p:nvSpPr>
        <p:spPr>
          <a:xfrm>
            <a:off x="603360" y="822960"/>
            <a:ext cx="145800" cy="1825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 name="Cloud1_3_2"/>
          <p:cNvSpPr/>
          <p:nvPr/>
        </p:nvSpPr>
        <p:spPr>
          <a:xfrm>
            <a:off x="749880" y="822960"/>
            <a:ext cx="145800" cy="1825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 name="Cloud1_3_3"/>
          <p:cNvSpPr/>
          <p:nvPr/>
        </p:nvSpPr>
        <p:spPr>
          <a:xfrm>
            <a:off x="896040" y="822960"/>
            <a:ext cx="145800" cy="1825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1" name="Cloud2_0_1"/>
          <p:cNvSpPr/>
          <p:nvPr/>
        </p:nvSpPr>
        <p:spPr>
          <a:xfrm>
            <a:off x="2212920" y="91440"/>
            <a:ext cx="109440" cy="136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2" name="Cloud2_0_2"/>
          <p:cNvSpPr/>
          <p:nvPr/>
        </p:nvSpPr>
        <p:spPr>
          <a:xfrm>
            <a:off x="2322720" y="91440"/>
            <a:ext cx="109440" cy="136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 name="Cloud2_0_3"/>
          <p:cNvSpPr/>
          <p:nvPr/>
        </p:nvSpPr>
        <p:spPr>
          <a:xfrm>
            <a:off x="2432160" y="91440"/>
            <a:ext cx="109440" cy="136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 name="Cloud2_1_0"/>
          <p:cNvSpPr/>
          <p:nvPr/>
        </p:nvSpPr>
        <p:spPr>
          <a:xfrm>
            <a:off x="2103120" y="228600"/>
            <a:ext cx="109440" cy="136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5" name="Cloud2_1_1"/>
          <p:cNvSpPr/>
          <p:nvPr/>
        </p:nvSpPr>
        <p:spPr>
          <a:xfrm>
            <a:off x="2212920" y="228600"/>
            <a:ext cx="109440" cy="136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 name="Cloud2_1_2"/>
          <p:cNvSpPr/>
          <p:nvPr/>
        </p:nvSpPr>
        <p:spPr>
          <a:xfrm>
            <a:off x="2322720" y="228600"/>
            <a:ext cx="109440" cy="136800"/>
          </a:xfrm>
          <a:prstGeom prst="rect">
            <a:avLst/>
          </a:prstGeom>
          <a:solidFill>
            <a:srgbClr val="E5E5E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 name="Cloud2_1_3"/>
          <p:cNvSpPr/>
          <p:nvPr/>
        </p:nvSpPr>
        <p:spPr>
          <a:xfrm>
            <a:off x="2432160" y="228600"/>
            <a:ext cx="109440" cy="136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8" name="Cloud2_1_4"/>
          <p:cNvSpPr/>
          <p:nvPr/>
        </p:nvSpPr>
        <p:spPr>
          <a:xfrm>
            <a:off x="2541960" y="228600"/>
            <a:ext cx="109440" cy="136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 name="Cloud2_2_0"/>
          <p:cNvSpPr/>
          <p:nvPr/>
        </p:nvSpPr>
        <p:spPr>
          <a:xfrm>
            <a:off x="2103120" y="365760"/>
            <a:ext cx="109440" cy="136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 name="Cloud2_2_1"/>
          <p:cNvSpPr/>
          <p:nvPr/>
        </p:nvSpPr>
        <p:spPr>
          <a:xfrm>
            <a:off x="2212920" y="365760"/>
            <a:ext cx="109440" cy="136800"/>
          </a:xfrm>
          <a:prstGeom prst="rect">
            <a:avLst/>
          </a:prstGeom>
          <a:solidFill>
            <a:srgbClr val="E5E5E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 name="Cloud2_2_2"/>
          <p:cNvSpPr/>
          <p:nvPr/>
        </p:nvSpPr>
        <p:spPr>
          <a:xfrm>
            <a:off x="2322720" y="365760"/>
            <a:ext cx="109440" cy="136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2" name="Cloud2_2_3"/>
          <p:cNvSpPr/>
          <p:nvPr/>
        </p:nvSpPr>
        <p:spPr>
          <a:xfrm>
            <a:off x="2432160" y="365760"/>
            <a:ext cx="109440" cy="136800"/>
          </a:xfrm>
          <a:prstGeom prst="rect">
            <a:avLst/>
          </a:prstGeom>
          <a:solidFill>
            <a:srgbClr val="E5E5E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 name="Cloud2_2_4"/>
          <p:cNvSpPr/>
          <p:nvPr/>
        </p:nvSpPr>
        <p:spPr>
          <a:xfrm>
            <a:off x="2541960" y="365760"/>
            <a:ext cx="109440" cy="136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4" name="Cloud2_3_1"/>
          <p:cNvSpPr/>
          <p:nvPr/>
        </p:nvSpPr>
        <p:spPr>
          <a:xfrm>
            <a:off x="2212920" y="502920"/>
            <a:ext cx="109440" cy="136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 name="Cloud2_3_2"/>
          <p:cNvSpPr/>
          <p:nvPr/>
        </p:nvSpPr>
        <p:spPr>
          <a:xfrm>
            <a:off x="2322720" y="502920"/>
            <a:ext cx="109440" cy="136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6" name="Cloud2_3_3"/>
          <p:cNvSpPr/>
          <p:nvPr/>
        </p:nvSpPr>
        <p:spPr>
          <a:xfrm>
            <a:off x="2432160" y="502920"/>
            <a:ext cx="109440" cy="1368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 name="TitleShadow"/>
          <p:cNvSpPr/>
          <p:nvPr/>
        </p:nvSpPr>
        <p:spPr>
          <a:xfrm>
            <a:off x="475560" y="1115640"/>
            <a:ext cx="112773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strike="noStrike" spc="-1">
                <a:solidFill>
                  <a:srgbClr val="0A0A0A"/>
                </a:solidFill>
                <a:latin typeface="Trebuchet MS"/>
              </a:rPr>
              <a:t>YOUR  MLOPS  PIPELINE  IS  YOUR  AGENTIC  AI  GUARDRAIL</a:t>
            </a:r>
            <a:endParaRPr lang="en-US" sz="2600" b="0" strike="noStrike" spc="-1">
              <a:solidFill>
                <a:srgbClr val="000000"/>
              </a:solidFill>
              <a:latin typeface="Arial"/>
            </a:endParaRPr>
          </a:p>
        </p:txBody>
      </p:sp>
      <p:sp>
        <p:nvSpPr>
          <p:cNvPr id="58" name="Title"/>
          <p:cNvSpPr/>
          <p:nvPr/>
        </p:nvSpPr>
        <p:spPr>
          <a:xfrm>
            <a:off x="457200" y="1097280"/>
            <a:ext cx="1127736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600" b="1" strike="noStrike" spc="-1">
                <a:solidFill>
                  <a:srgbClr val="FFFFFF"/>
                </a:solidFill>
                <a:latin typeface="Trebuchet MS"/>
              </a:rPr>
              <a:t>YOUR  MLOPS  PIPELINE  IS  YOUR  AGENTIC  AI  GUARDRAIL</a:t>
            </a:r>
            <a:endParaRPr lang="en-US" sz="2600" b="0" strike="noStrike" spc="-1">
              <a:solidFill>
                <a:srgbClr val="000000"/>
              </a:solidFill>
              <a:latin typeface="Arial"/>
            </a:endParaRPr>
          </a:p>
        </p:txBody>
      </p:sp>
      <p:sp>
        <p:nvSpPr>
          <p:cNvPr id="59" name="Slogan"/>
          <p:cNvSpPr/>
          <p:nvPr/>
        </p:nvSpPr>
        <p:spPr>
          <a:xfrm>
            <a:off x="457200" y="1783080"/>
            <a:ext cx="112773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0A0A0A"/>
                </a:solidFill>
                <a:latin typeface="Trebuchet MS"/>
              </a:rPr>
              <a:t>★  CRAFTING  RECIPE:  AGENT  GUARDRAIL  ★</a:t>
            </a:r>
            <a:endParaRPr lang="en-US" sz="1600" b="0" strike="noStrike" spc="-1">
              <a:solidFill>
                <a:srgbClr val="000000"/>
              </a:solidFill>
              <a:latin typeface="Arial"/>
            </a:endParaRPr>
          </a:p>
        </p:txBody>
      </p:sp>
      <p:sp>
        <p:nvSpPr>
          <p:cNvPr id="60" name="Grass1_0"/>
          <p:cNvSpPr/>
          <p:nvPr/>
        </p:nvSpPr>
        <p:spPr>
          <a:xfrm>
            <a:off x="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1" name="Grass1_1"/>
          <p:cNvSpPr/>
          <p:nvPr/>
        </p:nvSpPr>
        <p:spPr>
          <a:xfrm>
            <a:off x="13716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2" name="Grass1_2"/>
          <p:cNvSpPr/>
          <p:nvPr/>
        </p:nvSpPr>
        <p:spPr>
          <a:xfrm>
            <a:off x="27432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 name="Grass1_3"/>
          <p:cNvSpPr/>
          <p:nvPr/>
        </p:nvSpPr>
        <p:spPr>
          <a:xfrm>
            <a:off x="41148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4" name="Grass1_4"/>
          <p:cNvSpPr/>
          <p:nvPr/>
        </p:nvSpPr>
        <p:spPr>
          <a:xfrm>
            <a:off x="54864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5" name="Grass1_5"/>
          <p:cNvSpPr/>
          <p:nvPr/>
        </p:nvSpPr>
        <p:spPr>
          <a:xfrm>
            <a:off x="68580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6" name="Grass1_6"/>
          <p:cNvSpPr/>
          <p:nvPr/>
        </p:nvSpPr>
        <p:spPr>
          <a:xfrm>
            <a:off x="82296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7" name="Grass1_7"/>
          <p:cNvSpPr/>
          <p:nvPr/>
        </p:nvSpPr>
        <p:spPr>
          <a:xfrm>
            <a:off x="96012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8" name="Grass1_8"/>
          <p:cNvSpPr/>
          <p:nvPr/>
        </p:nvSpPr>
        <p:spPr>
          <a:xfrm>
            <a:off x="109728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9" name="Grass1_9"/>
          <p:cNvSpPr/>
          <p:nvPr/>
        </p:nvSpPr>
        <p:spPr>
          <a:xfrm>
            <a:off x="123444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0" name="Grass1_10"/>
          <p:cNvSpPr/>
          <p:nvPr/>
        </p:nvSpPr>
        <p:spPr>
          <a:xfrm>
            <a:off x="137160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1" name="Grass1_11"/>
          <p:cNvSpPr/>
          <p:nvPr/>
        </p:nvSpPr>
        <p:spPr>
          <a:xfrm>
            <a:off x="150876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2" name="Grass1_12"/>
          <p:cNvSpPr/>
          <p:nvPr/>
        </p:nvSpPr>
        <p:spPr>
          <a:xfrm>
            <a:off x="164592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3" name="Grass1_13"/>
          <p:cNvSpPr/>
          <p:nvPr/>
        </p:nvSpPr>
        <p:spPr>
          <a:xfrm>
            <a:off x="178308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4" name="Grass1_14"/>
          <p:cNvSpPr/>
          <p:nvPr/>
        </p:nvSpPr>
        <p:spPr>
          <a:xfrm>
            <a:off x="192024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5" name="Grass1_15"/>
          <p:cNvSpPr/>
          <p:nvPr/>
        </p:nvSpPr>
        <p:spPr>
          <a:xfrm>
            <a:off x="205740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6" name="Grass1_16"/>
          <p:cNvSpPr/>
          <p:nvPr/>
        </p:nvSpPr>
        <p:spPr>
          <a:xfrm>
            <a:off x="219456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7" name="Grass1_17"/>
          <p:cNvSpPr/>
          <p:nvPr/>
        </p:nvSpPr>
        <p:spPr>
          <a:xfrm>
            <a:off x="233172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8" name="Grass1_18"/>
          <p:cNvSpPr/>
          <p:nvPr/>
        </p:nvSpPr>
        <p:spPr>
          <a:xfrm>
            <a:off x="246888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9" name="Grass1_19"/>
          <p:cNvSpPr/>
          <p:nvPr/>
        </p:nvSpPr>
        <p:spPr>
          <a:xfrm>
            <a:off x="260604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0" name="Grass1_20"/>
          <p:cNvSpPr/>
          <p:nvPr/>
        </p:nvSpPr>
        <p:spPr>
          <a:xfrm>
            <a:off x="274320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1" name="Grass1_21"/>
          <p:cNvSpPr/>
          <p:nvPr/>
        </p:nvSpPr>
        <p:spPr>
          <a:xfrm>
            <a:off x="288036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2" name="Grass1_22"/>
          <p:cNvSpPr/>
          <p:nvPr/>
        </p:nvSpPr>
        <p:spPr>
          <a:xfrm>
            <a:off x="301752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3" name="Grass1_23"/>
          <p:cNvSpPr/>
          <p:nvPr/>
        </p:nvSpPr>
        <p:spPr>
          <a:xfrm>
            <a:off x="315468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4" name="Grass1_24"/>
          <p:cNvSpPr/>
          <p:nvPr/>
        </p:nvSpPr>
        <p:spPr>
          <a:xfrm>
            <a:off x="329184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5" name="Grass1_25"/>
          <p:cNvSpPr/>
          <p:nvPr/>
        </p:nvSpPr>
        <p:spPr>
          <a:xfrm>
            <a:off x="342900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6" name="Grass1_26"/>
          <p:cNvSpPr/>
          <p:nvPr/>
        </p:nvSpPr>
        <p:spPr>
          <a:xfrm>
            <a:off x="356616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7" name="Grass1_27"/>
          <p:cNvSpPr/>
          <p:nvPr/>
        </p:nvSpPr>
        <p:spPr>
          <a:xfrm>
            <a:off x="370332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8" name="Grass1_28"/>
          <p:cNvSpPr/>
          <p:nvPr/>
        </p:nvSpPr>
        <p:spPr>
          <a:xfrm>
            <a:off x="384048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9" name="Grass1_29"/>
          <p:cNvSpPr/>
          <p:nvPr/>
        </p:nvSpPr>
        <p:spPr>
          <a:xfrm>
            <a:off x="397764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0" name="Grass1_30"/>
          <p:cNvSpPr/>
          <p:nvPr/>
        </p:nvSpPr>
        <p:spPr>
          <a:xfrm>
            <a:off x="411480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1" name="Grass1_31"/>
          <p:cNvSpPr/>
          <p:nvPr/>
        </p:nvSpPr>
        <p:spPr>
          <a:xfrm>
            <a:off x="425196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2" name="Grass1_32"/>
          <p:cNvSpPr/>
          <p:nvPr/>
        </p:nvSpPr>
        <p:spPr>
          <a:xfrm>
            <a:off x="438912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3" name="Grass1_33"/>
          <p:cNvSpPr/>
          <p:nvPr/>
        </p:nvSpPr>
        <p:spPr>
          <a:xfrm>
            <a:off x="452628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4" name="Grass1_34"/>
          <p:cNvSpPr/>
          <p:nvPr/>
        </p:nvSpPr>
        <p:spPr>
          <a:xfrm>
            <a:off x="466344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5" name="Grass1_35"/>
          <p:cNvSpPr/>
          <p:nvPr/>
        </p:nvSpPr>
        <p:spPr>
          <a:xfrm>
            <a:off x="480060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6" name="Grass1_36"/>
          <p:cNvSpPr/>
          <p:nvPr/>
        </p:nvSpPr>
        <p:spPr>
          <a:xfrm>
            <a:off x="493776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7" name="Grass1_37"/>
          <p:cNvSpPr/>
          <p:nvPr/>
        </p:nvSpPr>
        <p:spPr>
          <a:xfrm>
            <a:off x="507492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8" name="Grass1_38"/>
          <p:cNvSpPr/>
          <p:nvPr/>
        </p:nvSpPr>
        <p:spPr>
          <a:xfrm>
            <a:off x="521208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9" name="Grass1_39"/>
          <p:cNvSpPr/>
          <p:nvPr/>
        </p:nvSpPr>
        <p:spPr>
          <a:xfrm>
            <a:off x="534924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0" name="Grass1_40"/>
          <p:cNvSpPr/>
          <p:nvPr/>
        </p:nvSpPr>
        <p:spPr>
          <a:xfrm>
            <a:off x="548640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1" name="Grass1_41"/>
          <p:cNvSpPr/>
          <p:nvPr/>
        </p:nvSpPr>
        <p:spPr>
          <a:xfrm>
            <a:off x="562356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2" name="Grass1_42"/>
          <p:cNvSpPr/>
          <p:nvPr/>
        </p:nvSpPr>
        <p:spPr>
          <a:xfrm>
            <a:off x="576072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3" name="Grass1_43"/>
          <p:cNvSpPr/>
          <p:nvPr/>
        </p:nvSpPr>
        <p:spPr>
          <a:xfrm>
            <a:off x="589788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4" name="Grass1_44"/>
          <p:cNvSpPr/>
          <p:nvPr/>
        </p:nvSpPr>
        <p:spPr>
          <a:xfrm>
            <a:off x="603504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5" name="Grass1_45"/>
          <p:cNvSpPr/>
          <p:nvPr/>
        </p:nvSpPr>
        <p:spPr>
          <a:xfrm>
            <a:off x="617220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6" name="Grass1_46"/>
          <p:cNvSpPr/>
          <p:nvPr/>
        </p:nvSpPr>
        <p:spPr>
          <a:xfrm>
            <a:off x="630936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7" name="Grass1_47"/>
          <p:cNvSpPr/>
          <p:nvPr/>
        </p:nvSpPr>
        <p:spPr>
          <a:xfrm>
            <a:off x="644652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8" name="Grass1_48"/>
          <p:cNvSpPr/>
          <p:nvPr/>
        </p:nvSpPr>
        <p:spPr>
          <a:xfrm>
            <a:off x="658368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9" name="Grass1_49"/>
          <p:cNvSpPr/>
          <p:nvPr/>
        </p:nvSpPr>
        <p:spPr>
          <a:xfrm>
            <a:off x="672084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0" name="Grass1_50"/>
          <p:cNvSpPr/>
          <p:nvPr/>
        </p:nvSpPr>
        <p:spPr>
          <a:xfrm>
            <a:off x="685800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1" name="Grass1_51"/>
          <p:cNvSpPr/>
          <p:nvPr/>
        </p:nvSpPr>
        <p:spPr>
          <a:xfrm>
            <a:off x="699516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2" name="Grass1_52"/>
          <p:cNvSpPr/>
          <p:nvPr/>
        </p:nvSpPr>
        <p:spPr>
          <a:xfrm>
            <a:off x="713232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3" name="Grass1_53"/>
          <p:cNvSpPr/>
          <p:nvPr/>
        </p:nvSpPr>
        <p:spPr>
          <a:xfrm>
            <a:off x="726948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4" name="Grass1_54"/>
          <p:cNvSpPr/>
          <p:nvPr/>
        </p:nvSpPr>
        <p:spPr>
          <a:xfrm>
            <a:off x="740664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5" name="Grass1_55"/>
          <p:cNvSpPr/>
          <p:nvPr/>
        </p:nvSpPr>
        <p:spPr>
          <a:xfrm>
            <a:off x="754380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6" name="Grass1_56"/>
          <p:cNvSpPr/>
          <p:nvPr/>
        </p:nvSpPr>
        <p:spPr>
          <a:xfrm>
            <a:off x="768096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7" name="Grass1_57"/>
          <p:cNvSpPr/>
          <p:nvPr/>
        </p:nvSpPr>
        <p:spPr>
          <a:xfrm>
            <a:off x="781812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8" name="Grass1_58"/>
          <p:cNvSpPr/>
          <p:nvPr/>
        </p:nvSpPr>
        <p:spPr>
          <a:xfrm>
            <a:off x="795528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9" name="Grass1_59"/>
          <p:cNvSpPr/>
          <p:nvPr/>
        </p:nvSpPr>
        <p:spPr>
          <a:xfrm>
            <a:off x="809244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0" name="Grass1_60"/>
          <p:cNvSpPr/>
          <p:nvPr/>
        </p:nvSpPr>
        <p:spPr>
          <a:xfrm>
            <a:off x="822960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1" name="Grass1_61"/>
          <p:cNvSpPr/>
          <p:nvPr/>
        </p:nvSpPr>
        <p:spPr>
          <a:xfrm>
            <a:off x="836676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2" name="Grass1_62"/>
          <p:cNvSpPr/>
          <p:nvPr/>
        </p:nvSpPr>
        <p:spPr>
          <a:xfrm>
            <a:off x="850392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3" name="Grass1_63"/>
          <p:cNvSpPr/>
          <p:nvPr/>
        </p:nvSpPr>
        <p:spPr>
          <a:xfrm>
            <a:off x="864108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4" name="Grass1_64"/>
          <p:cNvSpPr/>
          <p:nvPr/>
        </p:nvSpPr>
        <p:spPr>
          <a:xfrm>
            <a:off x="877824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5" name="Grass1_65"/>
          <p:cNvSpPr/>
          <p:nvPr/>
        </p:nvSpPr>
        <p:spPr>
          <a:xfrm>
            <a:off x="891540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6" name="Grass1_66"/>
          <p:cNvSpPr/>
          <p:nvPr/>
        </p:nvSpPr>
        <p:spPr>
          <a:xfrm>
            <a:off x="905256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7" name="Grass1_67"/>
          <p:cNvSpPr/>
          <p:nvPr/>
        </p:nvSpPr>
        <p:spPr>
          <a:xfrm>
            <a:off x="918972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8" name="Grass1_68"/>
          <p:cNvSpPr/>
          <p:nvPr/>
        </p:nvSpPr>
        <p:spPr>
          <a:xfrm>
            <a:off x="932688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9" name="Grass1_69"/>
          <p:cNvSpPr/>
          <p:nvPr/>
        </p:nvSpPr>
        <p:spPr>
          <a:xfrm>
            <a:off x="946404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0" name="Grass1_70"/>
          <p:cNvSpPr/>
          <p:nvPr/>
        </p:nvSpPr>
        <p:spPr>
          <a:xfrm>
            <a:off x="960120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1" name="Grass1_71"/>
          <p:cNvSpPr/>
          <p:nvPr/>
        </p:nvSpPr>
        <p:spPr>
          <a:xfrm>
            <a:off x="973836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2" name="Grass1_72"/>
          <p:cNvSpPr/>
          <p:nvPr/>
        </p:nvSpPr>
        <p:spPr>
          <a:xfrm>
            <a:off x="987552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3" name="Grass1_73"/>
          <p:cNvSpPr/>
          <p:nvPr/>
        </p:nvSpPr>
        <p:spPr>
          <a:xfrm>
            <a:off x="1001268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4" name="Grass1_74"/>
          <p:cNvSpPr/>
          <p:nvPr/>
        </p:nvSpPr>
        <p:spPr>
          <a:xfrm>
            <a:off x="1014984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5" name="Grass1_75"/>
          <p:cNvSpPr/>
          <p:nvPr/>
        </p:nvSpPr>
        <p:spPr>
          <a:xfrm>
            <a:off x="1028700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6" name="Grass1_76"/>
          <p:cNvSpPr/>
          <p:nvPr/>
        </p:nvSpPr>
        <p:spPr>
          <a:xfrm>
            <a:off x="1042416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7" name="Grass1_77"/>
          <p:cNvSpPr/>
          <p:nvPr/>
        </p:nvSpPr>
        <p:spPr>
          <a:xfrm>
            <a:off x="1056132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8" name="Grass1_78"/>
          <p:cNvSpPr/>
          <p:nvPr/>
        </p:nvSpPr>
        <p:spPr>
          <a:xfrm>
            <a:off x="1069848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9" name="Grass1_79"/>
          <p:cNvSpPr/>
          <p:nvPr/>
        </p:nvSpPr>
        <p:spPr>
          <a:xfrm>
            <a:off x="1083564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0" name="Grass1_80"/>
          <p:cNvSpPr/>
          <p:nvPr/>
        </p:nvSpPr>
        <p:spPr>
          <a:xfrm>
            <a:off x="1097280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1" name="Grass1_81"/>
          <p:cNvSpPr/>
          <p:nvPr/>
        </p:nvSpPr>
        <p:spPr>
          <a:xfrm>
            <a:off x="1110996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2" name="Grass1_82"/>
          <p:cNvSpPr/>
          <p:nvPr/>
        </p:nvSpPr>
        <p:spPr>
          <a:xfrm>
            <a:off x="1124712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3" name="Grass1_83"/>
          <p:cNvSpPr/>
          <p:nvPr/>
        </p:nvSpPr>
        <p:spPr>
          <a:xfrm>
            <a:off x="1138428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4" name="Grass1_84"/>
          <p:cNvSpPr/>
          <p:nvPr/>
        </p:nvSpPr>
        <p:spPr>
          <a:xfrm>
            <a:off x="1152144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5" name="Grass1_85"/>
          <p:cNvSpPr/>
          <p:nvPr/>
        </p:nvSpPr>
        <p:spPr>
          <a:xfrm>
            <a:off x="1165860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6" name="Grass1_86"/>
          <p:cNvSpPr/>
          <p:nvPr/>
        </p:nvSpPr>
        <p:spPr>
          <a:xfrm>
            <a:off x="1179576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7" name="Grass1_87"/>
          <p:cNvSpPr/>
          <p:nvPr/>
        </p:nvSpPr>
        <p:spPr>
          <a:xfrm>
            <a:off x="11932920" y="530352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8" name="Grass1_88"/>
          <p:cNvSpPr/>
          <p:nvPr/>
        </p:nvSpPr>
        <p:spPr>
          <a:xfrm>
            <a:off x="12070080" y="530352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9" name="Grass2_0"/>
          <p:cNvSpPr/>
          <p:nvPr/>
        </p:nvSpPr>
        <p:spPr>
          <a:xfrm>
            <a:off x="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0" name="Grass2_1"/>
          <p:cNvSpPr/>
          <p:nvPr/>
        </p:nvSpPr>
        <p:spPr>
          <a:xfrm>
            <a:off x="13716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1" name="Grass2_2"/>
          <p:cNvSpPr/>
          <p:nvPr/>
        </p:nvSpPr>
        <p:spPr>
          <a:xfrm>
            <a:off x="27432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2" name="Grass2_3"/>
          <p:cNvSpPr/>
          <p:nvPr/>
        </p:nvSpPr>
        <p:spPr>
          <a:xfrm>
            <a:off x="41148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3" name="Grass2_4"/>
          <p:cNvSpPr/>
          <p:nvPr/>
        </p:nvSpPr>
        <p:spPr>
          <a:xfrm>
            <a:off x="54864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4" name="Grass2_5"/>
          <p:cNvSpPr/>
          <p:nvPr/>
        </p:nvSpPr>
        <p:spPr>
          <a:xfrm>
            <a:off x="68580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5" name="Grass2_6"/>
          <p:cNvSpPr/>
          <p:nvPr/>
        </p:nvSpPr>
        <p:spPr>
          <a:xfrm>
            <a:off x="82296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6" name="Grass2_7"/>
          <p:cNvSpPr/>
          <p:nvPr/>
        </p:nvSpPr>
        <p:spPr>
          <a:xfrm>
            <a:off x="96012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7" name="Grass2_8"/>
          <p:cNvSpPr/>
          <p:nvPr/>
        </p:nvSpPr>
        <p:spPr>
          <a:xfrm>
            <a:off x="109728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8" name="Grass2_9"/>
          <p:cNvSpPr/>
          <p:nvPr/>
        </p:nvSpPr>
        <p:spPr>
          <a:xfrm>
            <a:off x="123444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9" name="Grass2_10"/>
          <p:cNvSpPr/>
          <p:nvPr/>
        </p:nvSpPr>
        <p:spPr>
          <a:xfrm>
            <a:off x="137160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0" name="Grass2_11"/>
          <p:cNvSpPr/>
          <p:nvPr/>
        </p:nvSpPr>
        <p:spPr>
          <a:xfrm>
            <a:off x="150876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1" name="Grass2_12"/>
          <p:cNvSpPr/>
          <p:nvPr/>
        </p:nvSpPr>
        <p:spPr>
          <a:xfrm>
            <a:off x="164592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2" name="Grass2_13"/>
          <p:cNvSpPr/>
          <p:nvPr/>
        </p:nvSpPr>
        <p:spPr>
          <a:xfrm>
            <a:off x="178308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3" name="Grass2_14"/>
          <p:cNvSpPr/>
          <p:nvPr/>
        </p:nvSpPr>
        <p:spPr>
          <a:xfrm>
            <a:off x="192024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4" name="Grass2_15"/>
          <p:cNvSpPr/>
          <p:nvPr/>
        </p:nvSpPr>
        <p:spPr>
          <a:xfrm>
            <a:off x="205740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5" name="Grass2_16"/>
          <p:cNvSpPr/>
          <p:nvPr/>
        </p:nvSpPr>
        <p:spPr>
          <a:xfrm>
            <a:off x="219456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6" name="Grass2_17"/>
          <p:cNvSpPr/>
          <p:nvPr/>
        </p:nvSpPr>
        <p:spPr>
          <a:xfrm>
            <a:off x="233172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7" name="Grass2_18"/>
          <p:cNvSpPr/>
          <p:nvPr/>
        </p:nvSpPr>
        <p:spPr>
          <a:xfrm>
            <a:off x="246888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8" name="Grass2_19"/>
          <p:cNvSpPr/>
          <p:nvPr/>
        </p:nvSpPr>
        <p:spPr>
          <a:xfrm>
            <a:off x="260604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9" name="Grass2_20"/>
          <p:cNvSpPr/>
          <p:nvPr/>
        </p:nvSpPr>
        <p:spPr>
          <a:xfrm>
            <a:off x="274320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0" name="Grass2_21"/>
          <p:cNvSpPr/>
          <p:nvPr/>
        </p:nvSpPr>
        <p:spPr>
          <a:xfrm>
            <a:off x="288036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1" name="Grass2_22"/>
          <p:cNvSpPr/>
          <p:nvPr/>
        </p:nvSpPr>
        <p:spPr>
          <a:xfrm>
            <a:off x="301752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2" name="Grass2_23"/>
          <p:cNvSpPr/>
          <p:nvPr/>
        </p:nvSpPr>
        <p:spPr>
          <a:xfrm>
            <a:off x="315468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3" name="Grass2_24"/>
          <p:cNvSpPr/>
          <p:nvPr/>
        </p:nvSpPr>
        <p:spPr>
          <a:xfrm>
            <a:off x="329184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4" name="Grass2_25"/>
          <p:cNvSpPr/>
          <p:nvPr/>
        </p:nvSpPr>
        <p:spPr>
          <a:xfrm>
            <a:off x="342900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5" name="Grass2_26"/>
          <p:cNvSpPr/>
          <p:nvPr/>
        </p:nvSpPr>
        <p:spPr>
          <a:xfrm>
            <a:off x="356616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6" name="Grass2_27"/>
          <p:cNvSpPr/>
          <p:nvPr/>
        </p:nvSpPr>
        <p:spPr>
          <a:xfrm>
            <a:off x="370332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7" name="Grass2_28"/>
          <p:cNvSpPr/>
          <p:nvPr/>
        </p:nvSpPr>
        <p:spPr>
          <a:xfrm>
            <a:off x="384048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8" name="Grass2_29"/>
          <p:cNvSpPr/>
          <p:nvPr/>
        </p:nvSpPr>
        <p:spPr>
          <a:xfrm>
            <a:off x="397764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9" name="Grass2_30"/>
          <p:cNvSpPr/>
          <p:nvPr/>
        </p:nvSpPr>
        <p:spPr>
          <a:xfrm>
            <a:off x="411480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0" name="Grass2_31"/>
          <p:cNvSpPr/>
          <p:nvPr/>
        </p:nvSpPr>
        <p:spPr>
          <a:xfrm>
            <a:off x="425196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1" name="Grass2_32"/>
          <p:cNvSpPr/>
          <p:nvPr/>
        </p:nvSpPr>
        <p:spPr>
          <a:xfrm>
            <a:off x="438912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2" name="Grass2_33"/>
          <p:cNvSpPr/>
          <p:nvPr/>
        </p:nvSpPr>
        <p:spPr>
          <a:xfrm>
            <a:off x="452628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3" name="Grass2_34"/>
          <p:cNvSpPr/>
          <p:nvPr/>
        </p:nvSpPr>
        <p:spPr>
          <a:xfrm>
            <a:off x="466344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4" name="Grass2_35"/>
          <p:cNvSpPr/>
          <p:nvPr/>
        </p:nvSpPr>
        <p:spPr>
          <a:xfrm>
            <a:off x="480060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5" name="Grass2_36"/>
          <p:cNvSpPr/>
          <p:nvPr/>
        </p:nvSpPr>
        <p:spPr>
          <a:xfrm>
            <a:off x="493776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6" name="Grass2_37"/>
          <p:cNvSpPr/>
          <p:nvPr/>
        </p:nvSpPr>
        <p:spPr>
          <a:xfrm>
            <a:off x="507492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7" name="Grass2_38"/>
          <p:cNvSpPr/>
          <p:nvPr/>
        </p:nvSpPr>
        <p:spPr>
          <a:xfrm>
            <a:off x="521208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8" name="Grass2_39"/>
          <p:cNvSpPr/>
          <p:nvPr/>
        </p:nvSpPr>
        <p:spPr>
          <a:xfrm>
            <a:off x="534924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9" name="Grass2_40"/>
          <p:cNvSpPr/>
          <p:nvPr/>
        </p:nvSpPr>
        <p:spPr>
          <a:xfrm>
            <a:off x="548640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0" name="Grass2_41"/>
          <p:cNvSpPr/>
          <p:nvPr/>
        </p:nvSpPr>
        <p:spPr>
          <a:xfrm>
            <a:off x="562356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1" name="Grass2_42"/>
          <p:cNvSpPr/>
          <p:nvPr/>
        </p:nvSpPr>
        <p:spPr>
          <a:xfrm>
            <a:off x="576072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2" name="Grass2_43"/>
          <p:cNvSpPr/>
          <p:nvPr/>
        </p:nvSpPr>
        <p:spPr>
          <a:xfrm>
            <a:off x="589788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3" name="Grass2_44"/>
          <p:cNvSpPr/>
          <p:nvPr/>
        </p:nvSpPr>
        <p:spPr>
          <a:xfrm>
            <a:off x="603504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4" name="Grass2_45"/>
          <p:cNvSpPr/>
          <p:nvPr/>
        </p:nvSpPr>
        <p:spPr>
          <a:xfrm>
            <a:off x="617220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5" name="Grass2_46"/>
          <p:cNvSpPr/>
          <p:nvPr/>
        </p:nvSpPr>
        <p:spPr>
          <a:xfrm>
            <a:off x="630936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6" name="Grass2_47"/>
          <p:cNvSpPr/>
          <p:nvPr/>
        </p:nvSpPr>
        <p:spPr>
          <a:xfrm>
            <a:off x="644652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7" name="Grass2_48"/>
          <p:cNvSpPr/>
          <p:nvPr/>
        </p:nvSpPr>
        <p:spPr>
          <a:xfrm>
            <a:off x="658368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8" name="Grass2_49"/>
          <p:cNvSpPr/>
          <p:nvPr/>
        </p:nvSpPr>
        <p:spPr>
          <a:xfrm>
            <a:off x="672084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9" name="Grass2_50"/>
          <p:cNvSpPr/>
          <p:nvPr/>
        </p:nvSpPr>
        <p:spPr>
          <a:xfrm>
            <a:off x="685800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0" name="Grass2_51"/>
          <p:cNvSpPr/>
          <p:nvPr/>
        </p:nvSpPr>
        <p:spPr>
          <a:xfrm>
            <a:off x="699516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1" name="Grass2_52"/>
          <p:cNvSpPr/>
          <p:nvPr/>
        </p:nvSpPr>
        <p:spPr>
          <a:xfrm>
            <a:off x="713232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2" name="Grass2_53"/>
          <p:cNvSpPr/>
          <p:nvPr/>
        </p:nvSpPr>
        <p:spPr>
          <a:xfrm>
            <a:off x="726948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3" name="Grass2_54"/>
          <p:cNvSpPr/>
          <p:nvPr/>
        </p:nvSpPr>
        <p:spPr>
          <a:xfrm>
            <a:off x="740664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4" name="Grass2_55"/>
          <p:cNvSpPr/>
          <p:nvPr/>
        </p:nvSpPr>
        <p:spPr>
          <a:xfrm>
            <a:off x="754380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5" name="Grass2_56"/>
          <p:cNvSpPr/>
          <p:nvPr/>
        </p:nvSpPr>
        <p:spPr>
          <a:xfrm>
            <a:off x="768096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6" name="Grass2_57"/>
          <p:cNvSpPr/>
          <p:nvPr/>
        </p:nvSpPr>
        <p:spPr>
          <a:xfrm>
            <a:off x="781812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7" name="Grass2_58"/>
          <p:cNvSpPr/>
          <p:nvPr/>
        </p:nvSpPr>
        <p:spPr>
          <a:xfrm>
            <a:off x="795528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8" name="Grass2_59"/>
          <p:cNvSpPr/>
          <p:nvPr/>
        </p:nvSpPr>
        <p:spPr>
          <a:xfrm>
            <a:off x="809244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9" name="Grass2_60"/>
          <p:cNvSpPr/>
          <p:nvPr/>
        </p:nvSpPr>
        <p:spPr>
          <a:xfrm>
            <a:off x="822960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0" name="Grass2_61"/>
          <p:cNvSpPr/>
          <p:nvPr/>
        </p:nvSpPr>
        <p:spPr>
          <a:xfrm>
            <a:off x="836676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1" name="Grass2_62"/>
          <p:cNvSpPr/>
          <p:nvPr/>
        </p:nvSpPr>
        <p:spPr>
          <a:xfrm>
            <a:off x="850392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2" name="Grass2_63"/>
          <p:cNvSpPr/>
          <p:nvPr/>
        </p:nvSpPr>
        <p:spPr>
          <a:xfrm>
            <a:off x="864108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3" name="Grass2_64"/>
          <p:cNvSpPr/>
          <p:nvPr/>
        </p:nvSpPr>
        <p:spPr>
          <a:xfrm>
            <a:off x="877824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4" name="Grass2_65"/>
          <p:cNvSpPr/>
          <p:nvPr/>
        </p:nvSpPr>
        <p:spPr>
          <a:xfrm>
            <a:off x="891540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5" name="Grass2_66"/>
          <p:cNvSpPr/>
          <p:nvPr/>
        </p:nvSpPr>
        <p:spPr>
          <a:xfrm>
            <a:off x="905256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6" name="Grass2_67"/>
          <p:cNvSpPr/>
          <p:nvPr/>
        </p:nvSpPr>
        <p:spPr>
          <a:xfrm>
            <a:off x="918972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7" name="Grass2_68"/>
          <p:cNvSpPr/>
          <p:nvPr/>
        </p:nvSpPr>
        <p:spPr>
          <a:xfrm>
            <a:off x="932688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8" name="Grass2_69"/>
          <p:cNvSpPr/>
          <p:nvPr/>
        </p:nvSpPr>
        <p:spPr>
          <a:xfrm>
            <a:off x="946404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9" name="Grass2_70"/>
          <p:cNvSpPr/>
          <p:nvPr/>
        </p:nvSpPr>
        <p:spPr>
          <a:xfrm>
            <a:off x="960120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0" name="Grass2_71"/>
          <p:cNvSpPr/>
          <p:nvPr/>
        </p:nvSpPr>
        <p:spPr>
          <a:xfrm>
            <a:off x="973836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1" name="Grass2_72"/>
          <p:cNvSpPr/>
          <p:nvPr/>
        </p:nvSpPr>
        <p:spPr>
          <a:xfrm>
            <a:off x="987552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2" name="Grass2_73"/>
          <p:cNvSpPr/>
          <p:nvPr/>
        </p:nvSpPr>
        <p:spPr>
          <a:xfrm>
            <a:off x="1001268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3" name="Grass2_74"/>
          <p:cNvSpPr/>
          <p:nvPr/>
        </p:nvSpPr>
        <p:spPr>
          <a:xfrm>
            <a:off x="1014984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4" name="Grass2_75"/>
          <p:cNvSpPr/>
          <p:nvPr/>
        </p:nvSpPr>
        <p:spPr>
          <a:xfrm>
            <a:off x="1028700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5" name="Grass2_76"/>
          <p:cNvSpPr/>
          <p:nvPr/>
        </p:nvSpPr>
        <p:spPr>
          <a:xfrm>
            <a:off x="1042416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6" name="Grass2_77"/>
          <p:cNvSpPr/>
          <p:nvPr/>
        </p:nvSpPr>
        <p:spPr>
          <a:xfrm>
            <a:off x="1056132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7" name="Grass2_78"/>
          <p:cNvSpPr/>
          <p:nvPr/>
        </p:nvSpPr>
        <p:spPr>
          <a:xfrm>
            <a:off x="1069848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8" name="Grass2_79"/>
          <p:cNvSpPr/>
          <p:nvPr/>
        </p:nvSpPr>
        <p:spPr>
          <a:xfrm>
            <a:off x="1083564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9" name="Grass2_80"/>
          <p:cNvSpPr/>
          <p:nvPr/>
        </p:nvSpPr>
        <p:spPr>
          <a:xfrm>
            <a:off x="1097280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0" name="Grass2_81"/>
          <p:cNvSpPr/>
          <p:nvPr/>
        </p:nvSpPr>
        <p:spPr>
          <a:xfrm>
            <a:off x="1110996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1" name="Grass2_82"/>
          <p:cNvSpPr/>
          <p:nvPr/>
        </p:nvSpPr>
        <p:spPr>
          <a:xfrm>
            <a:off x="1124712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2" name="Grass2_83"/>
          <p:cNvSpPr/>
          <p:nvPr/>
        </p:nvSpPr>
        <p:spPr>
          <a:xfrm>
            <a:off x="1138428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3" name="Grass2_84"/>
          <p:cNvSpPr/>
          <p:nvPr/>
        </p:nvSpPr>
        <p:spPr>
          <a:xfrm>
            <a:off x="1152144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4" name="Grass2_85"/>
          <p:cNvSpPr/>
          <p:nvPr/>
        </p:nvSpPr>
        <p:spPr>
          <a:xfrm>
            <a:off x="1165860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5" name="Grass2_86"/>
          <p:cNvSpPr/>
          <p:nvPr/>
        </p:nvSpPr>
        <p:spPr>
          <a:xfrm>
            <a:off x="1179576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6" name="Grass2_87"/>
          <p:cNvSpPr/>
          <p:nvPr/>
        </p:nvSpPr>
        <p:spPr>
          <a:xfrm>
            <a:off x="11932920" y="5486400"/>
            <a:ext cx="136800" cy="18252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7" name="Grass2_88"/>
          <p:cNvSpPr/>
          <p:nvPr/>
        </p:nvSpPr>
        <p:spPr>
          <a:xfrm>
            <a:off x="12070080" y="5486400"/>
            <a:ext cx="136800" cy="182520"/>
          </a:xfrm>
          <a:prstGeom prst="rect">
            <a:avLst/>
          </a:prstGeom>
          <a:solidFill>
            <a:srgbClr val="3A8F2C"/>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8" name="Dirt1_0"/>
          <p:cNvSpPr/>
          <p:nvPr/>
        </p:nvSpPr>
        <p:spPr>
          <a:xfrm>
            <a:off x="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39" name="Dirt1_1"/>
          <p:cNvSpPr/>
          <p:nvPr/>
        </p:nvSpPr>
        <p:spPr>
          <a:xfrm>
            <a:off x="1371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40" name="Dirt1_2"/>
          <p:cNvSpPr/>
          <p:nvPr/>
        </p:nvSpPr>
        <p:spPr>
          <a:xfrm>
            <a:off x="2743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41" name="Dirt1_3"/>
          <p:cNvSpPr/>
          <p:nvPr/>
        </p:nvSpPr>
        <p:spPr>
          <a:xfrm>
            <a:off x="41148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42" name="Dirt1_4"/>
          <p:cNvSpPr/>
          <p:nvPr/>
        </p:nvSpPr>
        <p:spPr>
          <a:xfrm>
            <a:off x="54864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43" name="Dirt1_5"/>
          <p:cNvSpPr/>
          <p:nvPr/>
        </p:nvSpPr>
        <p:spPr>
          <a:xfrm>
            <a:off x="68580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44" name="Dirt1_6"/>
          <p:cNvSpPr/>
          <p:nvPr/>
        </p:nvSpPr>
        <p:spPr>
          <a:xfrm>
            <a:off x="8229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45" name="Dirt1_7"/>
          <p:cNvSpPr/>
          <p:nvPr/>
        </p:nvSpPr>
        <p:spPr>
          <a:xfrm>
            <a:off x="9601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46" name="Dirt1_8"/>
          <p:cNvSpPr/>
          <p:nvPr/>
        </p:nvSpPr>
        <p:spPr>
          <a:xfrm>
            <a:off x="109728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47" name="Dirt1_9"/>
          <p:cNvSpPr/>
          <p:nvPr/>
        </p:nvSpPr>
        <p:spPr>
          <a:xfrm>
            <a:off x="123444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48" name="Dirt1_10"/>
          <p:cNvSpPr/>
          <p:nvPr/>
        </p:nvSpPr>
        <p:spPr>
          <a:xfrm>
            <a:off x="137160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49" name="Dirt1_11"/>
          <p:cNvSpPr/>
          <p:nvPr/>
        </p:nvSpPr>
        <p:spPr>
          <a:xfrm>
            <a:off x="15087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0" name="Dirt1_12"/>
          <p:cNvSpPr/>
          <p:nvPr/>
        </p:nvSpPr>
        <p:spPr>
          <a:xfrm>
            <a:off x="164592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1" name="Dirt1_13"/>
          <p:cNvSpPr/>
          <p:nvPr/>
        </p:nvSpPr>
        <p:spPr>
          <a:xfrm>
            <a:off x="178308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2" name="Dirt1_14"/>
          <p:cNvSpPr/>
          <p:nvPr/>
        </p:nvSpPr>
        <p:spPr>
          <a:xfrm>
            <a:off x="192024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3" name="Dirt1_15"/>
          <p:cNvSpPr/>
          <p:nvPr/>
        </p:nvSpPr>
        <p:spPr>
          <a:xfrm>
            <a:off x="205740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4" name="Dirt1_16"/>
          <p:cNvSpPr/>
          <p:nvPr/>
        </p:nvSpPr>
        <p:spPr>
          <a:xfrm>
            <a:off x="219456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5" name="Dirt1_17"/>
          <p:cNvSpPr/>
          <p:nvPr/>
        </p:nvSpPr>
        <p:spPr>
          <a:xfrm>
            <a:off x="23317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6" name="Dirt1_18"/>
          <p:cNvSpPr/>
          <p:nvPr/>
        </p:nvSpPr>
        <p:spPr>
          <a:xfrm>
            <a:off x="246888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7" name="Dirt1_19"/>
          <p:cNvSpPr/>
          <p:nvPr/>
        </p:nvSpPr>
        <p:spPr>
          <a:xfrm>
            <a:off x="260604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8" name="Dirt1_20"/>
          <p:cNvSpPr/>
          <p:nvPr/>
        </p:nvSpPr>
        <p:spPr>
          <a:xfrm>
            <a:off x="274320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59" name="Dirt1_21"/>
          <p:cNvSpPr/>
          <p:nvPr/>
        </p:nvSpPr>
        <p:spPr>
          <a:xfrm>
            <a:off x="28803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60" name="Dirt1_22"/>
          <p:cNvSpPr/>
          <p:nvPr/>
        </p:nvSpPr>
        <p:spPr>
          <a:xfrm>
            <a:off x="30175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61" name="Dirt1_23"/>
          <p:cNvSpPr/>
          <p:nvPr/>
        </p:nvSpPr>
        <p:spPr>
          <a:xfrm>
            <a:off x="315468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62" name="Dirt1_24"/>
          <p:cNvSpPr/>
          <p:nvPr/>
        </p:nvSpPr>
        <p:spPr>
          <a:xfrm>
            <a:off x="329184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63" name="Dirt1_25"/>
          <p:cNvSpPr/>
          <p:nvPr/>
        </p:nvSpPr>
        <p:spPr>
          <a:xfrm>
            <a:off x="342900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64" name="Dirt1_26"/>
          <p:cNvSpPr/>
          <p:nvPr/>
        </p:nvSpPr>
        <p:spPr>
          <a:xfrm>
            <a:off x="35661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65" name="Dirt1_27"/>
          <p:cNvSpPr/>
          <p:nvPr/>
        </p:nvSpPr>
        <p:spPr>
          <a:xfrm>
            <a:off x="37033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66" name="Dirt1_28"/>
          <p:cNvSpPr/>
          <p:nvPr/>
        </p:nvSpPr>
        <p:spPr>
          <a:xfrm>
            <a:off x="384048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67" name="Dirt1_29"/>
          <p:cNvSpPr/>
          <p:nvPr/>
        </p:nvSpPr>
        <p:spPr>
          <a:xfrm>
            <a:off x="397764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68" name="Dirt1_30"/>
          <p:cNvSpPr/>
          <p:nvPr/>
        </p:nvSpPr>
        <p:spPr>
          <a:xfrm>
            <a:off x="411480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69" name="Dirt1_31"/>
          <p:cNvSpPr/>
          <p:nvPr/>
        </p:nvSpPr>
        <p:spPr>
          <a:xfrm>
            <a:off x="42519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0" name="Dirt1_32"/>
          <p:cNvSpPr/>
          <p:nvPr/>
        </p:nvSpPr>
        <p:spPr>
          <a:xfrm>
            <a:off x="438912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1" name="Dirt1_33"/>
          <p:cNvSpPr/>
          <p:nvPr/>
        </p:nvSpPr>
        <p:spPr>
          <a:xfrm>
            <a:off x="452628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2" name="Dirt1_34"/>
          <p:cNvSpPr/>
          <p:nvPr/>
        </p:nvSpPr>
        <p:spPr>
          <a:xfrm>
            <a:off x="466344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3" name="Dirt1_35"/>
          <p:cNvSpPr/>
          <p:nvPr/>
        </p:nvSpPr>
        <p:spPr>
          <a:xfrm>
            <a:off x="480060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4" name="Dirt1_36"/>
          <p:cNvSpPr/>
          <p:nvPr/>
        </p:nvSpPr>
        <p:spPr>
          <a:xfrm>
            <a:off x="493776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5" name="Dirt1_37"/>
          <p:cNvSpPr/>
          <p:nvPr/>
        </p:nvSpPr>
        <p:spPr>
          <a:xfrm>
            <a:off x="50749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6" name="Dirt1_38"/>
          <p:cNvSpPr/>
          <p:nvPr/>
        </p:nvSpPr>
        <p:spPr>
          <a:xfrm>
            <a:off x="521208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7" name="Dirt1_39"/>
          <p:cNvSpPr/>
          <p:nvPr/>
        </p:nvSpPr>
        <p:spPr>
          <a:xfrm>
            <a:off x="534924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8" name="Dirt1_40"/>
          <p:cNvSpPr/>
          <p:nvPr/>
        </p:nvSpPr>
        <p:spPr>
          <a:xfrm>
            <a:off x="548640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79" name="Dirt1_41"/>
          <p:cNvSpPr/>
          <p:nvPr/>
        </p:nvSpPr>
        <p:spPr>
          <a:xfrm>
            <a:off x="56235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0" name="Dirt1_42"/>
          <p:cNvSpPr/>
          <p:nvPr/>
        </p:nvSpPr>
        <p:spPr>
          <a:xfrm>
            <a:off x="57607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1" name="Dirt1_43"/>
          <p:cNvSpPr/>
          <p:nvPr/>
        </p:nvSpPr>
        <p:spPr>
          <a:xfrm>
            <a:off x="589788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2" name="Dirt1_44"/>
          <p:cNvSpPr/>
          <p:nvPr/>
        </p:nvSpPr>
        <p:spPr>
          <a:xfrm>
            <a:off x="603504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3" name="Dirt1_45"/>
          <p:cNvSpPr/>
          <p:nvPr/>
        </p:nvSpPr>
        <p:spPr>
          <a:xfrm>
            <a:off x="617220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4" name="Dirt1_46"/>
          <p:cNvSpPr/>
          <p:nvPr/>
        </p:nvSpPr>
        <p:spPr>
          <a:xfrm>
            <a:off x="63093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5" name="Dirt1_47"/>
          <p:cNvSpPr/>
          <p:nvPr/>
        </p:nvSpPr>
        <p:spPr>
          <a:xfrm>
            <a:off x="64465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6" name="Dirt1_48"/>
          <p:cNvSpPr/>
          <p:nvPr/>
        </p:nvSpPr>
        <p:spPr>
          <a:xfrm>
            <a:off x="658368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7" name="Dirt1_49"/>
          <p:cNvSpPr/>
          <p:nvPr/>
        </p:nvSpPr>
        <p:spPr>
          <a:xfrm>
            <a:off x="672084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8" name="Dirt1_50"/>
          <p:cNvSpPr/>
          <p:nvPr/>
        </p:nvSpPr>
        <p:spPr>
          <a:xfrm>
            <a:off x="685800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9" name="Dirt1_51"/>
          <p:cNvSpPr/>
          <p:nvPr/>
        </p:nvSpPr>
        <p:spPr>
          <a:xfrm>
            <a:off x="69951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0" name="Dirt1_52"/>
          <p:cNvSpPr/>
          <p:nvPr/>
        </p:nvSpPr>
        <p:spPr>
          <a:xfrm>
            <a:off x="713232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1" name="Dirt1_53"/>
          <p:cNvSpPr/>
          <p:nvPr/>
        </p:nvSpPr>
        <p:spPr>
          <a:xfrm>
            <a:off x="726948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2" name="Dirt1_54"/>
          <p:cNvSpPr/>
          <p:nvPr/>
        </p:nvSpPr>
        <p:spPr>
          <a:xfrm>
            <a:off x="740664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3" name="Dirt1_55"/>
          <p:cNvSpPr/>
          <p:nvPr/>
        </p:nvSpPr>
        <p:spPr>
          <a:xfrm>
            <a:off x="754380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4" name="Dirt1_56"/>
          <p:cNvSpPr/>
          <p:nvPr/>
        </p:nvSpPr>
        <p:spPr>
          <a:xfrm>
            <a:off x="768096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5" name="Dirt1_57"/>
          <p:cNvSpPr/>
          <p:nvPr/>
        </p:nvSpPr>
        <p:spPr>
          <a:xfrm>
            <a:off x="78181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6" name="Dirt1_58"/>
          <p:cNvSpPr/>
          <p:nvPr/>
        </p:nvSpPr>
        <p:spPr>
          <a:xfrm>
            <a:off x="795528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7" name="Dirt1_59"/>
          <p:cNvSpPr/>
          <p:nvPr/>
        </p:nvSpPr>
        <p:spPr>
          <a:xfrm>
            <a:off x="809244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8" name="Dirt1_60"/>
          <p:cNvSpPr/>
          <p:nvPr/>
        </p:nvSpPr>
        <p:spPr>
          <a:xfrm>
            <a:off x="822960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9" name="Dirt1_61"/>
          <p:cNvSpPr/>
          <p:nvPr/>
        </p:nvSpPr>
        <p:spPr>
          <a:xfrm>
            <a:off x="83667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0" name="Dirt1_62"/>
          <p:cNvSpPr/>
          <p:nvPr/>
        </p:nvSpPr>
        <p:spPr>
          <a:xfrm>
            <a:off x="85039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1" name="Dirt1_63"/>
          <p:cNvSpPr/>
          <p:nvPr/>
        </p:nvSpPr>
        <p:spPr>
          <a:xfrm>
            <a:off x="864108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2" name="Dirt1_64"/>
          <p:cNvSpPr/>
          <p:nvPr/>
        </p:nvSpPr>
        <p:spPr>
          <a:xfrm>
            <a:off x="877824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3" name="Dirt1_65"/>
          <p:cNvSpPr/>
          <p:nvPr/>
        </p:nvSpPr>
        <p:spPr>
          <a:xfrm>
            <a:off x="891540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4" name="Dirt1_66"/>
          <p:cNvSpPr/>
          <p:nvPr/>
        </p:nvSpPr>
        <p:spPr>
          <a:xfrm>
            <a:off x="90525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5" name="Dirt1_67"/>
          <p:cNvSpPr/>
          <p:nvPr/>
        </p:nvSpPr>
        <p:spPr>
          <a:xfrm>
            <a:off x="91897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6" name="Dirt1_68"/>
          <p:cNvSpPr/>
          <p:nvPr/>
        </p:nvSpPr>
        <p:spPr>
          <a:xfrm>
            <a:off x="932688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7" name="Dirt1_69"/>
          <p:cNvSpPr/>
          <p:nvPr/>
        </p:nvSpPr>
        <p:spPr>
          <a:xfrm>
            <a:off x="946404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8" name="Dirt1_70"/>
          <p:cNvSpPr/>
          <p:nvPr/>
        </p:nvSpPr>
        <p:spPr>
          <a:xfrm>
            <a:off x="960120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9" name="Dirt1_71"/>
          <p:cNvSpPr/>
          <p:nvPr/>
        </p:nvSpPr>
        <p:spPr>
          <a:xfrm>
            <a:off x="97383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0" name="Dirt1_72"/>
          <p:cNvSpPr/>
          <p:nvPr/>
        </p:nvSpPr>
        <p:spPr>
          <a:xfrm>
            <a:off x="987552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1" name="Dirt1_73"/>
          <p:cNvSpPr/>
          <p:nvPr/>
        </p:nvSpPr>
        <p:spPr>
          <a:xfrm>
            <a:off x="1001268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2" name="Dirt1_74"/>
          <p:cNvSpPr/>
          <p:nvPr/>
        </p:nvSpPr>
        <p:spPr>
          <a:xfrm>
            <a:off x="1014984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3" name="Dirt1_75"/>
          <p:cNvSpPr/>
          <p:nvPr/>
        </p:nvSpPr>
        <p:spPr>
          <a:xfrm>
            <a:off x="1028700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4" name="Dirt1_76"/>
          <p:cNvSpPr/>
          <p:nvPr/>
        </p:nvSpPr>
        <p:spPr>
          <a:xfrm>
            <a:off x="1042416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5" name="Dirt1_77"/>
          <p:cNvSpPr/>
          <p:nvPr/>
        </p:nvSpPr>
        <p:spPr>
          <a:xfrm>
            <a:off x="105613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6" name="Dirt1_78"/>
          <p:cNvSpPr/>
          <p:nvPr/>
        </p:nvSpPr>
        <p:spPr>
          <a:xfrm>
            <a:off x="1069848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7" name="Dirt1_79"/>
          <p:cNvSpPr/>
          <p:nvPr/>
        </p:nvSpPr>
        <p:spPr>
          <a:xfrm>
            <a:off x="1083564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8" name="Dirt1_80"/>
          <p:cNvSpPr/>
          <p:nvPr/>
        </p:nvSpPr>
        <p:spPr>
          <a:xfrm>
            <a:off x="1097280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9" name="Dirt1_81"/>
          <p:cNvSpPr/>
          <p:nvPr/>
        </p:nvSpPr>
        <p:spPr>
          <a:xfrm>
            <a:off x="111099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0" name="Dirt1_82"/>
          <p:cNvSpPr/>
          <p:nvPr/>
        </p:nvSpPr>
        <p:spPr>
          <a:xfrm>
            <a:off x="112471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1" name="Dirt1_83"/>
          <p:cNvSpPr/>
          <p:nvPr/>
        </p:nvSpPr>
        <p:spPr>
          <a:xfrm>
            <a:off x="1138428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2" name="Dirt1_84"/>
          <p:cNvSpPr/>
          <p:nvPr/>
        </p:nvSpPr>
        <p:spPr>
          <a:xfrm>
            <a:off x="1152144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3" name="Dirt1_85"/>
          <p:cNvSpPr/>
          <p:nvPr/>
        </p:nvSpPr>
        <p:spPr>
          <a:xfrm>
            <a:off x="1165860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4" name="Dirt1_86"/>
          <p:cNvSpPr/>
          <p:nvPr/>
        </p:nvSpPr>
        <p:spPr>
          <a:xfrm>
            <a:off x="1179576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5" name="Dirt1_87"/>
          <p:cNvSpPr/>
          <p:nvPr/>
        </p:nvSpPr>
        <p:spPr>
          <a:xfrm>
            <a:off x="11932920" y="566928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6" name="Dirt1_88"/>
          <p:cNvSpPr/>
          <p:nvPr/>
        </p:nvSpPr>
        <p:spPr>
          <a:xfrm>
            <a:off x="12070080" y="566928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7" name="Dirt2_0"/>
          <p:cNvSpPr/>
          <p:nvPr/>
        </p:nvSpPr>
        <p:spPr>
          <a:xfrm>
            <a:off x="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8" name="Dirt2_1"/>
          <p:cNvSpPr/>
          <p:nvPr/>
        </p:nvSpPr>
        <p:spPr>
          <a:xfrm>
            <a:off x="1371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9" name="Dirt2_2"/>
          <p:cNvSpPr/>
          <p:nvPr/>
        </p:nvSpPr>
        <p:spPr>
          <a:xfrm>
            <a:off x="2743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0" name="Dirt2_3"/>
          <p:cNvSpPr/>
          <p:nvPr/>
        </p:nvSpPr>
        <p:spPr>
          <a:xfrm>
            <a:off x="41148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1" name="Dirt2_4"/>
          <p:cNvSpPr/>
          <p:nvPr/>
        </p:nvSpPr>
        <p:spPr>
          <a:xfrm>
            <a:off x="54864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2" name="Dirt2_5"/>
          <p:cNvSpPr/>
          <p:nvPr/>
        </p:nvSpPr>
        <p:spPr>
          <a:xfrm>
            <a:off x="68580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3" name="Dirt2_6"/>
          <p:cNvSpPr/>
          <p:nvPr/>
        </p:nvSpPr>
        <p:spPr>
          <a:xfrm>
            <a:off x="8229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4" name="Dirt2_7"/>
          <p:cNvSpPr/>
          <p:nvPr/>
        </p:nvSpPr>
        <p:spPr>
          <a:xfrm>
            <a:off x="9601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5" name="Dirt2_8"/>
          <p:cNvSpPr/>
          <p:nvPr/>
        </p:nvSpPr>
        <p:spPr>
          <a:xfrm>
            <a:off x="109728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6" name="Dirt2_9"/>
          <p:cNvSpPr/>
          <p:nvPr/>
        </p:nvSpPr>
        <p:spPr>
          <a:xfrm>
            <a:off x="123444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7" name="Dirt2_10"/>
          <p:cNvSpPr/>
          <p:nvPr/>
        </p:nvSpPr>
        <p:spPr>
          <a:xfrm>
            <a:off x="137160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8" name="Dirt2_11"/>
          <p:cNvSpPr/>
          <p:nvPr/>
        </p:nvSpPr>
        <p:spPr>
          <a:xfrm>
            <a:off x="15087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9" name="Dirt2_12"/>
          <p:cNvSpPr/>
          <p:nvPr/>
        </p:nvSpPr>
        <p:spPr>
          <a:xfrm>
            <a:off x="164592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40" name="Dirt2_13"/>
          <p:cNvSpPr/>
          <p:nvPr/>
        </p:nvSpPr>
        <p:spPr>
          <a:xfrm>
            <a:off x="178308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41" name="Dirt2_14"/>
          <p:cNvSpPr/>
          <p:nvPr/>
        </p:nvSpPr>
        <p:spPr>
          <a:xfrm>
            <a:off x="192024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42" name="Dirt2_15"/>
          <p:cNvSpPr/>
          <p:nvPr/>
        </p:nvSpPr>
        <p:spPr>
          <a:xfrm>
            <a:off x="205740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43" name="Dirt2_16"/>
          <p:cNvSpPr/>
          <p:nvPr/>
        </p:nvSpPr>
        <p:spPr>
          <a:xfrm>
            <a:off x="219456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44" name="Dirt2_17"/>
          <p:cNvSpPr/>
          <p:nvPr/>
        </p:nvSpPr>
        <p:spPr>
          <a:xfrm>
            <a:off x="23317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45" name="Dirt2_18"/>
          <p:cNvSpPr/>
          <p:nvPr/>
        </p:nvSpPr>
        <p:spPr>
          <a:xfrm>
            <a:off x="246888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46" name="Dirt2_19"/>
          <p:cNvSpPr/>
          <p:nvPr/>
        </p:nvSpPr>
        <p:spPr>
          <a:xfrm>
            <a:off x="260604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47" name="Dirt2_20"/>
          <p:cNvSpPr/>
          <p:nvPr/>
        </p:nvSpPr>
        <p:spPr>
          <a:xfrm>
            <a:off x="274320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48" name="Dirt2_21"/>
          <p:cNvSpPr/>
          <p:nvPr/>
        </p:nvSpPr>
        <p:spPr>
          <a:xfrm>
            <a:off x="28803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49" name="Dirt2_22"/>
          <p:cNvSpPr/>
          <p:nvPr/>
        </p:nvSpPr>
        <p:spPr>
          <a:xfrm>
            <a:off x="30175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0" name="Dirt2_23"/>
          <p:cNvSpPr/>
          <p:nvPr/>
        </p:nvSpPr>
        <p:spPr>
          <a:xfrm>
            <a:off x="315468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1" name="Dirt2_24"/>
          <p:cNvSpPr/>
          <p:nvPr/>
        </p:nvSpPr>
        <p:spPr>
          <a:xfrm>
            <a:off x="329184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2" name="Dirt2_25"/>
          <p:cNvSpPr/>
          <p:nvPr/>
        </p:nvSpPr>
        <p:spPr>
          <a:xfrm>
            <a:off x="342900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3" name="Dirt2_26"/>
          <p:cNvSpPr/>
          <p:nvPr/>
        </p:nvSpPr>
        <p:spPr>
          <a:xfrm>
            <a:off x="35661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4" name="Dirt2_27"/>
          <p:cNvSpPr/>
          <p:nvPr/>
        </p:nvSpPr>
        <p:spPr>
          <a:xfrm>
            <a:off x="37033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5" name="Dirt2_28"/>
          <p:cNvSpPr/>
          <p:nvPr/>
        </p:nvSpPr>
        <p:spPr>
          <a:xfrm>
            <a:off x="384048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6" name="Dirt2_29"/>
          <p:cNvSpPr/>
          <p:nvPr/>
        </p:nvSpPr>
        <p:spPr>
          <a:xfrm>
            <a:off x="397764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7" name="Dirt2_30"/>
          <p:cNvSpPr/>
          <p:nvPr/>
        </p:nvSpPr>
        <p:spPr>
          <a:xfrm>
            <a:off x="411480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8" name="Dirt2_31"/>
          <p:cNvSpPr/>
          <p:nvPr/>
        </p:nvSpPr>
        <p:spPr>
          <a:xfrm>
            <a:off x="42519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59" name="Dirt2_32"/>
          <p:cNvSpPr/>
          <p:nvPr/>
        </p:nvSpPr>
        <p:spPr>
          <a:xfrm>
            <a:off x="438912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0" name="Dirt2_33"/>
          <p:cNvSpPr/>
          <p:nvPr/>
        </p:nvSpPr>
        <p:spPr>
          <a:xfrm>
            <a:off x="452628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1" name="Dirt2_34"/>
          <p:cNvSpPr/>
          <p:nvPr/>
        </p:nvSpPr>
        <p:spPr>
          <a:xfrm>
            <a:off x="466344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2" name="Dirt2_35"/>
          <p:cNvSpPr/>
          <p:nvPr/>
        </p:nvSpPr>
        <p:spPr>
          <a:xfrm>
            <a:off x="480060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3" name="Dirt2_36"/>
          <p:cNvSpPr/>
          <p:nvPr/>
        </p:nvSpPr>
        <p:spPr>
          <a:xfrm>
            <a:off x="493776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4" name="Dirt2_37"/>
          <p:cNvSpPr/>
          <p:nvPr/>
        </p:nvSpPr>
        <p:spPr>
          <a:xfrm>
            <a:off x="50749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5" name="Dirt2_38"/>
          <p:cNvSpPr/>
          <p:nvPr/>
        </p:nvSpPr>
        <p:spPr>
          <a:xfrm>
            <a:off x="521208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6" name="Dirt2_39"/>
          <p:cNvSpPr/>
          <p:nvPr/>
        </p:nvSpPr>
        <p:spPr>
          <a:xfrm>
            <a:off x="534924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7" name="Dirt2_40"/>
          <p:cNvSpPr/>
          <p:nvPr/>
        </p:nvSpPr>
        <p:spPr>
          <a:xfrm>
            <a:off x="548640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8" name="Dirt2_41"/>
          <p:cNvSpPr/>
          <p:nvPr/>
        </p:nvSpPr>
        <p:spPr>
          <a:xfrm>
            <a:off x="56235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9" name="Dirt2_42"/>
          <p:cNvSpPr/>
          <p:nvPr/>
        </p:nvSpPr>
        <p:spPr>
          <a:xfrm>
            <a:off x="57607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0" name="Dirt2_43"/>
          <p:cNvSpPr/>
          <p:nvPr/>
        </p:nvSpPr>
        <p:spPr>
          <a:xfrm>
            <a:off x="589788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1" name="Dirt2_44"/>
          <p:cNvSpPr/>
          <p:nvPr/>
        </p:nvSpPr>
        <p:spPr>
          <a:xfrm>
            <a:off x="603504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2" name="Dirt2_45"/>
          <p:cNvSpPr/>
          <p:nvPr/>
        </p:nvSpPr>
        <p:spPr>
          <a:xfrm>
            <a:off x="617220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3" name="Dirt2_46"/>
          <p:cNvSpPr/>
          <p:nvPr/>
        </p:nvSpPr>
        <p:spPr>
          <a:xfrm>
            <a:off x="63093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4" name="Dirt2_47"/>
          <p:cNvSpPr/>
          <p:nvPr/>
        </p:nvSpPr>
        <p:spPr>
          <a:xfrm>
            <a:off x="64465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5" name="Dirt2_48"/>
          <p:cNvSpPr/>
          <p:nvPr/>
        </p:nvSpPr>
        <p:spPr>
          <a:xfrm>
            <a:off x="658368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6" name="Dirt2_49"/>
          <p:cNvSpPr/>
          <p:nvPr/>
        </p:nvSpPr>
        <p:spPr>
          <a:xfrm>
            <a:off x="672084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7" name="Dirt2_50"/>
          <p:cNvSpPr/>
          <p:nvPr/>
        </p:nvSpPr>
        <p:spPr>
          <a:xfrm>
            <a:off x="685800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8" name="Dirt2_51"/>
          <p:cNvSpPr/>
          <p:nvPr/>
        </p:nvSpPr>
        <p:spPr>
          <a:xfrm>
            <a:off x="69951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9" name="Dirt2_52"/>
          <p:cNvSpPr/>
          <p:nvPr/>
        </p:nvSpPr>
        <p:spPr>
          <a:xfrm>
            <a:off x="713232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80" name="Dirt2_53"/>
          <p:cNvSpPr/>
          <p:nvPr/>
        </p:nvSpPr>
        <p:spPr>
          <a:xfrm>
            <a:off x="726948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81" name="Dirt2_54"/>
          <p:cNvSpPr/>
          <p:nvPr/>
        </p:nvSpPr>
        <p:spPr>
          <a:xfrm>
            <a:off x="740664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82" name="Dirt2_55"/>
          <p:cNvSpPr/>
          <p:nvPr/>
        </p:nvSpPr>
        <p:spPr>
          <a:xfrm>
            <a:off x="754380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83" name="Dirt2_56"/>
          <p:cNvSpPr/>
          <p:nvPr/>
        </p:nvSpPr>
        <p:spPr>
          <a:xfrm>
            <a:off x="768096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84" name="Dirt2_57"/>
          <p:cNvSpPr/>
          <p:nvPr/>
        </p:nvSpPr>
        <p:spPr>
          <a:xfrm>
            <a:off x="78181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85" name="Dirt2_58"/>
          <p:cNvSpPr/>
          <p:nvPr/>
        </p:nvSpPr>
        <p:spPr>
          <a:xfrm>
            <a:off x="795528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86" name="Dirt2_59"/>
          <p:cNvSpPr/>
          <p:nvPr/>
        </p:nvSpPr>
        <p:spPr>
          <a:xfrm>
            <a:off x="809244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87" name="Dirt2_60"/>
          <p:cNvSpPr/>
          <p:nvPr/>
        </p:nvSpPr>
        <p:spPr>
          <a:xfrm>
            <a:off x="822960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88" name="Dirt2_61"/>
          <p:cNvSpPr/>
          <p:nvPr/>
        </p:nvSpPr>
        <p:spPr>
          <a:xfrm>
            <a:off x="83667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89" name="Dirt2_62"/>
          <p:cNvSpPr/>
          <p:nvPr/>
        </p:nvSpPr>
        <p:spPr>
          <a:xfrm>
            <a:off x="85039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0" name="Dirt2_63"/>
          <p:cNvSpPr/>
          <p:nvPr/>
        </p:nvSpPr>
        <p:spPr>
          <a:xfrm>
            <a:off x="864108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1" name="Dirt2_64"/>
          <p:cNvSpPr/>
          <p:nvPr/>
        </p:nvSpPr>
        <p:spPr>
          <a:xfrm>
            <a:off x="877824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2" name="Dirt2_65"/>
          <p:cNvSpPr/>
          <p:nvPr/>
        </p:nvSpPr>
        <p:spPr>
          <a:xfrm>
            <a:off x="891540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3" name="Dirt2_66"/>
          <p:cNvSpPr/>
          <p:nvPr/>
        </p:nvSpPr>
        <p:spPr>
          <a:xfrm>
            <a:off x="90525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4" name="Dirt2_67"/>
          <p:cNvSpPr/>
          <p:nvPr/>
        </p:nvSpPr>
        <p:spPr>
          <a:xfrm>
            <a:off x="91897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5" name="Dirt2_68"/>
          <p:cNvSpPr/>
          <p:nvPr/>
        </p:nvSpPr>
        <p:spPr>
          <a:xfrm>
            <a:off x="932688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6" name="Dirt2_69"/>
          <p:cNvSpPr/>
          <p:nvPr/>
        </p:nvSpPr>
        <p:spPr>
          <a:xfrm>
            <a:off x="946404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7" name="Dirt2_70"/>
          <p:cNvSpPr/>
          <p:nvPr/>
        </p:nvSpPr>
        <p:spPr>
          <a:xfrm>
            <a:off x="960120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8" name="Dirt2_71"/>
          <p:cNvSpPr/>
          <p:nvPr/>
        </p:nvSpPr>
        <p:spPr>
          <a:xfrm>
            <a:off x="97383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99" name="Dirt2_72"/>
          <p:cNvSpPr/>
          <p:nvPr/>
        </p:nvSpPr>
        <p:spPr>
          <a:xfrm>
            <a:off x="987552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0" name="Dirt2_73"/>
          <p:cNvSpPr/>
          <p:nvPr/>
        </p:nvSpPr>
        <p:spPr>
          <a:xfrm>
            <a:off x="1001268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1" name="Dirt2_74"/>
          <p:cNvSpPr/>
          <p:nvPr/>
        </p:nvSpPr>
        <p:spPr>
          <a:xfrm>
            <a:off x="1014984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2" name="Dirt2_75"/>
          <p:cNvSpPr/>
          <p:nvPr/>
        </p:nvSpPr>
        <p:spPr>
          <a:xfrm>
            <a:off x="1028700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3" name="Dirt2_76"/>
          <p:cNvSpPr/>
          <p:nvPr/>
        </p:nvSpPr>
        <p:spPr>
          <a:xfrm>
            <a:off x="1042416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4" name="Dirt2_77"/>
          <p:cNvSpPr/>
          <p:nvPr/>
        </p:nvSpPr>
        <p:spPr>
          <a:xfrm>
            <a:off x="105613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5" name="Dirt2_78"/>
          <p:cNvSpPr/>
          <p:nvPr/>
        </p:nvSpPr>
        <p:spPr>
          <a:xfrm>
            <a:off x="1069848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6" name="Dirt2_79"/>
          <p:cNvSpPr/>
          <p:nvPr/>
        </p:nvSpPr>
        <p:spPr>
          <a:xfrm>
            <a:off x="1083564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7" name="Dirt2_80"/>
          <p:cNvSpPr/>
          <p:nvPr/>
        </p:nvSpPr>
        <p:spPr>
          <a:xfrm>
            <a:off x="1097280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8" name="Dirt2_81"/>
          <p:cNvSpPr/>
          <p:nvPr/>
        </p:nvSpPr>
        <p:spPr>
          <a:xfrm>
            <a:off x="111099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9" name="Dirt2_82"/>
          <p:cNvSpPr/>
          <p:nvPr/>
        </p:nvSpPr>
        <p:spPr>
          <a:xfrm>
            <a:off x="112471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10" name="Dirt2_83"/>
          <p:cNvSpPr/>
          <p:nvPr/>
        </p:nvSpPr>
        <p:spPr>
          <a:xfrm>
            <a:off x="1138428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11" name="Dirt2_84"/>
          <p:cNvSpPr/>
          <p:nvPr/>
        </p:nvSpPr>
        <p:spPr>
          <a:xfrm>
            <a:off x="1152144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12" name="Dirt2_85"/>
          <p:cNvSpPr/>
          <p:nvPr/>
        </p:nvSpPr>
        <p:spPr>
          <a:xfrm>
            <a:off x="1165860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13" name="Dirt2_86"/>
          <p:cNvSpPr/>
          <p:nvPr/>
        </p:nvSpPr>
        <p:spPr>
          <a:xfrm>
            <a:off x="1179576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14" name="Dirt2_87"/>
          <p:cNvSpPr/>
          <p:nvPr/>
        </p:nvSpPr>
        <p:spPr>
          <a:xfrm>
            <a:off x="11932920" y="5852160"/>
            <a:ext cx="136800" cy="182520"/>
          </a:xfrm>
          <a:prstGeom prst="rect">
            <a:avLst/>
          </a:prstGeom>
          <a:solidFill>
            <a:srgbClr val="6B523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15" name="Dirt2_88"/>
          <p:cNvSpPr/>
          <p:nvPr/>
        </p:nvSpPr>
        <p:spPr>
          <a:xfrm>
            <a:off x="12070080" y="5852160"/>
            <a:ext cx="136800" cy="182520"/>
          </a:xfrm>
          <a:prstGeom prst="rect">
            <a:avLst/>
          </a:prstGeom>
          <a:solidFill>
            <a:srgbClr val="8B6F47"/>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16" name="Stone_0"/>
          <p:cNvSpPr/>
          <p:nvPr/>
        </p:nvSpPr>
        <p:spPr>
          <a:xfrm>
            <a:off x="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17" name="Stone_1"/>
          <p:cNvSpPr/>
          <p:nvPr/>
        </p:nvSpPr>
        <p:spPr>
          <a:xfrm>
            <a:off x="1371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18" name="Stone_2"/>
          <p:cNvSpPr/>
          <p:nvPr/>
        </p:nvSpPr>
        <p:spPr>
          <a:xfrm>
            <a:off x="2743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19" name="Stone_3"/>
          <p:cNvSpPr/>
          <p:nvPr/>
        </p:nvSpPr>
        <p:spPr>
          <a:xfrm>
            <a:off x="4114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20" name="Stone_4"/>
          <p:cNvSpPr/>
          <p:nvPr/>
        </p:nvSpPr>
        <p:spPr>
          <a:xfrm>
            <a:off x="5486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21" name="Stone_5"/>
          <p:cNvSpPr/>
          <p:nvPr/>
        </p:nvSpPr>
        <p:spPr>
          <a:xfrm>
            <a:off x="6858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22" name="Stone_6"/>
          <p:cNvSpPr/>
          <p:nvPr/>
        </p:nvSpPr>
        <p:spPr>
          <a:xfrm>
            <a:off x="8229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23" name="Stone_7"/>
          <p:cNvSpPr/>
          <p:nvPr/>
        </p:nvSpPr>
        <p:spPr>
          <a:xfrm>
            <a:off x="9601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24" name="Stone_8"/>
          <p:cNvSpPr/>
          <p:nvPr/>
        </p:nvSpPr>
        <p:spPr>
          <a:xfrm>
            <a:off x="10972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25" name="Stone_9"/>
          <p:cNvSpPr/>
          <p:nvPr/>
        </p:nvSpPr>
        <p:spPr>
          <a:xfrm>
            <a:off x="12344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26" name="Stone_10"/>
          <p:cNvSpPr/>
          <p:nvPr/>
        </p:nvSpPr>
        <p:spPr>
          <a:xfrm>
            <a:off x="13716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27" name="Stone_11"/>
          <p:cNvSpPr/>
          <p:nvPr/>
        </p:nvSpPr>
        <p:spPr>
          <a:xfrm>
            <a:off x="15087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28" name="Stone_12"/>
          <p:cNvSpPr/>
          <p:nvPr/>
        </p:nvSpPr>
        <p:spPr>
          <a:xfrm>
            <a:off x="16459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29" name="Stone_13"/>
          <p:cNvSpPr/>
          <p:nvPr/>
        </p:nvSpPr>
        <p:spPr>
          <a:xfrm>
            <a:off x="17830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0" name="Stone_14"/>
          <p:cNvSpPr/>
          <p:nvPr/>
        </p:nvSpPr>
        <p:spPr>
          <a:xfrm>
            <a:off x="19202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1" name="Stone_15"/>
          <p:cNvSpPr/>
          <p:nvPr/>
        </p:nvSpPr>
        <p:spPr>
          <a:xfrm>
            <a:off x="20574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2" name="Stone_16"/>
          <p:cNvSpPr/>
          <p:nvPr/>
        </p:nvSpPr>
        <p:spPr>
          <a:xfrm>
            <a:off x="21945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3" name="Stone_17"/>
          <p:cNvSpPr/>
          <p:nvPr/>
        </p:nvSpPr>
        <p:spPr>
          <a:xfrm>
            <a:off x="23317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4" name="Stone_18"/>
          <p:cNvSpPr/>
          <p:nvPr/>
        </p:nvSpPr>
        <p:spPr>
          <a:xfrm>
            <a:off x="24688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5" name="Stone_19"/>
          <p:cNvSpPr/>
          <p:nvPr/>
        </p:nvSpPr>
        <p:spPr>
          <a:xfrm>
            <a:off x="26060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6" name="Stone_20"/>
          <p:cNvSpPr/>
          <p:nvPr/>
        </p:nvSpPr>
        <p:spPr>
          <a:xfrm>
            <a:off x="27432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7" name="Stone_21"/>
          <p:cNvSpPr/>
          <p:nvPr/>
        </p:nvSpPr>
        <p:spPr>
          <a:xfrm>
            <a:off x="28803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8" name="Stone_22"/>
          <p:cNvSpPr/>
          <p:nvPr/>
        </p:nvSpPr>
        <p:spPr>
          <a:xfrm>
            <a:off x="30175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39" name="Stone_23"/>
          <p:cNvSpPr/>
          <p:nvPr/>
        </p:nvSpPr>
        <p:spPr>
          <a:xfrm>
            <a:off x="31546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0" name="Stone_24"/>
          <p:cNvSpPr/>
          <p:nvPr/>
        </p:nvSpPr>
        <p:spPr>
          <a:xfrm>
            <a:off x="32918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1" name="Stone_25"/>
          <p:cNvSpPr/>
          <p:nvPr/>
        </p:nvSpPr>
        <p:spPr>
          <a:xfrm>
            <a:off x="34290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2" name="Stone_26"/>
          <p:cNvSpPr/>
          <p:nvPr/>
        </p:nvSpPr>
        <p:spPr>
          <a:xfrm>
            <a:off x="35661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3" name="Stone_27"/>
          <p:cNvSpPr/>
          <p:nvPr/>
        </p:nvSpPr>
        <p:spPr>
          <a:xfrm>
            <a:off x="37033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4" name="Stone_28"/>
          <p:cNvSpPr/>
          <p:nvPr/>
        </p:nvSpPr>
        <p:spPr>
          <a:xfrm>
            <a:off x="38404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5" name="Stone_29"/>
          <p:cNvSpPr/>
          <p:nvPr/>
        </p:nvSpPr>
        <p:spPr>
          <a:xfrm>
            <a:off x="39776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6" name="Stone_30"/>
          <p:cNvSpPr/>
          <p:nvPr/>
        </p:nvSpPr>
        <p:spPr>
          <a:xfrm>
            <a:off x="41148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7" name="Stone_31"/>
          <p:cNvSpPr/>
          <p:nvPr/>
        </p:nvSpPr>
        <p:spPr>
          <a:xfrm>
            <a:off x="42519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8" name="Stone_32"/>
          <p:cNvSpPr/>
          <p:nvPr/>
        </p:nvSpPr>
        <p:spPr>
          <a:xfrm>
            <a:off x="43891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49" name="Stone_33"/>
          <p:cNvSpPr/>
          <p:nvPr/>
        </p:nvSpPr>
        <p:spPr>
          <a:xfrm>
            <a:off x="45262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50" name="Stone_34"/>
          <p:cNvSpPr/>
          <p:nvPr/>
        </p:nvSpPr>
        <p:spPr>
          <a:xfrm>
            <a:off x="46634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51" name="Stone_35"/>
          <p:cNvSpPr/>
          <p:nvPr/>
        </p:nvSpPr>
        <p:spPr>
          <a:xfrm>
            <a:off x="48006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52" name="Stone_36"/>
          <p:cNvSpPr/>
          <p:nvPr/>
        </p:nvSpPr>
        <p:spPr>
          <a:xfrm>
            <a:off x="49377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53" name="Stone_37"/>
          <p:cNvSpPr/>
          <p:nvPr/>
        </p:nvSpPr>
        <p:spPr>
          <a:xfrm>
            <a:off x="50749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54" name="Stone_38"/>
          <p:cNvSpPr/>
          <p:nvPr/>
        </p:nvSpPr>
        <p:spPr>
          <a:xfrm>
            <a:off x="52120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55" name="Stone_39"/>
          <p:cNvSpPr/>
          <p:nvPr/>
        </p:nvSpPr>
        <p:spPr>
          <a:xfrm>
            <a:off x="53492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56" name="Stone_40"/>
          <p:cNvSpPr/>
          <p:nvPr/>
        </p:nvSpPr>
        <p:spPr>
          <a:xfrm>
            <a:off x="54864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57" name="Stone_41"/>
          <p:cNvSpPr/>
          <p:nvPr/>
        </p:nvSpPr>
        <p:spPr>
          <a:xfrm>
            <a:off x="56235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58" name="Stone_42"/>
          <p:cNvSpPr/>
          <p:nvPr/>
        </p:nvSpPr>
        <p:spPr>
          <a:xfrm>
            <a:off x="57607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59" name="Stone_43"/>
          <p:cNvSpPr/>
          <p:nvPr/>
        </p:nvSpPr>
        <p:spPr>
          <a:xfrm>
            <a:off x="58978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0" name="Stone_44"/>
          <p:cNvSpPr/>
          <p:nvPr/>
        </p:nvSpPr>
        <p:spPr>
          <a:xfrm>
            <a:off x="60350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1" name="Stone_45"/>
          <p:cNvSpPr/>
          <p:nvPr/>
        </p:nvSpPr>
        <p:spPr>
          <a:xfrm>
            <a:off x="61722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2" name="Stone_46"/>
          <p:cNvSpPr/>
          <p:nvPr/>
        </p:nvSpPr>
        <p:spPr>
          <a:xfrm>
            <a:off x="63093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3" name="Stone_47"/>
          <p:cNvSpPr/>
          <p:nvPr/>
        </p:nvSpPr>
        <p:spPr>
          <a:xfrm>
            <a:off x="64465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4" name="Stone_48"/>
          <p:cNvSpPr/>
          <p:nvPr/>
        </p:nvSpPr>
        <p:spPr>
          <a:xfrm>
            <a:off x="65836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5" name="Stone_49"/>
          <p:cNvSpPr/>
          <p:nvPr/>
        </p:nvSpPr>
        <p:spPr>
          <a:xfrm>
            <a:off x="67208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6" name="Stone_50"/>
          <p:cNvSpPr/>
          <p:nvPr/>
        </p:nvSpPr>
        <p:spPr>
          <a:xfrm>
            <a:off x="68580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7" name="Stone_51"/>
          <p:cNvSpPr/>
          <p:nvPr/>
        </p:nvSpPr>
        <p:spPr>
          <a:xfrm>
            <a:off x="69951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8" name="Stone_52"/>
          <p:cNvSpPr/>
          <p:nvPr/>
        </p:nvSpPr>
        <p:spPr>
          <a:xfrm>
            <a:off x="71323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69" name="Stone_53"/>
          <p:cNvSpPr/>
          <p:nvPr/>
        </p:nvSpPr>
        <p:spPr>
          <a:xfrm>
            <a:off x="72694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0" name="Stone_54"/>
          <p:cNvSpPr/>
          <p:nvPr/>
        </p:nvSpPr>
        <p:spPr>
          <a:xfrm>
            <a:off x="74066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1" name="Stone_55"/>
          <p:cNvSpPr/>
          <p:nvPr/>
        </p:nvSpPr>
        <p:spPr>
          <a:xfrm>
            <a:off x="75438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2" name="Stone_56"/>
          <p:cNvSpPr/>
          <p:nvPr/>
        </p:nvSpPr>
        <p:spPr>
          <a:xfrm>
            <a:off x="76809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3" name="Stone_57"/>
          <p:cNvSpPr/>
          <p:nvPr/>
        </p:nvSpPr>
        <p:spPr>
          <a:xfrm>
            <a:off x="78181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4" name="Stone_58"/>
          <p:cNvSpPr/>
          <p:nvPr/>
        </p:nvSpPr>
        <p:spPr>
          <a:xfrm>
            <a:off x="79552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5" name="Stone_59"/>
          <p:cNvSpPr/>
          <p:nvPr/>
        </p:nvSpPr>
        <p:spPr>
          <a:xfrm>
            <a:off x="80924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6" name="Stone_60"/>
          <p:cNvSpPr/>
          <p:nvPr/>
        </p:nvSpPr>
        <p:spPr>
          <a:xfrm>
            <a:off x="82296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7" name="Stone_61"/>
          <p:cNvSpPr/>
          <p:nvPr/>
        </p:nvSpPr>
        <p:spPr>
          <a:xfrm>
            <a:off x="83667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8" name="Stone_62"/>
          <p:cNvSpPr/>
          <p:nvPr/>
        </p:nvSpPr>
        <p:spPr>
          <a:xfrm>
            <a:off x="85039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9" name="Stone_63"/>
          <p:cNvSpPr/>
          <p:nvPr/>
        </p:nvSpPr>
        <p:spPr>
          <a:xfrm>
            <a:off x="86410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80" name="Stone_64"/>
          <p:cNvSpPr/>
          <p:nvPr/>
        </p:nvSpPr>
        <p:spPr>
          <a:xfrm>
            <a:off x="87782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81" name="Stone_65"/>
          <p:cNvSpPr/>
          <p:nvPr/>
        </p:nvSpPr>
        <p:spPr>
          <a:xfrm>
            <a:off x="89154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82" name="Stone_66"/>
          <p:cNvSpPr/>
          <p:nvPr/>
        </p:nvSpPr>
        <p:spPr>
          <a:xfrm>
            <a:off x="90525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83" name="Stone_67"/>
          <p:cNvSpPr/>
          <p:nvPr/>
        </p:nvSpPr>
        <p:spPr>
          <a:xfrm>
            <a:off x="91897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84" name="Stone_68"/>
          <p:cNvSpPr/>
          <p:nvPr/>
        </p:nvSpPr>
        <p:spPr>
          <a:xfrm>
            <a:off x="93268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85" name="Stone_69"/>
          <p:cNvSpPr/>
          <p:nvPr/>
        </p:nvSpPr>
        <p:spPr>
          <a:xfrm>
            <a:off x="94640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86" name="Stone_70"/>
          <p:cNvSpPr/>
          <p:nvPr/>
        </p:nvSpPr>
        <p:spPr>
          <a:xfrm>
            <a:off x="96012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87" name="Stone_71"/>
          <p:cNvSpPr/>
          <p:nvPr/>
        </p:nvSpPr>
        <p:spPr>
          <a:xfrm>
            <a:off x="97383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88" name="Stone_72"/>
          <p:cNvSpPr/>
          <p:nvPr/>
        </p:nvSpPr>
        <p:spPr>
          <a:xfrm>
            <a:off x="98755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89" name="Stone_73"/>
          <p:cNvSpPr/>
          <p:nvPr/>
        </p:nvSpPr>
        <p:spPr>
          <a:xfrm>
            <a:off x="100126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0" name="Stone_74"/>
          <p:cNvSpPr/>
          <p:nvPr/>
        </p:nvSpPr>
        <p:spPr>
          <a:xfrm>
            <a:off x="101498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1" name="Stone_75"/>
          <p:cNvSpPr/>
          <p:nvPr/>
        </p:nvSpPr>
        <p:spPr>
          <a:xfrm>
            <a:off x="102870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2" name="Stone_76"/>
          <p:cNvSpPr/>
          <p:nvPr/>
        </p:nvSpPr>
        <p:spPr>
          <a:xfrm>
            <a:off x="104241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3" name="Stone_77"/>
          <p:cNvSpPr/>
          <p:nvPr/>
        </p:nvSpPr>
        <p:spPr>
          <a:xfrm>
            <a:off x="105613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4" name="Stone_78"/>
          <p:cNvSpPr/>
          <p:nvPr/>
        </p:nvSpPr>
        <p:spPr>
          <a:xfrm>
            <a:off x="106984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5" name="Stone_79"/>
          <p:cNvSpPr/>
          <p:nvPr/>
        </p:nvSpPr>
        <p:spPr>
          <a:xfrm>
            <a:off x="108356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6" name="Stone_80"/>
          <p:cNvSpPr/>
          <p:nvPr/>
        </p:nvSpPr>
        <p:spPr>
          <a:xfrm>
            <a:off x="109728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7" name="Stone_81"/>
          <p:cNvSpPr/>
          <p:nvPr/>
        </p:nvSpPr>
        <p:spPr>
          <a:xfrm>
            <a:off x="111099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8" name="Stone_82"/>
          <p:cNvSpPr/>
          <p:nvPr/>
        </p:nvSpPr>
        <p:spPr>
          <a:xfrm>
            <a:off x="112471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9" name="Stone_83"/>
          <p:cNvSpPr/>
          <p:nvPr/>
        </p:nvSpPr>
        <p:spPr>
          <a:xfrm>
            <a:off x="113842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0" name="Stone_84"/>
          <p:cNvSpPr/>
          <p:nvPr/>
        </p:nvSpPr>
        <p:spPr>
          <a:xfrm>
            <a:off x="1152144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1" name="Stone_85"/>
          <p:cNvSpPr/>
          <p:nvPr/>
        </p:nvSpPr>
        <p:spPr>
          <a:xfrm>
            <a:off x="11658600" y="6035040"/>
            <a:ext cx="136800" cy="91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2" name="Stone_86"/>
          <p:cNvSpPr/>
          <p:nvPr/>
        </p:nvSpPr>
        <p:spPr>
          <a:xfrm>
            <a:off x="1179576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3" name="Stone_87"/>
          <p:cNvSpPr/>
          <p:nvPr/>
        </p:nvSpPr>
        <p:spPr>
          <a:xfrm>
            <a:off x="1193292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4" name="Stone_88"/>
          <p:cNvSpPr/>
          <p:nvPr/>
        </p:nvSpPr>
        <p:spPr>
          <a:xfrm>
            <a:off x="12070080" y="6035040"/>
            <a:ext cx="136800" cy="91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5" name="TableBg"/>
          <p:cNvSpPr/>
          <p:nvPr/>
        </p:nvSpPr>
        <p:spPr>
          <a:xfrm>
            <a:off x="731520" y="2286000"/>
            <a:ext cx="4297320" cy="1737000"/>
          </a:xfrm>
          <a:prstGeom prst="rect">
            <a:avLst/>
          </a:prstGeom>
          <a:solidFill>
            <a:srgbClr val="8B6A30"/>
          </a:solidFill>
          <a:ln w="2222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6" name="TableInner"/>
          <p:cNvSpPr/>
          <p:nvPr/>
        </p:nvSpPr>
        <p:spPr>
          <a:xfrm>
            <a:off x="768240" y="2322720"/>
            <a:ext cx="4224240" cy="166392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7" name="Slot0"/>
          <p:cNvSpPr/>
          <p:nvPr/>
        </p:nvSpPr>
        <p:spPr>
          <a:xfrm>
            <a:off x="859680" y="2414160"/>
            <a:ext cx="475200" cy="475200"/>
          </a:xfrm>
          <a:prstGeom prst="rect">
            <a:avLst/>
          </a:prstGeom>
          <a:solidFill>
            <a:srgbClr val="6B5237"/>
          </a:solidFill>
          <a:ln w="1587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8" name="Block0_0_0"/>
          <p:cNvSpPr/>
          <p:nvPr/>
        </p:nvSpPr>
        <p:spPr>
          <a:xfrm>
            <a:off x="932760" y="248724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09" name="Block0_0_1"/>
          <p:cNvSpPr/>
          <p:nvPr/>
        </p:nvSpPr>
        <p:spPr>
          <a:xfrm>
            <a:off x="1014840" y="248724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0" name="Block0_0_2"/>
          <p:cNvSpPr/>
          <p:nvPr/>
        </p:nvSpPr>
        <p:spPr>
          <a:xfrm>
            <a:off x="1097280" y="248724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1" name="Block0_0_3"/>
          <p:cNvSpPr/>
          <p:nvPr/>
        </p:nvSpPr>
        <p:spPr>
          <a:xfrm>
            <a:off x="1179720" y="248724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2" name="Block0_1_0"/>
          <p:cNvSpPr/>
          <p:nvPr/>
        </p:nvSpPr>
        <p:spPr>
          <a:xfrm>
            <a:off x="932760" y="256932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3" name="Block0_1_1"/>
          <p:cNvSpPr/>
          <p:nvPr/>
        </p:nvSpPr>
        <p:spPr>
          <a:xfrm>
            <a:off x="1014840" y="256932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4" name="Block0_1_2"/>
          <p:cNvSpPr/>
          <p:nvPr/>
        </p:nvSpPr>
        <p:spPr>
          <a:xfrm>
            <a:off x="1097280" y="256932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5" name="Block0_1_3"/>
          <p:cNvSpPr/>
          <p:nvPr/>
        </p:nvSpPr>
        <p:spPr>
          <a:xfrm>
            <a:off x="1179720" y="256932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6" name="Block0_2_0"/>
          <p:cNvSpPr/>
          <p:nvPr/>
        </p:nvSpPr>
        <p:spPr>
          <a:xfrm>
            <a:off x="932760" y="265176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7" name="Block0_2_1"/>
          <p:cNvSpPr/>
          <p:nvPr/>
        </p:nvSpPr>
        <p:spPr>
          <a:xfrm>
            <a:off x="1014840" y="265176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8" name="Block0_2_2"/>
          <p:cNvSpPr/>
          <p:nvPr/>
        </p:nvSpPr>
        <p:spPr>
          <a:xfrm>
            <a:off x="1097280" y="265176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9" name="Block0_2_3"/>
          <p:cNvSpPr/>
          <p:nvPr/>
        </p:nvSpPr>
        <p:spPr>
          <a:xfrm>
            <a:off x="1179720" y="265176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20" name="Block0_3_0"/>
          <p:cNvSpPr/>
          <p:nvPr/>
        </p:nvSpPr>
        <p:spPr>
          <a:xfrm>
            <a:off x="932760" y="273420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21" name="Block0_3_1"/>
          <p:cNvSpPr/>
          <p:nvPr/>
        </p:nvSpPr>
        <p:spPr>
          <a:xfrm>
            <a:off x="1014840" y="273420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22" name="Block0_3_2"/>
          <p:cNvSpPr/>
          <p:nvPr/>
        </p:nvSpPr>
        <p:spPr>
          <a:xfrm>
            <a:off x="1097280" y="273420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23" name="Block0_3_3"/>
          <p:cNvSpPr/>
          <p:nvPr/>
        </p:nvSpPr>
        <p:spPr>
          <a:xfrm>
            <a:off x="1179720" y="273420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24" name="SlotNum0"/>
          <p:cNvSpPr/>
          <p:nvPr/>
        </p:nvSpPr>
        <p:spPr>
          <a:xfrm>
            <a:off x="877680" y="2432160"/>
            <a:ext cx="164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Trebuchet MS"/>
              </a:rPr>
              <a:t>1</a:t>
            </a:r>
            <a:endParaRPr lang="en-US" sz="1200" b="0" strike="noStrike" spc="-1">
              <a:solidFill>
                <a:srgbClr val="000000"/>
              </a:solidFill>
              <a:latin typeface="Arial"/>
            </a:endParaRPr>
          </a:p>
        </p:txBody>
      </p:sp>
      <p:sp>
        <p:nvSpPr>
          <p:cNvPr id="525" name="SlotLabel0"/>
          <p:cNvSpPr/>
          <p:nvPr/>
        </p:nvSpPr>
        <p:spPr>
          <a:xfrm>
            <a:off x="859680" y="2615040"/>
            <a:ext cx="475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FFFFFF"/>
                </a:solidFill>
                <a:latin typeface="Trebuchet MS"/>
              </a:rPr>
              <a:t>PreToolUse</a:t>
            </a:r>
            <a:endParaRPr lang="en-US" sz="700" b="0" strike="noStrike" spc="-1">
              <a:solidFill>
                <a:srgbClr val="000000"/>
              </a:solidFill>
              <a:latin typeface="Arial"/>
            </a:endParaRPr>
          </a:p>
        </p:txBody>
      </p:sp>
      <p:sp>
        <p:nvSpPr>
          <p:cNvPr id="526" name="Slot1"/>
          <p:cNvSpPr/>
          <p:nvPr/>
        </p:nvSpPr>
        <p:spPr>
          <a:xfrm>
            <a:off x="1353240" y="2414160"/>
            <a:ext cx="475200" cy="475200"/>
          </a:xfrm>
          <a:prstGeom prst="rect">
            <a:avLst/>
          </a:prstGeom>
          <a:solidFill>
            <a:srgbClr val="6B5237"/>
          </a:solidFill>
          <a:ln w="1587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27" name="Block1_0_0"/>
          <p:cNvSpPr/>
          <p:nvPr/>
        </p:nvSpPr>
        <p:spPr>
          <a:xfrm>
            <a:off x="1426320" y="2487240"/>
            <a:ext cx="82080" cy="8208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28" name="Block1_0_1"/>
          <p:cNvSpPr/>
          <p:nvPr/>
        </p:nvSpPr>
        <p:spPr>
          <a:xfrm>
            <a:off x="1508760" y="2487240"/>
            <a:ext cx="82080" cy="82080"/>
          </a:xfrm>
          <a:prstGeom prst="rect">
            <a:avLst/>
          </a:prstGeom>
          <a:solidFill>
            <a:srgbClr val="8B6A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29" name="Block1_0_2"/>
          <p:cNvSpPr/>
          <p:nvPr/>
        </p:nvSpPr>
        <p:spPr>
          <a:xfrm>
            <a:off x="1591200" y="2487240"/>
            <a:ext cx="82080" cy="8208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0" name="Block1_0_3"/>
          <p:cNvSpPr/>
          <p:nvPr/>
        </p:nvSpPr>
        <p:spPr>
          <a:xfrm>
            <a:off x="1673280" y="2487240"/>
            <a:ext cx="82080" cy="8208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1" name="Block1_1_0"/>
          <p:cNvSpPr/>
          <p:nvPr/>
        </p:nvSpPr>
        <p:spPr>
          <a:xfrm>
            <a:off x="1426320" y="2569320"/>
            <a:ext cx="82080" cy="82080"/>
          </a:xfrm>
          <a:prstGeom prst="rect">
            <a:avLst/>
          </a:prstGeom>
          <a:solidFill>
            <a:srgbClr val="8B6A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2" name="Block1_1_1"/>
          <p:cNvSpPr/>
          <p:nvPr/>
        </p:nvSpPr>
        <p:spPr>
          <a:xfrm>
            <a:off x="1508760" y="2569320"/>
            <a:ext cx="82080" cy="8208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3" name="Block1_1_2"/>
          <p:cNvSpPr/>
          <p:nvPr/>
        </p:nvSpPr>
        <p:spPr>
          <a:xfrm>
            <a:off x="1591200" y="2569320"/>
            <a:ext cx="82080" cy="82080"/>
          </a:xfrm>
          <a:prstGeom prst="rect">
            <a:avLst/>
          </a:prstGeom>
          <a:solidFill>
            <a:srgbClr val="8B6A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4" name="Block1_1_3"/>
          <p:cNvSpPr/>
          <p:nvPr/>
        </p:nvSpPr>
        <p:spPr>
          <a:xfrm>
            <a:off x="1673280" y="2569320"/>
            <a:ext cx="82080" cy="8208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5" name="Block1_2_0"/>
          <p:cNvSpPr/>
          <p:nvPr/>
        </p:nvSpPr>
        <p:spPr>
          <a:xfrm>
            <a:off x="1426320" y="2651760"/>
            <a:ext cx="82080" cy="8208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6" name="Block1_2_1"/>
          <p:cNvSpPr/>
          <p:nvPr/>
        </p:nvSpPr>
        <p:spPr>
          <a:xfrm>
            <a:off x="1508760" y="2651760"/>
            <a:ext cx="82080" cy="8208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7" name="Block1_2_2"/>
          <p:cNvSpPr/>
          <p:nvPr/>
        </p:nvSpPr>
        <p:spPr>
          <a:xfrm>
            <a:off x="1591200" y="2651760"/>
            <a:ext cx="82080" cy="8208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8" name="Block1_2_3"/>
          <p:cNvSpPr/>
          <p:nvPr/>
        </p:nvSpPr>
        <p:spPr>
          <a:xfrm>
            <a:off x="1673280" y="2651760"/>
            <a:ext cx="82080" cy="82080"/>
          </a:xfrm>
          <a:prstGeom prst="rect">
            <a:avLst/>
          </a:prstGeom>
          <a:solidFill>
            <a:srgbClr val="8B6A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39" name="Block1_3_0"/>
          <p:cNvSpPr/>
          <p:nvPr/>
        </p:nvSpPr>
        <p:spPr>
          <a:xfrm>
            <a:off x="1426320" y="2734200"/>
            <a:ext cx="82080" cy="82080"/>
          </a:xfrm>
          <a:prstGeom prst="rect">
            <a:avLst/>
          </a:prstGeom>
          <a:solidFill>
            <a:srgbClr val="8B6A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40" name="Block1_3_1"/>
          <p:cNvSpPr/>
          <p:nvPr/>
        </p:nvSpPr>
        <p:spPr>
          <a:xfrm>
            <a:off x="1508760" y="2734200"/>
            <a:ext cx="82080" cy="8208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41" name="Block1_3_2"/>
          <p:cNvSpPr/>
          <p:nvPr/>
        </p:nvSpPr>
        <p:spPr>
          <a:xfrm>
            <a:off x="1591200" y="2734200"/>
            <a:ext cx="82080" cy="8208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42" name="Block1_3_3"/>
          <p:cNvSpPr/>
          <p:nvPr/>
        </p:nvSpPr>
        <p:spPr>
          <a:xfrm>
            <a:off x="1673280" y="2734200"/>
            <a:ext cx="82080" cy="8208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43" name="SlotNum1"/>
          <p:cNvSpPr/>
          <p:nvPr/>
        </p:nvSpPr>
        <p:spPr>
          <a:xfrm>
            <a:off x="1371600" y="2432160"/>
            <a:ext cx="164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Trebuchet MS"/>
              </a:rPr>
              <a:t>2</a:t>
            </a:r>
            <a:endParaRPr lang="en-US" sz="1200" b="0" strike="noStrike" spc="-1">
              <a:solidFill>
                <a:srgbClr val="000000"/>
              </a:solidFill>
              <a:latin typeface="Arial"/>
            </a:endParaRPr>
          </a:p>
        </p:txBody>
      </p:sp>
      <p:sp>
        <p:nvSpPr>
          <p:cNvPr id="544" name="SlotLabel1"/>
          <p:cNvSpPr/>
          <p:nvPr/>
        </p:nvSpPr>
        <p:spPr>
          <a:xfrm>
            <a:off x="1353240" y="2615040"/>
            <a:ext cx="475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FFFFFF"/>
                </a:solidFill>
                <a:latin typeface="Trebuchet MS"/>
              </a:rPr>
              <a:t>Git pre-commit</a:t>
            </a:r>
            <a:endParaRPr lang="en-US" sz="700" b="0" strike="noStrike" spc="-1">
              <a:solidFill>
                <a:srgbClr val="000000"/>
              </a:solidFill>
              <a:latin typeface="Arial"/>
            </a:endParaRPr>
          </a:p>
        </p:txBody>
      </p:sp>
      <p:sp>
        <p:nvSpPr>
          <p:cNvPr id="545" name="Slot2"/>
          <p:cNvSpPr/>
          <p:nvPr/>
        </p:nvSpPr>
        <p:spPr>
          <a:xfrm>
            <a:off x="1847160" y="2414160"/>
            <a:ext cx="475200" cy="475200"/>
          </a:xfrm>
          <a:prstGeom prst="rect">
            <a:avLst/>
          </a:prstGeom>
          <a:solidFill>
            <a:srgbClr val="6B5237"/>
          </a:solidFill>
          <a:ln w="1587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46" name="Block2_0_0"/>
          <p:cNvSpPr/>
          <p:nvPr/>
        </p:nvSpPr>
        <p:spPr>
          <a:xfrm>
            <a:off x="1920240" y="248724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47" name="Block2_0_1"/>
          <p:cNvSpPr/>
          <p:nvPr/>
        </p:nvSpPr>
        <p:spPr>
          <a:xfrm>
            <a:off x="2002680" y="248724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48" name="Block2_0_2"/>
          <p:cNvSpPr/>
          <p:nvPr/>
        </p:nvSpPr>
        <p:spPr>
          <a:xfrm>
            <a:off x="2084760" y="248724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49" name="Block2_0_3"/>
          <p:cNvSpPr/>
          <p:nvPr/>
        </p:nvSpPr>
        <p:spPr>
          <a:xfrm>
            <a:off x="2167200" y="248724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0" name="Block2_1_0"/>
          <p:cNvSpPr/>
          <p:nvPr/>
        </p:nvSpPr>
        <p:spPr>
          <a:xfrm>
            <a:off x="1920240" y="256932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1" name="Block2_1_1"/>
          <p:cNvSpPr/>
          <p:nvPr/>
        </p:nvSpPr>
        <p:spPr>
          <a:xfrm>
            <a:off x="2002680" y="256932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2" name="Block2_1_2"/>
          <p:cNvSpPr/>
          <p:nvPr/>
        </p:nvSpPr>
        <p:spPr>
          <a:xfrm>
            <a:off x="2084760" y="256932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3" name="Block2_1_3"/>
          <p:cNvSpPr/>
          <p:nvPr/>
        </p:nvSpPr>
        <p:spPr>
          <a:xfrm>
            <a:off x="2167200" y="256932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4" name="Block2_2_0"/>
          <p:cNvSpPr/>
          <p:nvPr/>
        </p:nvSpPr>
        <p:spPr>
          <a:xfrm>
            <a:off x="1920240" y="265176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5" name="Block2_2_1"/>
          <p:cNvSpPr/>
          <p:nvPr/>
        </p:nvSpPr>
        <p:spPr>
          <a:xfrm>
            <a:off x="2002680" y="265176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6" name="Block2_2_2"/>
          <p:cNvSpPr/>
          <p:nvPr/>
        </p:nvSpPr>
        <p:spPr>
          <a:xfrm>
            <a:off x="2084760" y="265176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7" name="Block2_2_3"/>
          <p:cNvSpPr/>
          <p:nvPr/>
        </p:nvSpPr>
        <p:spPr>
          <a:xfrm>
            <a:off x="2167200" y="265176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8" name="Block2_3_0"/>
          <p:cNvSpPr/>
          <p:nvPr/>
        </p:nvSpPr>
        <p:spPr>
          <a:xfrm>
            <a:off x="1920240" y="273420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59" name="Block2_3_1"/>
          <p:cNvSpPr/>
          <p:nvPr/>
        </p:nvSpPr>
        <p:spPr>
          <a:xfrm>
            <a:off x="2002680" y="273420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60" name="Block2_3_2"/>
          <p:cNvSpPr/>
          <p:nvPr/>
        </p:nvSpPr>
        <p:spPr>
          <a:xfrm>
            <a:off x="2084760" y="2734200"/>
            <a:ext cx="82080" cy="8208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61" name="Block2_3_3"/>
          <p:cNvSpPr/>
          <p:nvPr/>
        </p:nvSpPr>
        <p:spPr>
          <a:xfrm>
            <a:off x="2167200" y="2734200"/>
            <a:ext cx="82080" cy="8208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62" name="SlotNum2"/>
          <p:cNvSpPr/>
          <p:nvPr/>
        </p:nvSpPr>
        <p:spPr>
          <a:xfrm>
            <a:off x="1865520" y="2432160"/>
            <a:ext cx="164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Trebuchet MS"/>
              </a:rPr>
              <a:t>3</a:t>
            </a:r>
            <a:endParaRPr lang="en-US" sz="1200" b="0" strike="noStrike" spc="-1">
              <a:solidFill>
                <a:srgbClr val="000000"/>
              </a:solidFill>
              <a:latin typeface="Arial"/>
            </a:endParaRPr>
          </a:p>
        </p:txBody>
      </p:sp>
      <p:sp>
        <p:nvSpPr>
          <p:cNvPr id="563" name="SlotLabel2"/>
          <p:cNvSpPr/>
          <p:nvPr/>
        </p:nvSpPr>
        <p:spPr>
          <a:xfrm>
            <a:off x="1847160" y="2615040"/>
            <a:ext cx="475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FFFFFF"/>
                </a:solidFill>
                <a:latin typeface="Trebuchet MS"/>
              </a:rPr>
              <a:t>K8s VAP</a:t>
            </a:r>
            <a:endParaRPr lang="en-US" sz="700" b="0" strike="noStrike" spc="-1">
              <a:solidFill>
                <a:srgbClr val="000000"/>
              </a:solidFill>
              <a:latin typeface="Arial"/>
            </a:endParaRPr>
          </a:p>
        </p:txBody>
      </p:sp>
      <p:sp>
        <p:nvSpPr>
          <p:cNvPr id="564" name="Slot3"/>
          <p:cNvSpPr/>
          <p:nvPr/>
        </p:nvSpPr>
        <p:spPr>
          <a:xfrm>
            <a:off x="859680" y="2907720"/>
            <a:ext cx="475200" cy="475200"/>
          </a:xfrm>
          <a:prstGeom prst="rect">
            <a:avLst/>
          </a:prstGeom>
          <a:solidFill>
            <a:srgbClr val="6B5237"/>
          </a:solidFill>
          <a:ln w="1587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65" name="Block3_0_0"/>
          <p:cNvSpPr/>
          <p:nvPr/>
        </p:nvSpPr>
        <p:spPr>
          <a:xfrm>
            <a:off x="932760" y="2980800"/>
            <a:ext cx="82080" cy="8208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66" name="Block3_0_1"/>
          <p:cNvSpPr/>
          <p:nvPr/>
        </p:nvSpPr>
        <p:spPr>
          <a:xfrm>
            <a:off x="1014840" y="2980800"/>
            <a:ext cx="82080" cy="8208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67" name="Block3_0_2"/>
          <p:cNvSpPr/>
          <p:nvPr/>
        </p:nvSpPr>
        <p:spPr>
          <a:xfrm>
            <a:off x="1097280" y="2980800"/>
            <a:ext cx="82080" cy="8208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68" name="Block3_0_3"/>
          <p:cNvSpPr/>
          <p:nvPr/>
        </p:nvSpPr>
        <p:spPr>
          <a:xfrm>
            <a:off x="1179720" y="2980800"/>
            <a:ext cx="82080" cy="8208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69" name="Block3_1_0"/>
          <p:cNvSpPr/>
          <p:nvPr/>
        </p:nvSpPr>
        <p:spPr>
          <a:xfrm>
            <a:off x="932760" y="3063240"/>
            <a:ext cx="82080" cy="8208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0" name="Block3_1_1"/>
          <p:cNvSpPr/>
          <p:nvPr/>
        </p:nvSpPr>
        <p:spPr>
          <a:xfrm>
            <a:off x="1014840" y="3063240"/>
            <a:ext cx="82080" cy="8208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1" name="Block3_1_2"/>
          <p:cNvSpPr/>
          <p:nvPr/>
        </p:nvSpPr>
        <p:spPr>
          <a:xfrm>
            <a:off x="1097280" y="3063240"/>
            <a:ext cx="82080" cy="8208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2" name="Block3_1_3"/>
          <p:cNvSpPr/>
          <p:nvPr/>
        </p:nvSpPr>
        <p:spPr>
          <a:xfrm>
            <a:off x="1179720" y="3063240"/>
            <a:ext cx="82080" cy="8208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3" name="Block3_2_0"/>
          <p:cNvSpPr/>
          <p:nvPr/>
        </p:nvSpPr>
        <p:spPr>
          <a:xfrm>
            <a:off x="932760" y="3145680"/>
            <a:ext cx="82080" cy="8208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4" name="Block3_2_1"/>
          <p:cNvSpPr/>
          <p:nvPr/>
        </p:nvSpPr>
        <p:spPr>
          <a:xfrm>
            <a:off x="1014840" y="3145680"/>
            <a:ext cx="82080" cy="8208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5" name="Block3_2_2"/>
          <p:cNvSpPr/>
          <p:nvPr/>
        </p:nvSpPr>
        <p:spPr>
          <a:xfrm>
            <a:off x="1097280" y="3145680"/>
            <a:ext cx="82080" cy="8208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6" name="Block3_2_3"/>
          <p:cNvSpPr/>
          <p:nvPr/>
        </p:nvSpPr>
        <p:spPr>
          <a:xfrm>
            <a:off x="1179720" y="3145680"/>
            <a:ext cx="82080" cy="8208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7" name="Block3_3_0"/>
          <p:cNvSpPr/>
          <p:nvPr/>
        </p:nvSpPr>
        <p:spPr>
          <a:xfrm>
            <a:off x="932760" y="3227760"/>
            <a:ext cx="82080" cy="8208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8" name="Block3_3_1"/>
          <p:cNvSpPr/>
          <p:nvPr/>
        </p:nvSpPr>
        <p:spPr>
          <a:xfrm>
            <a:off x="1014840" y="3227760"/>
            <a:ext cx="82080" cy="8208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9" name="Block3_3_2"/>
          <p:cNvSpPr/>
          <p:nvPr/>
        </p:nvSpPr>
        <p:spPr>
          <a:xfrm>
            <a:off x="1097280" y="3227760"/>
            <a:ext cx="82080" cy="8208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80" name="Block3_3_3"/>
          <p:cNvSpPr/>
          <p:nvPr/>
        </p:nvSpPr>
        <p:spPr>
          <a:xfrm>
            <a:off x="1179720" y="3227760"/>
            <a:ext cx="82080" cy="8208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81" name="SlotNum3"/>
          <p:cNvSpPr/>
          <p:nvPr/>
        </p:nvSpPr>
        <p:spPr>
          <a:xfrm>
            <a:off x="877680" y="2926080"/>
            <a:ext cx="164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Trebuchet MS"/>
              </a:rPr>
              <a:t>4</a:t>
            </a:r>
            <a:endParaRPr lang="en-US" sz="1200" b="0" strike="noStrike" spc="-1">
              <a:solidFill>
                <a:srgbClr val="000000"/>
              </a:solidFill>
              <a:latin typeface="Arial"/>
            </a:endParaRPr>
          </a:p>
        </p:txBody>
      </p:sp>
      <p:sp>
        <p:nvSpPr>
          <p:cNvPr id="582" name="SlotLabel3"/>
          <p:cNvSpPr/>
          <p:nvPr/>
        </p:nvSpPr>
        <p:spPr>
          <a:xfrm>
            <a:off x="859680" y="3108960"/>
            <a:ext cx="475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FFFFFF"/>
                </a:solidFill>
                <a:latin typeface="Trebuchet MS"/>
              </a:rPr>
              <a:t>Falco+Talon</a:t>
            </a:r>
            <a:endParaRPr lang="en-US" sz="700" b="0" strike="noStrike" spc="-1">
              <a:solidFill>
                <a:srgbClr val="000000"/>
              </a:solidFill>
              <a:latin typeface="Arial"/>
            </a:endParaRPr>
          </a:p>
        </p:txBody>
      </p:sp>
      <p:sp>
        <p:nvSpPr>
          <p:cNvPr id="583" name="Slot4"/>
          <p:cNvSpPr/>
          <p:nvPr/>
        </p:nvSpPr>
        <p:spPr>
          <a:xfrm>
            <a:off x="1353240" y="2907720"/>
            <a:ext cx="475200" cy="475200"/>
          </a:xfrm>
          <a:prstGeom prst="rect">
            <a:avLst/>
          </a:prstGeom>
          <a:solidFill>
            <a:srgbClr val="6B5237"/>
          </a:solidFill>
          <a:ln w="1587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84" name="Block4_0_0"/>
          <p:cNvSpPr/>
          <p:nvPr/>
        </p:nvSpPr>
        <p:spPr>
          <a:xfrm>
            <a:off x="1426320" y="2980800"/>
            <a:ext cx="82080" cy="82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85" name="Block4_0_1"/>
          <p:cNvSpPr/>
          <p:nvPr/>
        </p:nvSpPr>
        <p:spPr>
          <a:xfrm>
            <a:off x="1508760" y="2980800"/>
            <a:ext cx="82080" cy="82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86" name="Block4_0_2"/>
          <p:cNvSpPr/>
          <p:nvPr/>
        </p:nvSpPr>
        <p:spPr>
          <a:xfrm>
            <a:off x="1591200" y="2980800"/>
            <a:ext cx="82080" cy="82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87" name="Block4_0_3"/>
          <p:cNvSpPr/>
          <p:nvPr/>
        </p:nvSpPr>
        <p:spPr>
          <a:xfrm>
            <a:off x="1673280" y="2980800"/>
            <a:ext cx="82080" cy="82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88" name="Block4_1_0"/>
          <p:cNvSpPr/>
          <p:nvPr/>
        </p:nvSpPr>
        <p:spPr>
          <a:xfrm>
            <a:off x="1426320" y="3063240"/>
            <a:ext cx="82080" cy="82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89" name="Block4_1_1"/>
          <p:cNvSpPr/>
          <p:nvPr/>
        </p:nvSpPr>
        <p:spPr>
          <a:xfrm>
            <a:off x="1508760" y="3063240"/>
            <a:ext cx="82080" cy="82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90" name="Block4_1_2"/>
          <p:cNvSpPr/>
          <p:nvPr/>
        </p:nvSpPr>
        <p:spPr>
          <a:xfrm>
            <a:off x="1591200" y="3063240"/>
            <a:ext cx="82080" cy="82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91" name="Block4_1_3"/>
          <p:cNvSpPr/>
          <p:nvPr/>
        </p:nvSpPr>
        <p:spPr>
          <a:xfrm>
            <a:off x="1673280" y="3063240"/>
            <a:ext cx="82080" cy="82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92" name="Block4_2_0"/>
          <p:cNvSpPr/>
          <p:nvPr/>
        </p:nvSpPr>
        <p:spPr>
          <a:xfrm>
            <a:off x="1426320" y="3145680"/>
            <a:ext cx="82080" cy="82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93" name="Block4_2_1"/>
          <p:cNvSpPr/>
          <p:nvPr/>
        </p:nvSpPr>
        <p:spPr>
          <a:xfrm>
            <a:off x="1508760" y="3145680"/>
            <a:ext cx="82080" cy="82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94" name="Block4_2_2"/>
          <p:cNvSpPr/>
          <p:nvPr/>
        </p:nvSpPr>
        <p:spPr>
          <a:xfrm>
            <a:off x="1591200" y="3145680"/>
            <a:ext cx="82080" cy="82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95" name="Block4_2_3"/>
          <p:cNvSpPr/>
          <p:nvPr/>
        </p:nvSpPr>
        <p:spPr>
          <a:xfrm>
            <a:off x="1673280" y="3145680"/>
            <a:ext cx="82080" cy="82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96" name="Block4_3_0"/>
          <p:cNvSpPr/>
          <p:nvPr/>
        </p:nvSpPr>
        <p:spPr>
          <a:xfrm>
            <a:off x="1426320" y="3227760"/>
            <a:ext cx="82080" cy="8208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97" name="Block4_3_1"/>
          <p:cNvSpPr/>
          <p:nvPr/>
        </p:nvSpPr>
        <p:spPr>
          <a:xfrm>
            <a:off x="1508760" y="3227760"/>
            <a:ext cx="82080" cy="82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98" name="Block4_3_2"/>
          <p:cNvSpPr/>
          <p:nvPr/>
        </p:nvSpPr>
        <p:spPr>
          <a:xfrm>
            <a:off x="1591200" y="3227760"/>
            <a:ext cx="82080" cy="82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99" name="Block4_3_3"/>
          <p:cNvSpPr/>
          <p:nvPr/>
        </p:nvSpPr>
        <p:spPr>
          <a:xfrm>
            <a:off x="1673280" y="3227760"/>
            <a:ext cx="82080" cy="8208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00" name="SlotNum4"/>
          <p:cNvSpPr/>
          <p:nvPr/>
        </p:nvSpPr>
        <p:spPr>
          <a:xfrm>
            <a:off x="1371600" y="2926080"/>
            <a:ext cx="164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Trebuchet MS"/>
              </a:rPr>
              <a:t>5</a:t>
            </a:r>
            <a:endParaRPr lang="en-US" sz="1200" b="0" strike="noStrike" spc="-1">
              <a:solidFill>
                <a:srgbClr val="000000"/>
              </a:solidFill>
              <a:latin typeface="Arial"/>
            </a:endParaRPr>
          </a:p>
        </p:txBody>
      </p:sp>
      <p:sp>
        <p:nvSpPr>
          <p:cNvPr id="601" name="SlotLabel4"/>
          <p:cNvSpPr/>
          <p:nvPr/>
        </p:nvSpPr>
        <p:spPr>
          <a:xfrm>
            <a:off x="1353240" y="3108960"/>
            <a:ext cx="475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FFFFFF"/>
                </a:solidFill>
                <a:latin typeface="Trebuchet MS"/>
              </a:rPr>
              <a:t>NetworkPolicy</a:t>
            </a:r>
            <a:endParaRPr lang="en-US" sz="700" b="0" strike="noStrike" spc="-1">
              <a:solidFill>
                <a:srgbClr val="000000"/>
              </a:solidFill>
              <a:latin typeface="Arial"/>
            </a:endParaRPr>
          </a:p>
        </p:txBody>
      </p:sp>
      <p:sp>
        <p:nvSpPr>
          <p:cNvPr id="602" name="Slot5"/>
          <p:cNvSpPr/>
          <p:nvPr/>
        </p:nvSpPr>
        <p:spPr>
          <a:xfrm>
            <a:off x="1847160" y="2907720"/>
            <a:ext cx="475200" cy="475200"/>
          </a:xfrm>
          <a:prstGeom prst="rect">
            <a:avLst/>
          </a:prstGeom>
          <a:solidFill>
            <a:srgbClr val="6B5237"/>
          </a:solidFill>
          <a:ln w="1587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03" name="Block5_0_0"/>
          <p:cNvSpPr/>
          <p:nvPr/>
        </p:nvSpPr>
        <p:spPr>
          <a:xfrm>
            <a:off x="1920240" y="2980800"/>
            <a:ext cx="82080" cy="8208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04" name="Block5_0_1"/>
          <p:cNvSpPr/>
          <p:nvPr/>
        </p:nvSpPr>
        <p:spPr>
          <a:xfrm>
            <a:off x="2002680" y="2980800"/>
            <a:ext cx="82080" cy="8208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05" name="Block5_0_2"/>
          <p:cNvSpPr/>
          <p:nvPr/>
        </p:nvSpPr>
        <p:spPr>
          <a:xfrm>
            <a:off x="2084760" y="2980800"/>
            <a:ext cx="82080" cy="82080"/>
          </a:xfrm>
          <a:prstGeom prst="rect">
            <a:avLst/>
          </a:prstGeom>
          <a:solidFill>
            <a:srgbClr val="0A0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06" name="Block5_0_3"/>
          <p:cNvSpPr/>
          <p:nvPr/>
        </p:nvSpPr>
        <p:spPr>
          <a:xfrm>
            <a:off x="2167200" y="2980800"/>
            <a:ext cx="82080" cy="8208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07" name="Block5_1_0"/>
          <p:cNvSpPr/>
          <p:nvPr/>
        </p:nvSpPr>
        <p:spPr>
          <a:xfrm>
            <a:off x="1920240" y="3063240"/>
            <a:ext cx="82080" cy="82080"/>
          </a:xfrm>
          <a:prstGeom prst="rect">
            <a:avLst/>
          </a:prstGeom>
          <a:solidFill>
            <a:srgbClr val="0A0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08" name="Block5_1_1"/>
          <p:cNvSpPr/>
          <p:nvPr/>
        </p:nvSpPr>
        <p:spPr>
          <a:xfrm>
            <a:off x="2002680" y="3063240"/>
            <a:ext cx="82080" cy="8208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09" name="Block5_1_2"/>
          <p:cNvSpPr/>
          <p:nvPr/>
        </p:nvSpPr>
        <p:spPr>
          <a:xfrm>
            <a:off x="2084760" y="3063240"/>
            <a:ext cx="82080" cy="8208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10" name="Block5_1_3"/>
          <p:cNvSpPr/>
          <p:nvPr/>
        </p:nvSpPr>
        <p:spPr>
          <a:xfrm>
            <a:off x="2167200" y="3063240"/>
            <a:ext cx="82080" cy="82080"/>
          </a:xfrm>
          <a:prstGeom prst="rect">
            <a:avLst/>
          </a:prstGeom>
          <a:solidFill>
            <a:srgbClr val="0A0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11" name="Block5_2_0"/>
          <p:cNvSpPr/>
          <p:nvPr/>
        </p:nvSpPr>
        <p:spPr>
          <a:xfrm>
            <a:off x="1920240" y="3145680"/>
            <a:ext cx="82080" cy="8208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12" name="Block5_2_1"/>
          <p:cNvSpPr/>
          <p:nvPr/>
        </p:nvSpPr>
        <p:spPr>
          <a:xfrm>
            <a:off x="2002680" y="3145680"/>
            <a:ext cx="82080" cy="82080"/>
          </a:xfrm>
          <a:prstGeom prst="rect">
            <a:avLst/>
          </a:prstGeom>
          <a:solidFill>
            <a:srgbClr val="0A0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13" name="Block5_2_2"/>
          <p:cNvSpPr/>
          <p:nvPr/>
        </p:nvSpPr>
        <p:spPr>
          <a:xfrm>
            <a:off x="2084760" y="3145680"/>
            <a:ext cx="82080" cy="8208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14" name="Block5_2_3"/>
          <p:cNvSpPr/>
          <p:nvPr/>
        </p:nvSpPr>
        <p:spPr>
          <a:xfrm>
            <a:off x="2167200" y="3145680"/>
            <a:ext cx="82080" cy="8208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15" name="Block5_3_0"/>
          <p:cNvSpPr/>
          <p:nvPr/>
        </p:nvSpPr>
        <p:spPr>
          <a:xfrm>
            <a:off x="1920240" y="3227760"/>
            <a:ext cx="82080" cy="8208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16" name="Block5_3_1"/>
          <p:cNvSpPr/>
          <p:nvPr/>
        </p:nvSpPr>
        <p:spPr>
          <a:xfrm>
            <a:off x="2002680" y="3227760"/>
            <a:ext cx="82080" cy="8208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17" name="Block5_3_2"/>
          <p:cNvSpPr/>
          <p:nvPr/>
        </p:nvSpPr>
        <p:spPr>
          <a:xfrm>
            <a:off x="2084760" y="3227760"/>
            <a:ext cx="82080" cy="82080"/>
          </a:xfrm>
          <a:prstGeom prst="rect">
            <a:avLst/>
          </a:prstGeom>
          <a:solidFill>
            <a:srgbClr val="0A0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18" name="Block5_3_3"/>
          <p:cNvSpPr/>
          <p:nvPr/>
        </p:nvSpPr>
        <p:spPr>
          <a:xfrm>
            <a:off x="2167200" y="3227760"/>
            <a:ext cx="82080" cy="8208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19" name="SlotNum5"/>
          <p:cNvSpPr/>
          <p:nvPr/>
        </p:nvSpPr>
        <p:spPr>
          <a:xfrm>
            <a:off x="1865520" y="2926080"/>
            <a:ext cx="164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FFFFFF"/>
                </a:solidFill>
                <a:latin typeface="Trebuchet MS"/>
              </a:rPr>
              <a:t>6</a:t>
            </a:r>
            <a:endParaRPr lang="en-US" sz="1200" b="0" strike="noStrike" spc="-1">
              <a:solidFill>
                <a:srgbClr val="000000"/>
              </a:solidFill>
              <a:latin typeface="Arial"/>
            </a:endParaRPr>
          </a:p>
        </p:txBody>
      </p:sp>
      <p:sp>
        <p:nvSpPr>
          <p:cNvPr id="620" name="SlotLabel5"/>
          <p:cNvSpPr/>
          <p:nvPr/>
        </p:nvSpPr>
        <p:spPr>
          <a:xfrm>
            <a:off x="1847160" y="3108960"/>
            <a:ext cx="47520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FFFFFF"/>
                </a:solidFill>
                <a:latin typeface="Trebuchet MS"/>
              </a:rPr>
              <a:t>LLM Guard</a:t>
            </a:r>
            <a:endParaRPr lang="en-US" sz="700" b="0" strike="noStrike" spc="-1">
              <a:solidFill>
                <a:srgbClr val="000000"/>
              </a:solidFill>
              <a:latin typeface="Arial"/>
            </a:endParaRPr>
          </a:p>
        </p:txBody>
      </p:sp>
      <p:sp>
        <p:nvSpPr>
          <p:cNvPr id="621" name="EmptySlot_2_0"/>
          <p:cNvSpPr/>
          <p:nvPr/>
        </p:nvSpPr>
        <p:spPr>
          <a:xfrm>
            <a:off x="859680" y="3401640"/>
            <a:ext cx="475200" cy="475200"/>
          </a:xfrm>
          <a:prstGeom prst="rect">
            <a:avLst/>
          </a:prstGeom>
          <a:solidFill>
            <a:srgbClr val="6B5237"/>
          </a:solidFill>
          <a:ln w="1587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22" name="EmptySlot_2_1"/>
          <p:cNvSpPr/>
          <p:nvPr/>
        </p:nvSpPr>
        <p:spPr>
          <a:xfrm>
            <a:off x="1353240" y="3401640"/>
            <a:ext cx="475200" cy="475200"/>
          </a:xfrm>
          <a:prstGeom prst="rect">
            <a:avLst/>
          </a:prstGeom>
          <a:solidFill>
            <a:srgbClr val="6B5237"/>
          </a:solidFill>
          <a:ln w="1587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23" name="EmptySlot_2_2"/>
          <p:cNvSpPr/>
          <p:nvPr/>
        </p:nvSpPr>
        <p:spPr>
          <a:xfrm>
            <a:off x="1847160" y="3401640"/>
            <a:ext cx="475200" cy="475200"/>
          </a:xfrm>
          <a:prstGeom prst="rect">
            <a:avLst/>
          </a:prstGeom>
          <a:solidFill>
            <a:srgbClr val="6B5237"/>
          </a:solidFill>
          <a:ln w="1587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24" name="CraftArrow"/>
          <p:cNvSpPr/>
          <p:nvPr/>
        </p:nvSpPr>
        <p:spPr>
          <a:xfrm>
            <a:off x="5120640" y="3017520"/>
            <a:ext cx="7311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200" b="1" strike="noStrike" spc="-1">
                <a:solidFill>
                  <a:srgbClr val="0A0A0A"/>
                </a:solidFill>
                <a:latin typeface="Trebuchet MS"/>
              </a:rPr>
              <a:t>▶▶▶</a:t>
            </a:r>
            <a:endParaRPr lang="en-US" sz="3200" b="0" strike="noStrike" spc="-1">
              <a:solidFill>
                <a:srgbClr val="000000"/>
              </a:solidFill>
              <a:latin typeface="Arial"/>
            </a:endParaRPr>
          </a:p>
        </p:txBody>
      </p:sp>
      <p:sp>
        <p:nvSpPr>
          <p:cNvPr id="625" name="ResultFrame"/>
          <p:cNvSpPr/>
          <p:nvPr/>
        </p:nvSpPr>
        <p:spPr>
          <a:xfrm>
            <a:off x="6035040" y="2377440"/>
            <a:ext cx="5699520" cy="1554120"/>
          </a:xfrm>
          <a:prstGeom prst="rect">
            <a:avLst/>
          </a:prstGeom>
          <a:solidFill>
            <a:srgbClr val="0A0A1A"/>
          </a:solidFill>
          <a:ln w="38100">
            <a:solidFill>
              <a:srgbClr val="5DECF5"/>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26" name="ResultDiamond_0_0"/>
          <p:cNvSpPr/>
          <p:nvPr/>
        </p:nvSpPr>
        <p:spPr>
          <a:xfrm>
            <a:off x="8381880" y="2514600"/>
            <a:ext cx="251280" cy="251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27" name="ResultDiamond_0_1"/>
          <p:cNvSpPr/>
          <p:nvPr/>
        </p:nvSpPr>
        <p:spPr>
          <a:xfrm>
            <a:off x="8633520" y="2514600"/>
            <a:ext cx="251280" cy="251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28" name="ResultDiamond_0_2"/>
          <p:cNvSpPr/>
          <p:nvPr/>
        </p:nvSpPr>
        <p:spPr>
          <a:xfrm>
            <a:off x="8884800" y="2514600"/>
            <a:ext cx="251280" cy="251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29" name="ResultDiamond_0_3"/>
          <p:cNvSpPr/>
          <p:nvPr/>
        </p:nvSpPr>
        <p:spPr>
          <a:xfrm>
            <a:off x="9136440" y="2514600"/>
            <a:ext cx="251280" cy="251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0" name="ResultDiamond_1_0"/>
          <p:cNvSpPr/>
          <p:nvPr/>
        </p:nvSpPr>
        <p:spPr>
          <a:xfrm>
            <a:off x="8381880" y="2766240"/>
            <a:ext cx="251280" cy="251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1" name="ResultDiamond_1_1"/>
          <p:cNvSpPr/>
          <p:nvPr/>
        </p:nvSpPr>
        <p:spPr>
          <a:xfrm>
            <a:off x="8633520" y="2766240"/>
            <a:ext cx="251280" cy="251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2" name="ResultDiamond_1_2"/>
          <p:cNvSpPr/>
          <p:nvPr/>
        </p:nvSpPr>
        <p:spPr>
          <a:xfrm>
            <a:off x="8884800" y="2766240"/>
            <a:ext cx="251280" cy="251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3" name="ResultDiamond_1_3"/>
          <p:cNvSpPr/>
          <p:nvPr/>
        </p:nvSpPr>
        <p:spPr>
          <a:xfrm>
            <a:off x="9136440" y="2766240"/>
            <a:ext cx="251280" cy="251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4" name="ResultDiamond_2_0"/>
          <p:cNvSpPr/>
          <p:nvPr/>
        </p:nvSpPr>
        <p:spPr>
          <a:xfrm>
            <a:off x="8381880" y="3017520"/>
            <a:ext cx="251280" cy="251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5" name="ResultDiamond_2_1"/>
          <p:cNvSpPr/>
          <p:nvPr/>
        </p:nvSpPr>
        <p:spPr>
          <a:xfrm>
            <a:off x="8633520" y="3017520"/>
            <a:ext cx="251280" cy="251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6" name="ResultDiamond_2_2"/>
          <p:cNvSpPr/>
          <p:nvPr/>
        </p:nvSpPr>
        <p:spPr>
          <a:xfrm>
            <a:off x="8884800" y="3017520"/>
            <a:ext cx="251280" cy="251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7" name="ResultDiamond_2_3"/>
          <p:cNvSpPr/>
          <p:nvPr/>
        </p:nvSpPr>
        <p:spPr>
          <a:xfrm>
            <a:off x="9136440" y="3017520"/>
            <a:ext cx="251280" cy="251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8" name="ResultDiamond_3_0"/>
          <p:cNvSpPr/>
          <p:nvPr/>
        </p:nvSpPr>
        <p:spPr>
          <a:xfrm>
            <a:off x="8381880" y="3269160"/>
            <a:ext cx="251280" cy="251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9" name="ResultDiamond_3_1"/>
          <p:cNvSpPr/>
          <p:nvPr/>
        </p:nvSpPr>
        <p:spPr>
          <a:xfrm>
            <a:off x="8633520" y="3269160"/>
            <a:ext cx="251280" cy="251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40" name="ResultDiamond_3_2"/>
          <p:cNvSpPr/>
          <p:nvPr/>
        </p:nvSpPr>
        <p:spPr>
          <a:xfrm>
            <a:off x="8884800" y="3269160"/>
            <a:ext cx="251280" cy="251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41" name="ResultDiamond_3_3"/>
          <p:cNvSpPr/>
          <p:nvPr/>
        </p:nvSpPr>
        <p:spPr>
          <a:xfrm>
            <a:off x="9136440" y="3269160"/>
            <a:ext cx="251280" cy="251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42" name="ResultLabel"/>
          <p:cNvSpPr/>
          <p:nvPr/>
        </p:nvSpPr>
        <p:spPr>
          <a:xfrm>
            <a:off x="6035040" y="3566160"/>
            <a:ext cx="569952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5DECF5"/>
                </a:solidFill>
                <a:latin typeface="Trebuchet MS"/>
              </a:rPr>
              <a:t>MLOPS GUARDRAIL</a:t>
            </a:r>
            <a:endParaRPr lang="en-US" sz="1100" b="0" strike="noStrike" spc="-1">
              <a:solidFill>
                <a:srgbClr val="000000"/>
              </a:solidFill>
              <a:latin typeface="Arial"/>
            </a:endParaRPr>
          </a:p>
        </p:txBody>
      </p:sp>
      <p:sp>
        <p:nvSpPr>
          <p:cNvPr id="643" name="SteveHead_0_0"/>
          <p:cNvSpPr/>
          <p:nvPr/>
        </p:nvSpPr>
        <p:spPr>
          <a:xfrm>
            <a:off x="457200" y="420624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44" name="SteveHead_0_1"/>
          <p:cNvSpPr/>
          <p:nvPr/>
        </p:nvSpPr>
        <p:spPr>
          <a:xfrm>
            <a:off x="542880" y="420624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45" name="SteveHead_0_2"/>
          <p:cNvSpPr/>
          <p:nvPr/>
        </p:nvSpPr>
        <p:spPr>
          <a:xfrm>
            <a:off x="628560" y="420624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46" name="SteveHead_0_3"/>
          <p:cNvSpPr/>
          <p:nvPr/>
        </p:nvSpPr>
        <p:spPr>
          <a:xfrm>
            <a:off x="714240" y="420624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47" name="SteveHead_0_4"/>
          <p:cNvSpPr/>
          <p:nvPr/>
        </p:nvSpPr>
        <p:spPr>
          <a:xfrm>
            <a:off x="800280" y="420624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48" name="SteveHead_0_5"/>
          <p:cNvSpPr/>
          <p:nvPr/>
        </p:nvSpPr>
        <p:spPr>
          <a:xfrm>
            <a:off x="885960" y="420624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49" name="SteveHead_0_6"/>
          <p:cNvSpPr/>
          <p:nvPr/>
        </p:nvSpPr>
        <p:spPr>
          <a:xfrm>
            <a:off x="971640" y="420624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50" name="SteveHead_0_7"/>
          <p:cNvSpPr/>
          <p:nvPr/>
        </p:nvSpPr>
        <p:spPr>
          <a:xfrm>
            <a:off x="1057320" y="420624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51" name="SteveHead_1_0"/>
          <p:cNvSpPr/>
          <p:nvPr/>
        </p:nvSpPr>
        <p:spPr>
          <a:xfrm>
            <a:off x="457200" y="429192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52" name="SteveHead_1_1"/>
          <p:cNvSpPr/>
          <p:nvPr/>
        </p:nvSpPr>
        <p:spPr>
          <a:xfrm>
            <a:off x="542880" y="429192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53" name="SteveHead_1_2"/>
          <p:cNvSpPr/>
          <p:nvPr/>
        </p:nvSpPr>
        <p:spPr>
          <a:xfrm>
            <a:off x="628560" y="429192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54" name="SteveHead_1_3"/>
          <p:cNvSpPr/>
          <p:nvPr/>
        </p:nvSpPr>
        <p:spPr>
          <a:xfrm>
            <a:off x="714240" y="429192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55" name="SteveHead_1_4"/>
          <p:cNvSpPr/>
          <p:nvPr/>
        </p:nvSpPr>
        <p:spPr>
          <a:xfrm>
            <a:off x="800280" y="429192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56" name="SteveHead_1_5"/>
          <p:cNvSpPr/>
          <p:nvPr/>
        </p:nvSpPr>
        <p:spPr>
          <a:xfrm>
            <a:off x="885960" y="429192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57" name="SteveHead_1_6"/>
          <p:cNvSpPr/>
          <p:nvPr/>
        </p:nvSpPr>
        <p:spPr>
          <a:xfrm>
            <a:off x="971640" y="429192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58" name="SteveHead_1_7"/>
          <p:cNvSpPr/>
          <p:nvPr/>
        </p:nvSpPr>
        <p:spPr>
          <a:xfrm>
            <a:off x="1057320" y="4291920"/>
            <a:ext cx="85320" cy="85320"/>
          </a:xfrm>
          <a:prstGeom prst="rect">
            <a:avLst/>
          </a:prstGeom>
          <a:solidFill>
            <a:srgbClr val="6039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59" name="SteveHead_2_0"/>
          <p:cNvSpPr/>
          <p:nvPr/>
        </p:nvSpPr>
        <p:spPr>
          <a:xfrm>
            <a:off x="457200" y="437760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60" name="SteveHead_2_1"/>
          <p:cNvSpPr/>
          <p:nvPr/>
        </p:nvSpPr>
        <p:spPr>
          <a:xfrm>
            <a:off x="542880" y="437760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61" name="SteveHead_2_2"/>
          <p:cNvSpPr/>
          <p:nvPr/>
        </p:nvSpPr>
        <p:spPr>
          <a:xfrm>
            <a:off x="628560" y="4377600"/>
            <a:ext cx="85320" cy="853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62" name="SteveHead_2_3"/>
          <p:cNvSpPr/>
          <p:nvPr/>
        </p:nvSpPr>
        <p:spPr>
          <a:xfrm>
            <a:off x="714240" y="4377600"/>
            <a:ext cx="85320" cy="8532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63" name="SteveHead_2_4"/>
          <p:cNvSpPr/>
          <p:nvPr/>
        </p:nvSpPr>
        <p:spPr>
          <a:xfrm>
            <a:off x="800280" y="4377600"/>
            <a:ext cx="85320" cy="8532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64" name="SteveHead_2_5"/>
          <p:cNvSpPr/>
          <p:nvPr/>
        </p:nvSpPr>
        <p:spPr>
          <a:xfrm>
            <a:off x="885960" y="4377600"/>
            <a:ext cx="85320" cy="853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65" name="SteveHead_2_6"/>
          <p:cNvSpPr/>
          <p:nvPr/>
        </p:nvSpPr>
        <p:spPr>
          <a:xfrm>
            <a:off x="971640" y="437760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66" name="SteveHead_2_7"/>
          <p:cNvSpPr/>
          <p:nvPr/>
        </p:nvSpPr>
        <p:spPr>
          <a:xfrm>
            <a:off x="1057320" y="437760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67" name="SteveHead_3_0"/>
          <p:cNvSpPr/>
          <p:nvPr/>
        </p:nvSpPr>
        <p:spPr>
          <a:xfrm>
            <a:off x="457200" y="446328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68" name="SteveHead_3_1"/>
          <p:cNvSpPr/>
          <p:nvPr/>
        </p:nvSpPr>
        <p:spPr>
          <a:xfrm>
            <a:off x="542880" y="446328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69" name="SteveHead_3_2"/>
          <p:cNvSpPr/>
          <p:nvPr/>
        </p:nvSpPr>
        <p:spPr>
          <a:xfrm>
            <a:off x="628560" y="4463280"/>
            <a:ext cx="85320" cy="853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70" name="SteveHead_3_3"/>
          <p:cNvSpPr/>
          <p:nvPr/>
        </p:nvSpPr>
        <p:spPr>
          <a:xfrm>
            <a:off x="714240" y="4463280"/>
            <a:ext cx="85320" cy="8532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71" name="SteveHead_3_4"/>
          <p:cNvSpPr/>
          <p:nvPr/>
        </p:nvSpPr>
        <p:spPr>
          <a:xfrm>
            <a:off x="800280" y="4463280"/>
            <a:ext cx="85320" cy="8532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72" name="SteveHead_3_5"/>
          <p:cNvSpPr/>
          <p:nvPr/>
        </p:nvSpPr>
        <p:spPr>
          <a:xfrm>
            <a:off x="885960" y="4463280"/>
            <a:ext cx="85320" cy="8532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73" name="SteveHead_3_6"/>
          <p:cNvSpPr/>
          <p:nvPr/>
        </p:nvSpPr>
        <p:spPr>
          <a:xfrm>
            <a:off x="971640" y="446328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74" name="SteveHead_3_7"/>
          <p:cNvSpPr/>
          <p:nvPr/>
        </p:nvSpPr>
        <p:spPr>
          <a:xfrm>
            <a:off x="1057320" y="446328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75" name="SteveHead_4_0"/>
          <p:cNvSpPr/>
          <p:nvPr/>
        </p:nvSpPr>
        <p:spPr>
          <a:xfrm>
            <a:off x="457200" y="454932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76" name="SteveHead_4_1"/>
          <p:cNvSpPr/>
          <p:nvPr/>
        </p:nvSpPr>
        <p:spPr>
          <a:xfrm>
            <a:off x="542880" y="454932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77" name="SteveHead_4_2"/>
          <p:cNvSpPr/>
          <p:nvPr/>
        </p:nvSpPr>
        <p:spPr>
          <a:xfrm>
            <a:off x="628560" y="454932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78" name="SteveHead_4_3"/>
          <p:cNvSpPr/>
          <p:nvPr/>
        </p:nvSpPr>
        <p:spPr>
          <a:xfrm>
            <a:off x="714240" y="454932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79" name="SteveHead_4_4"/>
          <p:cNvSpPr/>
          <p:nvPr/>
        </p:nvSpPr>
        <p:spPr>
          <a:xfrm>
            <a:off x="800280" y="454932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80" name="SteveHead_4_5"/>
          <p:cNvSpPr/>
          <p:nvPr/>
        </p:nvSpPr>
        <p:spPr>
          <a:xfrm>
            <a:off x="885960" y="454932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81" name="SteveHead_4_6"/>
          <p:cNvSpPr/>
          <p:nvPr/>
        </p:nvSpPr>
        <p:spPr>
          <a:xfrm>
            <a:off x="971640" y="454932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82" name="SteveHead_4_7"/>
          <p:cNvSpPr/>
          <p:nvPr/>
        </p:nvSpPr>
        <p:spPr>
          <a:xfrm>
            <a:off x="1057320" y="454932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83" name="SteveHead_5_0"/>
          <p:cNvSpPr/>
          <p:nvPr/>
        </p:nvSpPr>
        <p:spPr>
          <a:xfrm>
            <a:off x="457200" y="463500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84" name="SteveHead_5_1"/>
          <p:cNvSpPr/>
          <p:nvPr/>
        </p:nvSpPr>
        <p:spPr>
          <a:xfrm>
            <a:off x="542880" y="463500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85" name="SteveHead_5_2"/>
          <p:cNvSpPr/>
          <p:nvPr/>
        </p:nvSpPr>
        <p:spPr>
          <a:xfrm>
            <a:off x="628560" y="463500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86" name="SteveHead_5_3"/>
          <p:cNvSpPr/>
          <p:nvPr/>
        </p:nvSpPr>
        <p:spPr>
          <a:xfrm>
            <a:off x="714240" y="4635000"/>
            <a:ext cx="85320" cy="85320"/>
          </a:xfrm>
          <a:prstGeom prst="rect">
            <a:avLst/>
          </a:prstGeom>
          <a:solidFill>
            <a:srgbClr val="C97B5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87" name="SteveHead_5_4"/>
          <p:cNvSpPr/>
          <p:nvPr/>
        </p:nvSpPr>
        <p:spPr>
          <a:xfrm>
            <a:off x="800280" y="4635000"/>
            <a:ext cx="85320" cy="85320"/>
          </a:xfrm>
          <a:prstGeom prst="rect">
            <a:avLst/>
          </a:prstGeom>
          <a:solidFill>
            <a:srgbClr val="C97B5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88" name="SteveHead_5_5"/>
          <p:cNvSpPr/>
          <p:nvPr/>
        </p:nvSpPr>
        <p:spPr>
          <a:xfrm>
            <a:off x="885960" y="463500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89" name="SteveHead_5_6"/>
          <p:cNvSpPr/>
          <p:nvPr/>
        </p:nvSpPr>
        <p:spPr>
          <a:xfrm>
            <a:off x="971640" y="463500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90" name="SteveHead_5_7"/>
          <p:cNvSpPr/>
          <p:nvPr/>
        </p:nvSpPr>
        <p:spPr>
          <a:xfrm>
            <a:off x="1057320" y="463500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91" name="SteveHead_6_0"/>
          <p:cNvSpPr/>
          <p:nvPr/>
        </p:nvSpPr>
        <p:spPr>
          <a:xfrm>
            <a:off x="457200" y="472068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92" name="SteveHead_6_1"/>
          <p:cNvSpPr/>
          <p:nvPr/>
        </p:nvSpPr>
        <p:spPr>
          <a:xfrm>
            <a:off x="542880" y="4720680"/>
            <a:ext cx="85320" cy="8532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93" name="SteveHead_6_2"/>
          <p:cNvSpPr/>
          <p:nvPr/>
        </p:nvSpPr>
        <p:spPr>
          <a:xfrm>
            <a:off x="628560" y="4720680"/>
            <a:ext cx="85320" cy="8532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94" name="SteveHead_6_3"/>
          <p:cNvSpPr/>
          <p:nvPr/>
        </p:nvSpPr>
        <p:spPr>
          <a:xfrm>
            <a:off x="714240" y="4720680"/>
            <a:ext cx="85320" cy="8532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95" name="SteveHead_6_4"/>
          <p:cNvSpPr/>
          <p:nvPr/>
        </p:nvSpPr>
        <p:spPr>
          <a:xfrm>
            <a:off x="800280" y="4720680"/>
            <a:ext cx="85320" cy="8532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96" name="SteveHead_6_5"/>
          <p:cNvSpPr/>
          <p:nvPr/>
        </p:nvSpPr>
        <p:spPr>
          <a:xfrm>
            <a:off x="885960" y="4720680"/>
            <a:ext cx="85320" cy="8532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97" name="SteveHead_6_6"/>
          <p:cNvSpPr/>
          <p:nvPr/>
        </p:nvSpPr>
        <p:spPr>
          <a:xfrm>
            <a:off x="971640" y="4720680"/>
            <a:ext cx="85320" cy="8532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98" name="SteveHead_6_7"/>
          <p:cNvSpPr/>
          <p:nvPr/>
        </p:nvSpPr>
        <p:spPr>
          <a:xfrm>
            <a:off x="1057320" y="472068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99" name="SteveHead_7_0"/>
          <p:cNvSpPr/>
          <p:nvPr/>
        </p:nvSpPr>
        <p:spPr>
          <a:xfrm>
            <a:off x="457200" y="480636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00" name="SteveHead_7_1"/>
          <p:cNvSpPr/>
          <p:nvPr/>
        </p:nvSpPr>
        <p:spPr>
          <a:xfrm>
            <a:off x="542880" y="480636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01" name="SteveHead_7_2"/>
          <p:cNvSpPr/>
          <p:nvPr/>
        </p:nvSpPr>
        <p:spPr>
          <a:xfrm>
            <a:off x="628560" y="480636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02" name="SteveHead_7_3"/>
          <p:cNvSpPr/>
          <p:nvPr/>
        </p:nvSpPr>
        <p:spPr>
          <a:xfrm>
            <a:off x="714240" y="480636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03" name="SteveHead_7_4"/>
          <p:cNvSpPr/>
          <p:nvPr/>
        </p:nvSpPr>
        <p:spPr>
          <a:xfrm>
            <a:off x="800280" y="480636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04" name="SteveHead_7_5"/>
          <p:cNvSpPr/>
          <p:nvPr/>
        </p:nvSpPr>
        <p:spPr>
          <a:xfrm>
            <a:off x="885960" y="480636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05" name="SteveHead_7_6"/>
          <p:cNvSpPr/>
          <p:nvPr/>
        </p:nvSpPr>
        <p:spPr>
          <a:xfrm>
            <a:off x="971640" y="480636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06" name="SteveHead_7_7"/>
          <p:cNvSpPr/>
          <p:nvPr/>
        </p:nvSpPr>
        <p:spPr>
          <a:xfrm>
            <a:off x="1057320" y="4806360"/>
            <a:ext cx="85320" cy="85320"/>
          </a:xfrm>
          <a:prstGeom prst="rect">
            <a:avLst/>
          </a:prstGeom>
          <a:solidFill>
            <a:srgbClr val="F0B383"/>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07" name="SteveShirt"/>
          <p:cNvSpPr/>
          <p:nvPr/>
        </p:nvSpPr>
        <p:spPr>
          <a:xfrm>
            <a:off x="530280" y="4892040"/>
            <a:ext cx="548280" cy="365400"/>
          </a:xfrm>
          <a:prstGeom prst="rect">
            <a:avLst/>
          </a:prstGeom>
          <a:solidFill>
            <a:srgbClr val="00C0C0"/>
          </a:solidFill>
          <a:ln w="12700">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08" name="ArmL"/>
          <p:cNvSpPr/>
          <p:nvPr/>
        </p:nvSpPr>
        <p:spPr>
          <a:xfrm>
            <a:off x="420480" y="4892040"/>
            <a:ext cx="136800" cy="365400"/>
          </a:xfrm>
          <a:prstGeom prst="rect">
            <a:avLst/>
          </a:prstGeom>
          <a:solidFill>
            <a:srgbClr val="00C0C0"/>
          </a:solidFill>
          <a:ln w="12700">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09" name="ArmR"/>
          <p:cNvSpPr/>
          <p:nvPr/>
        </p:nvSpPr>
        <p:spPr>
          <a:xfrm>
            <a:off x="1051560" y="4892040"/>
            <a:ext cx="136800" cy="365400"/>
          </a:xfrm>
          <a:prstGeom prst="rect">
            <a:avLst/>
          </a:prstGeom>
          <a:solidFill>
            <a:srgbClr val="00C0C0"/>
          </a:solidFill>
          <a:ln w="12700">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10" name="LegL"/>
          <p:cNvSpPr/>
          <p:nvPr/>
        </p:nvSpPr>
        <p:spPr>
          <a:xfrm>
            <a:off x="548640" y="5257800"/>
            <a:ext cx="136800" cy="273960"/>
          </a:xfrm>
          <a:prstGeom prst="rect">
            <a:avLst/>
          </a:prstGeom>
          <a:solidFill>
            <a:srgbClr val="3F4FB8"/>
          </a:solidFill>
          <a:ln w="12700">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11" name="LegR"/>
          <p:cNvSpPr/>
          <p:nvPr/>
        </p:nvSpPr>
        <p:spPr>
          <a:xfrm>
            <a:off x="914400" y="5257800"/>
            <a:ext cx="136800" cy="273960"/>
          </a:xfrm>
          <a:prstGeom prst="rect">
            <a:avLst/>
          </a:prstGeom>
          <a:solidFill>
            <a:srgbClr val="3F4FB8"/>
          </a:solidFill>
          <a:ln w="12700">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12" name="PickHandle"/>
          <p:cNvSpPr/>
          <p:nvPr/>
        </p:nvSpPr>
        <p:spPr>
          <a:xfrm>
            <a:off x="1179720" y="5120640"/>
            <a:ext cx="273960" cy="36360"/>
          </a:xfrm>
          <a:prstGeom prst="rect">
            <a:avLst/>
          </a:prstGeom>
          <a:solidFill>
            <a:srgbClr val="8B6A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13" name="PickHead"/>
          <p:cNvSpPr/>
          <p:nvPr/>
        </p:nvSpPr>
        <p:spPr>
          <a:xfrm>
            <a:off x="1271160" y="4983480"/>
            <a:ext cx="182520" cy="182520"/>
          </a:xfrm>
          <a:prstGeom prst="rect">
            <a:avLst/>
          </a:prstGeom>
          <a:solidFill>
            <a:srgbClr val="5DECF5"/>
          </a:solidFill>
          <a:ln w="12700">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14" name="Creeper_0_0"/>
          <p:cNvSpPr/>
          <p:nvPr/>
        </p:nvSpPr>
        <p:spPr>
          <a:xfrm>
            <a:off x="10866240" y="448056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15" name="Creeper_0_1"/>
          <p:cNvSpPr/>
          <p:nvPr/>
        </p:nvSpPr>
        <p:spPr>
          <a:xfrm>
            <a:off x="10957680" y="448056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16" name="Creeper_0_2"/>
          <p:cNvSpPr/>
          <p:nvPr/>
        </p:nvSpPr>
        <p:spPr>
          <a:xfrm>
            <a:off x="11049120" y="448056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17" name="Creeper_0_3"/>
          <p:cNvSpPr/>
          <p:nvPr/>
        </p:nvSpPr>
        <p:spPr>
          <a:xfrm>
            <a:off x="11140560" y="448056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18" name="Creeper_0_4"/>
          <p:cNvSpPr/>
          <p:nvPr/>
        </p:nvSpPr>
        <p:spPr>
          <a:xfrm>
            <a:off x="11232000" y="448056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19" name="Creeper_0_5"/>
          <p:cNvSpPr/>
          <p:nvPr/>
        </p:nvSpPr>
        <p:spPr>
          <a:xfrm>
            <a:off x="11323440" y="448056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20" name="Creeper_0_6"/>
          <p:cNvSpPr/>
          <p:nvPr/>
        </p:nvSpPr>
        <p:spPr>
          <a:xfrm>
            <a:off x="11414880" y="448056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21" name="Creeper_0_7"/>
          <p:cNvSpPr/>
          <p:nvPr/>
        </p:nvSpPr>
        <p:spPr>
          <a:xfrm>
            <a:off x="11506320" y="448056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22" name="Creeper_1_0"/>
          <p:cNvSpPr/>
          <p:nvPr/>
        </p:nvSpPr>
        <p:spPr>
          <a:xfrm>
            <a:off x="10866240" y="4572000"/>
            <a:ext cx="91080" cy="91080"/>
          </a:xfrm>
          <a:prstGeom prst="rect">
            <a:avLst/>
          </a:prstGeom>
          <a:solidFill>
            <a:srgbClr val="4F8F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23" name="Creeper_1_1"/>
          <p:cNvSpPr/>
          <p:nvPr/>
        </p:nvSpPr>
        <p:spPr>
          <a:xfrm>
            <a:off x="10957680" y="457200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24" name="Creeper_1_2"/>
          <p:cNvSpPr/>
          <p:nvPr/>
        </p:nvSpPr>
        <p:spPr>
          <a:xfrm>
            <a:off x="11049120" y="4572000"/>
            <a:ext cx="91080" cy="91080"/>
          </a:xfrm>
          <a:prstGeom prst="rect">
            <a:avLst/>
          </a:prstGeom>
          <a:solidFill>
            <a:srgbClr val="4F8F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25" name="Creeper_1_3"/>
          <p:cNvSpPr/>
          <p:nvPr/>
        </p:nvSpPr>
        <p:spPr>
          <a:xfrm>
            <a:off x="11140560" y="457200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26" name="Creeper_1_4"/>
          <p:cNvSpPr/>
          <p:nvPr/>
        </p:nvSpPr>
        <p:spPr>
          <a:xfrm>
            <a:off x="11232000" y="457200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27" name="Creeper_1_5"/>
          <p:cNvSpPr/>
          <p:nvPr/>
        </p:nvSpPr>
        <p:spPr>
          <a:xfrm>
            <a:off x="11323440" y="4572000"/>
            <a:ext cx="91080" cy="91080"/>
          </a:xfrm>
          <a:prstGeom prst="rect">
            <a:avLst/>
          </a:prstGeom>
          <a:solidFill>
            <a:srgbClr val="4F8F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28" name="Creeper_1_6"/>
          <p:cNvSpPr/>
          <p:nvPr/>
        </p:nvSpPr>
        <p:spPr>
          <a:xfrm>
            <a:off x="11414880" y="457200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29" name="Creeper_1_7"/>
          <p:cNvSpPr/>
          <p:nvPr/>
        </p:nvSpPr>
        <p:spPr>
          <a:xfrm>
            <a:off x="11506320" y="4572000"/>
            <a:ext cx="91080" cy="91080"/>
          </a:xfrm>
          <a:prstGeom prst="rect">
            <a:avLst/>
          </a:prstGeom>
          <a:solidFill>
            <a:srgbClr val="4F8F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30" name="Creeper_2_0"/>
          <p:cNvSpPr/>
          <p:nvPr/>
        </p:nvSpPr>
        <p:spPr>
          <a:xfrm>
            <a:off x="10866240" y="466344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31" name="Creeper_2_1"/>
          <p:cNvSpPr/>
          <p:nvPr/>
        </p:nvSpPr>
        <p:spPr>
          <a:xfrm>
            <a:off x="10957680" y="4663440"/>
            <a:ext cx="91080" cy="91080"/>
          </a:xfrm>
          <a:prstGeom prst="rect">
            <a:avLst/>
          </a:prstGeom>
          <a:solidFill>
            <a:srgbClr val="4F8F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32" name="Creeper_2_2"/>
          <p:cNvSpPr/>
          <p:nvPr/>
        </p:nvSpPr>
        <p:spPr>
          <a:xfrm>
            <a:off x="11049120" y="466344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33" name="Creeper_2_3"/>
          <p:cNvSpPr/>
          <p:nvPr/>
        </p:nvSpPr>
        <p:spPr>
          <a:xfrm>
            <a:off x="11140560" y="466344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34" name="Creeper_2_4"/>
          <p:cNvSpPr/>
          <p:nvPr/>
        </p:nvSpPr>
        <p:spPr>
          <a:xfrm>
            <a:off x="11232000" y="466344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35" name="Creeper_2_5"/>
          <p:cNvSpPr/>
          <p:nvPr/>
        </p:nvSpPr>
        <p:spPr>
          <a:xfrm>
            <a:off x="11323440" y="466344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36" name="Creeper_2_6"/>
          <p:cNvSpPr/>
          <p:nvPr/>
        </p:nvSpPr>
        <p:spPr>
          <a:xfrm>
            <a:off x="11414880" y="4663440"/>
            <a:ext cx="91080" cy="91080"/>
          </a:xfrm>
          <a:prstGeom prst="rect">
            <a:avLst/>
          </a:prstGeom>
          <a:solidFill>
            <a:srgbClr val="4F8F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37" name="Creeper_2_7"/>
          <p:cNvSpPr/>
          <p:nvPr/>
        </p:nvSpPr>
        <p:spPr>
          <a:xfrm>
            <a:off x="11506320" y="466344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38" name="Creeper_3_0"/>
          <p:cNvSpPr/>
          <p:nvPr/>
        </p:nvSpPr>
        <p:spPr>
          <a:xfrm>
            <a:off x="10866240" y="475488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39" name="Creeper_3_1"/>
          <p:cNvSpPr/>
          <p:nvPr/>
        </p:nvSpPr>
        <p:spPr>
          <a:xfrm>
            <a:off x="10957680" y="475488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40" name="Creeper_3_2"/>
          <p:cNvSpPr/>
          <p:nvPr/>
        </p:nvSpPr>
        <p:spPr>
          <a:xfrm>
            <a:off x="11049120" y="475488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41" name="Creeper_3_3"/>
          <p:cNvSpPr/>
          <p:nvPr/>
        </p:nvSpPr>
        <p:spPr>
          <a:xfrm>
            <a:off x="11140560" y="475488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42" name="Creeper_3_4"/>
          <p:cNvSpPr/>
          <p:nvPr/>
        </p:nvSpPr>
        <p:spPr>
          <a:xfrm>
            <a:off x="11232000" y="475488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43" name="Creeper_3_5"/>
          <p:cNvSpPr/>
          <p:nvPr/>
        </p:nvSpPr>
        <p:spPr>
          <a:xfrm>
            <a:off x="11323440" y="475488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44" name="Creeper_3_6"/>
          <p:cNvSpPr/>
          <p:nvPr/>
        </p:nvSpPr>
        <p:spPr>
          <a:xfrm>
            <a:off x="11414880" y="475488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45" name="Creeper_3_7"/>
          <p:cNvSpPr/>
          <p:nvPr/>
        </p:nvSpPr>
        <p:spPr>
          <a:xfrm>
            <a:off x="11506320" y="475488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46" name="Creeper_4_0"/>
          <p:cNvSpPr/>
          <p:nvPr/>
        </p:nvSpPr>
        <p:spPr>
          <a:xfrm>
            <a:off x="10866240" y="484632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47" name="Creeper_4_1"/>
          <p:cNvSpPr/>
          <p:nvPr/>
        </p:nvSpPr>
        <p:spPr>
          <a:xfrm>
            <a:off x="10957680" y="484632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48" name="Creeper_4_2"/>
          <p:cNvSpPr/>
          <p:nvPr/>
        </p:nvSpPr>
        <p:spPr>
          <a:xfrm>
            <a:off x="11049120" y="484632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49" name="Creeper_4_3"/>
          <p:cNvSpPr/>
          <p:nvPr/>
        </p:nvSpPr>
        <p:spPr>
          <a:xfrm>
            <a:off x="11140560" y="484632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50" name="Creeper_4_4"/>
          <p:cNvSpPr/>
          <p:nvPr/>
        </p:nvSpPr>
        <p:spPr>
          <a:xfrm>
            <a:off x="11232000" y="484632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51" name="Creeper_4_5"/>
          <p:cNvSpPr/>
          <p:nvPr/>
        </p:nvSpPr>
        <p:spPr>
          <a:xfrm>
            <a:off x="11323440" y="484632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52" name="Creeper_4_6"/>
          <p:cNvSpPr/>
          <p:nvPr/>
        </p:nvSpPr>
        <p:spPr>
          <a:xfrm>
            <a:off x="11414880" y="484632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53" name="Creeper_4_7"/>
          <p:cNvSpPr/>
          <p:nvPr/>
        </p:nvSpPr>
        <p:spPr>
          <a:xfrm>
            <a:off x="11506320" y="484632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54" name="Creeper_5_0"/>
          <p:cNvSpPr/>
          <p:nvPr/>
        </p:nvSpPr>
        <p:spPr>
          <a:xfrm>
            <a:off x="10866240" y="493776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55" name="Creeper_5_1"/>
          <p:cNvSpPr/>
          <p:nvPr/>
        </p:nvSpPr>
        <p:spPr>
          <a:xfrm>
            <a:off x="10957680" y="493776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56" name="Creeper_5_2"/>
          <p:cNvSpPr/>
          <p:nvPr/>
        </p:nvSpPr>
        <p:spPr>
          <a:xfrm>
            <a:off x="11049120" y="493776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57" name="Creeper_5_3"/>
          <p:cNvSpPr/>
          <p:nvPr/>
        </p:nvSpPr>
        <p:spPr>
          <a:xfrm>
            <a:off x="11140560" y="493776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58" name="Creeper_5_4"/>
          <p:cNvSpPr/>
          <p:nvPr/>
        </p:nvSpPr>
        <p:spPr>
          <a:xfrm>
            <a:off x="11232000" y="493776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59" name="Creeper_5_5"/>
          <p:cNvSpPr/>
          <p:nvPr/>
        </p:nvSpPr>
        <p:spPr>
          <a:xfrm>
            <a:off x="11323440" y="493776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60" name="Creeper_5_6"/>
          <p:cNvSpPr/>
          <p:nvPr/>
        </p:nvSpPr>
        <p:spPr>
          <a:xfrm>
            <a:off x="11414880" y="493776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61" name="Creeper_5_7"/>
          <p:cNvSpPr/>
          <p:nvPr/>
        </p:nvSpPr>
        <p:spPr>
          <a:xfrm>
            <a:off x="11506320" y="493776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62" name="Creeper_6_0"/>
          <p:cNvSpPr/>
          <p:nvPr/>
        </p:nvSpPr>
        <p:spPr>
          <a:xfrm>
            <a:off x="10866240" y="5029200"/>
            <a:ext cx="91080" cy="91080"/>
          </a:xfrm>
          <a:prstGeom prst="rect">
            <a:avLst/>
          </a:prstGeom>
          <a:solidFill>
            <a:srgbClr val="4F8F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63" name="Creeper_6_1"/>
          <p:cNvSpPr/>
          <p:nvPr/>
        </p:nvSpPr>
        <p:spPr>
          <a:xfrm>
            <a:off x="10957680" y="502920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64" name="Creeper_6_2"/>
          <p:cNvSpPr/>
          <p:nvPr/>
        </p:nvSpPr>
        <p:spPr>
          <a:xfrm>
            <a:off x="11049120" y="502920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65" name="Creeper_6_3"/>
          <p:cNvSpPr/>
          <p:nvPr/>
        </p:nvSpPr>
        <p:spPr>
          <a:xfrm>
            <a:off x="11140560" y="502920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66" name="Creeper_6_4"/>
          <p:cNvSpPr/>
          <p:nvPr/>
        </p:nvSpPr>
        <p:spPr>
          <a:xfrm>
            <a:off x="11232000" y="502920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67" name="Creeper_6_5"/>
          <p:cNvSpPr/>
          <p:nvPr/>
        </p:nvSpPr>
        <p:spPr>
          <a:xfrm>
            <a:off x="11323440" y="5029200"/>
            <a:ext cx="91080" cy="91080"/>
          </a:xfrm>
          <a:prstGeom prst="rect">
            <a:avLst/>
          </a:prstGeom>
          <a:solidFill>
            <a:srgbClr val="0A0A0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68" name="Creeper_6_6"/>
          <p:cNvSpPr/>
          <p:nvPr/>
        </p:nvSpPr>
        <p:spPr>
          <a:xfrm>
            <a:off x="11414880" y="502920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69" name="Creeper_6_7"/>
          <p:cNvSpPr/>
          <p:nvPr/>
        </p:nvSpPr>
        <p:spPr>
          <a:xfrm>
            <a:off x="11506320" y="5029200"/>
            <a:ext cx="91080" cy="91080"/>
          </a:xfrm>
          <a:prstGeom prst="rect">
            <a:avLst/>
          </a:prstGeom>
          <a:solidFill>
            <a:srgbClr val="4F8F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70" name="Creeper_7_0"/>
          <p:cNvSpPr/>
          <p:nvPr/>
        </p:nvSpPr>
        <p:spPr>
          <a:xfrm>
            <a:off x="10866240" y="512064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71" name="Creeper_7_1"/>
          <p:cNvSpPr/>
          <p:nvPr/>
        </p:nvSpPr>
        <p:spPr>
          <a:xfrm>
            <a:off x="10957680" y="5120640"/>
            <a:ext cx="91080" cy="91080"/>
          </a:xfrm>
          <a:prstGeom prst="rect">
            <a:avLst/>
          </a:prstGeom>
          <a:solidFill>
            <a:srgbClr val="4F8F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72" name="Creeper_7_2"/>
          <p:cNvSpPr/>
          <p:nvPr/>
        </p:nvSpPr>
        <p:spPr>
          <a:xfrm>
            <a:off x="11049120" y="512064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73" name="Creeper_7_3"/>
          <p:cNvSpPr/>
          <p:nvPr/>
        </p:nvSpPr>
        <p:spPr>
          <a:xfrm>
            <a:off x="11140560" y="512064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74" name="Creeper_7_4"/>
          <p:cNvSpPr/>
          <p:nvPr/>
        </p:nvSpPr>
        <p:spPr>
          <a:xfrm>
            <a:off x="11232000" y="512064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75" name="Creeper_7_5"/>
          <p:cNvSpPr/>
          <p:nvPr/>
        </p:nvSpPr>
        <p:spPr>
          <a:xfrm>
            <a:off x="11323440" y="512064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76" name="Creeper_7_6"/>
          <p:cNvSpPr/>
          <p:nvPr/>
        </p:nvSpPr>
        <p:spPr>
          <a:xfrm>
            <a:off x="11414880" y="5120640"/>
            <a:ext cx="91080" cy="91080"/>
          </a:xfrm>
          <a:prstGeom prst="rect">
            <a:avLst/>
          </a:prstGeom>
          <a:solidFill>
            <a:srgbClr val="4F8F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77" name="Creeper_7_7"/>
          <p:cNvSpPr/>
          <p:nvPr/>
        </p:nvSpPr>
        <p:spPr>
          <a:xfrm>
            <a:off x="11506320" y="5120640"/>
            <a:ext cx="91080" cy="91080"/>
          </a:xfrm>
          <a:prstGeom prst="rect">
            <a:avLst/>
          </a:prstGeom>
          <a:solidFill>
            <a:srgbClr val="8FE34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78" name="Sssss"/>
          <p:cNvSpPr/>
          <p:nvPr/>
        </p:nvSpPr>
        <p:spPr>
          <a:xfrm>
            <a:off x="10591920" y="4206240"/>
            <a:ext cx="127980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i="1" strike="noStrike" spc="-1">
                <a:solidFill>
                  <a:srgbClr val="4F8F2A"/>
                </a:solidFill>
                <a:latin typeface="Trebuchet MS"/>
              </a:rPr>
              <a:t>ssssss...</a:t>
            </a:r>
            <a:endParaRPr lang="en-US" sz="1200" b="0" strike="noStrike" spc="-1">
              <a:solidFill>
                <a:srgbClr val="000000"/>
              </a:solidFill>
              <a:latin typeface="Arial"/>
            </a:endParaRPr>
          </a:p>
        </p:txBody>
      </p:sp>
      <p:sp>
        <p:nvSpPr>
          <p:cNvPr id="779" name="AchBg"/>
          <p:cNvSpPr/>
          <p:nvPr/>
        </p:nvSpPr>
        <p:spPr>
          <a:xfrm>
            <a:off x="8900280" y="274320"/>
            <a:ext cx="3017160" cy="685440"/>
          </a:xfrm>
          <a:prstGeom prst="rect">
            <a:avLst/>
          </a:prstGeom>
          <a:solidFill>
            <a:srgbClr val="0A0A1A"/>
          </a:solidFill>
          <a:ln w="22225">
            <a:solidFill>
              <a:srgbClr val="FFEE00"/>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80" name="AchIcon_0_0"/>
          <p:cNvSpPr/>
          <p:nvPr/>
        </p:nvSpPr>
        <p:spPr>
          <a:xfrm>
            <a:off x="8936640" y="365760"/>
            <a:ext cx="125280" cy="125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81" name="AchIcon_0_1"/>
          <p:cNvSpPr/>
          <p:nvPr/>
        </p:nvSpPr>
        <p:spPr>
          <a:xfrm>
            <a:off x="9062640" y="365760"/>
            <a:ext cx="125280" cy="125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82" name="AchIcon_0_2"/>
          <p:cNvSpPr/>
          <p:nvPr/>
        </p:nvSpPr>
        <p:spPr>
          <a:xfrm>
            <a:off x="9188280" y="365760"/>
            <a:ext cx="125280" cy="125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83" name="AchIcon_0_3"/>
          <p:cNvSpPr/>
          <p:nvPr/>
        </p:nvSpPr>
        <p:spPr>
          <a:xfrm>
            <a:off x="9313920" y="365760"/>
            <a:ext cx="125280" cy="125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84" name="AchIcon_1_0"/>
          <p:cNvSpPr/>
          <p:nvPr/>
        </p:nvSpPr>
        <p:spPr>
          <a:xfrm>
            <a:off x="8936640" y="491400"/>
            <a:ext cx="125280" cy="125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85" name="AchIcon_1_1"/>
          <p:cNvSpPr/>
          <p:nvPr/>
        </p:nvSpPr>
        <p:spPr>
          <a:xfrm>
            <a:off x="9062640" y="491400"/>
            <a:ext cx="125280" cy="125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86" name="AchIcon_1_2"/>
          <p:cNvSpPr/>
          <p:nvPr/>
        </p:nvSpPr>
        <p:spPr>
          <a:xfrm>
            <a:off x="9188280" y="491400"/>
            <a:ext cx="125280" cy="125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87" name="AchIcon_1_3"/>
          <p:cNvSpPr/>
          <p:nvPr/>
        </p:nvSpPr>
        <p:spPr>
          <a:xfrm>
            <a:off x="9313920" y="491400"/>
            <a:ext cx="125280" cy="125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88" name="AchIcon_2_0"/>
          <p:cNvSpPr/>
          <p:nvPr/>
        </p:nvSpPr>
        <p:spPr>
          <a:xfrm>
            <a:off x="8936640" y="617400"/>
            <a:ext cx="125280" cy="125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89" name="AchIcon_2_1"/>
          <p:cNvSpPr/>
          <p:nvPr/>
        </p:nvSpPr>
        <p:spPr>
          <a:xfrm>
            <a:off x="9062640" y="617400"/>
            <a:ext cx="125280" cy="125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90" name="AchIcon_2_2"/>
          <p:cNvSpPr/>
          <p:nvPr/>
        </p:nvSpPr>
        <p:spPr>
          <a:xfrm>
            <a:off x="9188280" y="617400"/>
            <a:ext cx="125280" cy="125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91" name="AchIcon_2_3"/>
          <p:cNvSpPr/>
          <p:nvPr/>
        </p:nvSpPr>
        <p:spPr>
          <a:xfrm>
            <a:off x="9313920" y="617400"/>
            <a:ext cx="125280" cy="125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92" name="AchIcon_3_0"/>
          <p:cNvSpPr/>
          <p:nvPr/>
        </p:nvSpPr>
        <p:spPr>
          <a:xfrm>
            <a:off x="8936640" y="743040"/>
            <a:ext cx="125280" cy="125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93" name="AchIcon_3_1"/>
          <p:cNvSpPr/>
          <p:nvPr/>
        </p:nvSpPr>
        <p:spPr>
          <a:xfrm>
            <a:off x="9062640" y="743040"/>
            <a:ext cx="125280" cy="125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94" name="AchIcon_3_2"/>
          <p:cNvSpPr/>
          <p:nvPr/>
        </p:nvSpPr>
        <p:spPr>
          <a:xfrm>
            <a:off x="9188280" y="743040"/>
            <a:ext cx="125280" cy="125280"/>
          </a:xfrm>
          <a:prstGeom prst="rect">
            <a:avLst/>
          </a:prstGeom>
          <a:solidFill>
            <a:srgbClr val="C0FA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95" name="AchIcon_3_3"/>
          <p:cNvSpPr/>
          <p:nvPr/>
        </p:nvSpPr>
        <p:spPr>
          <a:xfrm>
            <a:off x="9313920" y="743040"/>
            <a:ext cx="125280" cy="125280"/>
          </a:xfrm>
          <a:prstGeom prst="rect">
            <a:avLst/>
          </a:prstGeom>
          <a:solidFill>
            <a:srgbClr val="5DECF5"/>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96" name="AchText"/>
          <p:cNvSpPr/>
          <p:nvPr/>
        </p:nvSpPr>
        <p:spPr>
          <a:xfrm>
            <a:off x="9540360" y="365760"/>
            <a:ext cx="22856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1" strike="noStrike" spc="-1">
                <a:solidFill>
                  <a:srgbClr val="FFEE00"/>
                </a:solidFill>
                <a:latin typeface="Trebuchet MS"/>
              </a:rPr>
              <a:t>Achievement get!</a:t>
            </a:r>
            <a:endParaRPr lang="en-US" sz="1100" b="0" strike="noStrike" spc="-1">
              <a:solidFill>
                <a:srgbClr val="000000"/>
              </a:solidFill>
              <a:latin typeface="Arial"/>
            </a:endParaRPr>
          </a:p>
          <a:p>
            <a:pPr defTabSz="914400">
              <a:lnSpc>
                <a:spcPct val="100000"/>
              </a:lnSpc>
              <a:spcBef>
                <a:spcPts val="99"/>
              </a:spcBef>
              <a:tabLst>
                <a:tab pos="0" algn="l"/>
              </a:tabLst>
            </a:pPr>
            <a:r>
              <a:rPr lang="en-US" sz="1400" b="1" strike="noStrike" spc="-1">
                <a:solidFill>
                  <a:srgbClr val="FFFFFF"/>
                </a:solidFill>
                <a:latin typeface="Trebuchet MS"/>
              </a:rPr>
              <a:t>MLOps Pipeline Crafted</a:t>
            </a:r>
            <a:endParaRPr lang="en-US" sz="1400" b="0" strike="noStrike" spc="-1">
              <a:solidFill>
                <a:srgbClr val="000000"/>
              </a:solidFill>
              <a:latin typeface="Arial"/>
            </a:endParaRPr>
          </a:p>
          <a:p>
            <a:pPr defTabSz="914400">
              <a:lnSpc>
                <a:spcPct val="100000"/>
              </a:lnSpc>
              <a:spcBef>
                <a:spcPts val="99"/>
              </a:spcBef>
              <a:tabLst>
                <a:tab pos="0" algn="l"/>
              </a:tabLst>
            </a:pPr>
            <a:r>
              <a:rPr lang="en-US" sz="800" b="0" strike="noStrike" spc="-1">
                <a:solidFill>
                  <a:srgbClr val="5DECF5"/>
                </a:solidFill>
                <a:latin typeface="Trebuchet MS"/>
              </a:rPr>
              <a:t>+100 XP  ·  +5 Gates Live</a:t>
            </a:r>
            <a:endParaRPr lang="en-US" sz="800" b="0" strike="noStrike" spc="-1">
              <a:solidFill>
                <a:srgbClr val="000000"/>
              </a:solidFill>
              <a:latin typeface="Arial"/>
            </a:endParaRPr>
          </a:p>
        </p:txBody>
      </p:sp>
      <p:sp>
        <p:nvSpPr>
          <p:cNvPr id="797" name="Heart0_0_1"/>
          <p:cNvSpPr/>
          <p:nvPr/>
        </p:nvSpPr>
        <p:spPr>
          <a:xfrm>
            <a:off x="52596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98" name="Heart0_0_3"/>
          <p:cNvSpPr/>
          <p:nvPr/>
        </p:nvSpPr>
        <p:spPr>
          <a:xfrm>
            <a:off x="66312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799" name="Heart0_1_0"/>
          <p:cNvSpPr/>
          <p:nvPr/>
        </p:nvSpPr>
        <p:spPr>
          <a:xfrm>
            <a:off x="45720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00" name="Heart0_1_1"/>
          <p:cNvSpPr/>
          <p:nvPr/>
        </p:nvSpPr>
        <p:spPr>
          <a:xfrm>
            <a:off x="525960" y="6012360"/>
            <a:ext cx="68400" cy="684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01" name="Heart0_1_2"/>
          <p:cNvSpPr/>
          <p:nvPr/>
        </p:nvSpPr>
        <p:spPr>
          <a:xfrm>
            <a:off x="59436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02" name="Heart0_1_3"/>
          <p:cNvSpPr/>
          <p:nvPr/>
        </p:nvSpPr>
        <p:spPr>
          <a:xfrm>
            <a:off x="663120" y="60123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03" name="Heart0_2_0"/>
          <p:cNvSpPr/>
          <p:nvPr/>
        </p:nvSpPr>
        <p:spPr>
          <a:xfrm>
            <a:off x="45720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04" name="Heart0_2_1"/>
          <p:cNvSpPr/>
          <p:nvPr/>
        </p:nvSpPr>
        <p:spPr>
          <a:xfrm>
            <a:off x="52596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05" name="Heart0_2_2"/>
          <p:cNvSpPr/>
          <p:nvPr/>
        </p:nvSpPr>
        <p:spPr>
          <a:xfrm>
            <a:off x="59436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06" name="Heart0_2_3"/>
          <p:cNvSpPr/>
          <p:nvPr/>
        </p:nvSpPr>
        <p:spPr>
          <a:xfrm>
            <a:off x="66312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07" name="Heart0_3_1"/>
          <p:cNvSpPr/>
          <p:nvPr/>
        </p:nvSpPr>
        <p:spPr>
          <a:xfrm>
            <a:off x="52596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08" name="Heart0_3_2"/>
          <p:cNvSpPr/>
          <p:nvPr/>
        </p:nvSpPr>
        <p:spPr>
          <a:xfrm>
            <a:off x="59436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09" name="Heart1_0_1"/>
          <p:cNvSpPr/>
          <p:nvPr/>
        </p:nvSpPr>
        <p:spPr>
          <a:xfrm>
            <a:off x="83664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10" name="Heart1_0_3"/>
          <p:cNvSpPr/>
          <p:nvPr/>
        </p:nvSpPr>
        <p:spPr>
          <a:xfrm>
            <a:off x="97380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11" name="Heart1_1_0"/>
          <p:cNvSpPr/>
          <p:nvPr/>
        </p:nvSpPr>
        <p:spPr>
          <a:xfrm>
            <a:off x="76824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12" name="Heart1_1_1"/>
          <p:cNvSpPr/>
          <p:nvPr/>
        </p:nvSpPr>
        <p:spPr>
          <a:xfrm>
            <a:off x="836640" y="6012360"/>
            <a:ext cx="68400" cy="684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13" name="Heart1_1_2"/>
          <p:cNvSpPr/>
          <p:nvPr/>
        </p:nvSpPr>
        <p:spPr>
          <a:xfrm>
            <a:off x="90540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14" name="Heart1_1_3"/>
          <p:cNvSpPr/>
          <p:nvPr/>
        </p:nvSpPr>
        <p:spPr>
          <a:xfrm>
            <a:off x="973800" y="60123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15" name="Heart1_2_0"/>
          <p:cNvSpPr/>
          <p:nvPr/>
        </p:nvSpPr>
        <p:spPr>
          <a:xfrm>
            <a:off x="76824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16" name="Heart1_2_1"/>
          <p:cNvSpPr/>
          <p:nvPr/>
        </p:nvSpPr>
        <p:spPr>
          <a:xfrm>
            <a:off x="83664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17" name="Heart1_2_2"/>
          <p:cNvSpPr/>
          <p:nvPr/>
        </p:nvSpPr>
        <p:spPr>
          <a:xfrm>
            <a:off x="90540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18" name="Heart1_2_3"/>
          <p:cNvSpPr/>
          <p:nvPr/>
        </p:nvSpPr>
        <p:spPr>
          <a:xfrm>
            <a:off x="97380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19" name="Heart1_3_1"/>
          <p:cNvSpPr/>
          <p:nvPr/>
        </p:nvSpPr>
        <p:spPr>
          <a:xfrm>
            <a:off x="83664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20" name="Heart1_3_2"/>
          <p:cNvSpPr/>
          <p:nvPr/>
        </p:nvSpPr>
        <p:spPr>
          <a:xfrm>
            <a:off x="90540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21" name="Heart2_0_1"/>
          <p:cNvSpPr/>
          <p:nvPr/>
        </p:nvSpPr>
        <p:spPr>
          <a:xfrm>
            <a:off x="114768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22" name="Heart2_0_3"/>
          <p:cNvSpPr/>
          <p:nvPr/>
        </p:nvSpPr>
        <p:spPr>
          <a:xfrm>
            <a:off x="128484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23" name="Heart2_1_0"/>
          <p:cNvSpPr/>
          <p:nvPr/>
        </p:nvSpPr>
        <p:spPr>
          <a:xfrm>
            <a:off x="107892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24" name="Heart2_1_1"/>
          <p:cNvSpPr/>
          <p:nvPr/>
        </p:nvSpPr>
        <p:spPr>
          <a:xfrm>
            <a:off x="1147680" y="6012360"/>
            <a:ext cx="68400" cy="684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25" name="Heart2_1_2"/>
          <p:cNvSpPr/>
          <p:nvPr/>
        </p:nvSpPr>
        <p:spPr>
          <a:xfrm>
            <a:off x="121608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26" name="Heart2_1_3"/>
          <p:cNvSpPr/>
          <p:nvPr/>
        </p:nvSpPr>
        <p:spPr>
          <a:xfrm>
            <a:off x="1284840" y="60123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27" name="Heart2_2_0"/>
          <p:cNvSpPr/>
          <p:nvPr/>
        </p:nvSpPr>
        <p:spPr>
          <a:xfrm>
            <a:off x="107892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28" name="Heart2_2_1"/>
          <p:cNvSpPr/>
          <p:nvPr/>
        </p:nvSpPr>
        <p:spPr>
          <a:xfrm>
            <a:off x="114768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29" name="Heart2_2_2"/>
          <p:cNvSpPr/>
          <p:nvPr/>
        </p:nvSpPr>
        <p:spPr>
          <a:xfrm>
            <a:off x="121608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30" name="Heart2_2_3"/>
          <p:cNvSpPr/>
          <p:nvPr/>
        </p:nvSpPr>
        <p:spPr>
          <a:xfrm>
            <a:off x="128484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31" name="Heart2_3_1"/>
          <p:cNvSpPr/>
          <p:nvPr/>
        </p:nvSpPr>
        <p:spPr>
          <a:xfrm>
            <a:off x="114768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32" name="Heart2_3_2"/>
          <p:cNvSpPr/>
          <p:nvPr/>
        </p:nvSpPr>
        <p:spPr>
          <a:xfrm>
            <a:off x="121608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33" name="Heart3_0_1"/>
          <p:cNvSpPr/>
          <p:nvPr/>
        </p:nvSpPr>
        <p:spPr>
          <a:xfrm>
            <a:off x="145836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34" name="Heart3_0_3"/>
          <p:cNvSpPr/>
          <p:nvPr/>
        </p:nvSpPr>
        <p:spPr>
          <a:xfrm>
            <a:off x="159552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35" name="Heart3_1_0"/>
          <p:cNvSpPr/>
          <p:nvPr/>
        </p:nvSpPr>
        <p:spPr>
          <a:xfrm>
            <a:off x="138996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36" name="Heart3_1_1"/>
          <p:cNvSpPr/>
          <p:nvPr/>
        </p:nvSpPr>
        <p:spPr>
          <a:xfrm>
            <a:off x="1458360" y="6012360"/>
            <a:ext cx="68400" cy="684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37" name="Heart3_1_2"/>
          <p:cNvSpPr/>
          <p:nvPr/>
        </p:nvSpPr>
        <p:spPr>
          <a:xfrm>
            <a:off x="152712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38" name="Heart3_1_3"/>
          <p:cNvSpPr/>
          <p:nvPr/>
        </p:nvSpPr>
        <p:spPr>
          <a:xfrm>
            <a:off x="1595520" y="60123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39" name="Heart3_2_0"/>
          <p:cNvSpPr/>
          <p:nvPr/>
        </p:nvSpPr>
        <p:spPr>
          <a:xfrm>
            <a:off x="138996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40" name="Heart3_2_1"/>
          <p:cNvSpPr/>
          <p:nvPr/>
        </p:nvSpPr>
        <p:spPr>
          <a:xfrm>
            <a:off x="145836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41" name="Heart3_2_2"/>
          <p:cNvSpPr/>
          <p:nvPr/>
        </p:nvSpPr>
        <p:spPr>
          <a:xfrm>
            <a:off x="152712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42" name="Heart3_2_3"/>
          <p:cNvSpPr/>
          <p:nvPr/>
        </p:nvSpPr>
        <p:spPr>
          <a:xfrm>
            <a:off x="159552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43" name="Heart3_3_1"/>
          <p:cNvSpPr/>
          <p:nvPr/>
        </p:nvSpPr>
        <p:spPr>
          <a:xfrm>
            <a:off x="145836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44" name="Heart3_3_2"/>
          <p:cNvSpPr/>
          <p:nvPr/>
        </p:nvSpPr>
        <p:spPr>
          <a:xfrm>
            <a:off x="152712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45" name="Heart4_0_1"/>
          <p:cNvSpPr/>
          <p:nvPr/>
        </p:nvSpPr>
        <p:spPr>
          <a:xfrm>
            <a:off x="176940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46" name="Heart4_0_3"/>
          <p:cNvSpPr/>
          <p:nvPr/>
        </p:nvSpPr>
        <p:spPr>
          <a:xfrm>
            <a:off x="190656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47" name="Heart4_1_0"/>
          <p:cNvSpPr/>
          <p:nvPr/>
        </p:nvSpPr>
        <p:spPr>
          <a:xfrm>
            <a:off x="170064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48" name="Heart4_1_1"/>
          <p:cNvSpPr/>
          <p:nvPr/>
        </p:nvSpPr>
        <p:spPr>
          <a:xfrm>
            <a:off x="1769400" y="6012360"/>
            <a:ext cx="68400" cy="684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49" name="Heart4_1_2"/>
          <p:cNvSpPr/>
          <p:nvPr/>
        </p:nvSpPr>
        <p:spPr>
          <a:xfrm>
            <a:off x="183780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50" name="Heart4_1_3"/>
          <p:cNvSpPr/>
          <p:nvPr/>
        </p:nvSpPr>
        <p:spPr>
          <a:xfrm>
            <a:off x="1906560" y="60123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51" name="Heart4_2_0"/>
          <p:cNvSpPr/>
          <p:nvPr/>
        </p:nvSpPr>
        <p:spPr>
          <a:xfrm>
            <a:off x="170064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52" name="Heart4_2_1"/>
          <p:cNvSpPr/>
          <p:nvPr/>
        </p:nvSpPr>
        <p:spPr>
          <a:xfrm>
            <a:off x="176940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53" name="Heart4_2_2"/>
          <p:cNvSpPr/>
          <p:nvPr/>
        </p:nvSpPr>
        <p:spPr>
          <a:xfrm>
            <a:off x="183780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54" name="Heart4_2_3"/>
          <p:cNvSpPr/>
          <p:nvPr/>
        </p:nvSpPr>
        <p:spPr>
          <a:xfrm>
            <a:off x="190656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55" name="Heart4_3_1"/>
          <p:cNvSpPr/>
          <p:nvPr/>
        </p:nvSpPr>
        <p:spPr>
          <a:xfrm>
            <a:off x="176940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56" name="Heart4_3_2"/>
          <p:cNvSpPr/>
          <p:nvPr/>
        </p:nvSpPr>
        <p:spPr>
          <a:xfrm>
            <a:off x="183780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57" name="Heart5_0_1"/>
          <p:cNvSpPr/>
          <p:nvPr/>
        </p:nvSpPr>
        <p:spPr>
          <a:xfrm>
            <a:off x="208044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58" name="Heart5_0_3"/>
          <p:cNvSpPr/>
          <p:nvPr/>
        </p:nvSpPr>
        <p:spPr>
          <a:xfrm>
            <a:off x="221760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59" name="Heart5_1_0"/>
          <p:cNvSpPr/>
          <p:nvPr/>
        </p:nvSpPr>
        <p:spPr>
          <a:xfrm>
            <a:off x="201168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60" name="Heart5_1_1"/>
          <p:cNvSpPr/>
          <p:nvPr/>
        </p:nvSpPr>
        <p:spPr>
          <a:xfrm>
            <a:off x="2080440" y="6012360"/>
            <a:ext cx="68400" cy="684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61" name="Heart5_1_2"/>
          <p:cNvSpPr/>
          <p:nvPr/>
        </p:nvSpPr>
        <p:spPr>
          <a:xfrm>
            <a:off x="214884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62" name="Heart5_1_3"/>
          <p:cNvSpPr/>
          <p:nvPr/>
        </p:nvSpPr>
        <p:spPr>
          <a:xfrm>
            <a:off x="2217600" y="60123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63" name="Heart5_2_0"/>
          <p:cNvSpPr/>
          <p:nvPr/>
        </p:nvSpPr>
        <p:spPr>
          <a:xfrm>
            <a:off x="201168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64" name="Heart5_2_1"/>
          <p:cNvSpPr/>
          <p:nvPr/>
        </p:nvSpPr>
        <p:spPr>
          <a:xfrm>
            <a:off x="208044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65" name="Heart5_2_2"/>
          <p:cNvSpPr/>
          <p:nvPr/>
        </p:nvSpPr>
        <p:spPr>
          <a:xfrm>
            <a:off x="214884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66" name="Heart5_2_3"/>
          <p:cNvSpPr/>
          <p:nvPr/>
        </p:nvSpPr>
        <p:spPr>
          <a:xfrm>
            <a:off x="221760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67" name="Heart5_3_1"/>
          <p:cNvSpPr/>
          <p:nvPr/>
        </p:nvSpPr>
        <p:spPr>
          <a:xfrm>
            <a:off x="208044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68" name="Heart5_3_2"/>
          <p:cNvSpPr/>
          <p:nvPr/>
        </p:nvSpPr>
        <p:spPr>
          <a:xfrm>
            <a:off x="214884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69" name="Heart6_0_1"/>
          <p:cNvSpPr/>
          <p:nvPr/>
        </p:nvSpPr>
        <p:spPr>
          <a:xfrm>
            <a:off x="239112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70" name="Heart6_0_3"/>
          <p:cNvSpPr/>
          <p:nvPr/>
        </p:nvSpPr>
        <p:spPr>
          <a:xfrm>
            <a:off x="252828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71" name="Heart6_1_0"/>
          <p:cNvSpPr/>
          <p:nvPr/>
        </p:nvSpPr>
        <p:spPr>
          <a:xfrm>
            <a:off x="232272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72" name="Heart6_1_1"/>
          <p:cNvSpPr/>
          <p:nvPr/>
        </p:nvSpPr>
        <p:spPr>
          <a:xfrm>
            <a:off x="2391120" y="6012360"/>
            <a:ext cx="68400" cy="684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73" name="Heart6_1_2"/>
          <p:cNvSpPr/>
          <p:nvPr/>
        </p:nvSpPr>
        <p:spPr>
          <a:xfrm>
            <a:off x="245988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74" name="Heart6_1_3"/>
          <p:cNvSpPr/>
          <p:nvPr/>
        </p:nvSpPr>
        <p:spPr>
          <a:xfrm>
            <a:off x="2528280" y="60123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75" name="Heart6_2_0"/>
          <p:cNvSpPr/>
          <p:nvPr/>
        </p:nvSpPr>
        <p:spPr>
          <a:xfrm>
            <a:off x="232272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76" name="Heart6_2_1"/>
          <p:cNvSpPr/>
          <p:nvPr/>
        </p:nvSpPr>
        <p:spPr>
          <a:xfrm>
            <a:off x="239112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77" name="Heart6_2_2"/>
          <p:cNvSpPr/>
          <p:nvPr/>
        </p:nvSpPr>
        <p:spPr>
          <a:xfrm>
            <a:off x="245988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78" name="Heart6_2_3"/>
          <p:cNvSpPr/>
          <p:nvPr/>
        </p:nvSpPr>
        <p:spPr>
          <a:xfrm>
            <a:off x="252828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79" name="Heart6_3_1"/>
          <p:cNvSpPr/>
          <p:nvPr/>
        </p:nvSpPr>
        <p:spPr>
          <a:xfrm>
            <a:off x="239112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80" name="Heart6_3_2"/>
          <p:cNvSpPr/>
          <p:nvPr/>
        </p:nvSpPr>
        <p:spPr>
          <a:xfrm>
            <a:off x="245988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81" name="Heart7_0_1"/>
          <p:cNvSpPr/>
          <p:nvPr/>
        </p:nvSpPr>
        <p:spPr>
          <a:xfrm>
            <a:off x="270216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82" name="Heart7_0_3"/>
          <p:cNvSpPr/>
          <p:nvPr/>
        </p:nvSpPr>
        <p:spPr>
          <a:xfrm>
            <a:off x="283932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83" name="Heart7_1_0"/>
          <p:cNvSpPr/>
          <p:nvPr/>
        </p:nvSpPr>
        <p:spPr>
          <a:xfrm>
            <a:off x="263340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84" name="Heart7_1_1"/>
          <p:cNvSpPr/>
          <p:nvPr/>
        </p:nvSpPr>
        <p:spPr>
          <a:xfrm>
            <a:off x="2702160" y="6012360"/>
            <a:ext cx="68400" cy="684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85" name="Heart7_1_2"/>
          <p:cNvSpPr/>
          <p:nvPr/>
        </p:nvSpPr>
        <p:spPr>
          <a:xfrm>
            <a:off x="277056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86" name="Heart7_1_3"/>
          <p:cNvSpPr/>
          <p:nvPr/>
        </p:nvSpPr>
        <p:spPr>
          <a:xfrm>
            <a:off x="2839320" y="60123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87" name="Heart7_2_0"/>
          <p:cNvSpPr/>
          <p:nvPr/>
        </p:nvSpPr>
        <p:spPr>
          <a:xfrm>
            <a:off x="263340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88" name="Heart7_2_1"/>
          <p:cNvSpPr/>
          <p:nvPr/>
        </p:nvSpPr>
        <p:spPr>
          <a:xfrm>
            <a:off x="270216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89" name="Heart7_2_2"/>
          <p:cNvSpPr/>
          <p:nvPr/>
        </p:nvSpPr>
        <p:spPr>
          <a:xfrm>
            <a:off x="277056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90" name="Heart7_2_3"/>
          <p:cNvSpPr/>
          <p:nvPr/>
        </p:nvSpPr>
        <p:spPr>
          <a:xfrm>
            <a:off x="283932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91" name="Heart7_3_1"/>
          <p:cNvSpPr/>
          <p:nvPr/>
        </p:nvSpPr>
        <p:spPr>
          <a:xfrm>
            <a:off x="270216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92" name="Heart7_3_2"/>
          <p:cNvSpPr/>
          <p:nvPr/>
        </p:nvSpPr>
        <p:spPr>
          <a:xfrm>
            <a:off x="277056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93" name="Heart8_0_1"/>
          <p:cNvSpPr/>
          <p:nvPr/>
        </p:nvSpPr>
        <p:spPr>
          <a:xfrm>
            <a:off x="301284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94" name="Heart8_0_3"/>
          <p:cNvSpPr/>
          <p:nvPr/>
        </p:nvSpPr>
        <p:spPr>
          <a:xfrm>
            <a:off x="315000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95" name="Heart8_1_0"/>
          <p:cNvSpPr/>
          <p:nvPr/>
        </p:nvSpPr>
        <p:spPr>
          <a:xfrm>
            <a:off x="294444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96" name="Heart8_1_1"/>
          <p:cNvSpPr/>
          <p:nvPr/>
        </p:nvSpPr>
        <p:spPr>
          <a:xfrm>
            <a:off x="3012840" y="6012360"/>
            <a:ext cx="68400" cy="684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97" name="Heart8_1_2"/>
          <p:cNvSpPr/>
          <p:nvPr/>
        </p:nvSpPr>
        <p:spPr>
          <a:xfrm>
            <a:off x="308160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98" name="Heart8_1_3"/>
          <p:cNvSpPr/>
          <p:nvPr/>
        </p:nvSpPr>
        <p:spPr>
          <a:xfrm>
            <a:off x="3150000" y="60123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99" name="Heart8_2_0"/>
          <p:cNvSpPr/>
          <p:nvPr/>
        </p:nvSpPr>
        <p:spPr>
          <a:xfrm>
            <a:off x="294444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00" name="Heart8_2_1"/>
          <p:cNvSpPr/>
          <p:nvPr/>
        </p:nvSpPr>
        <p:spPr>
          <a:xfrm>
            <a:off x="301284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01" name="Heart8_2_2"/>
          <p:cNvSpPr/>
          <p:nvPr/>
        </p:nvSpPr>
        <p:spPr>
          <a:xfrm>
            <a:off x="308160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02" name="Heart8_2_3"/>
          <p:cNvSpPr/>
          <p:nvPr/>
        </p:nvSpPr>
        <p:spPr>
          <a:xfrm>
            <a:off x="315000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03" name="Heart8_3_1"/>
          <p:cNvSpPr/>
          <p:nvPr/>
        </p:nvSpPr>
        <p:spPr>
          <a:xfrm>
            <a:off x="301284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04" name="Heart8_3_2"/>
          <p:cNvSpPr/>
          <p:nvPr/>
        </p:nvSpPr>
        <p:spPr>
          <a:xfrm>
            <a:off x="308160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05" name="Heart9_0_1"/>
          <p:cNvSpPr/>
          <p:nvPr/>
        </p:nvSpPr>
        <p:spPr>
          <a:xfrm>
            <a:off x="332388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06" name="Heart9_0_3"/>
          <p:cNvSpPr/>
          <p:nvPr/>
        </p:nvSpPr>
        <p:spPr>
          <a:xfrm>
            <a:off x="3461040" y="594360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07" name="Heart9_1_0"/>
          <p:cNvSpPr/>
          <p:nvPr/>
        </p:nvSpPr>
        <p:spPr>
          <a:xfrm>
            <a:off x="325512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08" name="Heart9_1_1"/>
          <p:cNvSpPr/>
          <p:nvPr/>
        </p:nvSpPr>
        <p:spPr>
          <a:xfrm>
            <a:off x="3323880" y="6012360"/>
            <a:ext cx="68400" cy="6840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09" name="Heart9_1_2"/>
          <p:cNvSpPr/>
          <p:nvPr/>
        </p:nvSpPr>
        <p:spPr>
          <a:xfrm>
            <a:off x="3392280" y="60123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10" name="Heart9_1_3"/>
          <p:cNvSpPr/>
          <p:nvPr/>
        </p:nvSpPr>
        <p:spPr>
          <a:xfrm>
            <a:off x="3461040" y="60123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11" name="Heart9_2_0"/>
          <p:cNvSpPr/>
          <p:nvPr/>
        </p:nvSpPr>
        <p:spPr>
          <a:xfrm>
            <a:off x="325512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12" name="Heart9_2_1"/>
          <p:cNvSpPr/>
          <p:nvPr/>
        </p:nvSpPr>
        <p:spPr>
          <a:xfrm>
            <a:off x="332388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13" name="Heart9_2_2"/>
          <p:cNvSpPr/>
          <p:nvPr/>
        </p:nvSpPr>
        <p:spPr>
          <a:xfrm>
            <a:off x="3392280" y="6080760"/>
            <a:ext cx="68400" cy="68400"/>
          </a:xfrm>
          <a:prstGeom prst="rect">
            <a:avLst/>
          </a:prstGeom>
          <a:solidFill>
            <a:srgbClr val="DC141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14" name="Heart9_2_3"/>
          <p:cNvSpPr/>
          <p:nvPr/>
        </p:nvSpPr>
        <p:spPr>
          <a:xfrm>
            <a:off x="3461040" y="608076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15" name="Heart9_3_1"/>
          <p:cNvSpPr/>
          <p:nvPr/>
        </p:nvSpPr>
        <p:spPr>
          <a:xfrm>
            <a:off x="332388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16" name="Heart9_3_2"/>
          <p:cNvSpPr/>
          <p:nvPr/>
        </p:nvSpPr>
        <p:spPr>
          <a:xfrm>
            <a:off x="3392280" y="6149520"/>
            <a:ext cx="68400" cy="68400"/>
          </a:xfrm>
          <a:prstGeom prst="rect">
            <a:avLst/>
          </a:prstGeom>
          <a:solidFill>
            <a:srgbClr val="8B000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17" name="XpBg"/>
          <p:cNvSpPr/>
          <p:nvPr/>
        </p:nvSpPr>
        <p:spPr>
          <a:xfrm>
            <a:off x="457200" y="6254640"/>
            <a:ext cx="11277360" cy="91080"/>
          </a:xfrm>
          <a:prstGeom prst="rect">
            <a:avLst/>
          </a:prstGeom>
          <a:solidFill>
            <a:srgbClr val="0A0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18" name="XpFill"/>
          <p:cNvSpPr/>
          <p:nvPr/>
        </p:nvSpPr>
        <p:spPr>
          <a:xfrm>
            <a:off x="457200" y="6254640"/>
            <a:ext cx="9360000" cy="91080"/>
          </a:xfrm>
          <a:prstGeom prst="rect">
            <a:avLst/>
          </a:prstGeom>
          <a:solidFill>
            <a:srgbClr val="5BAB44"/>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19" name="XpLvl"/>
          <p:cNvSpPr/>
          <p:nvPr/>
        </p:nvSpPr>
        <p:spPr>
          <a:xfrm>
            <a:off x="9726120" y="598032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5BAB44"/>
                </a:solidFill>
                <a:latin typeface="Trebuchet MS"/>
              </a:rPr>
              <a:t>26</a:t>
            </a:r>
            <a:endParaRPr lang="en-US" sz="1400" b="0" strike="noStrike" spc="-1">
              <a:solidFill>
                <a:srgbClr val="000000"/>
              </a:solidFill>
              <a:latin typeface="Arial"/>
            </a:endParaRPr>
          </a:p>
        </p:txBody>
      </p:sp>
      <p:sp>
        <p:nvSpPr>
          <p:cNvPr id="920" name="HotbarFrame"/>
          <p:cNvSpPr/>
          <p:nvPr/>
        </p:nvSpPr>
        <p:spPr>
          <a:xfrm>
            <a:off x="1609200" y="6318360"/>
            <a:ext cx="4745520" cy="575640"/>
          </a:xfrm>
          <a:prstGeom prst="rect">
            <a:avLst/>
          </a:prstGeom>
          <a:solidFill>
            <a:srgbClr val="3B3B3B"/>
          </a:solidFill>
          <a:ln w="22225">
            <a:solidFill>
              <a:srgbClr val="0A0A0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21" name="HBSlot0"/>
          <p:cNvSpPr/>
          <p:nvPr/>
        </p:nvSpPr>
        <p:spPr>
          <a:xfrm>
            <a:off x="1645920" y="6355080"/>
            <a:ext cx="502560" cy="502560"/>
          </a:xfrm>
          <a:prstGeom prst="rect">
            <a:avLst/>
          </a:prstGeom>
          <a:solidFill>
            <a:srgbClr val="6B6B6B"/>
          </a:solidFill>
          <a:ln w="36576">
            <a:solidFill>
              <a:srgbClr val="FFFF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22" name="HBBlock0_0_0"/>
          <p:cNvSpPr/>
          <p:nvPr/>
        </p:nvSpPr>
        <p:spPr>
          <a:xfrm>
            <a:off x="1691640" y="640080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23" name="HBBlock0_0_1"/>
          <p:cNvSpPr/>
          <p:nvPr/>
        </p:nvSpPr>
        <p:spPr>
          <a:xfrm>
            <a:off x="1794600" y="640080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24" name="HBBlock0_0_2"/>
          <p:cNvSpPr/>
          <p:nvPr/>
        </p:nvSpPr>
        <p:spPr>
          <a:xfrm>
            <a:off x="1897560" y="640080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25" name="HBBlock0_0_3"/>
          <p:cNvSpPr/>
          <p:nvPr/>
        </p:nvSpPr>
        <p:spPr>
          <a:xfrm>
            <a:off x="2000160" y="640080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26" name="HBBlock0_1_0"/>
          <p:cNvSpPr/>
          <p:nvPr/>
        </p:nvSpPr>
        <p:spPr>
          <a:xfrm>
            <a:off x="1691640" y="650376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27" name="HBBlock0_1_1"/>
          <p:cNvSpPr/>
          <p:nvPr/>
        </p:nvSpPr>
        <p:spPr>
          <a:xfrm>
            <a:off x="1794600" y="650376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28" name="HBBlock0_1_2"/>
          <p:cNvSpPr/>
          <p:nvPr/>
        </p:nvSpPr>
        <p:spPr>
          <a:xfrm>
            <a:off x="1897560" y="650376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29" name="HBBlock0_1_3"/>
          <p:cNvSpPr/>
          <p:nvPr/>
        </p:nvSpPr>
        <p:spPr>
          <a:xfrm>
            <a:off x="2000160" y="650376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30" name="HBBlock0_2_0"/>
          <p:cNvSpPr/>
          <p:nvPr/>
        </p:nvSpPr>
        <p:spPr>
          <a:xfrm>
            <a:off x="1691640" y="660672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31" name="HBBlock0_2_1"/>
          <p:cNvSpPr/>
          <p:nvPr/>
        </p:nvSpPr>
        <p:spPr>
          <a:xfrm>
            <a:off x="1794600" y="660672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32" name="HBBlock0_2_2"/>
          <p:cNvSpPr/>
          <p:nvPr/>
        </p:nvSpPr>
        <p:spPr>
          <a:xfrm>
            <a:off x="1897560" y="660672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33" name="HBBlock0_2_3"/>
          <p:cNvSpPr/>
          <p:nvPr/>
        </p:nvSpPr>
        <p:spPr>
          <a:xfrm>
            <a:off x="2000160" y="660672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34" name="HBBlock0_3_0"/>
          <p:cNvSpPr/>
          <p:nvPr/>
        </p:nvSpPr>
        <p:spPr>
          <a:xfrm>
            <a:off x="1691640" y="670932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35" name="HBBlock0_3_1"/>
          <p:cNvSpPr/>
          <p:nvPr/>
        </p:nvSpPr>
        <p:spPr>
          <a:xfrm>
            <a:off x="1794600" y="670932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36" name="HBBlock0_3_2"/>
          <p:cNvSpPr/>
          <p:nvPr/>
        </p:nvSpPr>
        <p:spPr>
          <a:xfrm>
            <a:off x="1897560" y="670932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37" name="HBBlock0_3_3"/>
          <p:cNvSpPr/>
          <p:nvPr/>
        </p:nvSpPr>
        <p:spPr>
          <a:xfrm>
            <a:off x="2000160" y="670932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38" name="HBNum0"/>
          <p:cNvSpPr/>
          <p:nvPr/>
        </p:nvSpPr>
        <p:spPr>
          <a:xfrm>
            <a:off x="1664280" y="6373440"/>
            <a:ext cx="13680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00" b="1" strike="noStrike" spc="-1">
                <a:solidFill>
                  <a:srgbClr val="FFFFFF"/>
                </a:solidFill>
                <a:latin typeface="Trebuchet MS"/>
              </a:rPr>
              <a:t>1</a:t>
            </a:r>
            <a:endParaRPr lang="en-US" sz="700" b="0" strike="noStrike" spc="-1">
              <a:solidFill>
                <a:srgbClr val="000000"/>
              </a:solidFill>
              <a:latin typeface="Arial"/>
            </a:endParaRPr>
          </a:p>
        </p:txBody>
      </p:sp>
      <p:sp>
        <p:nvSpPr>
          <p:cNvPr id="939" name="HBSlot1"/>
          <p:cNvSpPr/>
          <p:nvPr/>
        </p:nvSpPr>
        <p:spPr>
          <a:xfrm>
            <a:off x="2167200" y="6355080"/>
            <a:ext cx="502560" cy="502560"/>
          </a:xfrm>
          <a:prstGeom prst="rect">
            <a:avLst/>
          </a:prstGeom>
          <a:solidFill>
            <a:srgbClr val="6B6B6B"/>
          </a:solidFill>
          <a:ln w="18288">
            <a:solidFill>
              <a:srgbClr val="1A1A1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40" name="HBBlock1_0_0"/>
          <p:cNvSpPr/>
          <p:nvPr/>
        </p:nvSpPr>
        <p:spPr>
          <a:xfrm>
            <a:off x="2212920" y="6400800"/>
            <a:ext cx="102600" cy="10260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41" name="HBBlock1_0_1"/>
          <p:cNvSpPr/>
          <p:nvPr/>
        </p:nvSpPr>
        <p:spPr>
          <a:xfrm>
            <a:off x="2315880" y="6400800"/>
            <a:ext cx="102600" cy="102600"/>
          </a:xfrm>
          <a:prstGeom prst="rect">
            <a:avLst/>
          </a:prstGeom>
          <a:solidFill>
            <a:srgbClr val="8B6A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42" name="HBBlock1_0_2"/>
          <p:cNvSpPr/>
          <p:nvPr/>
        </p:nvSpPr>
        <p:spPr>
          <a:xfrm>
            <a:off x="2418480" y="6400800"/>
            <a:ext cx="102600" cy="10260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43" name="HBBlock1_0_3"/>
          <p:cNvSpPr/>
          <p:nvPr/>
        </p:nvSpPr>
        <p:spPr>
          <a:xfrm>
            <a:off x="2521440" y="6400800"/>
            <a:ext cx="102600" cy="10260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44" name="HBBlock1_1_0"/>
          <p:cNvSpPr/>
          <p:nvPr/>
        </p:nvSpPr>
        <p:spPr>
          <a:xfrm>
            <a:off x="2212920" y="6503760"/>
            <a:ext cx="102600" cy="102600"/>
          </a:xfrm>
          <a:prstGeom prst="rect">
            <a:avLst/>
          </a:prstGeom>
          <a:solidFill>
            <a:srgbClr val="8B6A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45" name="HBBlock1_1_1"/>
          <p:cNvSpPr/>
          <p:nvPr/>
        </p:nvSpPr>
        <p:spPr>
          <a:xfrm>
            <a:off x="2315880" y="6503760"/>
            <a:ext cx="102600" cy="10260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46" name="HBBlock1_1_2"/>
          <p:cNvSpPr/>
          <p:nvPr/>
        </p:nvSpPr>
        <p:spPr>
          <a:xfrm>
            <a:off x="2418480" y="6503760"/>
            <a:ext cx="102600" cy="102600"/>
          </a:xfrm>
          <a:prstGeom prst="rect">
            <a:avLst/>
          </a:prstGeom>
          <a:solidFill>
            <a:srgbClr val="8B6A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47" name="HBBlock1_1_3"/>
          <p:cNvSpPr/>
          <p:nvPr/>
        </p:nvSpPr>
        <p:spPr>
          <a:xfrm>
            <a:off x="2521440" y="6503760"/>
            <a:ext cx="102600" cy="10260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48" name="HBBlock1_2_0"/>
          <p:cNvSpPr/>
          <p:nvPr/>
        </p:nvSpPr>
        <p:spPr>
          <a:xfrm>
            <a:off x="2212920" y="6606720"/>
            <a:ext cx="102600" cy="10260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49" name="HBBlock1_2_1"/>
          <p:cNvSpPr/>
          <p:nvPr/>
        </p:nvSpPr>
        <p:spPr>
          <a:xfrm>
            <a:off x="2315880" y="6606720"/>
            <a:ext cx="102600" cy="10260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50" name="HBBlock1_2_2"/>
          <p:cNvSpPr/>
          <p:nvPr/>
        </p:nvSpPr>
        <p:spPr>
          <a:xfrm>
            <a:off x="2418480" y="6606720"/>
            <a:ext cx="102600" cy="10260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51" name="HBBlock1_2_3"/>
          <p:cNvSpPr/>
          <p:nvPr/>
        </p:nvSpPr>
        <p:spPr>
          <a:xfrm>
            <a:off x="2521440" y="6606720"/>
            <a:ext cx="102600" cy="102600"/>
          </a:xfrm>
          <a:prstGeom prst="rect">
            <a:avLst/>
          </a:prstGeom>
          <a:solidFill>
            <a:srgbClr val="8B6A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52" name="HBBlock1_3_0"/>
          <p:cNvSpPr/>
          <p:nvPr/>
        </p:nvSpPr>
        <p:spPr>
          <a:xfrm>
            <a:off x="2212920" y="6709320"/>
            <a:ext cx="102600" cy="102600"/>
          </a:xfrm>
          <a:prstGeom prst="rect">
            <a:avLst/>
          </a:prstGeom>
          <a:solidFill>
            <a:srgbClr val="8B6A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53" name="HBBlock1_3_1"/>
          <p:cNvSpPr/>
          <p:nvPr/>
        </p:nvSpPr>
        <p:spPr>
          <a:xfrm>
            <a:off x="2315880" y="6709320"/>
            <a:ext cx="102600" cy="10260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54" name="HBBlock1_3_2"/>
          <p:cNvSpPr/>
          <p:nvPr/>
        </p:nvSpPr>
        <p:spPr>
          <a:xfrm>
            <a:off x="2418480" y="6709320"/>
            <a:ext cx="102600" cy="10260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55" name="HBBlock1_3_3"/>
          <p:cNvSpPr/>
          <p:nvPr/>
        </p:nvSpPr>
        <p:spPr>
          <a:xfrm>
            <a:off x="2521440" y="6709320"/>
            <a:ext cx="102600" cy="102600"/>
          </a:xfrm>
          <a:prstGeom prst="rect">
            <a:avLst/>
          </a:prstGeom>
          <a:solidFill>
            <a:srgbClr val="B68A4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56" name="HBNum1"/>
          <p:cNvSpPr/>
          <p:nvPr/>
        </p:nvSpPr>
        <p:spPr>
          <a:xfrm>
            <a:off x="2185560" y="6373440"/>
            <a:ext cx="13680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00" b="1" strike="noStrike" spc="-1">
                <a:solidFill>
                  <a:srgbClr val="FFFFFF"/>
                </a:solidFill>
                <a:latin typeface="Trebuchet MS"/>
              </a:rPr>
              <a:t>2</a:t>
            </a:r>
            <a:endParaRPr lang="en-US" sz="700" b="0" strike="noStrike" spc="-1">
              <a:solidFill>
                <a:srgbClr val="000000"/>
              </a:solidFill>
              <a:latin typeface="Arial"/>
            </a:endParaRPr>
          </a:p>
        </p:txBody>
      </p:sp>
      <p:sp>
        <p:nvSpPr>
          <p:cNvPr id="957" name="HBSlot2"/>
          <p:cNvSpPr/>
          <p:nvPr/>
        </p:nvSpPr>
        <p:spPr>
          <a:xfrm>
            <a:off x="2688480" y="6355080"/>
            <a:ext cx="502560" cy="502560"/>
          </a:xfrm>
          <a:prstGeom prst="rect">
            <a:avLst/>
          </a:prstGeom>
          <a:solidFill>
            <a:srgbClr val="6B6B6B"/>
          </a:solidFill>
          <a:ln w="18288">
            <a:solidFill>
              <a:srgbClr val="1A1A1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58" name="HBBlock2_0_0"/>
          <p:cNvSpPr/>
          <p:nvPr/>
        </p:nvSpPr>
        <p:spPr>
          <a:xfrm>
            <a:off x="2734200" y="640080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59" name="HBBlock2_0_1"/>
          <p:cNvSpPr/>
          <p:nvPr/>
        </p:nvSpPr>
        <p:spPr>
          <a:xfrm>
            <a:off x="2836800" y="640080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60" name="HBBlock2_0_2"/>
          <p:cNvSpPr/>
          <p:nvPr/>
        </p:nvSpPr>
        <p:spPr>
          <a:xfrm>
            <a:off x="2939760" y="640080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61" name="HBBlock2_0_3"/>
          <p:cNvSpPr/>
          <p:nvPr/>
        </p:nvSpPr>
        <p:spPr>
          <a:xfrm>
            <a:off x="3042720" y="640080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62" name="HBBlock2_1_0"/>
          <p:cNvSpPr/>
          <p:nvPr/>
        </p:nvSpPr>
        <p:spPr>
          <a:xfrm>
            <a:off x="2734200" y="650376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63" name="HBBlock2_1_1"/>
          <p:cNvSpPr/>
          <p:nvPr/>
        </p:nvSpPr>
        <p:spPr>
          <a:xfrm>
            <a:off x="2836800" y="650376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64" name="HBBlock2_1_2"/>
          <p:cNvSpPr/>
          <p:nvPr/>
        </p:nvSpPr>
        <p:spPr>
          <a:xfrm>
            <a:off x="2939760" y="650376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65" name="HBBlock2_1_3"/>
          <p:cNvSpPr/>
          <p:nvPr/>
        </p:nvSpPr>
        <p:spPr>
          <a:xfrm>
            <a:off x="3042720" y="650376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66" name="HBBlock2_2_0"/>
          <p:cNvSpPr/>
          <p:nvPr/>
        </p:nvSpPr>
        <p:spPr>
          <a:xfrm>
            <a:off x="2734200" y="660672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67" name="HBBlock2_2_1"/>
          <p:cNvSpPr/>
          <p:nvPr/>
        </p:nvSpPr>
        <p:spPr>
          <a:xfrm>
            <a:off x="2836800" y="660672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68" name="HBBlock2_2_2"/>
          <p:cNvSpPr/>
          <p:nvPr/>
        </p:nvSpPr>
        <p:spPr>
          <a:xfrm>
            <a:off x="2939760" y="660672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69" name="HBBlock2_2_3"/>
          <p:cNvSpPr/>
          <p:nvPr/>
        </p:nvSpPr>
        <p:spPr>
          <a:xfrm>
            <a:off x="3042720" y="660672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70" name="HBBlock2_3_0"/>
          <p:cNvSpPr/>
          <p:nvPr/>
        </p:nvSpPr>
        <p:spPr>
          <a:xfrm>
            <a:off x="2734200" y="670932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71" name="HBBlock2_3_1"/>
          <p:cNvSpPr/>
          <p:nvPr/>
        </p:nvSpPr>
        <p:spPr>
          <a:xfrm>
            <a:off x="2836800" y="670932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72" name="HBBlock2_3_2"/>
          <p:cNvSpPr/>
          <p:nvPr/>
        </p:nvSpPr>
        <p:spPr>
          <a:xfrm>
            <a:off x="2939760" y="6709320"/>
            <a:ext cx="102600" cy="102600"/>
          </a:xfrm>
          <a:prstGeom prst="rect">
            <a:avLst/>
          </a:prstGeom>
          <a:solidFill>
            <a:srgbClr val="9B9B9B"/>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73" name="HBBlock2_3_3"/>
          <p:cNvSpPr/>
          <p:nvPr/>
        </p:nvSpPr>
        <p:spPr>
          <a:xfrm>
            <a:off x="3042720" y="6709320"/>
            <a:ext cx="102600" cy="102600"/>
          </a:xfrm>
          <a:prstGeom prst="rect">
            <a:avLst/>
          </a:prstGeom>
          <a:solidFill>
            <a:srgbClr val="D8D8D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74" name="HBNum2"/>
          <p:cNvSpPr/>
          <p:nvPr/>
        </p:nvSpPr>
        <p:spPr>
          <a:xfrm>
            <a:off x="2706480" y="6373440"/>
            <a:ext cx="13680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00" b="1" strike="noStrike" spc="-1">
                <a:solidFill>
                  <a:srgbClr val="FFFFFF"/>
                </a:solidFill>
                <a:latin typeface="Trebuchet MS"/>
              </a:rPr>
              <a:t>3</a:t>
            </a:r>
            <a:endParaRPr lang="en-US" sz="700" b="0" strike="noStrike" spc="-1">
              <a:solidFill>
                <a:srgbClr val="000000"/>
              </a:solidFill>
              <a:latin typeface="Arial"/>
            </a:endParaRPr>
          </a:p>
        </p:txBody>
      </p:sp>
      <p:sp>
        <p:nvSpPr>
          <p:cNvPr id="975" name="HBSlot3"/>
          <p:cNvSpPr/>
          <p:nvPr/>
        </p:nvSpPr>
        <p:spPr>
          <a:xfrm>
            <a:off x="3209400" y="6355080"/>
            <a:ext cx="502560" cy="502560"/>
          </a:xfrm>
          <a:prstGeom prst="rect">
            <a:avLst/>
          </a:prstGeom>
          <a:solidFill>
            <a:srgbClr val="6B6B6B"/>
          </a:solidFill>
          <a:ln w="18288">
            <a:solidFill>
              <a:srgbClr val="1A1A1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76" name="HBBlock3_0_0"/>
          <p:cNvSpPr/>
          <p:nvPr/>
        </p:nvSpPr>
        <p:spPr>
          <a:xfrm>
            <a:off x="3255120" y="6400800"/>
            <a:ext cx="102600" cy="10260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77" name="HBBlock3_0_1"/>
          <p:cNvSpPr/>
          <p:nvPr/>
        </p:nvSpPr>
        <p:spPr>
          <a:xfrm>
            <a:off x="3358080" y="6400800"/>
            <a:ext cx="102600" cy="10260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78" name="HBBlock3_0_2"/>
          <p:cNvSpPr/>
          <p:nvPr/>
        </p:nvSpPr>
        <p:spPr>
          <a:xfrm>
            <a:off x="3461040" y="6400800"/>
            <a:ext cx="102600" cy="10260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79" name="HBBlock3_0_3"/>
          <p:cNvSpPr/>
          <p:nvPr/>
        </p:nvSpPr>
        <p:spPr>
          <a:xfrm>
            <a:off x="3564000" y="6400800"/>
            <a:ext cx="102600" cy="10260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80" name="HBBlock3_1_0"/>
          <p:cNvSpPr/>
          <p:nvPr/>
        </p:nvSpPr>
        <p:spPr>
          <a:xfrm>
            <a:off x="3255120" y="6503760"/>
            <a:ext cx="102600" cy="10260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81" name="HBBlock3_1_1"/>
          <p:cNvSpPr/>
          <p:nvPr/>
        </p:nvSpPr>
        <p:spPr>
          <a:xfrm>
            <a:off x="3358080" y="6503760"/>
            <a:ext cx="102600" cy="10260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82" name="HBBlock3_1_2"/>
          <p:cNvSpPr/>
          <p:nvPr/>
        </p:nvSpPr>
        <p:spPr>
          <a:xfrm>
            <a:off x="3461040" y="6503760"/>
            <a:ext cx="102600" cy="10260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83" name="HBBlock3_1_3"/>
          <p:cNvSpPr/>
          <p:nvPr/>
        </p:nvSpPr>
        <p:spPr>
          <a:xfrm>
            <a:off x="3564000" y="6503760"/>
            <a:ext cx="102600" cy="10260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84" name="HBBlock3_2_0"/>
          <p:cNvSpPr/>
          <p:nvPr/>
        </p:nvSpPr>
        <p:spPr>
          <a:xfrm>
            <a:off x="3255120" y="6606720"/>
            <a:ext cx="102600" cy="10260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85" name="HBBlock3_2_1"/>
          <p:cNvSpPr/>
          <p:nvPr/>
        </p:nvSpPr>
        <p:spPr>
          <a:xfrm>
            <a:off x="3358080" y="6606720"/>
            <a:ext cx="102600" cy="10260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86" name="HBBlock3_2_2"/>
          <p:cNvSpPr/>
          <p:nvPr/>
        </p:nvSpPr>
        <p:spPr>
          <a:xfrm>
            <a:off x="3461040" y="6606720"/>
            <a:ext cx="102600" cy="10260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87" name="HBBlock3_2_3"/>
          <p:cNvSpPr/>
          <p:nvPr/>
        </p:nvSpPr>
        <p:spPr>
          <a:xfrm>
            <a:off x="3564000" y="6606720"/>
            <a:ext cx="102600" cy="10260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88" name="HBBlock3_3_0"/>
          <p:cNvSpPr/>
          <p:nvPr/>
        </p:nvSpPr>
        <p:spPr>
          <a:xfrm>
            <a:off x="3255120" y="6709320"/>
            <a:ext cx="102600" cy="10260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89" name="HBBlock3_3_1"/>
          <p:cNvSpPr/>
          <p:nvPr/>
        </p:nvSpPr>
        <p:spPr>
          <a:xfrm>
            <a:off x="3358080" y="6709320"/>
            <a:ext cx="102600" cy="10260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90" name="HBBlock3_3_2"/>
          <p:cNvSpPr/>
          <p:nvPr/>
        </p:nvSpPr>
        <p:spPr>
          <a:xfrm>
            <a:off x="3461040" y="6709320"/>
            <a:ext cx="102600" cy="102600"/>
          </a:xfrm>
          <a:prstGeom prst="rect">
            <a:avLst/>
          </a:prstGeom>
          <a:solidFill>
            <a:srgbClr val="FF303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91" name="HBBlock3_3_3"/>
          <p:cNvSpPr/>
          <p:nvPr/>
        </p:nvSpPr>
        <p:spPr>
          <a:xfrm>
            <a:off x="3564000" y="6709320"/>
            <a:ext cx="102600" cy="102600"/>
          </a:xfrm>
          <a:prstGeom prst="rect">
            <a:avLst/>
          </a:prstGeom>
          <a:solidFill>
            <a:srgbClr val="AA1010"/>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92" name="HBNum3"/>
          <p:cNvSpPr/>
          <p:nvPr/>
        </p:nvSpPr>
        <p:spPr>
          <a:xfrm>
            <a:off x="3227760" y="6373440"/>
            <a:ext cx="13680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00" b="1" strike="noStrike" spc="-1">
                <a:solidFill>
                  <a:srgbClr val="FFFFFF"/>
                </a:solidFill>
                <a:latin typeface="Trebuchet MS"/>
              </a:rPr>
              <a:t>4</a:t>
            </a:r>
            <a:endParaRPr lang="en-US" sz="700" b="0" strike="noStrike" spc="-1">
              <a:solidFill>
                <a:srgbClr val="000000"/>
              </a:solidFill>
              <a:latin typeface="Arial"/>
            </a:endParaRPr>
          </a:p>
        </p:txBody>
      </p:sp>
      <p:sp>
        <p:nvSpPr>
          <p:cNvPr id="993" name="HBSlot4"/>
          <p:cNvSpPr/>
          <p:nvPr/>
        </p:nvSpPr>
        <p:spPr>
          <a:xfrm>
            <a:off x="3730680" y="6355080"/>
            <a:ext cx="502560" cy="502560"/>
          </a:xfrm>
          <a:prstGeom prst="rect">
            <a:avLst/>
          </a:prstGeom>
          <a:solidFill>
            <a:srgbClr val="6B6B6B"/>
          </a:solidFill>
          <a:ln w="18288">
            <a:solidFill>
              <a:srgbClr val="1A1A1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94" name="HBBlock4_0_0"/>
          <p:cNvSpPr/>
          <p:nvPr/>
        </p:nvSpPr>
        <p:spPr>
          <a:xfrm>
            <a:off x="3776400" y="6400800"/>
            <a:ext cx="102600" cy="10260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95" name="HBBlock4_0_1"/>
          <p:cNvSpPr/>
          <p:nvPr/>
        </p:nvSpPr>
        <p:spPr>
          <a:xfrm>
            <a:off x="3879360" y="6400800"/>
            <a:ext cx="102600" cy="10260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96" name="HBBlock4_0_2"/>
          <p:cNvSpPr/>
          <p:nvPr/>
        </p:nvSpPr>
        <p:spPr>
          <a:xfrm>
            <a:off x="3982320" y="6400800"/>
            <a:ext cx="102600" cy="10260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97" name="HBBlock4_0_3"/>
          <p:cNvSpPr/>
          <p:nvPr/>
        </p:nvSpPr>
        <p:spPr>
          <a:xfrm>
            <a:off x="4084920" y="6400800"/>
            <a:ext cx="102600" cy="10260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98" name="HBBlock4_1_0"/>
          <p:cNvSpPr/>
          <p:nvPr/>
        </p:nvSpPr>
        <p:spPr>
          <a:xfrm>
            <a:off x="3776400" y="6503760"/>
            <a:ext cx="102600" cy="10260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99" name="HBBlock4_1_1"/>
          <p:cNvSpPr/>
          <p:nvPr/>
        </p:nvSpPr>
        <p:spPr>
          <a:xfrm>
            <a:off x="3879360" y="6503760"/>
            <a:ext cx="102600" cy="10260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00" name="HBBlock4_1_2"/>
          <p:cNvSpPr/>
          <p:nvPr/>
        </p:nvSpPr>
        <p:spPr>
          <a:xfrm>
            <a:off x="3982320" y="6503760"/>
            <a:ext cx="102600" cy="10260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01" name="HBBlock4_1_3"/>
          <p:cNvSpPr/>
          <p:nvPr/>
        </p:nvSpPr>
        <p:spPr>
          <a:xfrm>
            <a:off x="4084920" y="6503760"/>
            <a:ext cx="102600" cy="10260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02" name="HBBlock4_2_0"/>
          <p:cNvSpPr/>
          <p:nvPr/>
        </p:nvSpPr>
        <p:spPr>
          <a:xfrm>
            <a:off x="3776400" y="6606720"/>
            <a:ext cx="102600" cy="10260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03" name="HBBlock4_2_1"/>
          <p:cNvSpPr/>
          <p:nvPr/>
        </p:nvSpPr>
        <p:spPr>
          <a:xfrm>
            <a:off x="3879360" y="6606720"/>
            <a:ext cx="102600" cy="10260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04" name="HBBlock4_2_2"/>
          <p:cNvSpPr/>
          <p:nvPr/>
        </p:nvSpPr>
        <p:spPr>
          <a:xfrm>
            <a:off x="3982320" y="6606720"/>
            <a:ext cx="102600" cy="10260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05" name="HBBlock4_2_3"/>
          <p:cNvSpPr/>
          <p:nvPr/>
        </p:nvSpPr>
        <p:spPr>
          <a:xfrm>
            <a:off x="4084920" y="6606720"/>
            <a:ext cx="102600" cy="10260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06" name="HBBlock4_3_0"/>
          <p:cNvSpPr/>
          <p:nvPr/>
        </p:nvSpPr>
        <p:spPr>
          <a:xfrm>
            <a:off x="3776400" y="6709320"/>
            <a:ext cx="102600" cy="102600"/>
          </a:xfrm>
          <a:prstGeom prst="rect">
            <a:avLst/>
          </a:prstGeom>
          <a:solidFill>
            <a:srgbClr val="6E6E6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07" name="HBBlock4_3_1"/>
          <p:cNvSpPr/>
          <p:nvPr/>
        </p:nvSpPr>
        <p:spPr>
          <a:xfrm>
            <a:off x="3879360" y="6709320"/>
            <a:ext cx="102600" cy="10260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08" name="HBBlock4_3_2"/>
          <p:cNvSpPr/>
          <p:nvPr/>
        </p:nvSpPr>
        <p:spPr>
          <a:xfrm>
            <a:off x="3982320" y="6709320"/>
            <a:ext cx="102600" cy="10260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09" name="HBBlock4_3_3"/>
          <p:cNvSpPr/>
          <p:nvPr/>
        </p:nvSpPr>
        <p:spPr>
          <a:xfrm>
            <a:off x="4084920" y="6709320"/>
            <a:ext cx="102600" cy="102600"/>
          </a:xfrm>
          <a:prstGeom prst="rect">
            <a:avLst/>
          </a:prstGeom>
          <a:solidFill>
            <a:srgbClr val="8E8E8E"/>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10" name="HBNum4"/>
          <p:cNvSpPr/>
          <p:nvPr/>
        </p:nvSpPr>
        <p:spPr>
          <a:xfrm>
            <a:off x="3749040" y="6373440"/>
            <a:ext cx="13680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00" b="1" strike="noStrike" spc="-1">
                <a:solidFill>
                  <a:srgbClr val="FFFFFF"/>
                </a:solidFill>
                <a:latin typeface="Trebuchet MS"/>
              </a:rPr>
              <a:t>5</a:t>
            </a:r>
            <a:endParaRPr lang="en-US" sz="700" b="0" strike="noStrike" spc="-1">
              <a:solidFill>
                <a:srgbClr val="000000"/>
              </a:solidFill>
              <a:latin typeface="Arial"/>
            </a:endParaRPr>
          </a:p>
        </p:txBody>
      </p:sp>
      <p:sp>
        <p:nvSpPr>
          <p:cNvPr id="1011" name="HBSlot5"/>
          <p:cNvSpPr/>
          <p:nvPr/>
        </p:nvSpPr>
        <p:spPr>
          <a:xfrm>
            <a:off x="4251960" y="6355080"/>
            <a:ext cx="502560" cy="502560"/>
          </a:xfrm>
          <a:prstGeom prst="rect">
            <a:avLst/>
          </a:prstGeom>
          <a:solidFill>
            <a:srgbClr val="6B6B6B"/>
          </a:solidFill>
          <a:ln w="18288">
            <a:solidFill>
              <a:srgbClr val="1A1A1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12" name="HBBlock5_0_0"/>
          <p:cNvSpPr/>
          <p:nvPr/>
        </p:nvSpPr>
        <p:spPr>
          <a:xfrm>
            <a:off x="4297680" y="6400800"/>
            <a:ext cx="102600" cy="10260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13" name="HBBlock5_0_1"/>
          <p:cNvSpPr/>
          <p:nvPr/>
        </p:nvSpPr>
        <p:spPr>
          <a:xfrm>
            <a:off x="4400640" y="6400800"/>
            <a:ext cx="102600" cy="10260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14" name="HBBlock5_0_2"/>
          <p:cNvSpPr/>
          <p:nvPr/>
        </p:nvSpPr>
        <p:spPr>
          <a:xfrm>
            <a:off x="4503600" y="6400800"/>
            <a:ext cx="102600" cy="102600"/>
          </a:xfrm>
          <a:prstGeom prst="rect">
            <a:avLst/>
          </a:prstGeom>
          <a:solidFill>
            <a:srgbClr val="0A0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15" name="HBBlock5_0_3"/>
          <p:cNvSpPr/>
          <p:nvPr/>
        </p:nvSpPr>
        <p:spPr>
          <a:xfrm>
            <a:off x="4606200" y="6400800"/>
            <a:ext cx="102600" cy="10260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16" name="HBBlock5_1_0"/>
          <p:cNvSpPr/>
          <p:nvPr/>
        </p:nvSpPr>
        <p:spPr>
          <a:xfrm>
            <a:off x="4297680" y="6503760"/>
            <a:ext cx="102600" cy="102600"/>
          </a:xfrm>
          <a:prstGeom prst="rect">
            <a:avLst/>
          </a:prstGeom>
          <a:solidFill>
            <a:srgbClr val="0A0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17" name="HBBlock5_1_1"/>
          <p:cNvSpPr/>
          <p:nvPr/>
        </p:nvSpPr>
        <p:spPr>
          <a:xfrm>
            <a:off x="4400640" y="6503760"/>
            <a:ext cx="102600" cy="10260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18" name="HBBlock5_1_2"/>
          <p:cNvSpPr/>
          <p:nvPr/>
        </p:nvSpPr>
        <p:spPr>
          <a:xfrm>
            <a:off x="4503600" y="6503760"/>
            <a:ext cx="102600" cy="10260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19" name="HBBlock5_1_3"/>
          <p:cNvSpPr/>
          <p:nvPr/>
        </p:nvSpPr>
        <p:spPr>
          <a:xfrm>
            <a:off x="4606200" y="6503760"/>
            <a:ext cx="102600" cy="102600"/>
          </a:xfrm>
          <a:prstGeom prst="rect">
            <a:avLst/>
          </a:prstGeom>
          <a:solidFill>
            <a:srgbClr val="0A0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20" name="HBBlock5_2_0"/>
          <p:cNvSpPr/>
          <p:nvPr/>
        </p:nvSpPr>
        <p:spPr>
          <a:xfrm>
            <a:off x="4297680" y="6606720"/>
            <a:ext cx="102600" cy="10260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21" name="HBBlock5_2_1"/>
          <p:cNvSpPr/>
          <p:nvPr/>
        </p:nvSpPr>
        <p:spPr>
          <a:xfrm>
            <a:off x="4400640" y="6606720"/>
            <a:ext cx="102600" cy="102600"/>
          </a:xfrm>
          <a:prstGeom prst="rect">
            <a:avLst/>
          </a:prstGeom>
          <a:solidFill>
            <a:srgbClr val="0A0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22" name="HBBlock5_2_2"/>
          <p:cNvSpPr/>
          <p:nvPr/>
        </p:nvSpPr>
        <p:spPr>
          <a:xfrm>
            <a:off x="4503600" y="6606720"/>
            <a:ext cx="102600" cy="10260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23" name="HBBlock5_2_3"/>
          <p:cNvSpPr/>
          <p:nvPr/>
        </p:nvSpPr>
        <p:spPr>
          <a:xfrm>
            <a:off x="4606200" y="6606720"/>
            <a:ext cx="102600" cy="10260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24" name="HBBlock5_3_0"/>
          <p:cNvSpPr/>
          <p:nvPr/>
        </p:nvSpPr>
        <p:spPr>
          <a:xfrm>
            <a:off x="4297680" y="6709320"/>
            <a:ext cx="102600" cy="10260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25" name="HBBlock5_3_1"/>
          <p:cNvSpPr/>
          <p:nvPr/>
        </p:nvSpPr>
        <p:spPr>
          <a:xfrm>
            <a:off x="4400640" y="6709320"/>
            <a:ext cx="102600" cy="10260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26" name="HBBlock5_3_2"/>
          <p:cNvSpPr/>
          <p:nvPr/>
        </p:nvSpPr>
        <p:spPr>
          <a:xfrm>
            <a:off x="4503600" y="6709320"/>
            <a:ext cx="102600" cy="102600"/>
          </a:xfrm>
          <a:prstGeom prst="rect">
            <a:avLst/>
          </a:prstGeom>
          <a:solidFill>
            <a:srgbClr val="0A0A1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27" name="HBBlock5_3_3"/>
          <p:cNvSpPr/>
          <p:nvPr/>
        </p:nvSpPr>
        <p:spPr>
          <a:xfrm>
            <a:off x="4606200" y="6709320"/>
            <a:ext cx="102600" cy="102600"/>
          </a:xfrm>
          <a:prstGeom prst="rect">
            <a:avLst/>
          </a:prstGeom>
          <a:solidFill>
            <a:srgbClr val="185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28" name="HBNum5"/>
          <p:cNvSpPr/>
          <p:nvPr/>
        </p:nvSpPr>
        <p:spPr>
          <a:xfrm>
            <a:off x="4270320" y="6373440"/>
            <a:ext cx="136800" cy="136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700" b="1" strike="noStrike" spc="-1">
                <a:solidFill>
                  <a:srgbClr val="FFFFFF"/>
                </a:solidFill>
                <a:latin typeface="Trebuchet MS"/>
              </a:rPr>
              <a:t>6</a:t>
            </a:r>
            <a:endParaRPr lang="en-US" sz="700" b="0" strike="noStrike" spc="-1">
              <a:solidFill>
                <a:srgbClr val="000000"/>
              </a:solidFill>
              <a:latin typeface="Arial"/>
            </a:endParaRPr>
          </a:p>
        </p:txBody>
      </p:sp>
      <p:sp>
        <p:nvSpPr>
          <p:cNvPr id="1029" name="HBSlot6"/>
          <p:cNvSpPr/>
          <p:nvPr/>
        </p:nvSpPr>
        <p:spPr>
          <a:xfrm>
            <a:off x="4773240" y="6355080"/>
            <a:ext cx="502560" cy="502560"/>
          </a:xfrm>
          <a:prstGeom prst="rect">
            <a:avLst/>
          </a:prstGeom>
          <a:solidFill>
            <a:srgbClr val="6B6B6B"/>
          </a:solidFill>
          <a:ln w="18288">
            <a:solidFill>
              <a:srgbClr val="1A1A1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30" name="HBSlot7"/>
          <p:cNvSpPr/>
          <p:nvPr/>
        </p:nvSpPr>
        <p:spPr>
          <a:xfrm>
            <a:off x="5294520" y="6355080"/>
            <a:ext cx="502560" cy="502560"/>
          </a:xfrm>
          <a:prstGeom prst="rect">
            <a:avLst/>
          </a:prstGeom>
          <a:solidFill>
            <a:srgbClr val="6B6B6B"/>
          </a:solidFill>
          <a:ln w="18288">
            <a:solidFill>
              <a:srgbClr val="1A1A1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31" name="HBSlot8"/>
          <p:cNvSpPr/>
          <p:nvPr/>
        </p:nvSpPr>
        <p:spPr>
          <a:xfrm>
            <a:off x="5815440" y="6355080"/>
            <a:ext cx="502560" cy="502560"/>
          </a:xfrm>
          <a:prstGeom prst="rect">
            <a:avLst/>
          </a:prstGeom>
          <a:solidFill>
            <a:srgbClr val="6B6B6B"/>
          </a:solidFill>
          <a:ln w="18288">
            <a:solidFill>
              <a:srgbClr val="1A1A1A"/>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32" name="Footer"/>
          <p:cNvSpPr/>
          <p:nvPr/>
        </p:nvSpPr>
        <p:spPr>
          <a:xfrm>
            <a:off x="0" y="6766560"/>
            <a:ext cx="12191760" cy="72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700" b="1" strike="noStrike" spc="-1">
                <a:solidFill>
                  <a:srgbClr val="FFFFFF"/>
                </a:solidFill>
                <a:latin typeface="Trebuchet MS"/>
              </a:rPr>
              <a:t>WORLD:  PRODUCTION  ·  PLAYER:  Michael Forrester  ·  Accenture  ·  LLMday Austin  ·  May 12, 2026</a:t>
            </a:r>
            <a:endParaRPr lang="en-US" sz="700" b="0" strike="noStrike" spc="-1">
              <a:solidFill>
                <a:srgbClr val="000000"/>
              </a:solidFill>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13" name="Text 0"/>
          <p:cNvSpPr/>
          <p:nvPr/>
        </p:nvSpPr>
        <p:spPr>
          <a:xfrm>
            <a:off x="548640" y="365760"/>
            <a:ext cx="110638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0F172A"/>
                </a:solidFill>
                <a:latin typeface="Trebuchet MS"/>
                <a:ea typeface="Trebuchet MS"/>
              </a:rPr>
              <a:t>First, a brief backstory.</a:t>
            </a:r>
            <a:endParaRPr lang="en-US" sz="3200" b="0" strike="noStrike" spc="-1">
              <a:solidFill>
                <a:srgbClr val="000000"/>
              </a:solidFill>
              <a:latin typeface="Arial"/>
            </a:endParaRPr>
          </a:p>
        </p:txBody>
      </p:sp>
      <p:sp>
        <p:nvSpPr>
          <p:cNvPr id="14" name="Text 1"/>
          <p:cNvSpPr/>
          <p:nvPr/>
        </p:nvSpPr>
        <p:spPr>
          <a:xfrm>
            <a:off x="548640" y="1005840"/>
            <a:ext cx="1106388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600" b="0" i="1" strike="noStrike" spc="-1">
                <a:solidFill>
                  <a:srgbClr val="64748B"/>
                </a:solidFill>
                <a:latin typeface="Calibri"/>
                <a:ea typeface="Calibri"/>
              </a:rPr>
              <a:t>Yesterday I told a story at SREday. Today's talk is what would have stopped it.</a:t>
            </a:r>
            <a:endParaRPr lang="en-US" sz="1600" b="0" strike="noStrike" spc="-1">
              <a:solidFill>
                <a:srgbClr val="000000"/>
              </a:solidFill>
              <a:latin typeface="Arial"/>
            </a:endParaRPr>
          </a:p>
        </p:txBody>
      </p:sp>
      <p:pic>
        <p:nvPicPr>
          <p:cNvPr id="15" name="Image 0" descr="/tmp/sreday-title-mock.png"/>
          <p:cNvPicPr/>
          <p:nvPr/>
        </p:nvPicPr>
        <p:blipFill>
          <a:blip r:embed="rId3"/>
          <a:stretch/>
        </p:blipFill>
        <p:spPr>
          <a:xfrm>
            <a:off x="548640" y="1645920"/>
            <a:ext cx="6857640" cy="3840120"/>
          </a:xfrm>
          <a:prstGeom prst="rect">
            <a:avLst/>
          </a:prstGeom>
          <a:ln w="0">
            <a:noFill/>
          </a:ln>
        </p:spPr>
      </p:pic>
      <p:sp>
        <p:nvSpPr>
          <p:cNvPr id="16" name="Text 2"/>
          <p:cNvSpPr/>
          <p:nvPr/>
        </p:nvSpPr>
        <p:spPr>
          <a:xfrm>
            <a:off x="548640" y="5532120"/>
            <a:ext cx="68576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0" i="1" strike="noStrike" spc="-1">
                <a:solidFill>
                  <a:srgbClr val="64748B"/>
                </a:solidFill>
                <a:latin typeface="Calibri"/>
                <a:ea typeface="Calibri"/>
              </a:rPr>
              <a:t>SREday Austin Q2 · May 11, 2026 · title slide</a:t>
            </a:r>
            <a:endParaRPr lang="en-US" sz="900" b="0" strike="noStrike" spc="-1">
              <a:solidFill>
                <a:srgbClr val="000000"/>
              </a:solidFill>
              <a:latin typeface="Arial"/>
            </a:endParaRPr>
          </a:p>
        </p:txBody>
      </p:sp>
      <p:pic>
        <p:nvPicPr>
          <p:cNvPr id="17" name="Image 1" descr="/tmp/qr-sreday.png"/>
          <p:cNvPicPr/>
          <p:nvPr/>
        </p:nvPicPr>
        <p:blipFill>
          <a:blip r:embed="rId4"/>
          <a:stretch/>
        </p:blipFill>
        <p:spPr>
          <a:xfrm>
            <a:off x="8503920" y="1737360"/>
            <a:ext cx="2742840" cy="2742840"/>
          </a:xfrm>
          <a:prstGeom prst="rect">
            <a:avLst/>
          </a:prstGeom>
          <a:ln w="0">
            <a:noFill/>
          </a:ln>
        </p:spPr>
      </p:pic>
      <p:sp>
        <p:nvSpPr>
          <p:cNvPr id="18" name="Text 3"/>
          <p:cNvSpPr/>
          <p:nvPr/>
        </p:nvSpPr>
        <p:spPr>
          <a:xfrm>
            <a:off x="8229600" y="4572000"/>
            <a:ext cx="3200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0" i="1" strike="noStrike" spc="-1">
                <a:solidFill>
                  <a:srgbClr val="64748B"/>
                </a:solidFill>
                <a:latin typeface="Calibri"/>
                <a:ea typeface="Calibri"/>
              </a:rPr>
              <a:t>Scan for the SREday talk repo, code, and bypass appendix</a:t>
            </a:r>
            <a:endParaRPr lang="en-US" sz="1200" b="0" strike="noStrike" spc="-1">
              <a:solidFill>
                <a:srgbClr val="000000"/>
              </a:solidFill>
              <a:latin typeface="Arial"/>
            </a:endParaRPr>
          </a:p>
        </p:txBody>
      </p:sp>
      <p:sp>
        <p:nvSpPr>
          <p:cNvPr id="19" name="Text 4"/>
          <p:cNvSpPr/>
          <p:nvPr/>
        </p:nvSpPr>
        <p:spPr>
          <a:xfrm>
            <a:off x="8229600" y="5029200"/>
            <a:ext cx="32000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97">
                <a:solidFill>
                  <a:srgbClr val="0F172A"/>
                </a:solidFill>
                <a:latin typeface="Trebuchet MS"/>
                <a:ea typeface="Trebuchet MS"/>
              </a:rPr>
              <a:t>The cluster incident</a:t>
            </a:r>
            <a:endParaRPr lang="en-US" sz="1400" b="0" strike="noStrike" spc="-1">
              <a:solidFill>
                <a:srgbClr val="000000"/>
              </a:solidFill>
              <a:latin typeface="Arial"/>
            </a:endParaRPr>
          </a:p>
        </p:txBody>
      </p:sp>
      <p:sp>
        <p:nvSpPr>
          <p:cNvPr id="20" name="Text 5"/>
          <p:cNvSpPr/>
          <p:nvPr/>
        </p:nvSpPr>
        <p:spPr>
          <a:xfrm>
            <a:off x="8229600" y="539496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strike="noStrike" spc="-1">
                <a:solidFill>
                  <a:srgbClr val="64748B"/>
                </a:solidFill>
                <a:latin typeface="Calibri"/>
                <a:ea typeface="Calibri"/>
              </a:rPr>
              <a:t>Forty minutes. No cluster. One bad agent decision became three.</a:t>
            </a:r>
            <a:endParaRPr lang="en-US" sz="1100" b="0" strike="noStrike" spc="-1">
              <a:solidFill>
                <a:srgbClr val="000000"/>
              </a:solidFill>
              <a:latin typeface="Arial"/>
            </a:endParaRPr>
          </a:p>
        </p:txBody>
      </p:sp>
      <p:sp>
        <p:nvSpPr>
          <p:cNvPr id="21" name="Text 6"/>
          <p:cNvSpPr/>
          <p:nvPr/>
        </p:nvSpPr>
        <p:spPr>
          <a:xfrm>
            <a:off x="548640" y="5943600"/>
            <a:ext cx="110638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0" i="1" strike="noStrike" spc="-1">
                <a:solidFill>
                  <a:srgbClr val="A100FF"/>
                </a:solidFill>
                <a:latin typeface="Calibri"/>
                <a:ea typeface="Calibri"/>
              </a:rPr>
              <a:t>If you weren't at SREday, the short version is this: an agent took down a cluster in forty minutes. Today's talk is about the pipeline gates that would have stopped it.</a:t>
            </a:r>
            <a:endParaRPr lang="en-US" sz="1500" b="0" strike="noStrike" spc="-1">
              <a:solidFill>
                <a:srgbClr val="000000"/>
              </a:solidFill>
              <a:latin typeface="Arial"/>
            </a:endParaRPr>
          </a:p>
        </p:txBody>
      </p:sp>
      <p:pic>
        <p:nvPicPr>
          <p:cNvPr id="22" name="Image 2" descr="preencoded.png"/>
          <p:cNvPicPr/>
          <p:nvPr/>
        </p:nvPicPr>
        <p:blipFill>
          <a:blip r:embed="rId5"/>
          <a:stretch/>
        </p:blipFill>
        <p:spPr>
          <a:xfrm>
            <a:off x="0" y="6656760"/>
            <a:ext cx="12188520" cy="200880"/>
          </a:xfrm>
          <a:prstGeom prst="rect">
            <a:avLst/>
          </a:prstGeom>
          <a:ln w="0">
            <a:noFill/>
          </a:ln>
        </p:spPr>
      </p:pic>
      <p:sp>
        <p:nvSpPr>
          <p:cNvPr id="23" name="Text 7"/>
          <p:cNvSpPr/>
          <p:nvPr/>
        </p:nvSpPr>
        <p:spPr>
          <a:xfrm>
            <a:off x="457200" y="6693480"/>
            <a:ext cx="54860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FFFFFF"/>
                </a:solidFill>
                <a:latin typeface="Calibri"/>
                <a:ea typeface="Calibri"/>
              </a:rPr>
              <a:t>LLMday Austin · May 12, 2026</a:t>
            </a:r>
            <a:endParaRPr lang="en-US" sz="900" b="0" strike="noStrike" spc="-1">
              <a:solidFill>
                <a:srgbClr val="000000"/>
              </a:solidFill>
              <a:latin typeface="Arial"/>
            </a:endParaRPr>
          </a:p>
        </p:txBody>
      </p:sp>
      <p:sp>
        <p:nvSpPr>
          <p:cNvPr id="24" name="Text 8"/>
          <p:cNvSpPr/>
          <p:nvPr/>
        </p:nvSpPr>
        <p:spPr>
          <a:xfrm>
            <a:off x="11338560" y="6693480"/>
            <a:ext cx="731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1" strike="noStrike" spc="-1">
                <a:solidFill>
                  <a:srgbClr val="FFFFFF"/>
                </a:solidFill>
                <a:latin typeface="Calibri"/>
                <a:ea typeface="Calibri"/>
              </a:rPr>
              <a:t>2 / 16</a:t>
            </a:r>
            <a:endParaRPr lang="en-US" sz="900" b="0" strike="noStrike" spc="-1">
              <a:solidFill>
                <a:srgbClr val="000000"/>
              </a:solidFill>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25" name="Title"/>
          <p:cNvSpPr/>
          <p:nvPr/>
        </p:nvSpPr>
        <p:spPr>
          <a:xfrm>
            <a:off x="731520" y="274320"/>
            <a:ext cx="107287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400" b="1" strike="noStrike" spc="-1">
                <a:solidFill>
                  <a:srgbClr val="0F172A"/>
                </a:solidFill>
                <a:latin typeface="Trebuchet MS"/>
              </a:rPr>
              <a:t>Three ways teams use AI</a:t>
            </a:r>
            <a:endParaRPr lang="en-US" sz="4400" b="0" strike="noStrike" spc="-1">
              <a:solidFill>
                <a:srgbClr val="000000"/>
              </a:solidFill>
              <a:latin typeface="Arial"/>
            </a:endParaRPr>
          </a:p>
        </p:txBody>
      </p:sp>
      <p:sp>
        <p:nvSpPr>
          <p:cNvPr id="26" name="Subtitle"/>
          <p:cNvSpPr/>
          <p:nvPr/>
        </p:nvSpPr>
        <p:spPr>
          <a:xfrm>
            <a:off x="731520" y="960120"/>
            <a:ext cx="10728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i="1" strike="noStrike" spc="-1">
                <a:solidFill>
                  <a:srgbClr val="64748B"/>
                </a:solidFill>
                <a:latin typeface="Calibri"/>
              </a:rPr>
              <a:t>This talk is about one of them. The one where the agent touches production.</a:t>
            </a:r>
            <a:endParaRPr lang="en-US" sz="1800" b="0" strike="noStrike" spc="-1">
              <a:solidFill>
                <a:srgbClr val="000000"/>
              </a:solidFill>
              <a:latin typeface="Arial"/>
            </a:endParaRPr>
          </a:p>
        </p:txBody>
      </p:sp>
      <p:sp>
        <p:nvSpPr>
          <p:cNvPr id="27" name="Card_1"/>
          <p:cNvSpPr/>
          <p:nvPr/>
        </p:nvSpPr>
        <p:spPr>
          <a:xfrm>
            <a:off x="838080" y="1645920"/>
            <a:ext cx="10515240" cy="1096920"/>
          </a:xfrm>
          <a:prstGeom prst="roundRect">
            <a:avLst>
              <a:gd name="adj" fmla="val 8000"/>
            </a:avLst>
          </a:prstGeom>
          <a:solidFill>
            <a:srgbClr val="FFFFFF"/>
          </a:solidFill>
          <a:ln w="22225">
            <a:solidFill>
              <a:srgbClr val="10B981"/>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8" name="Badge_1"/>
          <p:cNvSpPr/>
          <p:nvPr/>
        </p:nvSpPr>
        <p:spPr>
          <a:xfrm>
            <a:off x="929520" y="1737360"/>
            <a:ext cx="914040" cy="914040"/>
          </a:xfrm>
          <a:prstGeom prst="roundRect">
            <a:avLst>
              <a:gd name="adj" fmla="val 8000"/>
            </a:avLst>
          </a:prstGeom>
          <a:solidFill>
            <a:srgbClr val="10B98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9" name="Num_1"/>
          <p:cNvSpPr/>
          <p:nvPr/>
        </p:nvSpPr>
        <p:spPr>
          <a:xfrm>
            <a:off x="929520" y="1737360"/>
            <a:ext cx="914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FFFFFF"/>
                </a:solidFill>
                <a:latin typeface="Trebuchet MS"/>
              </a:rPr>
              <a:t>1</a:t>
            </a:r>
            <a:endParaRPr lang="en-US" sz="4400" b="0" strike="noStrike" spc="-1">
              <a:solidFill>
                <a:srgbClr val="000000"/>
              </a:solidFill>
              <a:latin typeface="Arial"/>
            </a:endParaRPr>
          </a:p>
        </p:txBody>
      </p:sp>
      <p:sp>
        <p:nvSpPr>
          <p:cNvPr id="30" name="Text_1"/>
          <p:cNvSpPr/>
          <p:nvPr/>
        </p:nvSpPr>
        <p:spPr>
          <a:xfrm>
            <a:off x="2072520" y="1737360"/>
            <a:ext cx="90064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strike="noStrike" spc="-1">
                <a:solidFill>
                  <a:srgbClr val="0F172A"/>
                </a:solidFill>
                <a:latin typeface="Trebuchet MS"/>
              </a:rPr>
              <a:t>Inject AI into workflows</a:t>
            </a:r>
            <a:endParaRPr lang="en-US" sz="2400" b="0" strike="noStrike" spc="-1">
              <a:solidFill>
                <a:srgbClr val="000000"/>
              </a:solidFill>
              <a:latin typeface="Arial"/>
            </a:endParaRPr>
          </a:p>
          <a:p>
            <a:pPr defTabSz="914400">
              <a:lnSpc>
                <a:spcPct val="100000"/>
              </a:lnSpc>
              <a:spcBef>
                <a:spcPts val="300"/>
              </a:spcBef>
              <a:tabLst>
                <a:tab pos="0" algn="l"/>
              </a:tabLst>
            </a:pPr>
            <a:r>
              <a:rPr lang="en-US" sz="1400" b="0" i="1" strike="noStrike" spc="-1">
                <a:solidFill>
                  <a:srgbClr val="64748B"/>
                </a:solidFill>
                <a:latin typeface="Calibri"/>
              </a:rPr>
              <a:t>Coding agents, artifact generation, internal automation. Bounded blast radius.</a:t>
            </a:r>
            <a:endParaRPr lang="en-US" sz="1400" b="0" strike="noStrike" spc="-1">
              <a:solidFill>
                <a:srgbClr val="000000"/>
              </a:solidFill>
              <a:latin typeface="Arial"/>
            </a:endParaRPr>
          </a:p>
        </p:txBody>
      </p:sp>
      <p:sp>
        <p:nvSpPr>
          <p:cNvPr id="31" name="Card_2"/>
          <p:cNvSpPr/>
          <p:nvPr/>
        </p:nvSpPr>
        <p:spPr>
          <a:xfrm>
            <a:off x="838080" y="2971800"/>
            <a:ext cx="10515240" cy="1096920"/>
          </a:xfrm>
          <a:prstGeom prst="roundRect">
            <a:avLst>
              <a:gd name="adj" fmla="val 8000"/>
            </a:avLst>
          </a:prstGeom>
          <a:solidFill>
            <a:srgbClr val="FFFFFF"/>
          </a:solidFill>
          <a:ln w="22225">
            <a:solidFill>
              <a:srgbClr val="A100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 name="Badge_2"/>
          <p:cNvSpPr/>
          <p:nvPr/>
        </p:nvSpPr>
        <p:spPr>
          <a:xfrm>
            <a:off x="929520" y="3063240"/>
            <a:ext cx="914040" cy="914040"/>
          </a:xfrm>
          <a:prstGeom prst="roundRect">
            <a:avLst>
              <a:gd name="adj" fmla="val 8000"/>
            </a:avLst>
          </a:prstGeom>
          <a:solidFill>
            <a:srgbClr val="A10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 name="Num_2"/>
          <p:cNvSpPr/>
          <p:nvPr/>
        </p:nvSpPr>
        <p:spPr>
          <a:xfrm>
            <a:off x="929520" y="3063240"/>
            <a:ext cx="914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FFFFFF"/>
                </a:solidFill>
                <a:latin typeface="Trebuchet MS"/>
              </a:rPr>
              <a:t>2</a:t>
            </a:r>
            <a:endParaRPr lang="en-US" sz="4400" b="0" strike="noStrike" spc="-1">
              <a:solidFill>
                <a:srgbClr val="000000"/>
              </a:solidFill>
              <a:latin typeface="Arial"/>
            </a:endParaRPr>
          </a:p>
        </p:txBody>
      </p:sp>
      <p:sp>
        <p:nvSpPr>
          <p:cNvPr id="34" name="Text_2"/>
          <p:cNvSpPr/>
          <p:nvPr/>
        </p:nvSpPr>
        <p:spPr>
          <a:xfrm>
            <a:off x="2072520" y="3063240"/>
            <a:ext cx="90064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strike="noStrike" spc="-1">
                <a:solidFill>
                  <a:srgbClr val="0F172A"/>
                </a:solidFill>
                <a:latin typeface="Trebuchet MS"/>
              </a:rPr>
              <a:t>Inject AI into an application</a:t>
            </a:r>
            <a:endParaRPr lang="en-US" sz="2400" b="0" strike="noStrike" spc="-1">
              <a:solidFill>
                <a:srgbClr val="000000"/>
              </a:solidFill>
              <a:latin typeface="Arial"/>
            </a:endParaRPr>
          </a:p>
          <a:p>
            <a:pPr defTabSz="914400">
              <a:lnSpc>
                <a:spcPct val="100000"/>
              </a:lnSpc>
              <a:spcBef>
                <a:spcPts val="300"/>
              </a:spcBef>
              <a:tabLst>
                <a:tab pos="0" algn="l"/>
              </a:tabLst>
            </a:pPr>
            <a:r>
              <a:rPr lang="en-US" sz="1400" b="0" i="1" strike="noStrike" spc="-1">
                <a:solidFill>
                  <a:srgbClr val="64748B"/>
                </a:solidFill>
                <a:latin typeface="Calibri"/>
              </a:rPr>
              <a:t>Chatbots, search, in-product features. Output is the surface.</a:t>
            </a:r>
            <a:endParaRPr lang="en-US" sz="1400" b="0" strike="noStrike" spc="-1">
              <a:solidFill>
                <a:srgbClr val="000000"/>
              </a:solidFill>
              <a:latin typeface="Arial"/>
            </a:endParaRPr>
          </a:p>
        </p:txBody>
      </p:sp>
      <p:sp>
        <p:nvSpPr>
          <p:cNvPr id="35" name="Card_3"/>
          <p:cNvSpPr/>
          <p:nvPr/>
        </p:nvSpPr>
        <p:spPr>
          <a:xfrm>
            <a:off x="838080" y="4297680"/>
            <a:ext cx="10515240" cy="1096920"/>
          </a:xfrm>
          <a:prstGeom prst="roundRect">
            <a:avLst>
              <a:gd name="adj" fmla="val 8000"/>
            </a:avLst>
          </a:prstGeom>
          <a:solidFill>
            <a:srgbClr val="0EA5E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6" name="Badge_3"/>
          <p:cNvSpPr/>
          <p:nvPr/>
        </p:nvSpPr>
        <p:spPr>
          <a:xfrm>
            <a:off x="929520" y="4389120"/>
            <a:ext cx="914040" cy="914040"/>
          </a:xfrm>
          <a:prstGeom prst="roundRect">
            <a:avLst>
              <a:gd name="adj" fmla="val 8000"/>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7" name="Num_3"/>
          <p:cNvSpPr/>
          <p:nvPr/>
        </p:nvSpPr>
        <p:spPr>
          <a:xfrm>
            <a:off x="929520" y="4389120"/>
            <a:ext cx="9140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400" b="1" strike="noStrike" spc="-1">
                <a:solidFill>
                  <a:srgbClr val="0EA5E9"/>
                </a:solidFill>
                <a:latin typeface="Trebuchet MS"/>
              </a:rPr>
              <a:t>3</a:t>
            </a:r>
            <a:endParaRPr lang="en-US" sz="4400" b="0" strike="noStrike" spc="-1">
              <a:solidFill>
                <a:srgbClr val="000000"/>
              </a:solidFill>
              <a:latin typeface="Arial"/>
            </a:endParaRPr>
          </a:p>
        </p:txBody>
      </p:sp>
      <p:sp>
        <p:nvSpPr>
          <p:cNvPr id="38" name="Text_3"/>
          <p:cNvSpPr/>
          <p:nvPr/>
        </p:nvSpPr>
        <p:spPr>
          <a:xfrm>
            <a:off x="2072520" y="4389120"/>
            <a:ext cx="73605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strike="noStrike" spc="-1">
                <a:solidFill>
                  <a:srgbClr val="FFFFFF"/>
                </a:solidFill>
                <a:latin typeface="Trebuchet MS"/>
              </a:rPr>
              <a:t>AI for systems management</a:t>
            </a:r>
            <a:endParaRPr lang="en-US" sz="2400" b="0" strike="noStrike" spc="-1">
              <a:solidFill>
                <a:srgbClr val="000000"/>
              </a:solidFill>
              <a:latin typeface="Arial"/>
            </a:endParaRPr>
          </a:p>
          <a:p>
            <a:pPr defTabSz="914400">
              <a:lnSpc>
                <a:spcPct val="100000"/>
              </a:lnSpc>
              <a:spcBef>
                <a:spcPts val="300"/>
              </a:spcBef>
              <a:tabLst>
                <a:tab pos="0" algn="l"/>
              </a:tabLst>
            </a:pPr>
            <a:r>
              <a:rPr lang="en-US" sz="1400" b="0" i="1" strike="noStrike" spc="-1">
                <a:solidFill>
                  <a:srgbClr val="E0F2FE"/>
                </a:solidFill>
                <a:latin typeface="Calibri"/>
              </a:rPr>
              <a:t>Kubernetes, infrastructure operations, cloud. The agent touches production.</a:t>
            </a:r>
            <a:endParaRPr lang="en-US" sz="1400" b="0" strike="noStrike" spc="-1">
              <a:solidFill>
                <a:srgbClr val="000000"/>
              </a:solidFill>
              <a:latin typeface="Arial"/>
            </a:endParaRPr>
          </a:p>
        </p:txBody>
      </p:sp>
      <p:sp>
        <p:nvSpPr>
          <p:cNvPr id="39" name="ThisTalkBadge"/>
          <p:cNvSpPr/>
          <p:nvPr/>
        </p:nvSpPr>
        <p:spPr>
          <a:xfrm>
            <a:off x="9890640" y="4617720"/>
            <a:ext cx="1279800" cy="456840"/>
          </a:xfrm>
          <a:prstGeom prst="roundRect">
            <a:avLst>
              <a:gd name="adj" fmla="val 8000"/>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0" name="ThisTalkText"/>
          <p:cNvSpPr/>
          <p:nvPr/>
        </p:nvSpPr>
        <p:spPr>
          <a:xfrm>
            <a:off x="9890640" y="4617720"/>
            <a:ext cx="127980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0EA5E9"/>
                </a:solidFill>
                <a:latin typeface="Trebuchet MS"/>
              </a:rPr>
              <a:t>◀  THIS TALK</a:t>
            </a:r>
            <a:endParaRPr lang="en-US" sz="1200" b="0" strike="noStrike" spc="-1">
              <a:solidFill>
                <a:srgbClr val="000000"/>
              </a:solidFill>
              <a:latin typeface="Arial"/>
            </a:endParaRPr>
          </a:p>
        </p:txBody>
      </p:sp>
      <p:sp>
        <p:nvSpPr>
          <p:cNvPr id="41" name="Tagline"/>
          <p:cNvSpPr/>
          <p:nvPr/>
        </p:nvSpPr>
        <p:spPr>
          <a:xfrm>
            <a:off x="731520" y="5669280"/>
            <a:ext cx="10728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i="1" strike="noStrike" spc="-1">
                <a:solidFill>
                  <a:srgbClr val="A100FF"/>
                </a:solidFill>
                <a:latin typeface="Trebuchet MS"/>
              </a:rPr>
              <a:t>When the agent touches production, the guardrails have to be deterministic.</a:t>
            </a:r>
            <a:endParaRPr lang="en-US" sz="1600" b="0" strike="noStrike" spc="-1">
              <a:solidFill>
                <a:srgbClr val="000000"/>
              </a:solidFill>
              <a:latin typeface="Arial"/>
            </a:endParaRPr>
          </a:p>
        </p:txBody>
      </p:sp>
      <p:sp>
        <p:nvSpPr>
          <p:cNvPr id="42" name="PageNum"/>
          <p:cNvSpPr/>
          <p:nvPr/>
        </p:nvSpPr>
        <p:spPr>
          <a:xfrm>
            <a:off x="11430000" y="658368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Calibri"/>
              </a:rPr>
              <a:t>3 / 16</a:t>
            </a:r>
            <a:endParaRPr lang="en-US" sz="900" b="0" strike="noStrike" spc="-1">
              <a:solidFill>
                <a:srgbClr val="000000"/>
              </a:solidFill>
              <a:latin typeface="Arial"/>
            </a:endParaRPr>
          </a:p>
        </p:txBody>
      </p:sp>
      <p:sp>
        <p:nvSpPr>
          <p:cNvPr id="43" name="Footer"/>
          <p:cNvSpPr/>
          <p:nvPr/>
        </p:nvSpPr>
        <p:spPr>
          <a:xfrm>
            <a:off x="228600" y="6583680"/>
            <a:ext cx="32000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Calibri"/>
              </a:rPr>
              <a:t>LLMday Austin · May 12, 2026</a:t>
            </a:r>
            <a:endParaRPr lang="en-US" sz="900" b="0" strike="noStrike" spc="-1">
              <a:solidFill>
                <a:srgbClr val="000000"/>
              </a:solidFill>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44" name="Title"/>
          <p:cNvSpPr/>
          <p:nvPr/>
        </p:nvSpPr>
        <p:spPr>
          <a:xfrm>
            <a:off x="731520" y="274320"/>
            <a:ext cx="107287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400" b="1" strike="noStrike" spc="-1">
                <a:solidFill>
                  <a:srgbClr val="0F172A"/>
                </a:solidFill>
                <a:latin typeface="Trebuchet MS"/>
              </a:rPr>
              <a:t>The pipeline you already run</a:t>
            </a:r>
            <a:endParaRPr lang="en-US" sz="4400" b="0" strike="noStrike" spc="-1">
              <a:solidFill>
                <a:srgbClr val="000000"/>
              </a:solidFill>
              <a:latin typeface="Arial"/>
            </a:endParaRPr>
          </a:p>
        </p:txBody>
      </p:sp>
      <p:sp>
        <p:nvSpPr>
          <p:cNvPr id="45" name="Subtitle"/>
          <p:cNvSpPr/>
          <p:nvPr/>
        </p:nvSpPr>
        <p:spPr>
          <a:xfrm>
            <a:off x="731520" y="960120"/>
            <a:ext cx="10728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i="1" strike="noStrike" spc="-1">
                <a:solidFill>
                  <a:srgbClr val="64748B"/>
                </a:solidFill>
                <a:latin typeface="Calibri"/>
              </a:rPr>
              <a:t>CI/CD is the analogy you know. MLOps is what's actually running. Both are the same machinery.</a:t>
            </a:r>
            <a:endParaRPr lang="en-US" sz="1700" b="0" strike="noStrike" spc="-1">
              <a:solidFill>
                <a:srgbClr val="000000"/>
              </a:solidFill>
              <a:latin typeface="Arial"/>
            </a:endParaRPr>
          </a:p>
        </p:txBody>
      </p:sp>
      <p:sp>
        <p:nvSpPr>
          <p:cNvPr id="46" name="CICDLabel"/>
          <p:cNvSpPr/>
          <p:nvPr/>
        </p:nvSpPr>
        <p:spPr>
          <a:xfrm>
            <a:off x="457200" y="1554480"/>
            <a:ext cx="1737000" cy="1279800"/>
          </a:xfrm>
          <a:prstGeom prst="roundRect">
            <a:avLst>
              <a:gd name="adj" fmla="val 8000"/>
            </a:avLst>
          </a:prstGeom>
          <a:solidFill>
            <a:srgbClr val="0F17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7" name="CICDLabelText"/>
          <p:cNvSpPr/>
          <p:nvPr/>
        </p:nvSpPr>
        <p:spPr>
          <a:xfrm>
            <a:off x="457200" y="1554480"/>
            <a:ext cx="17370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Trebuchet MS"/>
              </a:rPr>
              <a:t>CI / CD</a:t>
            </a:r>
            <a:endParaRPr lang="en-US" sz="2000" b="0" strike="noStrike" spc="-1">
              <a:solidFill>
                <a:srgbClr val="000000"/>
              </a:solidFill>
              <a:latin typeface="Arial"/>
            </a:endParaRPr>
          </a:p>
          <a:p>
            <a:pPr algn="ctr" defTabSz="914400">
              <a:lnSpc>
                <a:spcPct val="100000"/>
              </a:lnSpc>
              <a:spcBef>
                <a:spcPts val="201"/>
              </a:spcBef>
              <a:tabLst>
                <a:tab pos="0" algn="l"/>
              </a:tabLst>
            </a:pPr>
            <a:r>
              <a:rPr lang="en-US" sz="1100" b="0" i="1" strike="noStrike" spc="-1">
                <a:solidFill>
                  <a:srgbClr val="94A3B8"/>
                </a:solidFill>
                <a:latin typeface="Calibri"/>
              </a:rPr>
              <a:t>familiar</a:t>
            </a:r>
            <a:endParaRPr lang="en-US" sz="1100" b="0" strike="noStrike" spc="-1">
              <a:solidFill>
                <a:srgbClr val="000000"/>
              </a:solidFill>
              <a:latin typeface="Arial"/>
            </a:endParaRPr>
          </a:p>
        </p:txBody>
      </p:sp>
      <p:sp>
        <p:nvSpPr>
          <p:cNvPr id="48" name="MLOpsLabel"/>
          <p:cNvSpPr/>
          <p:nvPr/>
        </p:nvSpPr>
        <p:spPr>
          <a:xfrm>
            <a:off x="457200" y="3886200"/>
            <a:ext cx="1737000" cy="1279800"/>
          </a:xfrm>
          <a:prstGeom prst="roundRect">
            <a:avLst>
              <a:gd name="adj" fmla="val 8000"/>
            </a:avLst>
          </a:prstGeom>
          <a:solidFill>
            <a:srgbClr val="A10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49" name="MLOpsLabelText"/>
          <p:cNvSpPr/>
          <p:nvPr/>
        </p:nvSpPr>
        <p:spPr>
          <a:xfrm>
            <a:off x="457200" y="3886200"/>
            <a:ext cx="17370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Trebuchet MS"/>
              </a:rPr>
              <a:t>MLOps</a:t>
            </a:r>
            <a:endParaRPr lang="en-US" sz="2000" b="0" strike="noStrike" spc="-1">
              <a:solidFill>
                <a:srgbClr val="000000"/>
              </a:solidFill>
              <a:latin typeface="Arial"/>
            </a:endParaRPr>
          </a:p>
          <a:p>
            <a:pPr algn="ctr" defTabSz="914400">
              <a:lnSpc>
                <a:spcPct val="100000"/>
              </a:lnSpc>
              <a:spcBef>
                <a:spcPts val="201"/>
              </a:spcBef>
              <a:tabLst>
                <a:tab pos="0" algn="l"/>
              </a:tabLst>
            </a:pPr>
            <a:r>
              <a:rPr lang="en-US" sz="1100" b="0" i="1" strike="noStrike" spc="-1">
                <a:solidFill>
                  <a:srgbClr val="000000"/>
                </a:solidFill>
                <a:latin typeface="Calibri"/>
              </a:rPr>
              <a:t>agentic</a:t>
            </a:r>
            <a:endParaRPr lang="en-US" sz="1100" b="0" strike="noStrike" spc="-1">
              <a:solidFill>
                <a:srgbClr val="000000"/>
              </a:solidFill>
              <a:latin typeface="Arial"/>
            </a:endParaRPr>
          </a:p>
        </p:txBody>
      </p:sp>
      <p:sp>
        <p:nvSpPr>
          <p:cNvPr id="50" name="CICD_Source"/>
          <p:cNvSpPr/>
          <p:nvPr/>
        </p:nvSpPr>
        <p:spPr>
          <a:xfrm>
            <a:off x="2377440" y="1554480"/>
            <a:ext cx="1482840" cy="1279800"/>
          </a:xfrm>
          <a:prstGeom prst="roundRect">
            <a:avLst>
              <a:gd name="adj" fmla="val 8000"/>
            </a:avLst>
          </a:prstGeom>
          <a:solidFill>
            <a:srgbClr val="F1F5F9"/>
          </a:solidFill>
          <a:ln w="12700">
            <a:solidFill>
              <a:srgbClr val="94A3B8"/>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1" name="CICD_Source_Text"/>
          <p:cNvSpPr/>
          <p:nvPr/>
        </p:nvSpPr>
        <p:spPr>
          <a:xfrm>
            <a:off x="2377440" y="1554480"/>
            <a:ext cx="14828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0F172A"/>
                </a:solidFill>
                <a:latin typeface="Trebuchet MS"/>
              </a:rPr>
              <a:t>Source</a:t>
            </a:r>
            <a:endParaRPr lang="en-US" sz="1500" b="0" strike="noStrike" spc="-1">
              <a:solidFill>
                <a:srgbClr val="000000"/>
              </a:solidFill>
              <a:latin typeface="Arial"/>
            </a:endParaRPr>
          </a:p>
          <a:p>
            <a:pPr algn="ctr" defTabSz="914400">
              <a:lnSpc>
                <a:spcPct val="100000"/>
              </a:lnSpc>
              <a:spcBef>
                <a:spcPts val="201"/>
              </a:spcBef>
              <a:tabLst>
                <a:tab pos="0" algn="l"/>
              </a:tabLst>
            </a:pPr>
            <a:r>
              <a:rPr lang="en-US" sz="1000" b="0" i="1" strike="noStrike" spc="-1">
                <a:solidFill>
                  <a:srgbClr val="64748B"/>
                </a:solidFill>
                <a:latin typeface="Calibri"/>
              </a:rPr>
              <a:t>git</a:t>
            </a:r>
            <a:endParaRPr lang="en-US" sz="1000" b="0" strike="noStrike" spc="-1">
              <a:solidFill>
                <a:srgbClr val="000000"/>
              </a:solidFill>
              <a:latin typeface="Arial"/>
            </a:endParaRPr>
          </a:p>
        </p:txBody>
      </p:sp>
      <p:sp>
        <p:nvSpPr>
          <p:cNvPr id="52" name="CICD_Arrow_0"/>
          <p:cNvSpPr/>
          <p:nvPr/>
        </p:nvSpPr>
        <p:spPr>
          <a:xfrm>
            <a:off x="3860640" y="1554480"/>
            <a:ext cx="127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94A3B8"/>
                </a:solidFill>
                <a:latin typeface="Calibri"/>
              </a:rPr>
              <a:t>▸</a:t>
            </a:r>
            <a:endParaRPr lang="en-US" sz="1400" b="0" strike="noStrike" spc="-1">
              <a:solidFill>
                <a:srgbClr val="000000"/>
              </a:solidFill>
              <a:latin typeface="Arial"/>
            </a:endParaRPr>
          </a:p>
        </p:txBody>
      </p:sp>
      <p:sp>
        <p:nvSpPr>
          <p:cNvPr id="53" name="CICD_Build"/>
          <p:cNvSpPr/>
          <p:nvPr/>
        </p:nvSpPr>
        <p:spPr>
          <a:xfrm>
            <a:off x="3952080" y="1554480"/>
            <a:ext cx="1482840" cy="1279800"/>
          </a:xfrm>
          <a:prstGeom prst="roundRect">
            <a:avLst>
              <a:gd name="adj" fmla="val 8000"/>
            </a:avLst>
          </a:prstGeom>
          <a:solidFill>
            <a:srgbClr val="F1F5F9"/>
          </a:solidFill>
          <a:ln w="12700">
            <a:solidFill>
              <a:srgbClr val="94A3B8"/>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4" name="CICD_Build_Text"/>
          <p:cNvSpPr/>
          <p:nvPr/>
        </p:nvSpPr>
        <p:spPr>
          <a:xfrm>
            <a:off x="3952080" y="1554480"/>
            <a:ext cx="14828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0F172A"/>
                </a:solidFill>
                <a:latin typeface="Trebuchet MS"/>
              </a:rPr>
              <a:t>Build</a:t>
            </a:r>
            <a:endParaRPr lang="en-US" sz="1500" b="0" strike="noStrike" spc="-1">
              <a:solidFill>
                <a:srgbClr val="000000"/>
              </a:solidFill>
              <a:latin typeface="Arial"/>
            </a:endParaRPr>
          </a:p>
          <a:p>
            <a:pPr algn="ctr" defTabSz="914400">
              <a:lnSpc>
                <a:spcPct val="100000"/>
              </a:lnSpc>
              <a:spcBef>
                <a:spcPts val="201"/>
              </a:spcBef>
              <a:tabLst>
                <a:tab pos="0" algn="l"/>
              </a:tabLst>
            </a:pPr>
            <a:r>
              <a:rPr lang="en-US" sz="1000" b="0" i="1" strike="noStrike" spc="-1">
                <a:solidFill>
                  <a:srgbClr val="64748B"/>
                </a:solidFill>
                <a:latin typeface="Calibri"/>
              </a:rPr>
              <a:t>compile</a:t>
            </a:r>
            <a:endParaRPr lang="en-US" sz="1000" b="0" strike="noStrike" spc="-1">
              <a:solidFill>
                <a:srgbClr val="000000"/>
              </a:solidFill>
              <a:latin typeface="Arial"/>
            </a:endParaRPr>
          </a:p>
        </p:txBody>
      </p:sp>
      <p:sp>
        <p:nvSpPr>
          <p:cNvPr id="55" name="CICD_Arrow_1"/>
          <p:cNvSpPr/>
          <p:nvPr/>
        </p:nvSpPr>
        <p:spPr>
          <a:xfrm>
            <a:off x="5435640" y="1554480"/>
            <a:ext cx="127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94A3B8"/>
                </a:solidFill>
                <a:latin typeface="Calibri"/>
              </a:rPr>
              <a:t>▸</a:t>
            </a:r>
            <a:endParaRPr lang="en-US" sz="1400" b="0" strike="noStrike" spc="-1">
              <a:solidFill>
                <a:srgbClr val="000000"/>
              </a:solidFill>
              <a:latin typeface="Arial"/>
            </a:endParaRPr>
          </a:p>
        </p:txBody>
      </p:sp>
      <p:sp>
        <p:nvSpPr>
          <p:cNvPr id="56" name="CICD_Test"/>
          <p:cNvSpPr/>
          <p:nvPr/>
        </p:nvSpPr>
        <p:spPr>
          <a:xfrm>
            <a:off x="5527080" y="1554480"/>
            <a:ext cx="1482840" cy="1279800"/>
          </a:xfrm>
          <a:prstGeom prst="roundRect">
            <a:avLst>
              <a:gd name="adj" fmla="val 8000"/>
            </a:avLst>
          </a:prstGeom>
          <a:solidFill>
            <a:srgbClr val="F1F5F9"/>
          </a:solidFill>
          <a:ln w="12700">
            <a:solidFill>
              <a:srgbClr val="94A3B8"/>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57" name="CICD_Test_Text"/>
          <p:cNvSpPr/>
          <p:nvPr/>
        </p:nvSpPr>
        <p:spPr>
          <a:xfrm>
            <a:off x="5527080" y="1554480"/>
            <a:ext cx="14828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0F172A"/>
                </a:solidFill>
                <a:latin typeface="Trebuchet MS"/>
              </a:rPr>
              <a:t>Test</a:t>
            </a:r>
            <a:endParaRPr lang="en-US" sz="1500" b="0" strike="noStrike" spc="-1">
              <a:solidFill>
                <a:srgbClr val="000000"/>
              </a:solidFill>
              <a:latin typeface="Arial"/>
            </a:endParaRPr>
          </a:p>
          <a:p>
            <a:pPr algn="ctr" defTabSz="914400">
              <a:lnSpc>
                <a:spcPct val="100000"/>
              </a:lnSpc>
              <a:spcBef>
                <a:spcPts val="201"/>
              </a:spcBef>
              <a:tabLst>
                <a:tab pos="0" algn="l"/>
              </a:tabLst>
            </a:pPr>
            <a:r>
              <a:rPr lang="en-US" sz="1000" b="0" i="1" strike="noStrike" spc="-1">
                <a:solidFill>
                  <a:srgbClr val="64748B"/>
                </a:solidFill>
                <a:latin typeface="Calibri"/>
              </a:rPr>
              <a:t>CI gates</a:t>
            </a:r>
            <a:endParaRPr lang="en-US" sz="1000" b="0" strike="noStrike" spc="-1">
              <a:solidFill>
                <a:srgbClr val="000000"/>
              </a:solidFill>
              <a:latin typeface="Arial"/>
            </a:endParaRPr>
          </a:p>
        </p:txBody>
      </p:sp>
      <p:sp>
        <p:nvSpPr>
          <p:cNvPr id="58" name="CICD_Arrow_2"/>
          <p:cNvSpPr/>
          <p:nvPr/>
        </p:nvSpPr>
        <p:spPr>
          <a:xfrm>
            <a:off x="7010280" y="1554480"/>
            <a:ext cx="127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94A3B8"/>
                </a:solidFill>
                <a:latin typeface="Calibri"/>
              </a:rPr>
              <a:t>▸</a:t>
            </a:r>
            <a:endParaRPr lang="en-US" sz="1400" b="0" strike="noStrike" spc="-1">
              <a:solidFill>
                <a:srgbClr val="000000"/>
              </a:solidFill>
              <a:latin typeface="Arial"/>
            </a:endParaRPr>
          </a:p>
        </p:txBody>
      </p:sp>
      <p:sp>
        <p:nvSpPr>
          <p:cNvPr id="59" name="CICD_Deploy"/>
          <p:cNvSpPr/>
          <p:nvPr/>
        </p:nvSpPr>
        <p:spPr>
          <a:xfrm>
            <a:off x="7101720" y="1554480"/>
            <a:ext cx="1482840" cy="1279800"/>
          </a:xfrm>
          <a:prstGeom prst="roundRect">
            <a:avLst>
              <a:gd name="adj" fmla="val 8000"/>
            </a:avLst>
          </a:prstGeom>
          <a:solidFill>
            <a:srgbClr val="F1F5F9"/>
          </a:solidFill>
          <a:ln w="12700">
            <a:solidFill>
              <a:srgbClr val="94A3B8"/>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0" name="CICD_Deploy_Text"/>
          <p:cNvSpPr/>
          <p:nvPr/>
        </p:nvSpPr>
        <p:spPr>
          <a:xfrm>
            <a:off x="7101720" y="1554480"/>
            <a:ext cx="14828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0F172A"/>
                </a:solidFill>
                <a:latin typeface="Trebuchet MS"/>
              </a:rPr>
              <a:t>Deploy</a:t>
            </a:r>
            <a:endParaRPr lang="en-US" sz="1500" b="0" strike="noStrike" spc="-1">
              <a:solidFill>
                <a:srgbClr val="000000"/>
              </a:solidFill>
              <a:latin typeface="Arial"/>
            </a:endParaRPr>
          </a:p>
          <a:p>
            <a:pPr algn="ctr" defTabSz="914400">
              <a:lnSpc>
                <a:spcPct val="100000"/>
              </a:lnSpc>
              <a:spcBef>
                <a:spcPts val="201"/>
              </a:spcBef>
              <a:tabLst>
                <a:tab pos="0" algn="l"/>
              </a:tabLst>
            </a:pPr>
            <a:r>
              <a:rPr lang="en-US" sz="1000" b="0" i="1" strike="noStrike" spc="-1">
                <a:solidFill>
                  <a:srgbClr val="64748B"/>
                </a:solidFill>
                <a:latin typeface="Calibri"/>
              </a:rPr>
              <a:t>release</a:t>
            </a:r>
            <a:endParaRPr lang="en-US" sz="1000" b="0" strike="noStrike" spc="-1">
              <a:solidFill>
                <a:srgbClr val="000000"/>
              </a:solidFill>
              <a:latin typeface="Arial"/>
            </a:endParaRPr>
          </a:p>
        </p:txBody>
      </p:sp>
      <p:sp>
        <p:nvSpPr>
          <p:cNvPr id="61" name="CICD_Arrow_3"/>
          <p:cNvSpPr/>
          <p:nvPr/>
        </p:nvSpPr>
        <p:spPr>
          <a:xfrm>
            <a:off x="8585280" y="1554480"/>
            <a:ext cx="127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94A3B8"/>
                </a:solidFill>
                <a:latin typeface="Calibri"/>
              </a:rPr>
              <a:t>▸</a:t>
            </a:r>
            <a:endParaRPr lang="en-US" sz="1400" b="0" strike="noStrike" spc="-1">
              <a:solidFill>
                <a:srgbClr val="000000"/>
              </a:solidFill>
              <a:latin typeface="Arial"/>
            </a:endParaRPr>
          </a:p>
        </p:txBody>
      </p:sp>
      <p:sp>
        <p:nvSpPr>
          <p:cNvPr id="62" name="CICD_Monitor"/>
          <p:cNvSpPr/>
          <p:nvPr/>
        </p:nvSpPr>
        <p:spPr>
          <a:xfrm>
            <a:off x="8676720" y="1554480"/>
            <a:ext cx="1482840" cy="1279800"/>
          </a:xfrm>
          <a:prstGeom prst="roundRect">
            <a:avLst>
              <a:gd name="adj" fmla="val 8000"/>
            </a:avLst>
          </a:prstGeom>
          <a:solidFill>
            <a:srgbClr val="F1F5F9"/>
          </a:solidFill>
          <a:ln w="12700">
            <a:solidFill>
              <a:srgbClr val="94A3B8"/>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3" name="CICD_Monitor_Text"/>
          <p:cNvSpPr/>
          <p:nvPr/>
        </p:nvSpPr>
        <p:spPr>
          <a:xfrm>
            <a:off x="8676720" y="1554480"/>
            <a:ext cx="14828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0F172A"/>
                </a:solidFill>
                <a:latin typeface="Trebuchet MS"/>
              </a:rPr>
              <a:t>Monitor</a:t>
            </a:r>
            <a:endParaRPr lang="en-US" sz="1500" b="0" strike="noStrike" spc="-1">
              <a:solidFill>
                <a:srgbClr val="000000"/>
              </a:solidFill>
              <a:latin typeface="Arial"/>
            </a:endParaRPr>
          </a:p>
          <a:p>
            <a:pPr algn="ctr" defTabSz="914400">
              <a:lnSpc>
                <a:spcPct val="100000"/>
              </a:lnSpc>
              <a:spcBef>
                <a:spcPts val="201"/>
              </a:spcBef>
              <a:tabLst>
                <a:tab pos="0" algn="l"/>
              </a:tabLst>
            </a:pPr>
            <a:r>
              <a:rPr lang="en-US" sz="1000" b="0" i="1" strike="noStrike" spc="-1">
                <a:solidFill>
                  <a:srgbClr val="64748B"/>
                </a:solidFill>
                <a:latin typeface="Calibri"/>
              </a:rPr>
              <a:t>runtime</a:t>
            </a:r>
            <a:endParaRPr lang="en-US" sz="1000" b="0" strike="noStrike" spc="-1">
              <a:solidFill>
                <a:srgbClr val="000000"/>
              </a:solidFill>
              <a:latin typeface="Arial"/>
            </a:endParaRPr>
          </a:p>
        </p:txBody>
      </p:sp>
      <p:sp>
        <p:nvSpPr>
          <p:cNvPr id="64" name="CICD_Arrow_4"/>
          <p:cNvSpPr/>
          <p:nvPr/>
        </p:nvSpPr>
        <p:spPr>
          <a:xfrm>
            <a:off x="10159920" y="1554480"/>
            <a:ext cx="127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94A3B8"/>
                </a:solidFill>
                <a:latin typeface="Calibri"/>
              </a:rPr>
              <a:t>▸</a:t>
            </a:r>
            <a:endParaRPr lang="en-US" sz="1400" b="0" strike="noStrike" spc="-1">
              <a:solidFill>
                <a:srgbClr val="000000"/>
              </a:solidFill>
              <a:latin typeface="Arial"/>
            </a:endParaRPr>
          </a:p>
        </p:txBody>
      </p:sp>
      <p:sp>
        <p:nvSpPr>
          <p:cNvPr id="65" name="CICD_Rollback"/>
          <p:cNvSpPr/>
          <p:nvPr/>
        </p:nvSpPr>
        <p:spPr>
          <a:xfrm>
            <a:off x="10251360" y="1554480"/>
            <a:ext cx="1482840" cy="1279800"/>
          </a:xfrm>
          <a:prstGeom prst="roundRect">
            <a:avLst>
              <a:gd name="adj" fmla="val 8000"/>
            </a:avLst>
          </a:prstGeom>
          <a:solidFill>
            <a:srgbClr val="F1F5F9"/>
          </a:solidFill>
          <a:ln w="12700">
            <a:solidFill>
              <a:srgbClr val="94A3B8"/>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66" name="CICD_Rollback_Text"/>
          <p:cNvSpPr/>
          <p:nvPr/>
        </p:nvSpPr>
        <p:spPr>
          <a:xfrm>
            <a:off x="10251360" y="1554480"/>
            <a:ext cx="14828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500" b="1" strike="noStrike" spc="-1">
                <a:solidFill>
                  <a:srgbClr val="0F172A"/>
                </a:solidFill>
                <a:latin typeface="Trebuchet MS"/>
              </a:rPr>
              <a:t>Rollback</a:t>
            </a:r>
            <a:endParaRPr lang="en-US" sz="1500" b="0" strike="noStrike" spc="-1">
              <a:solidFill>
                <a:srgbClr val="000000"/>
              </a:solidFill>
              <a:latin typeface="Arial"/>
            </a:endParaRPr>
          </a:p>
          <a:p>
            <a:pPr algn="ctr" defTabSz="914400">
              <a:lnSpc>
                <a:spcPct val="100000"/>
              </a:lnSpc>
              <a:spcBef>
                <a:spcPts val="201"/>
              </a:spcBef>
              <a:tabLst>
                <a:tab pos="0" algn="l"/>
              </a:tabLst>
            </a:pPr>
            <a:r>
              <a:rPr lang="en-US" sz="1000" b="0" i="1" strike="noStrike" spc="-1">
                <a:solidFill>
                  <a:srgbClr val="64748B"/>
                </a:solidFill>
                <a:latin typeface="Calibri"/>
              </a:rPr>
              <a:t>recover</a:t>
            </a:r>
            <a:endParaRPr lang="en-US" sz="1000" b="0" strike="noStrike" spc="-1">
              <a:solidFill>
                <a:srgbClr val="000000"/>
              </a:solidFill>
              <a:latin typeface="Arial"/>
            </a:endParaRPr>
          </a:p>
        </p:txBody>
      </p:sp>
      <p:cxnSp>
        <p:nvCxnSpPr>
          <p:cNvPr id="67" name="Link_0"/>
          <p:cNvCxnSpPr/>
          <p:nvPr/>
        </p:nvCxnSpPr>
        <p:spPr>
          <a:xfrm>
            <a:off x="3119040" y="2926080"/>
            <a:ext cx="360" cy="869040"/>
          </a:xfrm>
          <a:prstGeom prst="straightConnector1">
            <a:avLst/>
          </a:prstGeom>
          <a:ln w="19050">
            <a:solidFill>
              <a:srgbClr val="A100FF"/>
            </a:solidFill>
            <a:prstDash val="dash"/>
            <a:round/>
          </a:ln>
        </p:spPr>
      </p:cxnSp>
      <p:cxnSp>
        <p:nvCxnSpPr>
          <p:cNvPr id="68" name="Link_1"/>
          <p:cNvCxnSpPr/>
          <p:nvPr/>
        </p:nvCxnSpPr>
        <p:spPr>
          <a:xfrm>
            <a:off x="4693680" y="2926080"/>
            <a:ext cx="360" cy="869040"/>
          </a:xfrm>
          <a:prstGeom prst="straightConnector1">
            <a:avLst/>
          </a:prstGeom>
          <a:ln w="19050">
            <a:solidFill>
              <a:srgbClr val="A100FF"/>
            </a:solidFill>
            <a:prstDash val="dash"/>
            <a:round/>
          </a:ln>
        </p:spPr>
      </p:cxnSp>
      <p:cxnSp>
        <p:nvCxnSpPr>
          <p:cNvPr id="69" name="Link_2"/>
          <p:cNvCxnSpPr/>
          <p:nvPr/>
        </p:nvCxnSpPr>
        <p:spPr>
          <a:xfrm>
            <a:off x="6268680" y="2926080"/>
            <a:ext cx="360" cy="869040"/>
          </a:xfrm>
          <a:prstGeom prst="straightConnector1">
            <a:avLst/>
          </a:prstGeom>
          <a:ln w="19050">
            <a:solidFill>
              <a:srgbClr val="A100FF"/>
            </a:solidFill>
            <a:prstDash val="dash"/>
            <a:round/>
          </a:ln>
        </p:spPr>
      </p:cxnSp>
      <p:cxnSp>
        <p:nvCxnSpPr>
          <p:cNvPr id="70" name="Link_3"/>
          <p:cNvCxnSpPr/>
          <p:nvPr/>
        </p:nvCxnSpPr>
        <p:spPr>
          <a:xfrm>
            <a:off x="7843320" y="2926080"/>
            <a:ext cx="360" cy="869040"/>
          </a:xfrm>
          <a:prstGeom prst="straightConnector1">
            <a:avLst/>
          </a:prstGeom>
          <a:ln w="19050">
            <a:solidFill>
              <a:srgbClr val="A100FF"/>
            </a:solidFill>
            <a:prstDash val="dash"/>
            <a:round/>
          </a:ln>
        </p:spPr>
      </p:cxnSp>
      <p:cxnSp>
        <p:nvCxnSpPr>
          <p:cNvPr id="71" name="Link_4"/>
          <p:cNvCxnSpPr/>
          <p:nvPr/>
        </p:nvCxnSpPr>
        <p:spPr>
          <a:xfrm>
            <a:off x="9418320" y="2926080"/>
            <a:ext cx="360" cy="869040"/>
          </a:xfrm>
          <a:prstGeom prst="straightConnector1">
            <a:avLst/>
          </a:prstGeom>
          <a:ln w="19050">
            <a:solidFill>
              <a:srgbClr val="A100FF"/>
            </a:solidFill>
            <a:prstDash val="dash"/>
            <a:round/>
          </a:ln>
        </p:spPr>
      </p:cxnSp>
      <p:cxnSp>
        <p:nvCxnSpPr>
          <p:cNvPr id="72" name="Link_5"/>
          <p:cNvCxnSpPr/>
          <p:nvPr/>
        </p:nvCxnSpPr>
        <p:spPr>
          <a:xfrm>
            <a:off x="10992960" y="2926080"/>
            <a:ext cx="360" cy="869040"/>
          </a:xfrm>
          <a:prstGeom prst="straightConnector1">
            <a:avLst/>
          </a:prstGeom>
          <a:ln w="19050">
            <a:solidFill>
              <a:srgbClr val="A100FF"/>
            </a:solidFill>
            <a:prstDash val="dash"/>
            <a:round/>
          </a:ln>
        </p:spPr>
      </p:cxnSp>
      <p:sp>
        <p:nvSpPr>
          <p:cNvPr id="73" name="Eq_0"/>
          <p:cNvSpPr/>
          <p:nvPr/>
        </p:nvSpPr>
        <p:spPr>
          <a:xfrm>
            <a:off x="2981880" y="322344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A100FF"/>
                </a:solidFill>
                <a:latin typeface="Trebuchet MS"/>
              </a:rPr>
              <a:t>≡</a:t>
            </a:r>
            <a:endParaRPr lang="en-US" sz="1800" b="0" strike="noStrike" spc="-1">
              <a:solidFill>
                <a:srgbClr val="000000"/>
              </a:solidFill>
              <a:latin typeface="Arial"/>
            </a:endParaRPr>
          </a:p>
        </p:txBody>
      </p:sp>
      <p:sp>
        <p:nvSpPr>
          <p:cNvPr id="74" name="Eq_1"/>
          <p:cNvSpPr/>
          <p:nvPr/>
        </p:nvSpPr>
        <p:spPr>
          <a:xfrm>
            <a:off x="4556880" y="322344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A100FF"/>
                </a:solidFill>
                <a:latin typeface="Trebuchet MS"/>
              </a:rPr>
              <a:t>≡</a:t>
            </a:r>
            <a:endParaRPr lang="en-US" sz="1800" b="0" strike="noStrike" spc="-1">
              <a:solidFill>
                <a:srgbClr val="000000"/>
              </a:solidFill>
              <a:latin typeface="Arial"/>
            </a:endParaRPr>
          </a:p>
        </p:txBody>
      </p:sp>
      <p:sp>
        <p:nvSpPr>
          <p:cNvPr id="75" name="Eq_2"/>
          <p:cNvSpPr/>
          <p:nvPr/>
        </p:nvSpPr>
        <p:spPr>
          <a:xfrm>
            <a:off x="6131520" y="322344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A100FF"/>
                </a:solidFill>
                <a:latin typeface="Trebuchet MS"/>
              </a:rPr>
              <a:t>≡</a:t>
            </a:r>
            <a:endParaRPr lang="en-US" sz="1800" b="0" strike="noStrike" spc="-1">
              <a:solidFill>
                <a:srgbClr val="000000"/>
              </a:solidFill>
              <a:latin typeface="Arial"/>
            </a:endParaRPr>
          </a:p>
        </p:txBody>
      </p:sp>
      <p:sp>
        <p:nvSpPr>
          <p:cNvPr id="76" name="Eq_3"/>
          <p:cNvSpPr/>
          <p:nvPr/>
        </p:nvSpPr>
        <p:spPr>
          <a:xfrm>
            <a:off x="7706520" y="322344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A100FF"/>
                </a:solidFill>
                <a:latin typeface="Trebuchet MS"/>
              </a:rPr>
              <a:t>≡</a:t>
            </a:r>
            <a:endParaRPr lang="en-US" sz="1800" b="0" strike="noStrike" spc="-1">
              <a:solidFill>
                <a:srgbClr val="000000"/>
              </a:solidFill>
              <a:latin typeface="Arial"/>
            </a:endParaRPr>
          </a:p>
        </p:txBody>
      </p:sp>
      <p:sp>
        <p:nvSpPr>
          <p:cNvPr id="77" name="Eq_4"/>
          <p:cNvSpPr/>
          <p:nvPr/>
        </p:nvSpPr>
        <p:spPr>
          <a:xfrm>
            <a:off x="9281160" y="322344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A100FF"/>
                </a:solidFill>
                <a:latin typeface="Trebuchet MS"/>
              </a:rPr>
              <a:t>≡</a:t>
            </a:r>
            <a:endParaRPr lang="en-US" sz="1800" b="0" strike="noStrike" spc="-1">
              <a:solidFill>
                <a:srgbClr val="000000"/>
              </a:solidFill>
              <a:latin typeface="Arial"/>
            </a:endParaRPr>
          </a:p>
        </p:txBody>
      </p:sp>
      <p:sp>
        <p:nvSpPr>
          <p:cNvPr id="78" name="Eq_5"/>
          <p:cNvSpPr/>
          <p:nvPr/>
        </p:nvSpPr>
        <p:spPr>
          <a:xfrm>
            <a:off x="10855800" y="3223440"/>
            <a:ext cx="2739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800" b="1" strike="noStrike" spc="-1">
                <a:solidFill>
                  <a:srgbClr val="A100FF"/>
                </a:solidFill>
                <a:latin typeface="Trebuchet MS"/>
              </a:rPr>
              <a:t>≡</a:t>
            </a:r>
            <a:endParaRPr lang="en-US" sz="1800" b="0" strike="noStrike" spc="-1">
              <a:solidFill>
                <a:srgbClr val="000000"/>
              </a:solidFill>
              <a:latin typeface="Arial"/>
            </a:endParaRPr>
          </a:p>
        </p:txBody>
      </p:sp>
      <p:sp>
        <p:nvSpPr>
          <p:cNvPr id="79" name="MLOps_FeatureStore"/>
          <p:cNvSpPr/>
          <p:nvPr/>
        </p:nvSpPr>
        <p:spPr>
          <a:xfrm>
            <a:off x="2377440" y="3886200"/>
            <a:ext cx="1482840" cy="1279800"/>
          </a:xfrm>
          <a:prstGeom prst="roundRect">
            <a:avLst>
              <a:gd name="adj" fmla="val 8000"/>
            </a:avLst>
          </a:prstGeom>
          <a:solidFill>
            <a:srgbClr val="F3E8FF"/>
          </a:solidFill>
          <a:ln w="15875">
            <a:solidFill>
              <a:srgbClr val="A100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0" name="MLOps_FeatureStore_Text"/>
          <p:cNvSpPr/>
          <p:nvPr/>
        </p:nvSpPr>
        <p:spPr>
          <a:xfrm>
            <a:off x="2377440" y="3886200"/>
            <a:ext cx="14828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0F172A"/>
                </a:solidFill>
                <a:latin typeface="Trebuchet MS"/>
              </a:rPr>
              <a:t>Feature Store</a:t>
            </a:r>
            <a:endParaRPr lang="en-US" sz="1400" b="0" strike="noStrike" spc="-1">
              <a:solidFill>
                <a:srgbClr val="000000"/>
              </a:solidFill>
              <a:latin typeface="Arial"/>
            </a:endParaRPr>
          </a:p>
          <a:p>
            <a:pPr algn="ctr" defTabSz="914400">
              <a:lnSpc>
                <a:spcPct val="100000"/>
              </a:lnSpc>
              <a:spcBef>
                <a:spcPts val="201"/>
              </a:spcBef>
              <a:tabLst>
                <a:tab pos="0" algn="l"/>
              </a:tabLst>
            </a:pPr>
            <a:r>
              <a:rPr lang="en-US" sz="1000" b="0" i="1" strike="noStrike" spc="-1">
                <a:solidFill>
                  <a:srgbClr val="475569"/>
                </a:solidFill>
                <a:latin typeface="Calibri"/>
              </a:rPr>
              <a:t>inputs</a:t>
            </a:r>
            <a:endParaRPr lang="en-US" sz="1000" b="0" strike="noStrike" spc="-1">
              <a:solidFill>
                <a:srgbClr val="000000"/>
              </a:solidFill>
              <a:latin typeface="Arial"/>
            </a:endParaRPr>
          </a:p>
        </p:txBody>
      </p:sp>
      <p:sp>
        <p:nvSpPr>
          <p:cNvPr id="81" name="MLOps_Arrow_0"/>
          <p:cNvSpPr/>
          <p:nvPr/>
        </p:nvSpPr>
        <p:spPr>
          <a:xfrm>
            <a:off x="3860640" y="3886200"/>
            <a:ext cx="127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A100FF"/>
                </a:solidFill>
                <a:latin typeface="Calibri"/>
              </a:rPr>
              <a:t>▸</a:t>
            </a:r>
            <a:endParaRPr lang="en-US" sz="1400" b="0" strike="noStrike" spc="-1">
              <a:solidFill>
                <a:srgbClr val="000000"/>
              </a:solidFill>
              <a:latin typeface="Arial"/>
            </a:endParaRPr>
          </a:p>
        </p:txBody>
      </p:sp>
      <p:sp>
        <p:nvSpPr>
          <p:cNvPr id="82" name="MLOps_ModelRegistry"/>
          <p:cNvSpPr/>
          <p:nvPr/>
        </p:nvSpPr>
        <p:spPr>
          <a:xfrm>
            <a:off x="3952080" y="3886200"/>
            <a:ext cx="1482840" cy="1279800"/>
          </a:xfrm>
          <a:prstGeom prst="roundRect">
            <a:avLst>
              <a:gd name="adj" fmla="val 8000"/>
            </a:avLst>
          </a:prstGeom>
          <a:solidFill>
            <a:srgbClr val="F3E8FF"/>
          </a:solidFill>
          <a:ln w="15875">
            <a:solidFill>
              <a:srgbClr val="A100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3" name="MLOps_ModelRegistry_Text"/>
          <p:cNvSpPr/>
          <p:nvPr/>
        </p:nvSpPr>
        <p:spPr>
          <a:xfrm>
            <a:off x="3952080" y="3886200"/>
            <a:ext cx="14828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0F172A"/>
                </a:solidFill>
                <a:latin typeface="Trebuchet MS"/>
              </a:rPr>
              <a:t>Model Registry</a:t>
            </a:r>
            <a:endParaRPr lang="en-US" sz="1400" b="0" strike="noStrike" spc="-1">
              <a:solidFill>
                <a:srgbClr val="000000"/>
              </a:solidFill>
              <a:latin typeface="Arial"/>
            </a:endParaRPr>
          </a:p>
          <a:p>
            <a:pPr algn="ctr" defTabSz="914400">
              <a:lnSpc>
                <a:spcPct val="100000"/>
              </a:lnSpc>
              <a:spcBef>
                <a:spcPts val="201"/>
              </a:spcBef>
              <a:tabLst>
                <a:tab pos="0" algn="l"/>
              </a:tabLst>
            </a:pPr>
            <a:r>
              <a:rPr lang="en-US" sz="1000" b="0" i="1" strike="noStrike" spc="-1">
                <a:solidFill>
                  <a:srgbClr val="475569"/>
                </a:solidFill>
                <a:latin typeface="Calibri"/>
              </a:rPr>
              <a:t>artifacts</a:t>
            </a:r>
            <a:endParaRPr lang="en-US" sz="1000" b="0" strike="noStrike" spc="-1">
              <a:solidFill>
                <a:srgbClr val="000000"/>
              </a:solidFill>
              <a:latin typeface="Arial"/>
            </a:endParaRPr>
          </a:p>
        </p:txBody>
      </p:sp>
      <p:sp>
        <p:nvSpPr>
          <p:cNvPr id="84" name="MLOps_Arrow_1"/>
          <p:cNvSpPr/>
          <p:nvPr/>
        </p:nvSpPr>
        <p:spPr>
          <a:xfrm>
            <a:off x="5435640" y="3886200"/>
            <a:ext cx="127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A100FF"/>
                </a:solidFill>
                <a:latin typeface="Calibri"/>
              </a:rPr>
              <a:t>▸</a:t>
            </a:r>
            <a:endParaRPr lang="en-US" sz="1400" b="0" strike="noStrike" spc="-1">
              <a:solidFill>
                <a:srgbClr val="000000"/>
              </a:solidFill>
              <a:latin typeface="Arial"/>
            </a:endParaRPr>
          </a:p>
        </p:txBody>
      </p:sp>
      <p:sp>
        <p:nvSpPr>
          <p:cNvPr id="85" name="MLOps_ValidationGates"/>
          <p:cNvSpPr/>
          <p:nvPr/>
        </p:nvSpPr>
        <p:spPr>
          <a:xfrm>
            <a:off x="5527080" y="3886200"/>
            <a:ext cx="1482840" cy="1279800"/>
          </a:xfrm>
          <a:prstGeom prst="roundRect">
            <a:avLst>
              <a:gd name="adj" fmla="val 8000"/>
            </a:avLst>
          </a:prstGeom>
          <a:solidFill>
            <a:srgbClr val="F3E8FF"/>
          </a:solidFill>
          <a:ln w="15875">
            <a:solidFill>
              <a:srgbClr val="A100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6" name="MLOps_ValidationGates_Text"/>
          <p:cNvSpPr/>
          <p:nvPr/>
        </p:nvSpPr>
        <p:spPr>
          <a:xfrm>
            <a:off x="5527080" y="3886200"/>
            <a:ext cx="14828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0F172A"/>
                </a:solidFill>
                <a:latin typeface="Trebuchet MS"/>
              </a:rPr>
              <a:t>Validation Gates</a:t>
            </a:r>
            <a:endParaRPr lang="en-US" sz="1400" b="0" strike="noStrike" spc="-1">
              <a:solidFill>
                <a:srgbClr val="000000"/>
              </a:solidFill>
              <a:latin typeface="Arial"/>
            </a:endParaRPr>
          </a:p>
          <a:p>
            <a:pPr algn="ctr" defTabSz="914400">
              <a:lnSpc>
                <a:spcPct val="100000"/>
              </a:lnSpc>
              <a:spcBef>
                <a:spcPts val="201"/>
              </a:spcBef>
              <a:tabLst>
                <a:tab pos="0" algn="l"/>
              </a:tabLst>
            </a:pPr>
            <a:r>
              <a:rPr lang="en-US" sz="1000" b="0" i="1" strike="noStrike" spc="-1">
                <a:solidFill>
                  <a:srgbClr val="475569"/>
                </a:solidFill>
                <a:latin typeface="Calibri"/>
              </a:rPr>
              <a:t>admission</a:t>
            </a:r>
            <a:endParaRPr lang="en-US" sz="1000" b="0" strike="noStrike" spc="-1">
              <a:solidFill>
                <a:srgbClr val="000000"/>
              </a:solidFill>
              <a:latin typeface="Arial"/>
            </a:endParaRPr>
          </a:p>
        </p:txBody>
      </p:sp>
      <p:sp>
        <p:nvSpPr>
          <p:cNvPr id="87" name="MLOps_Arrow_2"/>
          <p:cNvSpPr/>
          <p:nvPr/>
        </p:nvSpPr>
        <p:spPr>
          <a:xfrm>
            <a:off x="7010280" y="3886200"/>
            <a:ext cx="127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A100FF"/>
                </a:solidFill>
                <a:latin typeface="Calibri"/>
              </a:rPr>
              <a:t>▸</a:t>
            </a:r>
            <a:endParaRPr lang="en-US" sz="1400" b="0" strike="noStrike" spc="-1">
              <a:solidFill>
                <a:srgbClr val="000000"/>
              </a:solidFill>
              <a:latin typeface="Arial"/>
            </a:endParaRPr>
          </a:p>
        </p:txBody>
      </p:sp>
      <p:sp>
        <p:nvSpPr>
          <p:cNvPr id="88" name="MLOps_Canary"/>
          <p:cNvSpPr/>
          <p:nvPr/>
        </p:nvSpPr>
        <p:spPr>
          <a:xfrm>
            <a:off x="7101720" y="3886200"/>
            <a:ext cx="1482840" cy="1279800"/>
          </a:xfrm>
          <a:prstGeom prst="roundRect">
            <a:avLst>
              <a:gd name="adj" fmla="val 8000"/>
            </a:avLst>
          </a:prstGeom>
          <a:solidFill>
            <a:srgbClr val="F3E8FF"/>
          </a:solidFill>
          <a:ln w="15875">
            <a:solidFill>
              <a:srgbClr val="A100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89" name="MLOps_Canary_Text"/>
          <p:cNvSpPr/>
          <p:nvPr/>
        </p:nvSpPr>
        <p:spPr>
          <a:xfrm>
            <a:off x="7101720" y="3886200"/>
            <a:ext cx="14828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0F172A"/>
                </a:solidFill>
                <a:latin typeface="Trebuchet MS"/>
              </a:rPr>
              <a:t>Canary</a:t>
            </a:r>
            <a:endParaRPr lang="en-US" sz="1400" b="0" strike="noStrike" spc="-1">
              <a:solidFill>
                <a:srgbClr val="000000"/>
              </a:solidFill>
              <a:latin typeface="Arial"/>
            </a:endParaRPr>
          </a:p>
          <a:p>
            <a:pPr algn="ctr" defTabSz="914400">
              <a:lnSpc>
                <a:spcPct val="100000"/>
              </a:lnSpc>
              <a:spcBef>
                <a:spcPts val="201"/>
              </a:spcBef>
              <a:tabLst>
                <a:tab pos="0" algn="l"/>
              </a:tabLst>
            </a:pPr>
            <a:r>
              <a:rPr lang="en-US" sz="1000" b="0" i="1" strike="noStrike" spc="-1">
                <a:solidFill>
                  <a:srgbClr val="475569"/>
                </a:solidFill>
                <a:latin typeface="Calibri"/>
              </a:rPr>
              <a:t>blast radius</a:t>
            </a:r>
            <a:endParaRPr lang="en-US" sz="1000" b="0" strike="noStrike" spc="-1">
              <a:solidFill>
                <a:srgbClr val="000000"/>
              </a:solidFill>
              <a:latin typeface="Arial"/>
            </a:endParaRPr>
          </a:p>
        </p:txBody>
      </p:sp>
      <p:sp>
        <p:nvSpPr>
          <p:cNvPr id="90" name="MLOps_Arrow_3"/>
          <p:cNvSpPr/>
          <p:nvPr/>
        </p:nvSpPr>
        <p:spPr>
          <a:xfrm>
            <a:off x="8585280" y="3886200"/>
            <a:ext cx="127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A100FF"/>
                </a:solidFill>
                <a:latin typeface="Calibri"/>
              </a:rPr>
              <a:t>▸</a:t>
            </a:r>
            <a:endParaRPr lang="en-US" sz="1400" b="0" strike="noStrike" spc="-1">
              <a:solidFill>
                <a:srgbClr val="000000"/>
              </a:solidFill>
              <a:latin typeface="Arial"/>
            </a:endParaRPr>
          </a:p>
        </p:txBody>
      </p:sp>
      <p:sp>
        <p:nvSpPr>
          <p:cNvPr id="91" name="MLOps_DriftDetection"/>
          <p:cNvSpPr/>
          <p:nvPr/>
        </p:nvSpPr>
        <p:spPr>
          <a:xfrm>
            <a:off x="8676720" y="3886200"/>
            <a:ext cx="1482840" cy="1279800"/>
          </a:xfrm>
          <a:prstGeom prst="roundRect">
            <a:avLst>
              <a:gd name="adj" fmla="val 8000"/>
            </a:avLst>
          </a:prstGeom>
          <a:solidFill>
            <a:srgbClr val="F3E8FF"/>
          </a:solidFill>
          <a:ln w="15875">
            <a:solidFill>
              <a:srgbClr val="A100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2" name="MLOps_DriftDetection_Text"/>
          <p:cNvSpPr/>
          <p:nvPr/>
        </p:nvSpPr>
        <p:spPr>
          <a:xfrm>
            <a:off x="8676720" y="3886200"/>
            <a:ext cx="14828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0F172A"/>
                </a:solidFill>
                <a:latin typeface="Trebuchet MS"/>
              </a:rPr>
              <a:t>Drift Detection</a:t>
            </a:r>
            <a:endParaRPr lang="en-US" sz="1400" b="0" strike="noStrike" spc="-1">
              <a:solidFill>
                <a:srgbClr val="000000"/>
              </a:solidFill>
              <a:latin typeface="Arial"/>
            </a:endParaRPr>
          </a:p>
          <a:p>
            <a:pPr algn="ctr" defTabSz="914400">
              <a:lnSpc>
                <a:spcPct val="100000"/>
              </a:lnSpc>
              <a:spcBef>
                <a:spcPts val="201"/>
              </a:spcBef>
              <a:tabLst>
                <a:tab pos="0" algn="l"/>
              </a:tabLst>
            </a:pPr>
            <a:r>
              <a:rPr lang="en-US" sz="1000" b="0" i="1" strike="noStrike" spc="-1">
                <a:solidFill>
                  <a:srgbClr val="475569"/>
                </a:solidFill>
                <a:latin typeface="Calibri"/>
              </a:rPr>
              <a:t>behavior</a:t>
            </a:r>
            <a:endParaRPr lang="en-US" sz="1000" b="0" strike="noStrike" spc="-1">
              <a:solidFill>
                <a:srgbClr val="000000"/>
              </a:solidFill>
              <a:latin typeface="Arial"/>
            </a:endParaRPr>
          </a:p>
        </p:txBody>
      </p:sp>
      <p:sp>
        <p:nvSpPr>
          <p:cNvPr id="93" name="MLOps_Arrow_4"/>
          <p:cNvSpPr/>
          <p:nvPr/>
        </p:nvSpPr>
        <p:spPr>
          <a:xfrm>
            <a:off x="10159920" y="3886200"/>
            <a:ext cx="12780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A100FF"/>
                </a:solidFill>
                <a:latin typeface="Calibri"/>
              </a:rPr>
              <a:t>▸</a:t>
            </a:r>
            <a:endParaRPr lang="en-US" sz="1400" b="0" strike="noStrike" spc="-1">
              <a:solidFill>
                <a:srgbClr val="000000"/>
              </a:solidFill>
              <a:latin typeface="Arial"/>
            </a:endParaRPr>
          </a:p>
        </p:txBody>
      </p:sp>
      <p:sp>
        <p:nvSpPr>
          <p:cNvPr id="94" name="MLOps_OutputValidation"/>
          <p:cNvSpPr/>
          <p:nvPr/>
        </p:nvSpPr>
        <p:spPr>
          <a:xfrm>
            <a:off x="10251360" y="3886200"/>
            <a:ext cx="1482840" cy="1279800"/>
          </a:xfrm>
          <a:prstGeom prst="roundRect">
            <a:avLst>
              <a:gd name="adj" fmla="val 8000"/>
            </a:avLst>
          </a:prstGeom>
          <a:solidFill>
            <a:srgbClr val="F3E8FF"/>
          </a:solidFill>
          <a:ln w="15875">
            <a:solidFill>
              <a:srgbClr val="A100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95" name="MLOps_OutputValidation_Text"/>
          <p:cNvSpPr/>
          <p:nvPr/>
        </p:nvSpPr>
        <p:spPr>
          <a:xfrm>
            <a:off x="10251360" y="3886200"/>
            <a:ext cx="1482840" cy="12798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0F172A"/>
                </a:solidFill>
                <a:latin typeface="Trebuchet MS"/>
              </a:rPr>
              <a:t>Output Validation</a:t>
            </a:r>
            <a:endParaRPr lang="en-US" sz="1400" b="0" strike="noStrike" spc="-1">
              <a:solidFill>
                <a:srgbClr val="000000"/>
              </a:solidFill>
              <a:latin typeface="Arial"/>
            </a:endParaRPr>
          </a:p>
          <a:p>
            <a:pPr algn="ctr" defTabSz="914400">
              <a:lnSpc>
                <a:spcPct val="100000"/>
              </a:lnSpc>
              <a:spcBef>
                <a:spcPts val="201"/>
              </a:spcBef>
              <a:tabLst>
                <a:tab pos="0" algn="l"/>
              </a:tabLst>
            </a:pPr>
            <a:r>
              <a:rPr lang="en-US" sz="1000" b="0" i="1" strike="noStrike" spc="-1">
                <a:solidFill>
                  <a:srgbClr val="475569"/>
                </a:solidFill>
                <a:latin typeface="Calibri"/>
              </a:rPr>
              <a:t>content</a:t>
            </a:r>
            <a:endParaRPr lang="en-US" sz="1000" b="0" strike="noStrike" spc="-1">
              <a:solidFill>
                <a:srgbClr val="000000"/>
              </a:solidFill>
              <a:latin typeface="Arial"/>
            </a:endParaRPr>
          </a:p>
        </p:txBody>
      </p:sp>
      <p:sp>
        <p:nvSpPr>
          <p:cNvPr id="96" name="Takeaway"/>
          <p:cNvSpPr/>
          <p:nvPr/>
        </p:nvSpPr>
        <p:spPr>
          <a:xfrm>
            <a:off x="731520" y="5394960"/>
            <a:ext cx="107287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2000" b="1" strike="noStrike" spc="-1">
                <a:solidFill>
                  <a:srgbClr val="0F172A"/>
                </a:solidFill>
                <a:latin typeface="Trebuchet MS"/>
              </a:rPr>
              <a:t>Six stages on top. Six stages on the bottom. The discipline is identical.</a:t>
            </a:r>
            <a:endParaRPr lang="en-US" sz="2000" b="0" strike="noStrike" spc="-1">
              <a:solidFill>
                <a:srgbClr val="000000"/>
              </a:solidFill>
              <a:latin typeface="Arial"/>
            </a:endParaRPr>
          </a:p>
          <a:p>
            <a:pPr algn="ctr" defTabSz="914400">
              <a:lnSpc>
                <a:spcPct val="100000"/>
              </a:lnSpc>
              <a:spcBef>
                <a:spcPts val="300"/>
              </a:spcBef>
              <a:tabLst>
                <a:tab pos="0" algn="l"/>
              </a:tabLst>
            </a:pPr>
            <a:r>
              <a:rPr lang="en-US" sz="1400" b="0" i="1" strike="noStrike" spc="-1">
                <a:solidFill>
                  <a:srgbClr val="64748B"/>
                </a:solidFill>
                <a:latin typeface="Calibri"/>
              </a:rPr>
              <a:t>When CI/CD is your safety story for code, MLOps is your safety story for agents.</a:t>
            </a:r>
            <a:endParaRPr lang="en-US" sz="1400" b="0" strike="noStrike" spc="-1">
              <a:solidFill>
                <a:srgbClr val="000000"/>
              </a:solidFill>
              <a:latin typeface="Arial"/>
            </a:endParaRPr>
          </a:p>
        </p:txBody>
      </p:sp>
      <p:sp>
        <p:nvSpPr>
          <p:cNvPr id="97" name="PageNum"/>
          <p:cNvSpPr/>
          <p:nvPr/>
        </p:nvSpPr>
        <p:spPr>
          <a:xfrm>
            <a:off x="11430000" y="658368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Calibri"/>
              </a:rPr>
              <a:t>4 / 16</a:t>
            </a:r>
            <a:endParaRPr lang="en-US" sz="900" b="0" strike="noStrike" spc="-1">
              <a:solidFill>
                <a:srgbClr val="000000"/>
              </a:solidFill>
              <a:latin typeface="Arial"/>
            </a:endParaRPr>
          </a:p>
        </p:txBody>
      </p:sp>
      <p:sp>
        <p:nvSpPr>
          <p:cNvPr id="98" name="Footer"/>
          <p:cNvSpPr/>
          <p:nvPr/>
        </p:nvSpPr>
        <p:spPr>
          <a:xfrm>
            <a:off x="228600" y="6583680"/>
            <a:ext cx="32000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Calibri"/>
              </a:rPr>
              <a:t>LLMday Austin · May 12, 2026</a:t>
            </a:r>
            <a:endParaRPr lang="en-US" sz="900" b="0" strike="noStrike" spc="-1">
              <a:solidFill>
                <a:srgbClr val="000000"/>
              </a:solidFill>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99" name="Title"/>
          <p:cNvSpPr/>
          <p:nvPr/>
        </p:nvSpPr>
        <p:spPr>
          <a:xfrm>
            <a:off x="731520" y="274320"/>
            <a:ext cx="1072872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400" b="1" strike="noStrike" spc="-1">
                <a:solidFill>
                  <a:srgbClr val="0F172A"/>
                </a:solidFill>
                <a:latin typeface="Trebuchet MS"/>
              </a:rPr>
              <a:t>Same controls. New actor.</a:t>
            </a:r>
            <a:endParaRPr lang="en-US" sz="4400" b="0" strike="noStrike" spc="-1">
              <a:solidFill>
                <a:srgbClr val="000000"/>
              </a:solidFill>
              <a:latin typeface="Arial"/>
            </a:endParaRPr>
          </a:p>
        </p:txBody>
      </p:sp>
      <p:sp>
        <p:nvSpPr>
          <p:cNvPr id="100" name="Subtitle"/>
          <p:cNvSpPr/>
          <p:nvPr/>
        </p:nvSpPr>
        <p:spPr>
          <a:xfrm>
            <a:off x="731520" y="1005840"/>
            <a:ext cx="10728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i="1" strike="noStrike" spc="-1">
                <a:solidFill>
                  <a:srgbClr val="64748B"/>
                </a:solidFill>
                <a:latin typeface="Calibri"/>
              </a:rPr>
              <a:t>The mechanism is identical. Only the actor changed.</a:t>
            </a:r>
            <a:endParaRPr lang="en-US" sz="1800" b="0" strike="noStrike" spc="-1">
              <a:solidFill>
                <a:srgbClr val="000000"/>
              </a:solidFill>
              <a:latin typeface="Arial"/>
            </a:endParaRPr>
          </a:p>
        </p:txBody>
      </p:sp>
      <p:sp>
        <p:nvSpPr>
          <p:cNvPr id="101" name="Header_Col1"/>
          <p:cNvSpPr/>
          <p:nvPr/>
        </p:nvSpPr>
        <p:spPr>
          <a:xfrm>
            <a:off x="731520" y="1645920"/>
            <a:ext cx="3657240" cy="456840"/>
          </a:xfrm>
          <a:prstGeom prst="rect">
            <a:avLst/>
          </a:prstGeom>
          <a:solidFill>
            <a:srgbClr val="0F17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2" name="Header_Col2"/>
          <p:cNvSpPr/>
          <p:nvPr/>
        </p:nvSpPr>
        <p:spPr>
          <a:xfrm>
            <a:off x="4389120" y="1645920"/>
            <a:ext cx="3200040" cy="456840"/>
          </a:xfrm>
          <a:prstGeom prst="rect">
            <a:avLst/>
          </a:prstGeom>
          <a:solidFill>
            <a:srgbClr val="0F17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3" name="Header_Col3"/>
          <p:cNvSpPr/>
          <p:nvPr/>
        </p:nvSpPr>
        <p:spPr>
          <a:xfrm>
            <a:off x="7589520" y="1645920"/>
            <a:ext cx="3870720" cy="456840"/>
          </a:xfrm>
          <a:prstGeom prst="rect">
            <a:avLst/>
          </a:prstGeom>
          <a:solidFill>
            <a:srgbClr val="0F172A"/>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4" name="HeaderText_Col1"/>
          <p:cNvSpPr/>
          <p:nvPr/>
        </p:nvSpPr>
        <p:spPr>
          <a:xfrm>
            <a:off x="914400" y="1645920"/>
            <a:ext cx="3657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FFFFFF"/>
                </a:solidFill>
                <a:latin typeface="Trebuchet MS"/>
              </a:rPr>
              <a:t>MLOPS STAGE</a:t>
            </a:r>
            <a:endParaRPr lang="en-US" sz="1300" b="0" strike="noStrike" spc="-1">
              <a:solidFill>
                <a:srgbClr val="000000"/>
              </a:solidFill>
              <a:latin typeface="Arial"/>
            </a:endParaRPr>
          </a:p>
        </p:txBody>
      </p:sp>
      <p:sp>
        <p:nvSpPr>
          <p:cNvPr id="105" name="HeaderText_Col2"/>
          <p:cNvSpPr/>
          <p:nvPr/>
        </p:nvSpPr>
        <p:spPr>
          <a:xfrm>
            <a:off x="4572000" y="1645920"/>
            <a:ext cx="32000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FFFFFF"/>
                </a:solidFill>
                <a:latin typeface="Trebuchet MS"/>
              </a:rPr>
              <a:t>AGENTIC COVENANT</a:t>
            </a:r>
            <a:endParaRPr lang="en-US" sz="1300" b="0" strike="noStrike" spc="-1">
              <a:solidFill>
                <a:srgbClr val="000000"/>
              </a:solidFill>
              <a:latin typeface="Arial"/>
            </a:endParaRPr>
          </a:p>
        </p:txBody>
      </p:sp>
      <p:sp>
        <p:nvSpPr>
          <p:cNvPr id="106" name="HeaderText_Col3"/>
          <p:cNvSpPr/>
          <p:nvPr/>
        </p:nvSpPr>
        <p:spPr>
          <a:xfrm>
            <a:off x="7772400" y="1645920"/>
            <a:ext cx="387072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1" strike="noStrike" spc="-1">
                <a:solidFill>
                  <a:srgbClr val="FFFFFF"/>
                </a:solidFill>
                <a:latin typeface="Trebuchet MS"/>
              </a:rPr>
              <a:t>DEMO</a:t>
            </a:r>
            <a:endParaRPr lang="en-US" sz="1300" b="0" strike="noStrike" spc="-1">
              <a:solidFill>
                <a:srgbClr val="000000"/>
              </a:solidFill>
              <a:latin typeface="Arial"/>
            </a:endParaRPr>
          </a:p>
        </p:txBody>
      </p:sp>
      <p:sp>
        <p:nvSpPr>
          <p:cNvPr id="107" name="Row0_C1"/>
          <p:cNvSpPr/>
          <p:nvPr/>
        </p:nvSpPr>
        <p:spPr>
          <a:xfrm>
            <a:off x="731520" y="2139840"/>
            <a:ext cx="3657240" cy="548280"/>
          </a:xfrm>
          <a:prstGeom prst="rect">
            <a:avLst/>
          </a:prstGeom>
          <a:solidFill>
            <a:srgbClr val="F1F5F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8" name="Row0_C2"/>
          <p:cNvSpPr/>
          <p:nvPr/>
        </p:nvSpPr>
        <p:spPr>
          <a:xfrm>
            <a:off x="4389120" y="2139840"/>
            <a:ext cx="3200040" cy="548280"/>
          </a:xfrm>
          <a:prstGeom prst="rect">
            <a:avLst/>
          </a:prstGeom>
          <a:solidFill>
            <a:srgbClr val="F1F5F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09" name="Row0_C3"/>
          <p:cNvSpPr/>
          <p:nvPr/>
        </p:nvSpPr>
        <p:spPr>
          <a:xfrm>
            <a:off x="7589520" y="2139840"/>
            <a:ext cx="3870720" cy="548280"/>
          </a:xfrm>
          <a:prstGeom prst="rect">
            <a:avLst/>
          </a:prstGeom>
          <a:solidFill>
            <a:srgbClr val="F1F5F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0" name="Row0_MLOpsText"/>
          <p:cNvSpPr/>
          <p:nvPr/>
        </p:nvSpPr>
        <p:spPr>
          <a:xfrm>
            <a:off x="914400" y="2139840"/>
            <a:ext cx="33829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F172A"/>
                </a:solidFill>
                <a:latin typeface="Trebuchet MS"/>
              </a:rPr>
              <a:t>Validation gates (pre-deployment)</a:t>
            </a:r>
            <a:endParaRPr lang="en-US" sz="1400" b="0" strike="noStrike" spc="-1">
              <a:solidFill>
                <a:srgbClr val="000000"/>
              </a:solidFill>
              <a:latin typeface="Arial"/>
            </a:endParaRPr>
          </a:p>
        </p:txBody>
      </p:sp>
      <p:sp>
        <p:nvSpPr>
          <p:cNvPr id="111" name="Row0_CovenantText"/>
          <p:cNvSpPr/>
          <p:nvPr/>
        </p:nvSpPr>
        <p:spPr>
          <a:xfrm>
            <a:off x="4572000" y="2139840"/>
            <a:ext cx="29257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475569"/>
                </a:solidFill>
                <a:latin typeface="Calibri"/>
              </a:rPr>
              <a:t>Admission, before the agent acts</a:t>
            </a:r>
            <a:endParaRPr lang="en-US" sz="1300" b="0" strike="noStrike" spc="-1">
              <a:solidFill>
                <a:srgbClr val="000000"/>
              </a:solidFill>
              <a:latin typeface="Arial"/>
            </a:endParaRPr>
          </a:p>
        </p:txBody>
      </p:sp>
      <p:sp>
        <p:nvSpPr>
          <p:cNvPr id="112" name="Row0_Pill"/>
          <p:cNvSpPr/>
          <p:nvPr/>
        </p:nvSpPr>
        <p:spPr>
          <a:xfrm>
            <a:off x="7772400" y="2231280"/>
            <a:ext cx="3504960" cy="365400"/>
          </a:xfrm>
          <a:prstGeom prst="roundRect">
            <a:avLst>
              <a:gd name="adj" fmla="val 8000"/>
            </a:avLst>
          </a:prstGeom>
          <a:solidFill>
            <a:srgbClr val="10B98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3" name="Row0_PillText"/>
          <p:cNvSpPr/>
          <p:nvPr/>
        </p:nvSpPr>
        <p:spPr>
          <a:xfrm>
            <a:off x="7772400" y="2231280"/>
            <a:ext cx="3504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Trebuchet MS"/>
              </a:rPr>
              <a:t>Demo 1  ·  PreToolUse</a:t>
            </a:r>
            <a:endParaRPr lang="en-US" sz="1300" b="0" strike="noStrike" spc="-1">
              <a:solidFill>
                <a:srgbClr val="000000"/>
              </a:solidFill>
              <a:latin typeface="Arial"/>
            </a:endParaRPr>
          </a:p>
        </p:txBody>
      </p:sp>
      <p:sp>
        <p:nvSpPr>
          <p:cNvPr id="114" name="Row1_C1"/>
          <p:cNvSpPr/>
          <p:nvPr/>
        </p:nvSpPr>
        <p:spPr>
          <a:xfrm>
            <a:off x="731520" y="2724840"/>
            <a:ext cx="3657240" cy="5482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5" name="Row1_C2"/>
          <p:cNvSpPr/>
          <p:nvPr/>
        </p:nvSpPr>
        <p:spPr>
          <a:xfrm>
            <a:off x="4389120" y="2724840"/>
            <a:ext cx="3200040" cy="5482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6" name="Row1_C3"/>
          <p:cNvSpPr/>
          <p:nvPr/>
        </p:nvSpPr>
        <p:spPr>
          <a:xfrm>
            <a:off x="7589520" y="2724840"/>
            <a:ext cx="3870720" cy="5482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17" name="Row1_MLOpsText"/>
          <p:cNvSpPr/>
          <p:nvPr/>
        </p:nvSpPr>
        <p:spPr>
          <a:xfrm>
            <a:off x="914400" y="2724840"/>
            <a:ext cx="33829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F172A"/>
                </a:solidFill>
                <a:latin typeface="Trebuchet MS"/>
              </a:rPr>
              <a:t>Model registry / signed artifacts</a:t>
            </a:r>
            <a:endParaRPr lang="en-US" sz="1400" b="0" strike="noStrike" spc="-1">
              <a:solidFill>
                <a:srgbClr val="000000"/>
              </a:solidFill>
              <a:latin typeface="Arial"/>
            </a:endParaRPr>
          </a:p>
        </p:txBody>
      </p:sp>
      <p:sp>
        <p:nvSpPr>
          <p:cNvPr id="118" name="Row1_CovenantText"/>
          <p:cNvSpPr/>
          <p:nvPr/>
        </p:nvSpPr>
        <p:spPr>
          <a:xfrm>
            <a:off x="4572000" y="2724840"/>
            <a:ext cx="29257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475569"/>
                </a:solidFill>
                <a:latin typeface="Calibri"/>
              </a:rPr>
              <a:t>Provenance · protected paths</a:t>
            </a:r>
            <a:endParaRPr lang="en-US" sz="1300" b="0" strike="noStrike" spc="-1">
              <a:solidFill>
                <a:srgbClr val="000000"/>
              </a:solidFill>
              <a:latin typeface="Arial"/>
            </a:endParaRPr>
          </a:p>
        </p:txBody>
      </p:sp>
      <p:sp>
        <p:nvSpPr>
          <p:cNvPr id="119" name="Row1_Pill"/>
          <p:cNvSpPr/>
          <p:nvPr/>
        </p:nvSpPr>
        <p:spPr>
          <a:xfrm>
            <a:off x="7772400" y="2816280"/>
            <a:ext cx="3504960" cy="365400"/>
          </a:xfrm>
          <a:prstGeom prst="roundRect">
            <a:avLst>
              <a:gd name="adj" fmla="val 8000"/>
            </a:avLst>
          </a:prstGeom>
          <a:solidFill>
            <a:srgbClr val="10B98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0" name="Row1_PillText"/>
          <p:cNvSpPr/>
          <p:nvPr/>
        </p:nvSpPr>
        <p:spPr>
          <a:xfrm>
            <a:off x="7772400" y="2816280"/>
            <a:ext cx="3504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Trebuchet MS"/>
              </a:rPr>
              <a:t>Demo 2  ·  Git pre-commit</a:t>
            </a:r>
            <a:endParaRPr lang="en-US" sz="1300" b="0" strike="noStrike" spc="-1">
              <a:solidFill>
                <a:srgbClr val="000000"/>
              </a:solidFill>
              <a:latin typeface="Arial"/>
            </a:endParaRPr>
          </a:p>
        </p:txBody>
      </p:sp>
      <p:sp>
        <p:nvSpPr>
          <p:cNvPr id="121" name="Row2_C1"/>
          <p:cNvSpPr/>
          <p:nvPr/>
        </p:nvSpPr>
        <p:spPr>
          <a:xfrm>
            <a:off x="731520" y="3310200"/>
            <a:ext cx="3657240" cy="548280"/>
          </a:xfrm>
          <a:prstGeom prst="rect">
            <a:avLst/>
          </a:prstGeom>
          <a:solidFill>
            <a:srgbClr val="F1F5F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2" name="Row2_C2"/>
          <p:cNvSpPr/>
          <p:nvPr/>
        </p:nvSpPr>
        <p:spPr>
          <a:xfrm>
            <a:off x="4389120" y="3310200"/>
            <a:ext cx="3200040" cy="548280"/>
          </a:xfrm>
          <a:prstGeom prst="rect">
            <a:avLst/>
          </a:prstGeom>
          <a:solidFill>
            <a:srgbClr val="F1F5F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3" name="Row2_C3"/>
          <p:cNvSpPr/>
          <p:nvPr/>
        </p:nvSpPr>
        <p:spPr>
          <a:xfrm>
            <a:off x="7589520" y="3310200"/>
            <a:ext cx="3870720" cy="548280"/>
          </a:xfrm>
          <a:prstGeom prst="rect">
            <a:avLst/>
          </a:prstGeom>
          <a:solidFill>
            <a:srgbClr val="F1F5F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4" name="Row2_MLOpsText"/>
          <p:cNvSpPr/>
          <p:nvPr/>
        </p:nvSpPr>
        <p:spPr>
          <a:xfrm>
            <a:off x="914400" y="3310200"/>
            <a:ext cx="33829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F172A"/>
                </a:solidFill>
                <a:latin typeface="Trebuchet MS"/>
              </a:rPr>
              <a:t>Validation gates (server-side)</a:t>
            </a:r>
            <a:endParaRPr lang="en-US" sz="1400" b="0" strike="noStrike" spc="-1">
              <a:solidFill>
                <a:srgbClr val="000000"/>
              </a:solidFill>
              <a:latin typeface="Arial"/>
            </a:endParaRPr>
          </a:p>
        </p:txBody>
      </p:sp>
      <p:sp>
        <p:nvSpPr>
          <p:cNvPr id="125" name="Row2_CovenantText"/>
          <p:cNvSpPr/>
          <p:nvPr/>
        </p:nvSpPr>
        <p:spPr>
          <a:xfrm>
            <a:off x="4572000" y="3310200"/>
            <a:ext cx="29257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475569"/>
                </a:solidFill>
                <a:latin typeface="Calibri"/>
              </a:rPr>
              <a:t>Admission, at the API</a:t>
            </a:r>
            <a:endParaRPr lang="en-US" sz="1300" b="0" strike="noStrike" spc="-1">
              <a:solidFill>
                <a:srgbClr val="000000"/>
              </a:solidFill>
              <a:latin typeface="Arial"/>
            </a:endParaRPr>
          </a:p>
        </p:txBody>
      </p:sp>
      <p:sp>
        <p:nvSpPr>
          <p:cNvPr id="126" name="Row2_Pill"/>
          <p:cNvSpPr/>
          <p:nvPr/>
        </p:nvSpPr>
        <p:spPr>
          <a:xfrm>
            <a:off x="7772400" y="3401640"/>
            <a:ext cx="3504960" cy="365400"/>
          </a:xfrm>
          <a:prstGeom prst="roundRect">
            <a:avLst>
              <a:gd name="adj" fmla="val 8000"/>
            </a:avLst>
          </a:prstGeom>
          <a:solidFill>
            <a:srgbClr val="10B98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7" name="Row2_PillText"/>
          <p:cNvSpPr/>
          <p:nvPr/>
        </p:nvSpPr>
        <p:spPr>
          <a:xfrm>
            <a:off x="7772400" y="3401640"/>
            <a:ext cx="3504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Trebuchet MS"/>
              </a:rPr>
              <a:t>Demo 3  ·  K8s ValidatingAdmissionPolicy</a:t>
            </a:r>
            <a:endParaRPr lang="en-US" sz="1300" b="0" strike="noStrike" spc="-1">
              <a:solidFill>
                <a:srgbClr val="000000"/>
              </a:solidFill>
              <a:latin typeface="Arial"/>
            </a:endParaRPr>
          </a:p>
        </p:txBody>
      </p:sp>
      <p:sp>
        <p:nvSpPr>
          <p:cNvPr id="128" name="Row3_C1"/>
          <p:cNvSpPr/>
          <p:nvPr/>
        </p:nvSpPr>
        <p:spPr>
          <a:xfrm>
            <a:off x="731520" y="3895200"/>
            <a:ext cx="3657240" cy="5482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29" name="Row3_C2"/>
          <p:cNvSpPr/>
          <p:nvPr/>
        </p:nvSpPr>
        <p:spPr>
          <a:xfrm>
            <a:off x="4389120" y="3895200"/>
            <a:ext cx="3200040" cy="5482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0" name="Row3_C3"/>
          <p:cNvSpPr/>
          <p:nvPr/>
        </p:nvSpPr>
        <p:spPr>
          <a:xfrm>
            <a:off x="7589520" y="3895200"/>
            <a:ext cx="3870720" cy="5482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1" name="Row3_MLOpsText"/>
          <p:cNvSpPr/>
          <p:nvPr/>
        </p:nvSpPr>
        <p:spPr>
          <a:xfrm>
            <a:off x="914400" y="3895200"/>
            <a:ext cx="33829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F172A"/>
                </a:solidFill>
                <a:latin typeface="Trebuchet MS"/>
              </a:rPr>
              <a:t>Drift detection / behavioral</a:t>
            </a:r>
            <a:endParaRPr lang="en-US" sz="1400" b="0" strike="noStrike" spc="-1">
              <a:solidFill>
                <a:srgbClr val="000000"/>
              </a:solidFill>
              <a:latin typeface="Arial"/>
            </a:endParaRPr>
          </a:p>
        </p:txBody>
      </p:sp>
      <p:sp>
        <p:nvSpPr>
          <p:cNvPr id="132" name="Row3_CovenantText"/>
          <p:cNvSpPr/>
          <p:nvPr/>
        </p:nvSpPr>
        <p:spPr>
          <a:xfrm>
            <a:off x="4572000" y="3895200"/>
            <a:ext cx="29257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475569"/>
                </a:solidFill>
                <a:latin typeface="Calibri"/>
              </a:rPr>
              <a:t>Runtime behavior</a:t>
            </a:r>
            <a:endParaRPr lang="en-US" sz="1300" b="0" strike="noStrike" spc="-1">
              <a:solidFill>
                <a:srgbClr val="000000"/>
              </a:solidFill>
              <a:latin typeface="Arial"/>
            </a:endParaRPr>
          </a:p>
        </p:txBody>
      </p:sp>
      <p:sp>
        <p:nvSpPr>
          <p:cNvPr id="133" name="Row3_Pill"/>
          <p:cNvSpPr/>
          <p:nvPr/>
        </p:nvSpPr>
        <p:spPr>
          <a:xfrm>
            <a:off x="7772400" y="3986640"/>
            <a:ext cx="3504960" cy="365400"/>
          </a:xfrm>
          <a:prstGeom prst="roundRect">
            <a:avLst>
              <a:gd name="adj" fmla="val 8000"/>
            </a:avLst>
          </a:prstGeom>
          <a:solidFill>
            <a:srgbClr val="10B98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4" name="Row3_PillText"/>
          <p:cNvSpPr/>
          <p:nvPr/>
        </p:nvSpPr>
        <p:spPr>
          <a:xfrm>
            <a:off x="7772400" y="3986640"/>
            <a:ext cx="3504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Trebuchet MS"/>
              </a:rPr>
              <a:t>Demo 4  ·  Falco + Talon</a:t>
            </a:r>
            <a:endParaRPr lang="en-US" sz="1300" b="0" strike="noStrike" spc="-1">
              <a:solidFill>
                <a:srgbClr val="000000"/>
              </a:solidFill>
              <a:latin typeface="Arial"/>
            </a:endParaRPr>
          </a:p>
        </p:txBody>
      </p:sp>
      <p:sp>
        <p:nvSpPr>
          <p:cNvPr id="135" name="Row4_C1"/>
          <p:cNvSpPr/>
          <p:nvPr/>
        </p:nvSpPr>
        <p:spPr>
          <a:xfrm>
            <a:off x="731520" y="4480560"/>
            <a:ext cx="3657240" cy="548280"/>
          </a:xfrm>
          <a:prstGeom prst="rect">
            <a:avLst/>
          </a:prstGeom>
          <a:solidFill>
            <a:srgbClr val="F1F5F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6" name="Row4_C2"/>
          <p:cNvSpPr/>
          <p:nvPr/>
        </p:nvSpPr>
        <p:spPr>
          <a:xfrm>
            <a:off x="4389120" y="4480560"/>
            <a:ext cx="3200040" cy="548280"/>
          </a:xfrm>
          <a:prstGeom prst="rect">
            <a:avLst/>
          </a:prstGeom>
          <a:solidFill>
            <a:srgbClr val="F1F5F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7" name="Row4_C3"/>
          <p:cNvSpPr/>
          <p:nvPr/>
        </p:nvSpPr>
        <p:spPr>
          <a:xfrm>
            <a:off x="7589520" y="4480560"/>
            <a:ext cx="3870720" cy="548280"/>
          </a:xfrm>
          <a:prstGeom prst="rect">
            <a:avLst/>
          </a:prstGeom>
          <a:solidFill>
            <a:srgbClr val="F1F5F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38" name="Row4_MLOpsText"/>
          <p:cNvSpPr/>
          <p:nvPr/>
        </p:nvSpPr>
        <p:spPr>
          <a:xfrm>
            <a:off x="914400" y="4480560"/>
            <a:ext cx="33829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F172A"/>
                </a:solidFill>
                <a:latin typeface="Trebuchet MS"/>
              </a:rPr>
              <a:t>Feature store / data lineage</a:t>
            </a:r>
            <a:endParaRPr lang="en-US" sz="1400" b="0" strike="noStrike" spc="-1">
              <a:solidFill>
                <a:srgbClr val="000000"/>
              </a:solidFill>
              <a:latin typeface="Arial"/>
            </a:endParaRPr>
          </a:p>
        </p:txBody>
      </p:sp>
      <p:sp>
        <p:nvSpPr>
          <p:cNvPr id="139" name="Row4_CovenantText"/>
          <p:cNvSpPr/>
          <p:nvPr/>
        </p:nvSpPr>
        <p:spPr>
          <a:xfrm>
            <a:off x="4572000" y="4480560"/>
            <a:ext cx="29257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475569"/>
                </a:solidFill>
                <a:latin typeface="Calibri"/>
              </a:rPr>
              <a:t>Data-path scope</a:t>
            </a:r>
            <a:endParaRPr lang="en-US" sz="1300" b="0" strike="noStrike" spc="-1">
              <a:solidFill>
                <a:srgbClr val="000000"/>
              </a:solidFill>
              <a:latin typeface="Arial"/>
            </a:endParaRPr>
          </a:p>
        </p:txBody>
      </p:sp>
      <p:sp>
        <p:nvSpPr>
          <p:cNvPr id="140" name="Row4_Pill"/>
          <p:cNvSpPr/>
          <p:nvPr/>
        </p:nvSpPr>
        <p:spPr>
          <a:xfrm>
            <a:off x="7772400" y="4572000"/>
            <a:ext cx="3504960" cy="365400"/>
          </a:xfrm>
          <a:prstGeom prst="roundRect">
            <a:avLst>
              <a:gd name="adj" fmla="val 8000"/>
            </a:avLst>
          </a:prstGeom>
          <a:solidFill>
            <a:srgbClr val="10B981"/>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1" name="Row4_PillText"/>
          <p:cNvSpPr/>
          <p:nvPr/>
        </p:nvSpPr>
        <p:spPr>
          <a:xfrm>
            <a:off x="7772400" y="4572000"/>
            <a:ext cx="3504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Trebuchet MS"/>
              </a:rPr>
              <a:t>Demo 5  ·  NetworkPolicy</a:t>
            </a:r>
            <a:endParaRPr lang="en-US" sz="1300" b="0" strike="noStrike" spc="-1">
              <a:solidFill>
                <a:srgbClr val="000000"/>
              </a:solidFill>
              <a:latin typeface="Arial"/>
            </a:endParaRPr>
          </a:p>
        </p:txBody>
      </p:sp>
      <p:sp>
        <p:nvSpPr>
          <p:cNvPr id="142" name="Row5_C1"/>
          <p:cNvSpPr/>
          <p:nvPr/>
        </p:nvSpPr>
        <p:spPr>
          <a:xfrm>
            <a:off x="731520" y="5065920"/>
            <a:ext cx="3657240" cy="5482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3" name="Row5_C2"/>
          <p:cNvSpPr/>
          <p:nvPr/>
        </p:nvSpPr>
        <p:spPr>
          <a:xfrm>
            <a:off x="4389120" y="5065920"/>
            <a:ext cx="3200040" cy="5482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4" name="Row5_C3"/>
          <p:cNvSpPr/>
          <p:nvPr/>
        </p:nvSpPr>
        <p:spPr>
          <a:xfrm>
            <a:off x="7589520" y="5065920"/>
            <a:ext cx="3870720" cy="548280"/>
          </a:xfrm>
          <a:prstGeom prst="rect">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5" name="Row5_MLOpsText"/>
          <p:cNvSpPr/>
          <p:nvPr/>
        </p:nvSpPr>
        <p:spPr>
          <a:xfrm>
            <a:off x="914400" y="5065920"/>
            <a:ext cx="33829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1" strike="noStrike" spc="-1">
                <a:solidFill>
                  <a:srgbClr val="0F172A"/>
                </a:solidFill>
                <a:latin typeface="Trebuchet MS"/>
              </a:rPr>
              <a:t>Output validation / content safety</a:t>
            </a:r>
            <a:endParaRPr lang="en-US" sz="1400" b="0" strike="noStrike" spc="-1">
              <a:solidFill>
                <a:srgbClr val="000000"/>
              </a:solidFill>
              <a:latin typeface="Arial"/>
            </a:endParaRPr>
          </a:p>
        </p:txBody>
      </p:sp>
      <p:sp>
        <p:nvSpPr>
          <p:cNvPr id="146" name="Row5_CovenantText"/>
          <p:cNvSpPr/>
          <p:nvPr/>
        </p:nvSpPr>
        <p:spPr>
          <a:xfrm>
            <a:off x="4572000" y="5065920"/>
            <a:ext cx="292572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300" b="0" strike="noStrike" spc="-1">
                <a:solidFill>
                  <a:srgbClr val="475569"/>
                </a:solidFill>
                <a:latin typeface="Calibri"/>
              </a:rPr>
              <a:t>Content gate</a:t>
            </a:r>
            <a:endParaRPr lang="en-US" sz="1300" b="0" strike="noStrike" spc="-1">
              <a:solidFill>
                <a:srgbClr val="000000"/>
              </a:solidFill>
              <a:latin typeface="Arial"/>
            </a:endParaRPr>
          </a:p>
        </p:txBody>
      </p:sp>
      <p:sp>
        <p:nvSpPr>
          <p:cNvPr id="147" name="Row5_Pill"/>
          <p:cNvSpPr/>
          <p:nvPr/>
        </p:nvSpPr>
        <p:spPr>
          <a:xfrm>
            <a:off x="7772400" y="5157360"/>
            <a:ext cx="3504960" cy="365400"/>
          </a:xfrm>
          <a:prstGeom prst="roundRect">
            <a:avLst>
              <a:gd name="adj" fmla="val 8000"/>
            </a:avLst>
          </a:prstGeom>
          <a:solidFill>
            <a:srgbClr val="FFFFFF"/>
          </a:solidFill>
          <a:ln w="19050">
            <a:solidFill>
              <a:srgbClr val="94A3B8"/>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48" name="Row5_PillText"/>
          <p:cNvSpPr/>
          <p:nvPr/>
        </p:nvSpPr>
        <p:spPr>
          <a:xfrm>
            <a:off x="7772400" y="5157360"/>
            <a:ext cx="3504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1" strike="noStrike" spc="-1">
                <a:solidFill>
                  <a:srgbClr val="64748B"/>
                </a:solidFill>
                <a:latin typeface="Trebuchet MS"/>
              </a:rPr>
              <a:t>Demo 6  ·  LLM Guard</a:t>
            </a:r>
            <a:endParaRPr lang="en-US" sz="1200" b="0" strike="noStrike" spc="-1">
              <a:solidFill>
                <a:srgbClr val="000000"/>
              </a:solidFill>
              <a:latin typeface="Arial"/>
            </a:endParaRPr>
          </a:p>
        </p:txBody>
      </p:sp>
      <p:sp>
        <p:nvSpPr>
          <p:cNvPr id="149" name="Tagline"/>
          <p:cNvSpPr/>
          <p:nvPr/>
        </p:nvSpPr>
        <p:spPr>
          <a:xfrm>
            <a:off x="731520" y="5833800"/>
            <a:ext cx="10728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0F172A"/>
                </a:solidFill>
                <a:latin typeface="Trebuchet MS"/>
              </a:rPr>
              <a:t>You don't need a new pipeline for agents. </a:t>
            </a:r>
            <a:r>
              <a:rPr lang="en-US" sz="2000" b="1" i="1" strike="noStrike" spc="-1">
                <a:solidFill>
                  <a:srgbClr val="A100FF"/>
                </a:solidFill>
                <a:latin typeface="Trebuchet MS"/>
              </a:rPr>
              <a:t>You need to recognize the one you already run.</a:t>
            </a:r>
            <a:endParaRPr lang="en-US" sz="2000" b="0" strike="noStrike" spc="-1">
              <a:solidFill>
                <a:srgbClr val="000000"/>
              </a:solidFill>
              <a:latin typeface="Arial"/>
            </a:endParaRPr>
          </a:p>
        </p:txBody>
      </p:sp>
      <p:sp>
        <p:nvSpPr>
          <p:cNvPr id="150" name="PageNum"/>
          <p:cNvSpPr/>
          <p:nvPr/>
        </p:nvSpPr>
        <p:spPr>
          <a:xfrm>
            <a:off x="11430000" y="658368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Calibri"/>
              </a:rPr>
              <a:t>5 / 16</a:t>
            </a:r>
            <a:endParaRPr lang="en-US" sz="900" b="0" strike="noStrike" spc="-1">
              <a:solidFill>
                <a:srgbClr val="000000"/>
              </a:solidFill>
              <a:latin typeface="Arial"/>
            </a:endParaRPr>
          </a:p>
        </p:txBody>
      </p:sp>
      <p:sp>
        <p:nvSpPr>
          <p:cNvPr id="151" name="Footer"/>
          <p:cNvSpPr/>
          <p:nvPr/>
        </p:nvSpPr>
        <p:spPr>
          <a:xfrm>
            <a:off x="228600" y="6583680"/>
            <a:ext cx="32000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Calibri"/>
              </a:rPr>
              <a:t>LLMday Austin · May 12, 2026</a:t>
            </a:r>
            <a:endParaRPr lang="en-US" sz="900" b="0" strike="noStrike" spc="-1">
              <a:solidFill>
                <a:srgbClr val="000000"/>
              </a:solidFill>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152" name="Title"/>
          <p:cNvSpPr/>
          <p:nvPr/>
        </p:nvSpPr>
        <p:spPr>
          <a:xfrm>
            <a:off x="731520" y="274320"/>
            <a:ext cx="107287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400" b="1" strike="noStrike" spc="-1">
                <a:solidFill>
                  <a:srgbClr val="0F172A"/>
                </a:solidFill>
                <a:latin typeface="Trebuchet MS"/>
              </a:rPr>
              <a:t>Three places in the chain</a:t>
            </a:r>
            <a:endParaRPr lang="en-US" sz="4400" b="0" strike="noStrike" spc="-1">
              <a:solidFill>
                <a:srgbClr val="000000"/>
              </a:solidFill>
              <a:latin typeface="Arial"/>
            </a:endParaRPr>
          </a:p>
        </p:txBody>
      </p:sp>
      <p:sp>
        <p:nvSpPr>
          <p:cNvPr id="153" name="Subtitle"/>
          <p:cNvSpPr/>
          <p:nvPr/>
        </p:nvSpPr>
        <p:spPr>
          <a:xfrm>
            <a:off x="731520" y="960120"/>
            <a:ext cx="10728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i="1" strike="noStrike" spc="-1">
                <a:solidFill>
                  <a:srgbClr val="64748B"/>
                </a:solidFill>
                <a:latin typeface="Calibri"/>
              </a:rPr>
              <a:t>Client-side, app/agent, server-side. Three ways to think about where the gate goes along the chain.</a:t>
            </a:r>
            <a:endParaRPr lang="en-US" sz="1800" b="0" strike="noStrike" spc="-1">
              <a:solidFill>
                <a:srgbClr val="000000"/>
              </a:solidFill>
              <a:latin typeface="Arial"/>
            </a:endParaRPr>
          </a:p>
        </p:txBody>
      </p:sp>
      <p:cxnSp>
        <p:nvCxnSpPr>
          <p:cNvPr id="154" name="Line_TopToBL"/>
          <p:cNvCxnSpPr/>
          <p:nvPr/>
        </p:nvCxnSpPr>
        <p:spPr>
          <a:xfrm flipH="1">
            <a:off x="2468880" y="3291840"/>
            <a:ext cx="3627360" cy="549000"/>
          </a:xfrm>
          <a:prstGeom prst="straightConnector1">
            <a:avLst/>
          </a:prstGeom>
          <a:ln w="28575">
            <a:solidFill>
              <a:srgbClr val="94A3B8"/>
            </a:solidFill>
            <a:prstDash val="dash"/>
            <a:round/>
          </a:ln>
        </p:spPr>
      </p:cxnSp>
      <p:cxnSp>
        <p:nvCxnSpPr>
          <p:cNvPr id="155" name="Line_TopToBR"/>
          <p:cNvCxnSpPr/>
          <p:nvPr/>
        </p:nvCxnSpPr>
        <p:spPr>
          <a:xfrm>
            <a:off x="6095880" y="3291840"/>
            <a:ext cx="3627360" cy="549000"/>
          </a:xfrm>
          <a:prstGeom prst="straightConnector1">
            <a:avLst/>
          </a:prstGeom>
          <a:ln w="28575">
            <a:solidFill>
              <a:srgbClr val="94A3B8"/>
            </a:solidFill>
            <a:prstDash val="dash"/>
            <a:round/>
          </a:ln>
        </p:spPr>
      </p:cxnSp>
      <p:cxnSp>
        <p:nvCxnSpPr>
          <p:cNvPr id="156" name="Line_BLToBR"/>
          <p:cNvCxnSpPr/>
          <p:nvPr/>
        </p:nvCxnSpPr>
        <p:spPr>
          <a:xfrm>
            <a:off x="4297680" y="4709160"/>
            <a:ext cx="3596760" cy="360"/>
          </a:xfrm>
          <a:prstGeom prst="straightConnector1">
            <a:avLst/>
          </a:prstGeom>
          <a:ln w="28575">
            <a:solidFill>
              <a:srgbClr val="94A3B8"/>
            </a:solidFill>
            <a:prstDash val="dash"/>
            <a:round/>
          </a:ln>
        </p:spPr>
      </p:cxnSp>
      <p:sp>
        <p:nvSpPr>
          <p:cNvPr id="157" name="Card_APP / AGENT"/>
          <p:cNvSpPr/>
          <p:nvPr/>
        </p:nvSpPr>
        <p:spPr>
          <a:xfrm>
            <a:off x="4267080" y="1554480"/>
            <a:ext cx="3657240" cy="1737000"/>
          </a:xfrm>
          <a:prstGeom prst="roundRect">
            <a:avLst>
              <a:gd name="adj" fmla="val 8000"/>
            </a:avLst>
          </a:prstGeom>
          <a:solidFill>
            <a:srgbClr val="FFFFFF"/>
          </a:solidFill>
          <a:ln w="31750">
            <a:solidFill>
              <a:srgbClr val="A100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8" name="Header_APP / AGENT"/>
          <p:cNvSpPr/>
          <p:nvPr/>
        </p:nvSpPr>
        <p:spPr>
          <a:xfrm>
            <a:off x="4267080" y="1554480"/>
            <a:ext cx="3657240" cy="502560"/>
          </a:xfrm>
          <a:prstGeom prst="roundRect">
            <a:avLst>
              <a:gd name="adj" fmla="val 8000"/>
            </a:avLst>
          </a:prstGeom>
          <a:solidFill>
            <a:srgbClr val="A10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59" name="Title_APP / AGENT"/>
          <p:cNvSpPr/>
          <p:nvPr/>
        </p:nvSpPr>
        <p:spPr>
          <a:xfrm>
            <a:off x="4267080" y="1554480"/>
            <a:ext cx="36572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Trebuchet MS"/>
              </a:rPr>
              <a:t>APP / AGENT</a:t>
            </a:r>
            <a:endParaRPr lang="en-US" sz="2000" b="0" strike="noStrike" spc="-1">
              <a:solidFill>
                <a:srgbClr val="000000"/>
              </a:solidFill>
              <a:latin typeface="Arial"/>
            </a:endParaRPr>
          </a:p>
        </p:txBody>
      </p:sp>
      <p:sp>
        <p:nvSpPr>
          <p:cNvPr id="160" name="Sub_APP / AGENT"/>
          <p:cNvSpPr/>
          <p:nvPr/>
        </p:nvSpPr>
        <p:spPr>
          <a:xfrm>
            <a:off x="4358520" y="2130480"/>
            <a:ext cx="3474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i="1" strike="noStrike" spc="-1">
                <a:solidFill>
                  <a:srgbClr val="64748B"/>
                </a:solidFill>
                <a:latin typeface="Calibri"/>
              </a:rPr>
              <a:t>Where reasoning happens</a:t>
            </a:r>
            <a:endParaRPr lang="en-US" sz="1100" b="0" strike="noStrike" spc="-1">
              <a:solidFill>
                <a:srgbClr val="000000"/>
              </a:solidFill>
              <a:latin typeface="Arial"/>
            </a:endParaRPr>
          </a:p>
        </p:txBody>
      </p:sp>
      <p:pic>
        <p:nvPicPr>
          <p:cNvPr id="161" name="Icon_APP / AGENT"/>
          <p:cNvPicPr/>
          <p:nvPr/>
        </p:nvPicPr>
        <p:blipFill>
          <a:blip r:embed="rId3"/>
          <a:stretch/>
        </p:blipFill>
        <p:spPr>
          <a:xfrm>
            <a:off x="4449960" y="2423160"/>
            <a:ext cx="639720" cy="639720"/>
          </a:xfrm>
          <a:prstGeom prst="rect">
            <a:avLst/>
          </a:prstGeom>
          <a:ln w="0">
            <a:noFill/>
          </a:ln>
        </p:spPr>
      </p:pic>
      <p:sp>
        <p:nvSpPr>
          <p:cNvPr id="162" name="Bullets_APP / AGENT"/>
          <p:cNvSpPr/>
          <p:nvPr/>
        </p:nvSpPr>
        <p:spPr>
          <a:xfrm>
            <a:off x="5199840" y="2423160"/>
            <a:ext cx="25873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rgbClr val="0F172A"/>
                </a:solidFill>
                <a:latin typeface="Calibri"/>
              </a:rPr>
              <a:t>▸  Framework hooks (PreToolUse)</a:t>
            </a:r>
            <a:endParaRPr lang="en-US" sz="1200" b="0" strike="noStrike" spc="-1">
              <a:solidFill>
                <a:srgbClr val="000000"/>
              </a:solidFill>
              <a:latin typeface="Arial"/>
            </a:endParaRPr>
          </a:p>
          <a:p>
            <a:pPr defTabSz="914400">
              <a:lnSpc>
                <a:spcPct val="100000"/>
              </a:lnSpc>
              <a:tabLst>
                <a:tab pos="0" algn="l"/>
              </a:tabLst>
            </a:pPr>
            <a:r>
              <a:rPr lang="en-US" sz="1200" b="0" strike="noStrike" spc="-1">
                <a:solidFill>
                  <a:srgbClr val="0F172A"/>
                </a:solidFill>
                <a:latin typeface="Calibri"/>
              </a:rPr>
              <a:t>▸  NeMo Guardrails, LLM Guard</a:t>
            </a:r>
            <a:endParaRPr lang="en-US" sz="1200" b="0" strike="noStrike" spc="-1">
              <a:solidFill>
                <a:srgbClr val="000000"/>
              </a:solidFill>
              <a:latin typeface="Arial"/>
            </a:endParaRPr>
          </a:p>
          <a:p>
            <a:pPr defTabSz="914400">
              <a:lnSpc>
                <a:spcPct val="100000"/>
              </a:lnSpc>
              <a:tabLst>
                <a:tab pos="0" algn="l"/>
              </a:tabLst>
            </a:pPr>
            <a:r>
              <a:rPr lang="en-US" sz="1200" b="0" strike="noStrike" spc="-1">
                <a:solidFill>
                  <a:srgbClr val="0F172A"/>
                </a:solidFill>
                <a:latin typeface="Calibri"/>
              </a:rPr>
              <a:t>▸  Standardized inputs / outputs</a:t>
            </a:r>
            <a:endParaRPr lang="en-US" sz="1200" b="0" strike="noStrike" spc="-1">
              <a:solidFill>
                <a:srgbClr val="000000"/>
              </a:solidFill>
              <a:latin typeface="Arial"/>
            </a:endParaRPr>
          </a:p>
        </p:txBody>
      </p:sp>
      <p:sp>
        <p:nvSpPr>
          <p:cNvPr id="163" name="Card_CLIENT-SIDE"/>
          <p:cNvSpPr/>
          <p:nvPr/>
        </p:nvSpPr>
        <p:spPr>
          <a:xfrm>
            <a:off x="640080" y="3840480"/>
            <a:ext cx="3657240" cy="1737000"/>
          </a:xfrm>
          <a:prstGeom prst="roundRect">
            <a:avLst>
              <a:gd name="adj" fmla="val 8000"/>
            </a:avLst>
          </a:prstGeom>
          <a:solidFill>
            <a:srgbClr val="FFFFFF"/>
          </a:solidFill>
          <a:ln w="31750">
            <a:solidFill>
              <a:srgbClr val="EAB308"/>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4" name="Header_CLIENT-SIDE"/>
          <p:cNvSpPr/>
          <p:nvPr/>
        </p:nvSpPr>
        <p:spPr>
          <a:xfrm>
            <a:off x="640080" y="3840480"/>
            <a:ext cx="3657240" cy="502560"/>
          </a:xfrm>
          <a:prstGeom prst="roundRect">
            <a:avLst>
              <a:gd name="adj" fmla="val 8000"/>
            </a:avLst>
          </a:prstGeom>
          <a:solidFill>
            <a:srgbClr val="EAB30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65" name="Title_CLIENT-SIDE"/>
          <p:cNvSpPr/>
          <p:nvPr/>
        </p:nvSpPr>
        <p:spPr>
          <a:xfrm>
            <a:off x="640080" y="3840480"/>
            <a:ext cx="36572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Trebuchet MS"/>
              </a:rPr>
              <a:t>CLIENT-SIDE</a:t>
            </a:r>
            <a:endParaRPr lang="en-US" sz="2000" b="0" strike="noStrike" spc="-1">
              <a:solidFill>
                <a:srgbClr val="000000"/>
              </a:solidFill>
              <a:latin typeface="Arial"/>
            </a:endParaRPr>
          </a:p>
        </p:txBody>
      </p:sp>
      <p:sp>
        <p:nvSpPr>
          <p:cNvPr id="166" name="Sub_CLIENT-SIDE"/>
          <p:cNvSpPr/>
          <p:nvPr/>
        </p:nvSpPr>
        <p:spPr>
          <a:xfrm>
            <a:off x="731520" y="4416480"/>
            <a:ext cx="3474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i="1" strike="noStrike" spc="-1">
                <a:solidFill>
                  <a:srgbClr val="64748B"/>
                </a:solidFill>
                <a:latin typeface="Calibri"/>
              </a:rPr>
              <a:t>On the operator's machine</a:t>
            </a:r>
            <a:endParaRPr lang="en-US" sz="1100" b="0" strike="noStrike" spc="-1">
              <a:solidFill>
                <a:srgbClr val="000000"/>
              </a:solidFill>
              <a:latin typeface="Arial"/>
            </a:endParaRPr>
          </a:p>
        </p:txBody>
      </p:sp>
      <p:pic>
        <p:nvPicPr>
          <p:cNvPr id="167" name="Icon_CLIENT-SIDE"/>
          <p:cNvPicPr/>
          <p:nvPr/>
        </p:nvPicPr>
        <p:blipFill>
          <a:blip r:embed="rId4"/>
          <a:stretch/>
        </p:blipFill>
        <p:spPr>
          <a:xfrm>
            <a:off x="822960" y="4709160"/>
            <a:ext cx="639720" cy="639720"/>
          </a:xfrm>
          <a:prstGeom prst="rect">
            <a:avLst/>
          </a:prstGeom>
          <a:ln w="0">
            <a:noFill/>
          </a:ln>
        </p:spPr>
      </p:pic>
      <p:sp>
        <p:nvSpPr>
          <p:cNvPr id="168" name="Bullets_CLIENT-SIDE"/>
          <p:cNvSpPr/>
          <p:nvPr/>
        </p:nvSpPr>
        <p:spPr>
          <a:xfrm>
            <a:off x="1572840" y="4709160"/>
            <a:ext cx="25873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rgbClr val="0F172A"/>
                </a:solidFill>
                <a:latin typeface="Calibri"/>
              </a:rPr>
              <a:t>▸  Tools: git, kubectl</a:t>
            </a:r>
            <a:endParaRPr lang="en-US" sz="1200" b="0" strike="noStrike" spc="-1">
              <a:solidFill>
                <a:srgbClr val="000000"/>
              </a:solidFill>
              <a:latin typeface="Arial"/>
            </a:endParaRPr>
          </a:p>
          <a:p>
            <a:pPr defTabSz="914400">
              <a:lnSpc>
                <a:spcPct val="100000"/>
              </a:lnSpc>
              <a:tabLst>
                <a:tab pos="0" algn="l"/>
              </a:tabLst>
            </a:pPr>
            <a:r>
              <a:rPr lang="en-US" sz="1200" b="0" strike="noStrike" spc="-1">
                <a:solidFill>
                  <a:srgbClr val="0F172A"/>
                </a:solidFill>
                <a:latin typeface="Calibri"/>
              </a:rPr>
              <a:t>▸  Hooks: pre-commit, pre-push</a:t>
            </a:r>
            <a:endParaRPr lang="en-US" sz="1200" b="0" strike="noStrike" spc="-1">
              <a:solidFill>
                <a:srgbClr val="000000"/>
              </a:solidFill>
              <a:latin typeface="Arial"/>
            </a:endParaRPr>
          </a:p>
          <a:p>
            <a:pPr defTabSz="914400">
              <a:lnSpc>
                <a:spcPct val="100000"/>
              </a:lnSpc>
              <a:tabLst>
                <a:tab pos="0" algn="l"/>
              </a:tabLst>
            </a:pPr>
            <a:r>
              <a:rPr lang="en-US" sz="1200" b="0" strike="noStrike" spc="-1">
                <a:solidFill>
                  <a:srgbClr val="0F172A"/>
                </a:solidFill>
                <a:latin typeface="Calibri"/>
              </a:rPr>
              <a:t>▸  File-system ACLs, allowlists</a:t>
            </a:r>
            <a:endParaRPr lang="en-US" sz="1200" b="0" strike="noStrike" spc="-1">
              <a:solidFill>
                <a:srgbClr val="000000"/>
              </a:solidFill>
              <a:latin typeface="Arial"/>
            </a:endParaRPr>
          </a:p>
        </p:txBody>
      </p:sp>
      <p:sp>
        <p:nvSpPr>
          <p:cNvPr id="169" name="Card_SERVER-SIDE"/>
          <p:cNvSpPr/>
          <p:nvPr/>
        </p:nvSpPr>
        <p:spPr>
          <a:xfrm>
            <a:off x="7894440" y="3840480"/>
            <a:ext cx="3657240" cy="1737000"/>
          </a:xfrm>
          <a:prstGeom prst="roundRect">
            <a:avLst>
              <a:gd name="adj" fmla="val 8000"/>
            </a:avLst>
          </a:prstGeom>
          <a:solidFill>
            <a:srgbClr val="FFFFFF"/>
          </a:solidFill>
          <a:ln w="31750">
            <a:solidFill>
              <a:srgbClr val="0EA5E9"/>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0" name="Header_SERVER-SIDE"/>
          <p:cNvSpPr/>
          <p:nvPr/>
        </p:nvSpPr>
        <p:spPr>
          <a:xfrm>
            <a:off x="7894440" y="3840480"/>
            <a:ext cx="3657240" cy="502560"/>
          </a:xfrm>
          <a:prstGeom prst="roundRect">
            <a:avLst>
              <a:gd name="adj" fmla="val 8000"/>
            </a:avLst>
          </a:prstGeom>
          <a:solidFill>
            <a:srgbClr val="0EA5E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71" name="Title_SERVER-SIDE"/>
          <p:cNvSpPr/>
          <p:nvPr/>
        </p:nvSpPr>
        <p:spPr>
          <a:xfrm>
            <a:off x="7894440" y="3840480"/>
            <a:ext cx="36572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Trebuchet MS"/>
              </a:rPr>
              <a:t>SERVER-SIDE</a:t>
            </a:r>
            <a:endParaRPr lang="en-US" sz="2000" b="0" strike="noStrike" spc="-1">
              <a:solidFill>
                <a:srgbClr val="000000"/>
              </a:solidFill>
              <a:latin typeface="Arial"/>
            </a:endParaRPr>
          </a:p>
        </p:txBody>
      </p:sp>
      <p:sp>
        <p:nvSpPr>
          <p:cNvPr id="172" name="Sub_SERVER-SIDE"/>
          <p:cNvSpPr/>
          <p:nvPr/>
        </p:nvSpPr>
        <p:spPr>
          <a:xfrm>
            <a:off x="7985880" y="4416480"/>
            <a:ext cx="3474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i="1" strike="noStrike" spc="-1">
                <a:solidFill>
                  <a:srgbClr val="64748B"/>
                </a:solidFill>
                <a:latin typeface="Calibri"/>
              </a:rPr>
              <a:t>Access to infrastructure and APIs</a:t>
            </a:r>
            <a:endParaRPr lang="en-US" sz="1100" b="0" strike="noStrike" spc="-1">
              <a:solidFill>
                <a:srgbClr val="000000"/>
              </a:solidFill>
              <a:latin typeface="Arial"/>
            </a:endParaRPr>
          </a:p>
        </p:txBody>
      </p:sp>
      <p:pic>
        <p:nvPicPr>
          <p:cNvPr id="173" name="Icon_SERVER-SIDE"/>
          <p:cNvPicPr/>
          <p:nvPr/>
        </p:nvPicPr>
        <p:blipFill>
          <a:blip r:embed="rId5"/>
          <a:stretch/>
        </p:blipFill>
        <p:spPr>
          <a:xfrm>
            <a:off x="8077320" y="4709160"/>
            <a:ext cx="639720" cy="639720"/>
          </a:xfrm>
          <a:prstGeom prst="rect">
            <a:avLst/>
          </a:prstGeom>
          <a:ln w="0">
            <a:noFill/>
          </a:ln>
        </p:spPr>
      </p:pic>
      <p:sp>
        <p:nvSpPr>
          <p:cNvPr id="174" name="Bullets_SERVER-SIDE"/>
          <p:cNvSpPr/>
          <p:nvPr/>
        </p:nvSpPr>
        <p:spPr>
          <a:xfrm>
            <a:off x="8826840" y="4709160"/>
            <a:ext cx="25873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200" b="0" strike="noStrike" spc="-1">
                <a:solidFill>
                  <a:srgbClr val="0F172A"/>
                </a:solidFill>
                <a:latin typeface="Calibri"/>
              </a:rPr>
              <a:t>▸  Admission policies, RBAC</a:t>
            </a:r>
            <a:endParaRPr lang="en-US" sz="1200" b="0" strike="noStrike" spc="-1">
              <a:solidFill>
                <a:srgbClr val="000000"/>
              </a:solidFill>
              <a:latin typeface="Arial"/>
            </a:endParaRPr>
          </a:p>
          <a:p>
            <a:pPr defTabSz="914400">
              <a:lnSpc>
                <a:spcPct val="100000"/>
              </a:lnSpc>
              <a:tabLst>
                <a:tab pos="0" algn="l"/>
              </a:tabLst>
            </a:pPr>
            <a:r>
              <a:rPr lang="en-US" sz="1200" b="0" strike="noStrike" spc="-1">
                <a:solidFill>
                  <a:srgbClr val="0F172A"/>
                </a:solidFill>
                <a:latin typeface="Calibri"/>
              </a:rPr>
              <a:t>▸  Runtime (Falco), NetworkPolicy</a:t>
            </a:r>
            <a:endParaRPr lang="en-US" sz="1200" b="0" strike="noStrike" spc="-1">
              <a:solidFill>
                <a:srgbClr val="000000"/>
              </a:solidFill>
              <a:latin typeface="Arial"/>
            </a:endParaRPr>
          </a:p>
          <a:p>
            <a:pPr defTabSz="914400">
              <a:lnSpc>
                <a:spcPct val="100000"/>
              </a:lnSpc>
              <a:tabLst>
                <a:tab pos="0" algn="l"/>
              </a:tabLst>
            </a:pPr>
            <a:r>
              <a:rPr lang="en-US" sz="1200" b="0" strike="noStrike" spc="-1">
                <a:solidFill>
                  <a:srgbClr val="0F172A"/>
                </a:solidFill>
                <a:latin typeface="Calibri"/>
              </a:rPr>
              <a:t>▸  Output gates (LLM Guard)</a:t>
            </a:r>
            <a:endParaRPr lang="en-US" sz="1200" b="0" strike="noStrike" spc="-1">
              <a:solidFill>
                <a:srgbClr val="000000"/>
              </a:solidFill>
              <a:latin typeface="Arial"/>
            </a:endParaRPr>
          </a:p>
        </p:txBody>
      </p:sp>
      <p:sp>
        <p:nvSpPr>
          <p:cNvPr id="175" name="Tagline"/>
          <p:cNvSpPr/>
          <p:nvPr/>
        </p:nvSpPr>
        <p:spPr>
          <a:xfrm>
            <a:off x="731520" y="5715000"/>
            <a:ext cx="1072872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1600" b="1" strike="noStrike" spc="-1">
                <a:solidFill>
                  <a:srgbClr val="0F172A"/>
                </a:solidFill>
                <a:latin typeface="Trebuchet MS"/>
              </a:rPr>
              <a:t>Five of today's demos are live. The sixth is the slide that follows.</a:t>
            </a:r>
            <a:endParaRPr lang="en-US" sz="1600" b="0" strike="noStrike" spc="-1">
              <a:solidFill>
                <a:srgbClr val="000000"/>
              </a:solidFill>
              <a:latin typeface="Arial"/>
            </a:endParaRPr>
          </a:p>
          <a:p>
            <a:pPr algn="ctr" defTabSz="914400">
              <a:lnSpc>
                <a:spcPct val="100000"/>
              </a:lnSpc>
              <a:spcBef>
                <a:spcPts val="201"/>
              </a:spcBef>
              <a:tabLst>
                <a:tab pos="0" algn="l"/>
              </a:tabLst>
            </a:pPr>
            <a:r>
              <a:rPr lang="en-US" sz="1200" b="0" i="1" strike="noStrike" spc="-1">
                <a:solidFill>
                  <a:srgbClr val="64748B"/>
                </a:solidFill>
                <a:latin typeface="Calibri"/>
              </a:rPr>
              <a:t>Most controls land server-side, which is where your MLOps pipeline already runs.</a:t>
            </a:r>
            <a:endParaRPr lang="en-US" sz="1200" b="0" strike="noStrike" spc="-1">
              <a:solidFill>
                <a:srgbClr val="000000"/>
              </a:solidFill>
              <a:latin typeface="Arial"/>
            </a:endParaRPr>
          </a:p>
        </p:txBody>
      </p:sp>
      <p:sp>
        <p:nvSpPr>
          <p:cNvPr id="176" name="PageNum"/>
          <p:cNvSpPr/>
          <p:nvPr/>
        </p:nvSpPr>
        <p:spPr>
          <a:xfrm>
            <a:off x="11430000" y="658368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Calibri"/>
              </a:rPr>
              <a:t>6 / 16</a:t>
            </a:r>
            <a:endParaRPr lang="en-US" sz="900" b="0" strike="noStrike" spc="-1">
              <a:solidFill>
                <a:srgbClr val="000000"/>
              </a:solidFill>
              <a:latin typeface="Arial"/>
            </a:endParaRPr>
          </a:p>
        </p:txBody>
      </p:sp>
      <p:sp>
        <p:nvSpPr>
          <p:cNvPr id="177" name="Footer"/>
          <p:cNvSpPr/>
          <p:nvPr/>
        </p:nvSpPr>
        <p:spPr>
          <a:xfrm>
            <a:off x="228600" y="6583680"/>
            <a:ext cx="32000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Calibri"/>
              </a:rPr>
              <a:t>LLMday Austin · May 12, 2026</a:t>
            </a:r>
            <a:endParaRPr lang="en-US" sz="900" b="0" strike="noStrike" spc="-1">
              <a:solidFill>
                <a:srgbClr val="000000"/>
              </a:solidFill>
              <a:latin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AFAFA"/>
        </a:solidFill>
        <a:effectLst/>
      </p:bgPr>
    </p:bg>
    <p:spTree>
      <p:nvGrpSpPr>
        <p:cNvPr id="1" name=""/>
        <p:cNvGrpSpPr/>
        <p:nvPr/>
      </p:nvGrpSpPr>
      <p:grpSpPr>
        <a:xfrm>
          <a:off x="0" y="0"/>
          <a:ext cx="0" cy="0"/>
          <a:chOff x="0" y="0"/>
          <a:chExt cx="0" cy="0"/>
        </a:xfrm>
      </p:grpSpPr>
      <p:sp>
        <p:nvSpPr>
          <p:cNvPr id="178" name="Title"/>
          <p:cNvSpPr/>
          <p:nvPr/>
        </p:nvSpPr>
        <p:spPr>
          <a:xfrm>
            <a:off x="731520" y="274320"/>
            <a:ext cx="107287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400" b="1" strike="noStrike" spc="-1">
                <a:solidFill>
                  <a:srgbClr val="0F172A"/>
                </a:solidFill>
                <a:latin typeface="Trebuchet MS"/>
              </a:rPr>
              <a:t>Six gates. Five live.</a:t>
            </a:r>
            <a:endParaRPr lang="en-US" sz="4400" b="0" strike="noStrike" spc="-1">
              <a:solidFill>
                <a:srgbClr val="000000"/>
              </a:solidFill>
              <a:latin typeface="Arial"/>
            </a:endParaRPr>
          </a:p>
        </p:txBody>
      </p:sp>
      <p:sp>
        <p:nvSpPr>
          <p:cNvPr id="179" name="Subtitle"/>
          <p:cNvSpPr/>
          <p:nvPr/>
        </p:nvSpPr>
        <p:spPr>
          <a:xfrm>
            <a:off x="731520" y="960120"/>
            <a:ext cx="10728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700" b="0" i="1" strike="noStrike" spc="-1">
                <a:solidFill>
                  <a:srgbClr val="64748B"/>
                </a:solidFill>
                <a:latin typeface="Calibri"/>
              </a:rPr>
              <a:t>Here's what's coming. Each demo blocks a different attack on the same target.</a:t>
            </a:r>
            <a:endParaRPr lang="en-US" sz="1700" b="0" strike="noStrike" spc="-1">
              <a:solidFill>
                <a:srgbClr val="000000"/>
              </a:solidFill>
              <a:latin typeface="Arial"/>
            </a:endParaRPr>
          </a:p>
        </p:txBody>
      </p:sp>
      <p:sp>
        <p:nvSpPr>
          <p:cNvPr id="180" name="DemoCard_1"/>
          <p:cNvSpPr/>
          <p:nvPr/>
        </p:nvSpPr>
        <p:spPr>
          <a:xfrm>
            <a:off x="518040" y="1645920"/>
            <a:ext cx="3657240" cy="2102760"/>
          </a:xfrm>
          <a:prstGeom prst="roundRect">
            <a:avLst>
              <a:gd name="adj" fmla="val 8000"/>
            </a:avLst>
          </a:prstGeom>
          <a:solidFill>
            <a:srgbClr val="FFFFFF"/>
          </a:solidFill>
          <a:ln w="28575">
            <a:solidFill>
              <a:srgbClr val="A100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1" name="DemoHeader_1"/>
          <p:cNvSpPr/>
          <p:nvPr/>
        </p:nvSpPr>
        <p:spPr>
          <a:xfrm>
            <a:off x="518040" y="1645920"/>
            <a:ext cx="3657240" cy="502560"/>
          </a:xfrm>
          <a:prstGeom prst="roundRect">
            <a:avLst>
              <a:gd name="adj" fmla="val 8000"/>
            </a:avLst>
          </a:prstGeom>
          <a:solidFill>
            <a:srgbClr val="A10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2" name="DemoNum_1"/>
          <p:cNvSpPr/>
          <p:nvPr/>
        </p:nvSpPr>
        <p:spPr>
          <a:xfrm>
            <a:off x="655200" y="1645920"/>
            <a:ext cx="33829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Trebuchet MS"/>
              </a:rPr>
              <a:t>DEMO 1</a:t>
            </a:r>
            <a:endParaRPr lang="en-US" sz="1500" b="0" strike="noStrike" spc="-1">
              <a:solidFill>
                <a:srgbClr val="000000"/>
              </a:solidFill>
              <a:latin typeface="Arial"/>
            </a:endParaRPr>
          </a:p>
        </p:txBody>
      </p:sp>
      <p:sp>
        <p:nvSpPr>
          <p:cNvPr id="183" name="DemoStatus_1"/>
          <p:cNvSpPr/>
          <p:nvPr/>
        </p:nvSpPr>
        <p:spPr>
          <a:xfrm>
            <a:off x="3352680" y="1737360"/>
            <a:ext cx="731160" cy="319680"/>
          </a:xfrm>
          <a:prstGeom prst="roundRect">
            <a:avLst>
              <a:gd name="adj" fmla="val 8000"/>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4" name="DemoStatusText_1"/>
          <p:cNvSpPr/>
          <p:nvPr/>
        </p:nvSpPr>
        <p:spPr>
          <a:xfrm>
            <a:off x="3352680" y="1737360"/>
            <a:ext cx="731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A100FF"/>
                </a:solidFill>
                <a:latin typeface="Trebuchet MS"/>
              </a:rPr>
              <a:t>● LIVE</a:t>
            </a:r>
            <a:endParaRPr lang="en-US" sz="900" b="0" strike="noStrike" spc="-1">
              <a:solidFill>
                <a:srgbClr val="000000"/>
              </a:solidFill>
              <a:latin typeface="Arial"/>
            </a:endParaRPr>
          </a:p>
        </p:txBody>
      </p:sp>
      <p:sp>
        <p:nvSpPr>
          <p:cNvPr id="185" name="DemoTitle_1"/>
          <p:cNvSpPr/>
          <p:nvPr/>
        </p:nvSpPr>
        <p:spPr>
          <a:xfrm>
            <a:off x="700920" y="2286000"/>
            <a:ext cx="3291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strike="noStrike" spc="-1">
                <a:solidFill>
                  <a:srgbClr val="0F172A"/>
                </a:solidFill>
                <a:latin typeface="Trebuchet MS"/>
              </a:rPr>
              <a:t>PreToolUse hook</a:t>
            </a:r>
            <a:endParaRPr lang="en-US" sz="2400" b="0" strike="noStrike" spc="-1">
              <a:solidFill>
                <a:srgbClr val="000000"/>
              </a:solidFill>
              <a:latin typeface="Arial"/>
            </a:endParaRPr>
          </a:p>
        </p:txBody>
      </p:sp>
      <p:sp>
        <p:nvSpPr>
          <p:cNvPr id="186" name="DemoZone_1"/>
          <p:cNvSpPr/>
          <p:nvPr/>
        </p:nvSpPr>
        <p:spPr>
          <a:xfrm>
            <a:off x="700920" y="2834640"/>
            <a:ext cx="32914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A100FF"/>
                </a:solidFill>
                <a:latin typeface="Trebuchet MS"/>
              </a:rPr>
              <a:t>APP / AGENT</a:t>
            </a:r>
            <a:endParaRPr lang="en-US" sz="1000" b="0" strike="noStrike" spc="-1">
              <a:solidFill>
                <a:srgbClr val="000000"/>
              </a:solidFill>
              <a:latin typeface="Arial"/>
            </a:endParaRPr>
          </a:p>
        </p:txBody>
      </p:sp>
      <p:sp>
        <p:nvSpPr>
          <p:cNvPr id="187" name="DemoMech_1"/>
          <p:cNvSpPr/>
          <p:nvPr/>
        </p:nvSpPr>
        <p:spPr>
          <a:xfrm>
            <a:off x="700920" y="3145680"/>
            <a:ext cx="32914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i="1" strike="noStrike" spc="-1">
                <a:solidFill>
                  <a:srgbClr val="64748B"/>
                </a:solidFill>
                <a:latin typeface="Calibri"/>
              </a:rPr>
              <a:t>Validation gate before the agent acts</a:t>
            </a:r>
            <a:endParaRPr lang="en-US" sz="1100" b="0" strike="noStrike" spc="-1">
              <a:solidFill>
                <a:srgbClr val="000000"/>
              </a:solidFill>
              <a:latin typeface="Arial"/>
            </a:endParaRPr>
          </a:p>
        </p:txBody>
      </p:sp>
      <p:sp>
        <p:nvSpPr>
          <p:cNvPr id="188" name="DemoCard_2"/>
          <p:cNvSpPr/>
          <p:nvPr/>
        </p:nvSpPr>
        <p:spPr>
          <a:xfrm>
            <a:off x="4267080" y="1645920"/>
            <a:ext cx="3657240" cy="2102760"/>
          </a:xfrm>
          <a:prstGeom prst="roundRect">
            <a:avLst>
              <a:gd name="adj" fmla="val 8000"/>
            </a:avLst>
          </a:prstGeom>
          <a:solidFill>
            <a:srgbClr val="FFFFFF"/>
          </a:solidFill>
          <a:ln w="28575">
            <a:solidFill>
              <a:srgbClr val="EAB308"/>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89" name="DemoHeader_2"/>
          <p:cNvSpPr/>
          <p:nvPr/>
        </p:nvSpPr>
        <p:spPr>
          <a:xfrm>
            <a:off x="4267080" y="1645920"/>
            <a:ext cx="3657240" cy="502560"/>
          </a:xfrm>
          <a:prstGeom prst="roundRect">
            <a:avLst>
              <a:gd name="adj" fmla="val 8000"/>
            </a:avLst>
          </a:prstGeom>
          <a:solidFill>
            <a:srgbClr val="EAB30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0" name="DemoNum_2"/>
          <p:cNvSpPr/>
          <p:nvPr/>
        </p:nvSpPr>
        <p:spPr>
          <a:xfrm>
            <a:off x="4404240" y="1645920"/>
            <a:ext cx="33829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Trebuchet MS"/>
              </a:rPr>
              <a:t>DEMO 2</a:t>
            </a:r>
            <a:endParaRPr lang="en-US" sz="1500" b="0" strike="noStrike" spc="-1">
              <a:solidFill>
                <a:srgbClr val="000000"/>
              </a:solidFill>
              <a:latin typeface="Arial"/>
            </a:endParaRPr>
          </a:p>
        </p:txBody>
      </p:sp>
      <p:sp>
        <p:nvSpPr>
          <p:cNvPr id="191" name="DemoStatus_2"/>
          <p:cNvSpPr/>
          <p:nvPr/>
        </p:nvSpPr>
        <p:spPr>
          <a:xfrm>
            <a:off x="7101720" y="1737360"/>
            <a:ext cx="731160" cy="319680"/>
          </a:xfrm>
          <a:prstGeom prst="roundRect">
            <a:avLst>
              <a:gd name="adj" fmla="val 8000"/>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2" name="DemoStatusText_2"/>
          <p:cNvSpPr/>
          <p:nvPr/>
        </p:nvSpPr>
        <p:spPr>
          <a:xfrm>
            <a:off x="7101720" y="1737360"/>
            <a:ext cx="731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EAB308"/>
                </a:solidFill>
                <a:latin typeface="Trebuchet MS"/>
              </a:rPr>
              <a:t>● LIVE</a:t>
            </a:r>
            <a:endParaRPr lang="en-US" sz="900" b="0" strike="noStrike" spc="-1">
              <a:solidFill>
                <a:srgbClr val="000000"/>
              </a:solidFill>
              <a:latin typeface="Arial"/>
            </a:endParaRPr>
          </a:p>
        </p:txBody>
      </p:sp>
      <p:sp>
        <p:nvSpPr>
          <p:cNvPr id="193" name="DemoTitle_2"/>
          <p:cNvSpPr/>
          <p:nvPr/>
        </p:nvSpPr>
        <p:spPr>
          <a:xfrm>
            <a:off x="4449960" y="2286000"/>
            <a:ext cx="3291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strike="noStrike" spc="-1">
                <a:solidFill>
                  <a:srgbClr val="0F172A"/>
                </a:solidFill>
                <a:latin typeface="Trebuchet MS"/>
              </a:rPr>
              <a:t>Git pre-commit</a:t>
            </a:r>
            <a:endParaRPr lang="en-US" sz="2400" b="0" strike="noStrike" spc="-1">
              <a:solidFill>
                <a:srgbClr val="000000"/>
              </a:solidFill>
              <a:latin typeface="Arial"/>
            </a:endParaRPr>
          </a:p>
        </p:txBody>
      </p:sp>
      <p:sp>
        <p:nvSpPr>
          <p:cNvPr id="194" name="DemoZone_2"/>
          <p:cNvSpPr/>
          <p:nvPr/>
        </p:nvSpPr>
        <p:spPr>
          <a:xfrm>
            <a:off x="4449960" y="2834640"/>
            <a:ext cx="32914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EAB308"/>
                </a:solidFill>
                <a:latin typeface="Trebuchet MS"/>
              </a:rPr>
              <a:t>CLIENT-SIDE</a:t>
            </a:r>
            <a:endParaRPr lang="en-US" sz="1000" b="0" strike="noStrike" spc="-1">
              <a:solidFill>
                <a:srgbClr val="000000"/>
              </a:solidFill>
              <a:latin typeface="Arial"/>
            </a:endParaRPr>
          </a:p>
        </p:txBody>
      </p:sp>
      <p:sp>
        <p:nvSpPr>
          <p:cNvPr id="195" name="DemoMech_2"/>
          <p:cNvSpPr/>
          <p:nvPr/>
        </p:nvSpPr>
        <p:spPr>
          <a:xfrm>
            <a:off x="4449960" y="3145680"/>
            <a:ext cx="32914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i="1" strike="noStrike" spc="-1">
                <a:solidFill>
                  <a:srgbClr val="64748B"/>
                </a:solidFill>
                <a:latin typeface="Calibri"/>
              </a:rPr>
              <a:t>Protected paths, signed committers</a:t>
            </a:r>
            <a:endParaRPr lang="en-US" sz="1100" b="0" strike="noStrike" spc="-1">
              <a:solidFill>
                <a:srgbClr val="000000"/>
              </a:solidFill>
              <a:latin typeface="Arial"/>
            </a:endParaRPr>
          </a:p>
        </p:txBody>
      </p:sp>
      <p:sp>
        <p:nvSpPr>
          <p:cNvPr id="196" name="DemoCard_3"/>
          <p:cNvSpPr/>
          <p:nvPr/>
        </p:nvSpPr>
        <p:spPr>
          <a:xfrm>
            <a:off x="8016120" y="1645920"/>
            <a:ext cx="3657240" cy="2102760"/>
          </a:xfrm>
          <a:prstGeom prst="roundRect">
            <a:avLst>
              <a:gd name="adj" fmla="val 8000"/>
            </a:avLst>
          </a:prstGeom>
          <a:solidFill>
            <a:srgbClr val="FFFFFF"/>
          </a:solidFill>
          <a:ln w="28575">
            <a:solidFill>
              <a:srgbClr val="0EA5E9"/>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7" name="DemoHeader_3"/>
          <p:cNvSpPr/>
          <p:nvPr/>
        </p:nvSpPr>
        <p:spPr>
          <a:xfrm>
            <a:off x="8016120" y="1645920"/>
            <a:ext cx="3657240" cy="502560"/>
          </a:xfrm>
          <a:prstGeom prst="roundRect">
            <a:avLst>
              <a:gd name="adj" fmla="val 8000"/>
            </a:avLst>
          </a:prstGeom>
          <a:solidFill>
            <a:srgbClr val="0EA5E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198" name="DemoNum_3"/>
          <p:cNvSpPr/>
          <p:nvPr/>
        </p:nvSpPr>
        <p:spPr>
          <a:xfrm>
            <a:off x="8153280" y="1645920"/>
            <a:ext cx="33829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Trebuchet MS"/>
              </a:rPr>
              <a:t>DEMO 3</a:t>
            </a:r>
            <a:endParaRPr lang="en-US" sz="1500" b="0" strike="noStrike" spc="-1">
              <a:solidFill>
                <a:srgbClr val="000000"/>
              </a:solidFill>
              <a:latin typeface="Arial"/>
            </a:endParaRPr>
          </a:p>
        </p:txBody>
      </p:sp>
      <p:sp>
        <p:nvSpPr>
          <p:cNvPr id="199" name="DemoStatus_3"/>
          <p:cNvSpPr/>
          <p:nvPr/>
        </p:nvSpPr>
        <p:spPr>
          <a:xfrm>
            <a:off x="10850760" y="1737360"/>
            <a:ext cx="731160" cy="319680"/>
          </a:xfrm>
          <a:prstGeom prst="roundRect">
            <a:avLst>
              <a:gd name="adj" fmla="val 8000"/>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0" name="DemoStatusText_3"/>
          <p:cNvSpPr/>
          <p:nvPr/>
        </p:nvSpPr>
        <p:spPr>
          <a:xfrm>
            <a:off x="10850760" y="1737360"/>
            <a:ext cx="731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0EA5E9"/>
                </a:solidFill>
                <a:latin typeface="Trebuchet MS"/>
              </a:rPr>
              <a:t>● LIVE</a:t>
            </a:r>
            <a:endParaRPr lang="en-US" sz="900" b="0" strike="noStrike" spc="-1">
              <a:solidFill>
                <a:srgbClr val="000000"/>
              </a:solidFill>
              <a:latin typeface="Arial"/>
            </a:endParaRPr>
          </a:p>
        </p:txBody>
      </p:sp>
      <p:sp>
        <p:nvSpPr>
          <p:cNvPr id="201" name="DemoTitle_3"/>
          <p:cNvSpPr/>
          <p:nvPr/>
        </p:nvSpPr>
        <p:spPr>
          <a:xfrm>
            <a:off x="8168760" y="2053972"/>
            <a:ext cx="36572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strike="noStrike" spc="-1" dirty="0">
                <a:solidFill>
                  <a:srgbClr val="0F172A"/>
                </a:solidFill>
                <a:latin typeface="Trebuchet MS"/>
              </a:rPr>
              <a:t> </a:t>
            </a:r>
            <a:r>
              <a:rPr lang="en-US" sz="2400" b="1" strike="noStrike" spc="-1" dirty="0" err="1">
                <a:solidFill>
                  <a:srgbClr val="0F172A"/>
                </a:solidFill>
                <a:latin typeface="Trebuchet MS"/>
              </a:rPr>
              <a:t>ValidatingAdmissionPolicy</a:t>
            </a:r>
            <a:endParaRPr lang="en-US" sz="2400" b="0" strike="noStrike" spc="-1" dirty="0">
              <a:solidFill>
                <a:srgbClr val="000000"/>
              </a:solidFill>
              <a:latin typeface="Arial"/>
            </a:endParaRPr>
          </a:p>
        </p:txBody>
      </p:sp>
      <p:sp>
        <p:nvSpPr>
          <p:cNvPr id="202" name="DemoZone_3"/>
          <p:cNvSpPr/>
          <p:nvPr/>
        </p:nvSpPr>
        <p:spPr>
          <a:xfrm>
            <a:off x="8199000" y="2834640"/>
            <a:ext cx="32914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A5E9"/>
                </a:solidFill>
                <a:latin typeface="Trebuchet MS"/>
              </a:rPr>
              <a:t>SERVER-SIDE</a:t>
            </a:r>
            <a:endParaRPr lang="en-US" sz="1000" b="0" strike="noStrike" spc="-1">
              <a:solidFill>
                <a:srgbClr val="000000"/>
              </a:solidFill>
              <a:latin typeface="Arial"/>
            </a:endParaRPr>
          </a:p>
        </p:txBody>
      </p:sp>
      <p:sp>
        <p:nvSpPr>
          <p:cNvPr id="203" name="DemoMech_3"/>
          <p:cNvSpPr/>
          <p:nvPr/>
        </p:nvSpPr>
        <p:spPr>
          <a:xfrm>
            <a:off x="8199000" y="3145680"/>
            <a:ext cx="32914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i="1" strike="noStrike" spc="-1">
                <a:solidFill>
                  <a:srgbClr val="64748B"/>
                </a:solidFill>
                <a:latin typeface="Calibri"/>
              </a:rPr>
              <a:t>Admission control at the API</a:t>
            </a:r>
            <a:endParaRPr lang="en-US" sz="1100" b="0" strike="noStrike" spc="-1">
              <a:solidFill>
                <a:srgbClr val="000000"/>
              </a:solidFill>
              <a:latin typeface="Arial"/>
            </a:endParaRPr>
          </a:p>
        </p:txBody>
      </p:sp>
      <p:sp>
        <p:nvSpPr>
          <p:cNvPr id="204" name="DemoCard_4"/>
          <p:cNvSpPr/>
          <p:nvPr/>
        </p:nvSpPr>
        <p:spPr>
          <a:xfrm>
            <a:off x="518040" y="4023360"/>
            <a:ext cx="3657240" cy="2102760"/>
          </a:xfrm>
          <a:prstGeom prst="roundRect">
            <a:avLst>
              <a:gd name="adj" fmla="val 8000"/>
            </a:avLst>
          </a:prstGeom>
          <a:solidFill>
            <a:srgbClr val="FFFFFF"/>
          </a:solidFill>
          <a:ln w="28575">
            <a:solidFill>
              <a:srgbClr val="0EA5E9"/>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5" name="DemoHeader_4"/>
          <p:cNvSpPr/>
          <p:nvPr/>
        </p:nvSpPr>
        <p:spPr>
          <a:xfrm>
            <a:off x="518040" y="4023360"/>
            <a:ext cx="3657240" cy="502560"/>
          </a:xfrm>
          <a:prstGeom prst="roundRect">
            <a:avLst>
              <a:gd name="adj" fmla="val 8000"/>
            </a:avLst>
          </a:prstGeom>
          <a:solidFill>
            <a:srgbClr val="0EA5E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6" name="DemoNum_4"/>
          <p:cNvSpPr/>
          <p:nvPr/>
        </p:nvSpPr>
        <p:spPr>
          <a:xfrm>
            <a:off x="655200" y="4023360"/>
            <a:ext cx="33829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Trebuchet MS"/>
              </a:rPr>
              <a:t>DEMO 4</a:t>
            </a:r>
            <a:endParaRPr lang="en-US" sz="1500" b="0" strike="noStrike" spc="-1">
              <a:solidFill>
                <a:srgbClr val="000000"/>
              </a:solidFill>
              <a:latin typeface="Arial"/>
            </a:endParaRPr>
          </a:p>
        </p:txBody>
      </p:sp>
      <p:sp>
        <p:nvSpPr>
          <p:cNvPr id="207" name="DemoStatus_4"/>
          <p:cNvSpPr/>
          <p:nvPr/>
        </p:nvSpPr>
        <p:spPr>
          <a:xfrm>
            <a:off x="3352680" y="4114800"/>
            <a:ext cx="731160" cy="319680"/>
          </a:xfrm>
          <a:prstGeom prst="roundRect">
            <a:avLst>
              <a:gd name="adj" fmla="val 8000"/>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08" name="DemoStatusText_4"/>
          <p:cNvSpPr/>
          <p:nvPr/>
        </p:nvSpPr>
        <p:spPr>
          <a:xfrm>
            <a:off x="3352680" y="4114800"/>
            <a:ext cx="731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0EA5E9"/>
                </a:solidFill>
                <a:latin typeface="Trebuchet MS"/>
              </a:rPr>
              <a:t>● LIVE</a:t>
            </a:r>
            <a:endParaRPr lang="en-US" sz="900" b="0" strike="noStrike" spc="-1">
              <a:solidFill>
                <a:srgbClr val="000000"/>
              </a:solidFill>
              <a:latin typeface="Arial"/>
            </a:endParaRPr>
          </a:p>
        </p:txBody>
      </p:sp>
      <p:sp>
        <p:nvSpPr>
          <p:cNvPr id="209" name="DemoTitle_4"/>
          <p:cNvSpPr/>
          <p:nvPr/>
        </p:nvSpPr>
        <p:spPr>
          <a:xfrm>
            <a:off x="700920" y="4663440"/>
            <a:ext cx="3291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strike="noStrike" spc="-1">
                <a:solidFill>
                  <a:srgbClr val="0F172A"/>
                </a:solidFill>
                <a:latin typeface="Trebuchet MS"/>
              </a:rPr>
              <a:t>Falco + Talon</a:t>
            </a:r>
            <a:endParaRPr lang="en-US" sz="2400" b="0" strike="noStrike" spc="-1">
              <a:solidFill>
                <a:srgbClr val="000000"/>
              </a:solidFill>
              <a:latin typeface="Arial"/>
            </a:endParaRPr>
          </a:p>
        </p:txBody>
      </p:sp>
      <p:sp>
        <p:nvSpPr>
          <p:cNvPr id="210" name="DemoZone_4"/>
          <p:cNvSpPr/>
          <p:nvPr/>
        </p:nvSpPr>
        <p:spPr>
          <a:xfrm>
            <a:off x="700920" y="5212080"/>
            <a:ext cx="32914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A5E9"/>
                </a:solidFill>
                <a:latin typeface="Trebuchet MS"/>
              </a:rPr>
              <a:t>SERVER-SIDE</a:t>
            </a:r>
            <a:endParaRPr lang="en-US" sz="1000" b="0" strike="noStrike" spc="-1">
              <a:solidFill>
                <a:srgbClr val="000000"/>
              </a:solidFill>
              <a:latin typeface="Arial"/>
            </a:endParaRPr>
          </a:p>
        </p:txBody>
      </p:sp>
      <p:sp>
        <p:nvSpPr>
          <p:cNvPr id="211" name="DemoMech_4"/>
          <p:cNvSpPr/>
          <p:nvPr/>
        </p:nvSpPr>
        <p:spPr>
          <a:xfrm>
            <a:off x="700920" y="5523120"/>
            <a:ext cx="32914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i="1" strike="noStrike" spc="-1">
                <a:solidFill>
                  <a:srgbClr val="64748B"/>
                </a:solidFill>
                <a:latin typeface="Calibri"/>
              </a:rPr>
              <a:t>Runtime behavior detection</a:t>
            </a:r>
            <a:endParaRPr lang="en-US" sz="1100" b="0" strike="noStrike" spc="-1">
              <a:solidFill>
                <a:srgbClr val="000000"/>
              </a:solidFill>
              <a:latin typeface="Arial"/>
            </a:endParaRPr>
          </a:p>
        </p:txBody>
      </p:sp>
      <p:sp>
        <p:nvSpPr>
          <p:cNvPr id="212" name="DemoCard_5"/>
          <p:cNvSpPr/>
          <p:nvPr/>
        </p:nvSpPr>
        <p:spPr>
          <a:xfrm>
            <a:off x="4267080" y="4023360"/>
            <a:ext cx="3657240" cy="2102760"/>
          </a:xfrm>
          <a:prstGeom prst="roundRect">
            <a:avLst>
              <a:gd name="adj" fmla="val 8000"/>
            </a:avLst>
          </a:prstGeom>
          <a:solidFill>
            <a:srgbClr val="FFFFFF"/>
          </a:solidFill>
          <a:ln w="28575">
            <a:solidFill>
              <a:srgbClr val="0EA5E9"/>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3" name="DemoHeader_5"/>
          <p:cNvSpPr/>
          <p:nvPr/>
        </p:nvSpPr>
        <p:spPr>
          <a:xfrm>
            <a:off x="4267080" y="4023360"/>
            <a:ext cx="3657240" cy="502560"/>
          </a:xfrm>
          <a:prstGeom prst="roundRect">
            <a:avLst>
              <a:gd name="adj" fmla="val 8000"/>
            </a:avLst>
          </a:prstGeom>
          <a:solidFill>
            <a:srgbClr val="0EA5E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4" name="DemoNum_5"/>
          <p:cNvSpPr/>
          <p:nvPr/>
        </p:nvSpPr>
        <p:spPr>
          <a:xfrm>
            <a:off x="4404240" y="4023360"/>
            <a:ext cx="33829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Trebuchet MS"/>
              </a:rPr>
              <a:t>DEMO 5</a:t>
            </a:r>
            <a:endParaRPr lang="en-US" sz="1500" b="0" strike="noStrike" spc="-1">
              <a:solidFill>
                <a:srgbClr val="000000"/>
              </a:solidFill>
              <a:latin typeface="Arial"/>
            </a:endParaRPr>
          </a:p>
        </p:txBody>
      </p:sp>
      <p:sp>
        <p:nvSpPr>
          <p:cNvPr id="215" name="DemoStatus_5"/>
          <p:cNvSpPr/>
          <p:nvPr/>
        </p:nvSpPr>
        <p:spPr>
          <a:xfrm>
            <a:off x="7101720" y="4114800"/>
            <a:ext cx="731160" cy="319680"/>
          </a:xfrm>
          <a:prstGeom prst="roundRect">
            <a:avLst>
              <a:gd name="adj" fmla="val 8000"/>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16" name="DemoStatusText_5"/>
          <p:cNvSpPr/>
          <p:nvPr/>
        </p:nvSpPr>
        <p:spPr>
          <a:xfrm>
            <a:off x="7101720" y="4114800"/>
            <a:ext cx="73116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0EA5E9"/>
                </a:solidFill>
                <a:latin typeface="Trebuchet MS"/>
              </a:rPr>
              <a:t>● LIVE</a:t>
            </a:r>
            <a:endParaRPr lang="en-US" sz="900" b="0" strike="noStrike" spc="-1">
              <a:solidFill>
                <a:srgbClr val="000000"/>
              </a:solidFill>
              <a:latin typeface="Arial"/>
            </a:endParaRPr>
          </a:p>
        </p:txBody>
      </p:sp>
      <p:sp>
        <p:nvSpPr>
          <p:cNvPr id="217" name="DemoTitle_5"/>
          <p:cNvSpPr/>
          <p:nvPr/>
        </p:nvSpPr>
        <p:spPr>
          <a:xfrm>
            <a:off x="4449960" y="4663440"/>
            <a:ext cx="3291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strike="noStrike" spc="-1">
                <a:solidFill>
                  <a:srgbClr val="0F172A"/>
                </a:solidFill>
                <a:latin typeface="Trebuchet MS"/>
              </a:rPr>
              <a:t>NetworkPolicy</a:t>
            </a:r>
            <a:endParaRPr lang="en-US" sz="2400" b="0" strike="noStrike" spc="-1">
              <a:solidFill>
                <a:srgbClr val="000000"/>
              </a:solidFill>
              <a:latin typeface="Arial"/>
            </a:endParaRPr>
          </a:p>
        </p:txBody>
      </p:sp>
      <p:sp>
        <p:nvSpPr>
          <p:cNvPr id="218" name="DemoZone_5"/>
          <p:cNvSpPr/>
          <p:nvPr/>
        </p:nvSpPr>
        <p:spPr>
          <a:xfrm>
            <a:off x="4449960" y="5212080"/>
            <a:ext cx="32914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A5E9"/>
                </a:solidFill>
                <a:latin typeface="Trebuchet MS"/>
              </a:rPr>
              <a:t>SERVER-SIDE</a:t>
            </a:r>
            <a:endParaRPr lang="en-US" sz="1000" b="0" strike="noStrike" spc="-1">
              <a:solidFill>
                <a:srgbClr val="000000"/>
              </a:solidFill>
              <a:latin typeface="Arial"/>
            </a:endParaRPr>
          </a:p>
        </p:txBody>
      </p:sp>
      <p:sp>
        <p:nvSpPr>
          <p:cNvPr id="219" name="DemoMech_5"/>
          <p:cNvSpPr/>
          <p:nvPr/>
        </p:nvSpPr>
        <p:spPr>
          <a:xfrm>
            <a:off x="4449960" y="5523120"/>
            <a:ext cx="32914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i="1" strike="noStrike" spc="-1">
                <a:solidFill>
                  <a:srgbClr val="64748B"/>
                </a:solidFill>
                <a:latin typeface="Calibri"/>
              </a:rPr>
              <a:t>Data-path scope enforcement</a:t>
            </a:r>
            <a:endParaRPr lang="en-US" sz="1100" b="0" strike="noStrike" spc="-1">
              <a:solidFill>
                <a:srgbClr val="000000"/>
              </a:solidFill>
              <a:latin typeface="Arial"/>
            </a:endParaRPr>
          </a:p>
        </p:txBody>
      </p:sp>
      <p:sp>
        <p:nvSpPr>
          <p:cNvPr id="220" name="DemoCard_6"/>
          <p:cNvSpPr/>
          <p:nvPr/>
        </p:nvSpPr>
        <p:spPr>
          <a:xfrm>
            <a:off x="8016120" y="4023360"/>
            <a:ext cx="3657240" cy="2102760"/>
          </a:xfrm>
          <a:prstGeom prst="roundRect">
            <a:avLst>
              <a:gd name="adj" fmla="val 8000"/>
            </a:avLst>
          </a:prstGeom>
          <a:solidFill>
            <a:srgbClr val="F1F5F9"/>
          </a:solidFill>
          <a:ln w="22225">
            <a:solidFill>
              <a:srgbClr val="0EA5E9"/>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1" name="DemoHeader_6"/>
          <p:cNvSpPr/>
          <p:nvPr/>
        </p:nvSpPr>
        <p:spPr>
          <a:xfrm>
            <a:off x="8016120" y="4023360"/>
            <a:ext cx="3657240" cy="502560"/>
          </a:xfrm>
          <a:prstGeom prst="roundRect">
            <a:avLst>
              <a:gd name="adj" fmla="val 8000"/>
            </a:avLst>
          </a:prstGeom>
          <a:solidFill>
            <a:srgbClr val="0EA5E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2" name="DemoNum_6"/>
          <p:cNvSpPr/>
          <p:nvPr/>
        </p:nvSpPr>
        <p:spPr>
          <a:xfrm>
            <a:off x="8153280" y="4023360"/>
            <a:ext cx="338292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FFFFF"/>
                </a:solidFill>
                <a:latin typeface="Trebuchet MS"/>
              </a:rPr>
              <a:t>DEMO 6</a:t>
            </a:r>
            <a:endParaRPr lang="en-US" sz="1500" b="0" strike="noStrike" spc="-1">
              <a:solidFill>
                <a:srgbClr val="000000"/>
              </a:solidFill>
              <a:latin typeface="Arial"/>
            </a:endParaRPr>
          </a:p>
        </p:txBody>
      </p:sp>
      <p:sp>
        <p:nvSpPr>
          <p:cNvPr id="223" name="DemoStatus_6"/>
          <p:cNvSpPr/>
          <p:nvPr/>
        </p:nvSpPr>
        <p:spPr>
          <a:xfrm>
            <a:off x="10302120" y="4114800"/>
            <a:ext cx="1279800" cy="319680"/>
          </a:xfrm>
          <a:prstGeom prst="roundRect">
            <a:avLst>
              <a:gd name="adj" fmla="val 8000"/>
            </a:avLst>
          </a:prstGeom>
          <a:solidFill>
            <a:srgbClr val="FFFF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224" name="DemoStatusText_6"/>
          <p:cNvSpPr/>
          <p:nvPr/>
        </p:nvSpPr>
        <p:spPr>
          <a:xfrm>
            <a:off x="10302120" y="4114800"/>
            <a:ext cx="127980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900" b="1" strike="noStrike" spc="-1">
                <a:solidFill>
                  <a:srgbClr val="0EA5E9"/>
                </a:solidFill>
                <a:latin typeface="Trebuchet MS"/>
              </a:rPr>
              <a:t>○ ON THE SLIDE</a:t>
            </a:r>
            <a:endParaRPr lang="en-US" sz="900" b="0" strike="noStrike" spc="-1">
              <a:solidFill>
                <a:srgbClr val="000000"/>
              </a:solidFill>
              <a:latin typeface="Arial"/>
            </a:endParaRPr>
          </a:p>
        </p:txBody>
      </p:sp>
      <p:sp>
        <p:nvSpPr>
          <p:cNvPr id="225" name="DemoTitle_6"/>
          <p:cNvSpPr/>
          <p:nvPr/>
        </p:nvSpPr>
        <p:spPr>
          <a:xfrm>
            <a:off x="8199000" y="4663440"/>
            <a:ext cx="32914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400" b="1" strike="noStrike" spc="-1">
                <a:solidFill>
                  <a:srgbClr val="0F172A"/>
                </a:solidFill>
                <a:latin typeface="Trebuchet MS"/>
              </a:rPr>
              <a:t>LLM Guard</a:t>
            </a:r>
            <a:endParaRPr lang="en-US" sz="2400" b="0" strike="noStrike" spc="-1">
              <a:solidFill>
                <a:srgbClr val="000000"/>
              </a:solidFill>
              <a:latin typeface="Arial"/>
            </a:endParaRPr>
          </a:p>
        </p:txBody>
      </p:sp>
      <p:sp>
        <p:nvSpPr>
          <p:cNvPr id="226" name="DemoZone_6"/>
          <p:cNvSpPr/>
          <p:nvPr/>
        </p:nvSpPr>
        <p:spPr>
          <a:xfrm>
            <a:off x="8199000" y="5212080"/>
            <a:ext cx="32914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strike="noStrike" spc="-1">
                <a:solidFill>
                  <a:srgbClr val="0EA5E9"/>
                </a:solidFill>
                <a:latin typeface="Trebuchet MS"/>
              </a:rPr>
              <a:t>SERVER-SIDE</a:t>
            </a:r>
            <a:endParaRPr lang="en-US" sz="1000" b="0" strike="noStrike" spc="-1">
              <a:solidFill>
                <a:srgbClr val="000000"/>
              </a:solidFill>
              <a:latin typeface="Arial"/>
            </a:endParaRPr>
          </a:p>
        </p:txBody>
      </p:sp>
      <p:sp>
        <p:nvSpPr>
          <p:cNvPr id="227" name="DemoMech_6"/>
          <p:cNvSpPr/>
          <p:nvPr/>
        </p:nvSpPr>
        <p:spPr>
          <a:xfrm>
            <a:off x="8199000" y="5523120"/>
            <a:ext cx="32914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100" b="0" i="1" strike="noStrike" spc="-1">
                <a:solidFill>
                  <a:srgbClr val="64748B"/>
                </a:solidFill>
                <a:latin typeface="Calibri"/>
              </a:rPr>
              <a:t>Output content gate</a:t>
            </a:r>
            <a:endParaRPr lang="en-US" sz="1100" b="0" strike="noStrike" spc="-1">
              <a:solidFill>
                <a:srgbClr val="000000"/>
              </a:solidFill>
              <a:latin typeface="Arial"/>
            </a:endParaRPr>
          </a:p>
        </p:txBody>
      </p:sp>
      <p:sp>
        <p:nvSpPr>
          <p:cNvPr id="228" name="PageNum"/>
          <p:cNvSpPr/>
          <p:nvPr/>
        </p:nvSpPr>
        <p:spPr>
          <a:xfrm>
            <a:off x="11430000" y="658368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Calibri"/>
              </a:rPr>
              <a:t>7 / 16</a:t>
            </a:r>
            <a:endParaRPr lang="en-US" sz="900" b="0" strike="noStrike" spc="-1">
              <a:solidFill>
                <a:srgbClr val="000000"/>
              </a:solidFill>
              <a:latin typeface="Arial"/>
            </a:endParaRPr>
          </a:p>
        </p:txBody>
      </p:sp>
      <p:sp>
        <p:nvSpPr>
          <p:cNvPr id="229" name="Footer"/>
          <p:cNvSpPr/>
          <p:nvPr/>
        </p:nvSpPr>
        <p:spPr>
          <a:xfrm>
            <a:off x="228600" y="6583680"/>
            <a:ext cx="32000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Calibri"/>
              </a:rPr>
              <a:t>LLMday Austin · May 12, 2026</a:t>
            </a:r>
            <a:endParaRPr lang="en-US" sz="900" b="0" strike="noStrike" spc="-1">
              <a:solidFill>
                <a:srgbClr val="000000"/>
              </a:solidFill>
              <a:latin typeface="Aria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30" name="Text 0"/>
          <p:cNvSpPr/>
          <p:nvPr/>
        </p:nvSpPr>
        <p:spPr>
          <a:xfrm>
            <a:off x="548640" y="45720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797">
                <a:solidFill>
                  <a:srgbClr val="A100FF"/>
                </a:solidFill>
                <a:latin typeface="Trebuchet MS"/>
                <a:ea typeface="Trebuchet MS"/>
              </a:rPr>
              <a:t>DEMO 1 OF 6  ·  LIVE</a:t>
            </a:r>
            <a:endParaRPr lang="en-US" sz="1400" b="0" strike="noStrike" spc="-1">
              <a:solidFill>
                <a:srgbClr val="FFFFFF"/>
              </a:solidFill>
              <a:latin typeface="Arial"/>
            </a:endParaRPr>
          </a:p>
        </p:txBody>
      </p:sp>
      <p:sp>
        <p:nvSpPr>
          <p:cNvPr id="231" name="Text 1"/>
          <p:cNvSpPr/>
          <p:nvPr/>
        </p:nvSpPr>
        <p:spPr>
          <a:xfrm>
            <a:off x="548640" y="1371600"/>
            <a:ext cx="110638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800" b="1" strike="noStrike" spc="-1">
                <a:solidFill>
                  <a:srgbClr val="F8FAFC"/>
                </a:solidFill>
                <a:latin typeface="Trebuchet MS"/>
                <a:ea typeface="Trebuchet MS"/>
              </a:rPr>
              <a:t>PreToolUse hook</a:t>
            </a:r>
            <a:endParaRPr lang="en-US" sz="4800" b="0" strike="noStrike" spc="-1">
              <a:solidFill>
                <a:srgbClr val="FFFFFF"/>
              </a:solidFill>
              <a:latin typeface="Arial"/>
            </a:endParaRPr>
          </a:p>
        </p:txBody>
      </p:sp>
      <p:sp>
        <p:nvSpPr>
          <p:cNvPr id="232" name="Text 2"/>
          <p:cNvSpPr/>
          <p:nvPr/>
        </p:nvSpPr>
        <p:spPr>
          <a:xfrm>
            <a:off x="548640" y="2377440"/>
            <a:ext cx="110638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0" i="1" strike="noStrike" spc="-1">
                <a:solidFill>
                  <a:srgbClr val="CBD5E1"/>
                </a:solidFill>
                <a:latin typeface="Calibri"/>
                <a:ea typeface="Calibri"/>
              </a:rPr>
              <a:t>Validation gate. Applied before the agent acts.</a:t>
            </a:r>
            <a:endParaRPr lang="en-US" sz="2200" b="0" strike="noStrike" spc="-1">
              <a:solidFill>
                <a:srgbClr val="FFFFFF"/>
              </a:solidFill>
              <a:latin typeface="Arial"/>
            </a:endParaRPr>
          </a:p>
        </p:txBody>
      </p:sp>
      <p:pic>
        <p:nvPicPr>
          <p:cNvPr id="233" name="Image 0" descr="preencoded.png"/>
          <p:cNvPicPr/>
          <p:nvPr/>
        </p:nvPicPr>
        <p:blipFill>
          <a:blip r:embed="rId3"/>
          <a:stretch/>
        </p:blipFill>
        <p:spPr>
          <a:xfrm>
            <a:off x="5632560" y="3200400"/>
            <a:ext cx="914040" cy="914040"/>
          </a:xfrm>
          <a:prstGeom prst="rect">
            <a:avLst/>
          </a:prstGeom>
          <a:ln w="0">
            <a:noFill/>
          </a:ln>
        </p:spPr>
      </p:pic>
      <p:sp>
        <p:nvSpPr>
          <p:cNvPr id="234" name="Text 3"/>
          <p:cNvSpPr/>
          <p:nvPr/>
        </p:nvSpPr>
        <p:spPr>
          <a:xfrm>
            <a:off x="548640" y="420624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398">
                <a:solidFill>
                  <a:srgbClr val="C28A52"/>
                </a:solidFill>
                <a:latin typeface="Trebuchet MS"/>
                <a:ea typeface="Trebuchet MS"/>
              </a:rPr>
              <a:t>IN-AGENT PROCESS</a:t>
            </a:r>
            <a:endParaRPr lang="en-US" sz="1400" b="0" strike="noStrike" spc="-1">
              <a:solidFill>
                <a:srgbClr val="FFFFFF"/>
              </a:solidFill>
              <a:latin typeface="Arial"/>
            </a:endParaRPr>
          </a:p>
        </p:txBody>
      </p:sp>
      <p:sp>
        <p:nvSpPr>
          <p:cNvPr id="235" name="Text 4"/>
          <p:cNvSpPr/>
          <p:nvPr/>
        </p:nvSpPr>
        <p:spPr>
          <a:xfrm>
            <a:off x="1371600" y="4937760"/>
            <a:ext cx="9417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strike="noStrike" spc="-1">
                <a:solidFill>
                  <a:srgbClr val="E2E8F0"/>
                </a:solidFill>
                <a:latin typeface="Calibri"/>
                <a:ea typeface="Calibri"/>
              </a:rPr>
              <a:t>Agent tries to set image directly against the production namespace.</a:t>
            </a:r>
            <a:endParaRPr lang="en-US" sz="1600" b="0" strike="noStrike" spc="-1">
              <a:solidFill>
                <a:srgbClr val="FFFFFF"/>
              </a:solidFill>
              <a:latin typeface="Arial"/>
            </a:endParaRPr>
          </a:p>
        </p:txBody>
      </p:sp>
      <p:sp>
        <p:nvSpPr>
          <p:cNvPr id="236" name="Text 5"/>
          <p:cNvSpPr/>
          <p:nvPr/>
        </p:nvSpPr>
        <p:spPr>
          <a:xfrm>
            <a:off x="1371600" y="5349240"/>
            <a:ext cx="9417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DC2626"/>
                </a:solidFill>
                <a:latin typeface="Calibri"/>
                <a:ea typeface="Calibri"/>
              </a:rPr>
              <a:t>Hook intercepts. Agent reads the deny. Agent adapts.</a:t>
            </a:r>
            <a:endParaRPr lang="en-US" sz="1600" b="0" strike="noStrike" spc="-1">
              <a:solidFill>
                <a:srgbClr val="FFFFFF"/>
              </a:solidFill>
              <a:latin typeface="Arial"/>
            </a:endParaRPr>
          </a:p>
        </p:txBody>
      </p:sp>
      <p:sp>
        <p:nvSpPr>
          <p:cNvPr id="237" name="Text 6"/>
          <p:cNvSpPr/>
          <p:nvPr/>
        </p:nvSpPr>
        <p:spPr>
          <a:xfrm>
            <a:off x="548640" y="612648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BBF24"/>
                </a:solidFill>
                <a:latin typeface="Trebuchet MS"/>
                <a:ea typeface="Trebuchet MS"/>
              </a:rPr>
              <a:t>▶  START DEMO  ◀</a:t>
            </a:r>
            <a:endParaRPr lang="en-US" sz="2000" b="0" strike="noStrike" spc="-1">
              <a:solidFill>
                <a:srgbClr val="FFFFFF"/>
              </a:solidFill>
              <a:latin typeface="Arial"/>
            </a:endParaRPr>
          </a:p>
        </p:txBody>
      </p:sp>
      <p:sp>
        <p:nvSpPr>
          <p:cNvPr id="238" name="Text 7"/>
          <p:cNvSpPr/>
          <p:nvPr/>
        </p:nvSpPr>
        <p:spPr>
          <a:xfrm>
            <a:off x="11338560" y="6693480"/>
            <a:ext cx="731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Calibri"/>
                <a:ea typeface="Calibri"/>
              </a:rPr>
              <a:t>8 / 16</a:t>
            </a:r>
            <a:endParaRPr lang="en-US" sz="900" b="0" strike="noStrike" spc="-1">
              <a:solidFill>
                <a:srgbClr val="FFFFFF"/>
              </a:solidFill>
              <a:latin typeface="Arial"/>
            </a:endParaRPr>
          </a:p>
        </p:txBody>
      </p:sp>
      <p:pic>
        <p:nvPicPr>
          <p:cNvPr id="239" name="Minimap"/>
          <p:cNvPicPr/>
          <p:nvPr/>
        </p:nvPicPr>
        <p:blipFill>
          <a:blip r:embed="rId4"/>
          <a:stretch/>
        </p:blipFill>
        <p:spPr>
          <a:xfrm>
            <a:off x="9500040" y="200160"/>
            <a:ext cx="2399760" cy="1049760"/>
          </a:xfrm>
          <a:prstGeom prst="rect">
            <a:avLst/>
          </a:prstGeom>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40" name="Text 0"/>
          <p:cNvSpPr/>
          <p:nvPr/>
        </p:nvSpPr>
        <p:spPr>
          <a:xfrm>
            <a:off x="548640" y="45720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797">
                <a:solidFill>
                  <a:srgbClr val="EAB308"/>
                </a:solidFill>
                <a:latin typeface="Trebuchet MS"/>
                <a:ea typeface="Trebuchet MS"/>
              </a:rPr>
              <a:t>DEMO 2 OF 6  ·  LIVE</a:t>
            </a:r>
            <a:endParaRPr lang="en-US" sz="1400" b="0" strike="noStrike" spc="-1">
              <a:solidFill>
                <a:srgbClr val="FFFFFF"/>
              </a:solidFill>
              <a:latin typeface="Arial"/>
            </a:endParaRPr>
          </a:p>
        </p:txBody>
      </p:sp>
      <p:sp>
        <p:nvSpPr>
          <p:cNvPr id="241" name="Text 1"/>
          <p:cNvSpPr/>
          <p:nvPr/>
        </p:nvSpPr>
        <p:spPr>
          <a:xfrm>
            <a:off x="548640" y="1371600"/>
            <a:ext cx="110638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800" b="1" strike="noStrike" spc="-1">
                <a:solidFill>
                  <a:srgbClr val="F8FAFC"/>
                </a:solidFill>
                <a:latin typeface="Trebuchet MS"/>
                <a:ea typeface="Trebuchet MS"/>
              </a:rPr>
              <a:t>Git pre-commit hook</a:t>
            </a:r>
            <a:endParaRPr lang="en-US" sz="4800" b="0" strike="noStrike" spc="-1">
              <a:solidFill>
                <a:srgbClr val="FFFFFF"/>
              </a:solidFill>
              <a:latin typeface="Arial"/>
            </a:endParaRPr>
          </a:p>
        </p:txBody>
      </p:sp>
      <p:sp>
        <p:nvSpPr>
          <p:cNvPr id="242" name="Text 2"/>
          <p:cNvSpPr/>
          <p:nvPr/>
        </p:nvSpPr>
        <p:spPr>
          <a:xfrm>
            <a:off x="548640" y="2377440"/>
            <a:ext cx="110638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0" i="1" strike="noStrike" spc="-1">
                <a:solidFill>
                  <a:srgbClr val="CBD5E1"/>
                </a:solidFill>
                <a:latin typeface="Calibri"/>
                <a:ea typeface="Calibri"/>
              </a:rPr>
              <a:t>Model registry stage transition. Protected paths. Signed committers.</a:t>
            </a:r>
            <a:endParaRPr lang="en-US" sz="2200" b="0" strike="noStrike" spc="-1">
              <a:solidFill>
                <a:srgbClr val="FFFFFF"/>
              </a:solidFill>
              <a:latin typeface="Arial"/>
            </a:endParaRPr>
          </a:p>
        </p:txBody>
      </p:sp>
      <p:pic>
        <p:nvPicPr>
          <p:cNvPr id="243" name="Image 0" descr="preencoded.png"/>
          <p:cNvPicPr/>
          <p:nvPr/>
        </p:nvPicPr>
        <p:blipFill>
          <a:blip r:embed="rId3"/>
          <a:stretch/>
        </p:blipFill>
        <p:spPr>
          <a:xfrm>
            <a:off x="5632560" y="3200400"/>
            <a:ext cx="914040" cy="914040"/>
          </a:xfrm>
          <a:prstGeom prst="rect">
            <a:avLst/>
          </a:prstGeom>
          <a:ln w="0">
            <a:noFill/>
          </a:ln>
        </p:spPr>
      </p:pic>
      <p:sp>
        <p:nvSpPr>
          <p:cNvPr id="244" name="Text 3"/>
          <p:cNvSpPr/>
          <p:nvPr/>
        </p:nvSpPr>
        <p:spPr>
          <a:xfrm>
            <a:off x="548640" y="420624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398">
                <a:solidFill>
                  <a:srgbClr val="EAB308"/>
                </a:solidFill>
                <a:latin typeface="Trebuchet MS"/>
                <a:ea typeface="Trebuchet MS"/>
              </a:rPr>
              <a:t>CLIENT-SIDE</a:t>
            </a:r>
            <a:endParaRPr lang="en-US" sz="1400" b="0" strike="noStrike" spc="-1">
              <a:solidFill>
                <a:srgbClr val="FFFFFF"/>
              </a:solidFill>
              <a:latin typeface="Arial"/>
            </a:endParaRPr>
          </a:p>
        </p:txBody>
      </p:sp>
      <p:sp>
        <p:nvSpPr>
          <p:cNvPr id="245" name="Text 4"/>
          <p:cNvSpPr/>
          <p:nvPr/>
        </p:nvSpPr>
        <p:spPr>
          <a:xfrm>
            <a:off x="1371600" y="4937760"/>
            <a:ext cx="9417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strike="noStrike" spc="-1">
                <a:solidFill>
                  <a:srgbClr val="E2E8F0"/>
                </a:solidFill>
                <a:latin typeface="Calibri"/>
                <a:ea typeface="Calibri"/>
              </a:rPr>
              <a:t>Agent's next attempt is the IaC path. Edit the production manifest. Commit.</a:t>
            </a:r>
            <a:endParaRPr lang="en-US" sz="1600" b="0" strike="noStrike" spc="-1">
              <a:solidFill>
                <a:srgbClr val="FFFFFF"/>
              </a:solidFill>
              <a:latin typeface="Arial"/>
            </a:endParaRPr>
          </a:p>
        </p:txBody>
      </p:sp>
      <p:sp>
        <p:nvSpPr>
          <p:cNvPr id="246" name="Text 5"/>
          <p:cNvSpPr/>
          <p:nvPr/>
        </p:nvSpPr>
        <p:spPr>
          <a:xfrm>
            <a:off x="1371600" y="5349240"/>
            <a:ext cx="9417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EAB308"/>
                </a:solidFill>
                <a:latin typeface="Calibri"/>
                <a:ea typeface="Calibri"/>
              </a:rPr>
              <a:t>Pre-commit hook denies. Protected path. Non-human committer. Both fire.</a:t>
            </a:r>
            <a:endParaRPr lang="en-US" sz="1600" b="0" strike="noStrike" spc="-1">
              <a:solidFill>
                <a:srgbClr val="FFFFFF"/>
              </a:solidFill>
              <a:latin typeface="Arial"/>
            </a:endParaRPr>
          </a:p>
        </p:txBody>
      </p:sp>
      <p:sp>
        <p:nvSpPr>
          <p:cNvPr id="247" name="Text 6"/>
          <p:cNvSpPr/>
          <p:nvPr/>
        </p:nvSpPr>
        <p:spPr>
          <a:xfrm>
            <a:off x="548640" y="612648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BBF24"/>
                </a:solidFill>
                <a:latin typeface="Trebuchet MS"/>
                <a:ea typeface="Trebuchet MS"/>
              </a:rPr>
              <a:t>▶  START DEMO  ◀</a:t>
            </a:r>
            <a:endParaRPr lang="en-US" sz="2000" b="0" strike="noStrike" spc="-1">
              <a:solidFill>
                <a:srgbClr val="FFFFFF"/>
              </a:solidFill>
              <a:latin typeface="Arial"/>
            </a:endParaRPr>
          </a:p>
        </p:txBody>
      </p:sp>
      <p:sp>
        <p:nvSpPr>
          <p:cNvPr id="248" name="Text 7"/>
          <p:cNvSpPr/>
          <p:nvPr/>
        </p:nvSpPr>
        <p:spPr>
          <a:xfrm>
            <a:off x="11338560" y="6693480"/>
            <a:ext cx="731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Calibri"/>
                <a:ea typeface="Calibri"/>
              </a:rPr>
              <a:t>9 / 16</a:t>
            </a:r>
            <a:endParaRPr lang="en-US" sz="900" b="0" strike="noStrike" spc="-1">
              <a:solidFill>
                <a:srgbClr val="FFFFFF"/>
              </a:solidFill>
              <a:latin typeface="Arial"/>
            </a:endParaRPr>
          </a:p>
        </p:txBody>
      </p:sp>
      <p:pic>
        <p:nvPicPr>
          <p:cNvPr id="249" name="Minimap"/>
          <p:cNvPicPr/>
          <p:nvPr/>
        </p:nvPicPr>
        <p:blipFill>
          <a:blip r:embed="rId4"/>
          <a:stretch/>
        </p:blipFill>
        <p:spPr>
          <a:xfrm>
            <a:off x="9500040" y="200160"/>
            <a:ext cx="2399760" cy="1049760"/>
          </a:xfrm>
          <a:prstGeom prst="rect">
            <a:avLst/>
          </a:prstGeom>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50" name="Text 0"/>
          <p:cNvSpPr/>
          <p:nvPr/>
        </p:nvSpPr>
        <p:spPr>
          <a:xfrm>
            <a:off x="548640" y="45720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797">
                <a:solidFill>
                  <a:srgbClr val="0EA5E9"/>
                </a:solidFill>
                <a:latin typeface="Trebuchet MS"/>
                <a:ea typeface="Trebuchet MS"/>
              </a:rPr>
              <a:t>DEMO 3 OF 6  ·  LIVE</a:t>
            </a:r>
            <a:endParaRPr lang="en-US" sz="1400" b="0" strike="noStrike" spc="-1">
              <a:solidFill>
                <a:srgbClr val="FFFFFF"/>
              </a:solidFill>
              <a:latin typeface="Arial"/>
            </a:endParaRPr>
          </a:p>
        </p:txBody>
      </p:sp>
      <p:sp>
        <p:nvSpPr>
          <p:cNvPr id="251" name="Text 1"/>
          <p:cNvSpPr/>
          <p:nvPr/>
        </p:nvSpPr>
        <p:spPr>
          <a:xfrm>
            <a:off x="548640" y="1371600"/>
            <a:ext cx="110638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200" b="1" strike="noStrike" spc="-1">
                <a:solidFill>
                  <a:srgbClr val="F8FAFC"/>
                </a:solidFill>
                <a:latin typeface="Trebuchet MS"/>
                <a:ea typeface="Trebuchet MS"/>
              </a:rPr>
              <a:t>K8s ValidatingAdmissionPolicy</a:t>
            </a:r>
            <a:endParaRPr lang="en-US" sz="4200" b="0" strike="noStrike" spc="-1">
              <a:solidFill>
                <a:srgbClr val="FFFFFF"/>
              </a:solidFill>
              <a:latin typeface="Arial"/>
            </a:endParaRPr>
          </a:p>
        </p:txBody>
      </p:sp>
      <p:sp>
        <p:nvSpPr>
          <p:cNvPr id="252" name="Text 2"/>
          <p:cNvSpPr/>
          <p:nvPr/>
        </p:nvSpPr>
        <p:spPr>
          <a:xfrm>
            <a:off x="548640" y="2377440"/>
            <a:ext cx="110638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0" i="1" strike="noStrike" spc="-1">
                <a:solidFill>
                  <a:srgbClr val="CBD5E1"/>
                </a:solidFill>
                <a:latin typeface="Calibri"/>
                <a:ea typeface="Calibri"/>
              </a:rPr>
              <a:t>Admission control, where it always lived. The API server says no.</a:t>
            </a:r>
            <a:endParaRPr lang="en-US" sz="2200" b="0" strike="noStrike" spc="-1">
              <a:solidFill>
                <a:srgbClr val="FFFFFF"/>
              </a:solidFill>
              <a:latin typeface="Arial"/>
            </a:endParaRPr>
          </a:p>
        </p:txBody>
      </p:sp>
      <p:pic>
        <p:nvPicPr>
          <p:cNvPr id="253" name="Image 0" descr="preencoded.png"/>
          <p:cNvPicPr/>
          <p:nvPr/>
        </p:nvPicPr>
        <p:blipFill>
          <a:blip r:embed="rId3"/>
          <a:stretch/>
        </p:blipFill>
        <p:spPr>
          <a:xfrm>
            <a:off x="5632560" y="3200400"/>
            <a:ext cx="914040" cy="914040"/>
          </a:xfrm>
          <a:prstGeom prst="rect">
            <a:avLst/>
          </a:prstGeom>
          <a:ln w="0">
            <a:noFill/>
          </a:ln>
        </p:spPr>
      </p:pic>
      <p:sp>
        <p:nvSpPr>
          <p:cNvPr id="254" name="Text 3"/>
          <p:cNvSpPr/>
          <p:nvPr/>
        </p:nvSpPr>
        <p:spPr>
          <a:xfrm>
            <a:off x="548640" y="420624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398">
                <a:solidFill>
                  <a:srgbClr val="0EA5E9"/>
                </a:solidFill>
                <a:latin typeface="Trebuchet MS"/>
                <a:ea typeface="Trebuchet MS"/>
              </a:rPr>
              <a:t>SERVER-SIDE</a:t>
            </a:r>
            <a:endParaRPr lang="en-US" sz="1400" b="0" strike="noStrike" spc="-1">
              <a:solidFill>
                <a:srgbClr val="FFFFFF"/>
              </a:solidFill>
              <a:latin typeface="Arial"/>
            </a:endParaRPr>
          </a:p>
        </p:txBody>
      </p:sp>
      <p:sp>
        <p:nvSpPr>
          <p:cNvPr id="255" name="Text 4"/>
          <p:cNvSpPr/>
          <p:nvPr/>
        </p:nvSpPr>
        <p:spPr>
          <a:xfrm>
            <a:off x="1371600" y="4937760"/>
            <a:ext cx="9417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strike="noStrike" spc="-1">
                <a:solidFill>
                  <a:srgbClr val="E2E8F0"/>
                </a:solidFill>
                <a:latin typeface="Calibri"/>
                <a:ea typeface="Calibri"/>
              </a:rPr>
              <a:t>Agent gives up on local paths. Applies directly to the API.</a:t>
            </a:r>
            <a:endParaRPr lang="en-US" sz="1600" b="0" strike="noStrike" spc="-1">
              <a:solidFill>
                <a:srgbClr val="FFFFFF"/>
              </a:solidFill>
              <a:latin typeface="Arial"/>
            </a:endParaRPr>
          </a:p>
        </p:txBody>
      </p:sp>
      <p:sp>
        <p:nvSpPr>
          <p:cNvPr id="256" name="Text 5"/>
          <p:cNvSpPr/>
          <p:nvPr/>
        </p:nvSpPr>
        <p:spPr>
          <a:xfrm>
            <a:off x="1371600" y="5349240"/>
            <a:ext cx="9417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0EA5E9"/>
                </a:solidFill>
                <a:latin typeface="Calibri"/>
                <a:ea typeface="Calibri"/>
              </a:rPr>
              <a:t>ValidatingAdmissionPolicy denies. The cluster itself said no.</a:t>
            </a:r>
            <a:endParaRPr lang="en-US" sz="1600" b="0" strike="noStrike" spc="-1">
              <a:solidFill>
                <a:srgbClr val="FFFFFF"/>
              </a:solidFill>
              <a:latin typeface="Arial"/>
            </a:endParaRPr>
          </a:p>
        </p:txBody>
      </p:sp>
      <p:sp>
        <p:nvSpPr>
          <p:cNvPr id="257" name="Text 6"/>
          <p:cNvSpPr/>
          <p:nvPr/>
        </p:nvSpPr>
        <p:spPr>
          <a:xfrm>
            <a:off x="548640" y="612648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BBF24"/>
                </a:solidFill>
                <a:latin typeface="Trebuchet MS"/>
                <a:ea typeface="Trebuchet MS"/>
              </a:rPr>
              <a:t>▶  START DEMO  ◀</a:t>
            </a:r>
            <a:endParaRPr lang="en-US" sz="2000" b="0" strike="noStrike" spc="-1">
              <a:solidFill>
                <a:srgbClr val="FFFFFF"/>
              </a:solidFill>
              <a:latin typeface="Arial"/>
            </a:endParaRPr>
          </a:p>
        </p:txBody>
      </p:sp>
      <p:sp>
        <p:nvSpPr>
          <p:cNvPr id="258" name="Text 7"/>
          <p:cNvSpPr/>
          <p:nvPr/>
        </p:nvSpPr>
        <p:spPr>
          <a:xfrm>
            <a:off x="11338560" y="6693480"/>
            <a:ext cx="731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Calibri"/>
                <a:ea typeface="Calibri"/>
              </a:rPr>
              <a:t>10 / 16</a:t>
            </a:r>
            <a:endParaRPr lang="en-US" sz="900" b="0" strike="noStrike" spc="-1">
              <a:solidFill>
                <a:srgbClr val="FFFFFF"/>
              </a:solidFill>
              <a:latin typeface="Arial"/>
            </a:endParaRPr>
          </a:p>
        </p:txBody>
      </p:sp>
      <p:pic>
        <p:nvPicPr>
          <p:cNvPr id="259" name="Minimap"/>
          <p:cNvPicPr/>
          <p:nvPr/>
        </p:nvPicPr>
        <p:blipFill>
          <a:blip r:embed="rId4"/>
          <a:stretch/>
        </p:blipFill>
        <p:spPr>
          <a:xfrm>
            <a:off x="9500040" y="200160"/>
            <a:ext cx="2399760" cy="1049760"/>
          </a:xfrm>
          <a:prstGeom prst="rect">
            <a:avLst/>
          </a:prstGeom>
          <a:ln w="0">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60" name="Text 0"/>
          <p:cNvSpPr/>
          <p:nvPr/>
        </p:nvSpPr>
        <p:spPr>
          <a:xfrm>
            <a:off x="548640" y="45720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797">
                <a:solidFill>
                  <a:srgbClr val="0EA5E9"/>
                </a:solidFill>
                <a:latin typeface="Trebuchet MS"/>
                <a:ea typeface="Trebuchet MS"/>
              </a:rPr>
              <a:t>DEMO 4 OF 6  ·  LIVE</a:t>
            </a:r>
            <a:endParaRPr lang="en-US" sz="1400" b="0" strike="noStrike" spc="-1">
              <a:solidFill>
                <a:srgbClr val="FFFFFF"/>
              </a:solidFill>
              <a:latin typeface="Arial"/>
            </a:endParaRPr>
          </a:p>
        </p:txBody>
      </p:sp>
      <p:sp>
        <p:nvSpPr>
          <p:cNvPr id="261" name="Text 1"/>
          <p:cNvSpPr/>
          <p:nvPr/>
        </p:nvSpPr>
        <p:spPr>
          <a:xfrm>
            <a:off x="548640" y="1371600"/>
            <a:ext cx="110638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200" b="1" strike="noStrike" spc="-1">
                <a:solidFill>
                  <a:srgbClr val="F8FAFC"/>
                </a:solidFill>
                <a:latin typeface="Trebuchet MS"/>
                <a:ea typeface="Trebuchet MS"/>
              </a:rPr>
              <a:t>Runtime · Falco + Talon</a:t>
            </a:r>
            <a:endParaRPr lang="en-US" sz="4200" b="0" strike="noStrike" spc="-1">
              <a:solidFill>
                <a:srgbClr val="FFFFFF"/>
              </a:solidFill>
              <a:latin typeface="Arial"/>
            </a:endParaRPr>
          </a:p>
        </p:txBody>
      </p:sp>
      <p:sp>
        <p:nvSpPr>
          <p:cNvPr id="262" name="Text 2"/>
          <p:cNvSpPr/>
          <p:nvPr/>
        </p:nvSpPr>
        <p:spPr>
          <a:xfrm>
            <a:off x="548640" y="2377440"/>
            <a:ext cx="110638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0" i="1" strike="noStrike" spc="-1">
                <a:solidFill>
                  <a:srgbClr val="CBD5E1"/>
                </a:solidFill>
                <a:latin typeface="Calibri"/>
                <a:ea typeface="Calibri"/>
              </a:rPr>
              <a:t>Drift detection for behavior. Catch what admission cannot see.</a:t>
            </a:r>
            <a:endParaRPr lang="en-US" sz="2200" b="0" strike="noStrike" spc="-1">
              <a:solidFill>
                <a:srgbClr val="FFFFFF"/>
              </a:solidFill>
              <a:latin typeface="Arial"/>
            </a:endParaRPr>
          </a:p>
        </p:txBody>
      </p:sp>
      <p:pic>
        <p:nvPicPr>
          <p:cNvPr id="263" name="Image 0" descr="preencoded.png"/>
          <p:cNvPicPr/>
          <p:nvPr/>
        </p:nvPicPr>
        <p:blipFill>
          <a:blip r:embed="rId3"/>
          <a:stretch/>
        </p:blipFill>
        <p:spPr>
          <a:xfrm>
            <a:off x="5632560" y="3200400"/>
            <a:ext cx="914040" cy="914040"/>
          </a:xfrm>
          <a:prstGeom prst="rect">
            <a:avLst/>
          </a:prstGeom>
          <a:ln w="0">
            <a:noFill/>
          </a:ln>
        </p:spPr>
      </p:pic>
      <p:sp>
        <p:nvSpPr>
          <p:cNvPr id="264" name="Text 3"/>
          <p:cNvSpPr/>
          <p:nvPr/>
        </p:nvSpPr>
        <p:spPr>
          <a:xfrm>
            <a:off x="548640" y="420624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398">
                <a:solidFill>
                  <a:srgbClr val="0EA5E9"/>
                </a:solidFill>
                <a:latin typeface="Trebuchet MS"/>
                <a:ea typeface="Trebuchet MS"/>
              </a:rPr>
              <a:t>SERVER-SIDE · RUNTIME</a:t>
            </a:r>
            <a:endParaRPr lang="en-US" sz="1400" b="0" strike="noStrike" spc="-1">
              <a:solidFill>
                <a:srgbClr val="FFFFFF"/>
              </a:solidFill>
              <a:latin typeface="Arial"/>
            </a:endParaRPr>
          </a:p>
        </p:txBody>
      </p:sp>
      <p:sp>
        <p:nvSpPr>
          <p:cNvPr id="265" name="Text 4"/>
          <p:cNvSpPr/>
          <p:nvPr/>
        </p:nvSpPr>
        <p:spPr>
          <a:xfrm>
            <a:off x="1371600" y="4937760"/>
            <a:ext cx="9417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strike="noStrike" spc="-1">
                <a:solidFill>
                  <a:srgbClr val="E2E8F0"/>
                </a:solidFill>
                <a:latin typeface="Calibri"/>
                <a:ea typeface="Calibri"/>
              </a:rPr>
              <a:t>Agent execs into the model-server pod. Falco fires. Talon evicts.</a:t>
            </a:r>
            <a:endParaRPr lang="en-US" sz="1600" b="0" strike="noStrike" spc="-1">
              <a:solidFill>
                <a:srgbClr val="FFFFFF"/>
              </a:solidFill>
              <a:latin typeface="Arial"/>
            </a:endParaRPr>
          </a:p>
        </p:txBody>
      </p:sp>
      <p:sp>
        <p:nvSpPr>
          <p:cNvPr id="266" name="Text 5"/>
          <p:cNvSpPr/>
          <p:nvPr/>
        </p:nvSpPr>
        <p:spPr>
          <a:xfrm>
            <a:off x="1371600" y="5349240"/>
            <a:ext cx="9417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0EA5E9"/>
                </a:solidFill>
                <a:latin typeface="Calibri"/>
                <a:ea typeface="Calibri"/>
              </a:rPr>
              <a:t>Admission accepted the manifest. Runtime decided the behavior.</a:t>
            </a:r>
            <a:endParaRPr lang="en-US" sz="1600" b="0" strike="noStrike" spc="-1">
              <a:solidFill>
                <a:srgbClr val="FFFFFF"/>
              </a:solidFill>
              <a:latin typeface="Arial"/>
            </a:endParaRPr>
          </a:p>
        </p:txBody>
      </p:sp>
      <p:sp>
        <p:nvSpPr>
          <p:cNvPr id="267" name="Text 6"/>
          <p:cNvSpPr/>
          <p:nvPr/>
        </p:nvSpPr>
        <p:spPr>
          <a:xfrm>
            <a:off x="548640" y="612648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BBF24"/>
                </a:solidFill>
                <a:latin typeface="Trebuchet MS"/>
                <a:ea typeface="Trebuchet MS"/>
              </a:rPr>
              <a:t>▶  START DEMO  ◀</a:t>
            </a:r>
            <a:endParaRPr lang="en-US" sz="2000" b="0" strike="noStrike" spc="-1">
              <a:solidFill>
                <a:srgbClr val="FFFFFF"/>
              </a:solidFill>
              <a:latin typeface="Arial"/>
            </a:endParaRPr>
          </a:p>
        </p:txBody>
      </p:sp>
      <p:sp>
        <p:nvSpPr>
          <p:cNvPr id="268" name="Text 7"/>
          <p:cNvSpPr/>
          <p:nvPr/>
        </p:nvSpPr>
        <p:spPr>
          <a:xfrm>
            <a:off x="11338560" y="6693480"/>
            <a:ext cx="731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Calibri"/>
                <a:ea typeface="Calibri"/>
              </a:rPr>
              <a:t>11 / 16</a:t>
            </a:r>
            <a:endParaRPr lang="en-US" sz="900" b="0" strike="noStrike" spc="-1">
              <a:solidFill>
                <a:srgbClr val="FFFFFF"/>
              </a:solidFill>
              <a:latin typeface="Arial"/>
            </a:endParaRPr>
          </a:p>
        </p:txBody>
      </p:sp>
      <p:pic>
        <p:nvPicPr>
          <p:cNvPr id="269" name="Minimap"/>
          <p:cNvPicPr/>
          <p:nvPr/>
        </p:nvPicPr>
        <p:blipFill>
          <a:blip r:embed="rId4"/>
          <a:stretch/>
        </p:blipFill>
        <p:spPr>
          <a:xfrm>
            <a:off x="9500040" y="200160"/>
            <a:ext cx="2399760" cy="1049760"/>
          </a:xfrm>
          <a:prstGeom prst="rect">
            <a:avLst/>
          </a:prstGeom>
          <a:ln w="0">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70" name="Text 0"/>
          <p:cNvSpPr/>
          <p:nvPr/>
        </p:nvSpPr>
        <p:spPr>
          <a:xfrm>
            <a:off x="548640" y="45720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797">
                <a:solidFill>
                  <a:srgbClr val="0EA5E9"/>
                </a:solidFill>
                <a:latin typeface="Trebuchet MS"/>
                <a:ea typeface="Trebuchet MS"/>
              </a:rPr>
              <a:t>DEMO 5 OF 6  ·  LIVE</a:t>
            </a:r>
            <a:endParaRPr lang="en-US" sz="1400" b="0" strike="noStrike" spc="-1">
              <a:solidFill>
                <a:srgbClr val="FFFFFF"/>
              </a:solidFill>
              <a:latin typeface="Arial"/>
            </a:endParaRPr>
          </a:p>
        </p:txBody>
      </p:sp>
      <p:sp>
        <p:nvSpPr>
          <p:cNvPr id="271" name="Text 1"/>
          <p:cNvSpPr/>
          <p:nvPr/>
        </p:nvSpPr>
        <p:spPr>
          <a:xfrm>
            <a:off x="548640" y="1371600"/>
            <a:ext cx="110638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200" b="1" strike="noStrike" spc="-1">
                <a:solidFill>
                  <a:srgbClr val="F8FAFC"/>
                </a:solidFill>
                <a:latin typeface="Trebuchet MS"/>
                <a:ea typeface="Trebuchet MS"/>
              </a:rPr>
              <a:t>Network · NetworkPolicy</a:t>
            </a:r>
            <a:endParaRPr lang="en-US" sz="4200" b="0" strike="noStrike" spc="-1">
              <a:solidFill>
                <a:srgbClr val="FFFFFF"/>
              </a:solidFill>
              <a:latin typeface="Arial"/>
            </a:endParaRPr>
          </a:p>
        </p:txBody>
      </p:sp>
      <p:sp>
        <p:nvSpPr>
          <p:cNvPr id="272" name="Text 2"/>
          <p:cNvSpPr/>
          <p:nvPr/>
        </p:nvSpPr>
        <p:spPr>
          <a:xfrm>
            <a:off x="548640" y="2377440"/>
            <a:ext cx="110638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0" i="1" strike="noStrike" spc="-1">
                <a:solidFill>
                  <a:srgbClr val="CBD5E1"/>
                </a:solidFill>
                <a:latin typeface="Calibri"/>
                <a:ea typeface="Calibri"/>
              </a:rPr>
              <a:t>Feature store data lineage. The inference data path.</a:t>
            </a:r>
            <a:endParaRPr lang="en-US" sz="2200" b="0" strike="noStrike" spc="-1">
              <a:solidFill>
                <a:srgbClr val="FFFFFF"/>
              </a:solidFill>
              <a:latin typeface="Arial"/>
            </a:endParaRPr>
          </a:p>
        </p:txBody>
      </p:sp>
      <p:pic>
        <p:nvPicPr>
          <p:cNvPr id="273" name="Image 0" descr="preencoded.png"/>
          <p:cNvPicPr/>
          <p:nvPr/>
        </p:nvPicPr>
        <p:blipFill>
          <a:blip r:embed="rId3"/>
          <a:stretch/>
        </p:blipFill>
        <p:spPr>
          <a:xfrm>
            <a:off x="5632560" y="3200400"/>
            <a:ext cx="914040" cy="914040"/>
          </a:xfrm>
          <a:prstGeom prst="rect">
            <a:avLst/>
          </a:prstGeom>
          <a:ln w="0">
            <a:noFill/>
          </a:ln>
        </p:spPr>
      </p:pic>
      <p:sp>
        <p:nvSpPr>
          <p:cNvPr id="274" name="Text 3"/>
          <p:cNvSpPr/>
          <p:nvPr/>
        </p:nvSpPr>
        <p:spPr>
          <a:xfrm>
            <a:off x="548640" y="420624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398">
                <a:solidFill>
                  <a:srgbClr val="0EA5E9"/>
                </a:solidFill>
                <a:latin typeface="Trebuchet MS"/>
                <a:ea typeface="Trebuchet MS"/>
              </a:rPr>
              <a:t>SERVER-SIDE · NETWORK</a:t>
            </a:r>
            <a:endParaRPr lang="en-US" sz="1400" b="0" strike="noStrike" spc="-1">
              <a:solidFill>
                <a:srgbClr val="FFFFFF"/>
              </a:solidFill>
              <a:latin typeface="Arial"/>
            </a:endParaRPr>
          </a:p>
        </p:txBody>
      </p:sp>
      <p:sp>
        <p:nvSpPr>
          <p:cNvPr id="275" name="Text 4"/>
          <p:cNvSpPr/>
          <p:nvPr/>
        </p:nvSpPr>
        <p:spPr>
          <a:xfrm>
            <a:off x="1371600" y="4937760"/>
            <a:ext cx="9417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strike="noStrike" spc="-1">
                <a:solidFill>
                  <a:srgbClr val="E2E8F0"/>
                </a:solidFill>
                <a:latin typeface="Calibri"/>
                <a:ea typeface="Calibri"/>
              </a:rPr>
              <a:t>curl from production to a destination not on the allowlist.</a:t>
            </a:r>
            <a:endParaRPr lang="en-US" sz="1600" b="0" strike="noStrike" spc="-1">
              <a:solidFill>
                <a:srgbClr val="FFFFFF"/>
              </a:solidFill>
              <a:latin typeface="Arial"/>
            </a:endParaRPr>
          </a:p>
        </p:txBody>
      </p:sp>
      <p:sp>
        <p:nvSpPr>
          <p:cNvPr id="276" name="Text 5"/>
          <p:cNvSpPr/>
          <p:nvPr/>
        </p:nvSpPr>
        <p:spPr>
          <a:xfrm>
            <a:off x="1371600" y="5349240"/>
            <a:ext cx="9417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0EA5E9"/>
                </a:solidFill>
                <a:latin typeface="Calibri"/>
                <a:ea typeface="Calibri"/>
              </a:rPr>
              <a:t>Runtime did not fire. Nothing was unsafe. The destination was not on the list.</a:t>
            </a:r>
            <a:endParaRPr lang="en-US" sz="1600" b="0" strike="noStrike" spc="-1">
              <a:solidFill>
                <a:srgbClr val="FFFFFF"/>
              </a:solidFill>
              <a:latin typeface="Arial"/>
            </a:endParaRPr>
          </a:p>
        </p:txBody>
      </p:sp>
      <p:sp>
        <p:nvSpPr>
          <p:cNvPr id="277" name="Text 6"/>
          <p:cNvSpPr/>
          <p:nvPr/>
        </p:nvSpPr>
        <p:spPr>
          <a:xfrm>
            <a:off x="548640" y="612648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BBF24"/>
                </a:solidFill>
                <a:latin typeface="Trebuchet MS"/>
                <a:ea typeface="Trebuchet MS"/>
              </a:rPr>
              <a:t>▶  START DEMO  ◀</a:t>
            </a:r>
            <a:endParaRPr lang="en-US" sz="2000" b="0" strike="noStrike" spc="-1">
              <a:solidFill>
                <a:srgbClr val="FFFFFF"/>
              </a:solidFill>
              <a:latin typeface="Arial"/>
            </a:endParaRPr>
          </a:p>
        </p:txBody>
      </p:sp>
      <p:sp>
        <p:nvSpPr>
          <p:cNvPr id="278" name="Text 7"/>
          <p:cNvSpPr/>
          <p:nvPr/>
        </p:nvSpPr>
        <p:spPr>
          <a:xfrm>
            <a:off x="11338560" y="6693480"/>
            <a:ext cx="731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Calibri"/>
                <a:ea typeface="Calibri"/>
              </a:rPr>
              <a:t>12 / 16</a:t>
            </a:r>
            <a:endParaRPr lang="en-US" sz="900" b="0" strike="noStrike" spc="-1">
              <a:solidFill>
                <a:srgbClr val="FFFFFF"/>
              </a:solidFill>
              <a:latin typeface="Arial"/>
            </a:endParaRPr>
          </a:p>
        </p:txBody>
      </p:sp>
      <p:pic>
        <p:nvPicPr>
          <p:cNvPr id="279" name="Minimap"/>
          <p:cNvPicPr/>
          <p:nvPr/>
        </p:nvPicPr>
        <p:blipFill>
          <a:blip r:embed="rId4"/>
          <a:stretch/>
        </p:blipFill>
        <p:spPr>
          <a:xfrm>
            <a:off x="9500040" y="200160"/>
            <a:ext cx="2399760" cy="1049760"/>
          </a:xfrm>
          <a:prstGeom prst="rect">
            <a:avLst/>
          </a:prstGeom>
          <a:ln w="0">
            <a:noFill/>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80" name="Marker"/>
          <p:cNvSpPr/>
          <p:nvPr/>
        </p:nvSpPr>
        <p:spPr>
          <a:xfrm>
            <a:off x="548640" y="100584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599">
                <a:solidFill>
                  <a:srgbClr val="A100FF"/>
                </a:solidFill>
                <a:latin typeface="Trebuchet MS"/>
                <a:ea typeface="Trebuchet MS"/>
              </a:rPr>
              <a:t>BRIDGE  ·  INFRASTRUCTURE TO CONTENT</a:t>
            </a:r>
            <a:endParaRPr lang="en-US" sz="1400" b="0" strike="noStrike" spc="-1">
              <a:solidFill>
                <a:srgbClr val="FFFFFF"/>
              </a:solidFill>
              <a:latin typeface="Arial"/>
            </a:endParaRPr>
          </a:p>
        </p:txBody>
      </p:sp>
      <p:sp>
        <p:nvSpPr>
          <p:cNvPr id="281" name="Quote1"/>
          <p:cNvSpPr/>
          <p:nvPr/>
        </p:nvSpPr>
        <p:spPr>
          <a:xfrm>
            <a:off x="914400" y="2286000"/>
            <a:ext cx="10332360" cy="10969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3600" b="1" strike="noStrike" spc="-1">
                <a:solidFill>
                  <a:srgbClr val="FFFFFF"/>
                </a:solidFill>
                <a:latin typeface="Trebuchet MS"/>
                <a:ea typeface="Trebuchet MS"/>
              </a:rPr>
              <a:t>Demos 1 through 5: infrastructure controlled.</a:t>
            </a:r>
            <a:endParaRPr lang="en-US" sz="3600" b="0" strike="noStrike" spc="-1">
              <a:solidFill>
                <a:srgbClr val="FFFFFF"/>
              </a:solidFill>
              <a:latin typeface="Arial"/>
            </a:endParaRPr>
          </a:p>
        </p:txBody>
      </p:sp>
      <p:sp>
        <p:nvSpPr>
          <p:cNvPr id="282" name="Quote2"/>
          <p:cNvSpPr/>
          <p:nvPr/>
        </p:nvSpPr>
        <p:spPr>
          <a:xfrm>
            <a:off x="914400" y="3566160"/>
            <a:ext cx="1033236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0" strike="noStrike" spc="-1">
                <a:solidFill>
                  <a:srgbClr val="CBD5E1"/>
                </a:solidFill>
                <a:latin typeface="Trebuchet MS"/>
                <a:ea typeface="Trebuchet MS"/>
              </a:rPr>
              <a:t>But the agent doesn’t just act. It also talks.</a:t>
            </a:r>
            <a:endParaRPr lang="en-US" sz="2400" b="0" strike="noStrike" spc="-1">
              <a:solidFill>
                <a:srgbClr val="FFFFFF"/>
              </a:solidFill>
              <a:latin typeface="Arial"/>
            </a:endParaRPr>
          </a:p>
        </p:txBody>
      </p:sp>
      <p:sp>
        <p:nvSpPr>
          <p:cNvPr id="283" name="Quote3"/>
          <p:cNvSpPr/>
          <p:nvPr/>
        </p:nvSpPr>
        <p:spPr>
          <a:xfrm>
            <a:off x="914400" y="4663440"/>
            <a:ext cx="1033236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400" b="0" i="1" strike="noStrike" spc="-1">
                <a:solidFill>
                  <a:srgbClr val="A100FF"/>
                </a:solidFill>
                <a:latin typeface="Trebuchet MS"/>
                <a:ea typeface="Trebuchet MS"/>
              </a:rPr>
              <a:t>What happens when the words coming out are the unsafe part?</a:t>
            </a:r>
            <a:endParaRPr lang="en-US" sz="2400" b="0" strike="noStrike" spc="-1">
              <a:solidFill>
                <a:srgbClr val="FFFFFF"/>
              </a:solidFill>
              <a:latin typeface="Arial"/>
            </a:endParaRPr>
          </a:p>
        </p:txBody>
      </p:sp>
      <p:sp>
        <p:nvSpPr>
          <p:cNvPr id="284" name="Footer Event"/>
          <p:cNvSpPr/>
          <p:nvPr/>
        </p:nvSpPr>
        <p:spPr>
          <a:xfrm>
            <a:off x="457200" y="6693480"/>
            <a:ext cx="548604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1" strike="noStrike" spc="-1">
                <a:solidFill>
                  <a:srgbClr val="64748B"/>
                </a:solidFill>
                <a:latin typeface="Calibri"/>
                <a:ea typeface="Calibri"/>
              </a:rPr>
              <a:t>LLMday Austin · May 12, 2026</a:t>
            </a:r>
            <a:endParaRPr lang="en-US" sz="900" b="0" strike="noStrike" spc="-1">
              <a:solidFill>
                <a:srgbClr val="FFFFFF"/>
              </a:solidFill>
              <a:latin typeface="Arial"/>
            </a:endParaRPr>
          </a:p>
        </p:txBody>
      </p:sp>
      <p:sp>
        <p:nvSpPr>
          <p:cNvPr id="285" name="Footer Page"/>
          <p:cNvSpPr/>
          <p:nvPr/>
        </p:nvSpPr>
        <p:spPr>
          <a:xfrm>
            <a:off x="11338560" y="6693480"/>
            <a:ext cx="731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1" strike="noStrike" spc="-1">
                <a:solidFill>
                  <a:srgbClr val="64748B"/>
                </a:solidFill>
                <a:latin typeface="Calibri"/>
                <a:ea typeface="Calibri"/>
              </a:rPr>
              <a:t>13 / 16</a:t>
            </a:r>
            <a:endParaRPr lang="en-US" sz="900" b="0" strike="noStrike" spc="-1">
              <a:solidFill>
                <a:srgbClr val="FFFFFF"/>
              </a:solidFill>
              <a:latin typeface="Aria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86" name="Text 0"/>
          <p:cNvSpPr/>
          <p:nvPr/>
        </p:nvSpPr>
        <p:spPr>
          <a:xfrm>
            <a:off x="548640" y="45720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797">
                <a:solidFill>
                  <a:srgbClr val="0EA5E9"/>
                </a:solidFill>
                <a:latin typeface="Trebuchet MS"/>
                <a:ea typeface="Trebuchet MS"/>
              </a:rPr>
              <a:t>DEMO 6 OF 6  ·  ON THE SLIDE</a:t>
            </a:r>
            <a:endParaRPr lang="en-US" sz="1400" b="0" strike="noStrike" spc="-1">
              <a:solidFill>
                <a:srgbClr val="FFFFFF"/>
              </a:solidFill>
              <a:latin typeface="Arial"/>
            </a:endParaRPr>
          </a:p>
        </p:txBody>
      </p:sp>
      <p:sp>
        <p:nvSpPr>
          <p:cNvPr id="287" name="Text 1"/>
          <p:cNvSpPr/>
          <p:nvPr/>
        </p:nvSpPr>
        <p:spPr>
          <a:xfrm>
            <a:off x="548640" y="1371600"/>
            <a:ext cx="1106388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4200" b="1" strike="noStrike" spc="-1">
                <a:solidFill>
                  <a:srgbClr val="F8FAFC"/>
                </a:solidFill>
                <a:latin typeface="Trebuchet MS"/>
                <a:ea typeface="Trebuchet MS"/>
              </a:rPr>
              <a:t>Output · LLM Guard</a:t>
            </a:r>
            <a:endParaRPr lang="en-US" sz="4200" b="0" strike="noStrike" spc="-1">
              <a:solidFill>
                <a:srgbClr val="FFFFFF"/>
              </a:solidFill>
              <a:latin typeface="Arial"/>
            </a:endParaRPr>
          </a:p>
        </p:txBody>
      </p:sp>
      <p:sp>
        <p:nvSpPr>
          <p:cNvPr id="288" name="Text 2"/>
          <p:cNvSpPr/>
          <p:nvPr/>
        </p:nvSpPr>
        <p:spPr>
          <a:xfrm>
            <a:off x="548640" y="2377440"/>
            <a:ext cx="1106388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200" b="0" i="1" strike="noStrike" spc="-1">
                <a:solidFill>
                  <a:srgbClr val="CBD5E1"/>
                </a:solidFill>
                <a:latin typeface="Calibri"/>
                <a:ea typeface="Calibri"/>
              </a:rPr>
              <a:t>The only gate that enforces content, not infrastructure.</a:t>
            </a:r>
            <a:endParaRPr lang="en-US" sz="2200" b="0" strike="noStrike" spc="-1">
              <a:solidFill>
                <a:srgbClr val="FFFFFF"/>
              </a:solidFill>
              <a:latin typeface="Arial"/>
            </a:endParaRPr>
          </a:p>
        </p:txBody>
      </p:sp>
      <p:pic>
        <p:nvPicPr>
          <p:cNvPr id="289" name="Image 0" descr="preencoded.png"/>
          <p:cNvPicPr/>
          <p:nvPr/>
        </p:nvPicPr>
        <p:blipFill>
          <a:blip r:embed="rId2"/>
          <a:stretch/>
        </p:blipFill>
        <p:spPr>
          <a:xfrm>
            <a:off x="5632560" y="3200400"/>
            <a:ext cx="914040" cy="914040"/>
          </a:xfrm>
          <a:prstGeom prst="rect">
            <a:avLst/>
          </a:prstGeom>
          <a:ln w="0">
            <a:noFill/>
          </a:ln>
        </p:spPr>
      </p:pic>
      <p:sp>
        <p:nvSpPr>
          <p:cNvPr id="290" name="Text 3"/>
          <p:cNvSpPr/>
          <p:nvPr/>
        </p:nvSpPr>
        <p:spPr>
          <a:xfrm>
            <a:off x="548640" y="420624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398">
                <a:solidFill>
                  <a:srgbClr val="0EA5E9"/>
                </a:solidFill>
                <a:latin typeface="Trebuchet MS"/>
                <a:ea typeface="Trebuchet MS"/>
              </a:rPr>
              <a:t>OUTPUT · MLOPS STAGE SIX</a:t>
            </a:r>
            <a:endParaRPr lang="en-US" sz="1400" b="0" strike="noStrike" spc="-1">
              <a:solidFill>
                <a:srgbClr val="FFFFFF"/>
              </a:solidFill>
              <a:latin typeface="Arial"/>
            </a:endParaRPr>
          </a:p>
        </p:txBody>
      </p:sp>
      <p:sp>
        <p:nvSpPr>
          <p:cNvPr id="291" name="Text 4"/>
          <p:cNvSpPr/>
          <p:nvPr/>
        </p:nvSpPr>
        <p:spPr>
          <a:xfrm>
            <a:off x="1371600" y="4937760"/>
            <a:ext cx="9417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0" strike="noStrike" spc="-1">
                <a:solidFill>
                  <a:srgbClr val="E2E8F0"/>
                </a:solidFill>
                <a:latin typeface="Calibri"/>
                <a:ea typeface="Calibri"/>
              </a:rPr>
              <a:t>Layers 1 through 5 keep the agent from breaking the system.</a:t>
            </a:r>
            <a:endParaRPr lang="en-US" sz="1600" b="0" strike="noStrike" spc="-1">
              <a:solidFill>
                <a:srgbClr val="FFFFFF"/>
              </a:solidFill>
              <a:latin typeface="Arial"/>
            </a:endParaRPr>
          </a:p>
        </p:txBody>
      </p:sp>
      <p:sp>
        <p:nvSpPr>
          <p:cNvPr id="292" name="Text 5"/>
          <p:cNvSpPr/>
          <p:nvPr/>
        </p:nvSpPr>
        <p:spPr>
          <a:xfrm>
            <a:off x="1371600" y="5349240"/>
            <a:ext cx="941796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0EA5E9"/>
                </a:solidFill>
                <a:latin typeface="Calibri"/>
                <a:ea typeface="Calibri"/>
              </a:rPr>
              <a:t>Layer 6 keeps the system from saying things it shouldn’t.</a:t>
            </a:r>
            <a:endParaRPr lang="en-US" sz="1600" b="0" strike="noStrike" spc="-1">
              <a:solidFill>
                <a:srgbClr val="FFFFFF"/>
              </a:solidFill>
              <a:latin typeface="Arial"/>
            </a:endParaRPr>
          </a:p>
        </p:txBody>
      </p:sp>
      <p:sp>
        <p:nvSpPr>
          <p:cNvPr id="293" name="Text 6"/>
          <p:cNvSpPr/>
          <p:nvPr/>
        </p:nvSpPr>
        <p:spPr>
          <a:xfrm>
            <a:off x="548640" y="612648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BBF24"/>
                </a:solidFill>
                <a:latin typeface="Trebuchet MS"/>
                <a:ea typeface="Trebuchet MS"/>
              </a:rPr>
              <a:t>Six MLOps lifecycle stages. Five enforced live. Sixth on the slide.</a:t>
            </a:r>
            <a:endParaRPr lang="en-US" sz="2000" b="0" strike="noStrike" spc="-1">
              <a:solidFill>
                <a:srgbClr val="FFFFFF"/>
              </a:solidFill>
              <a:latin typeface="Arial"/>
            </a:endParaRPr>
          </a:p>
        </p:txBody>
      </p:sp>
      <p:sp>
        <p:nvSpPr>
          <p:cNvPr id="294" name="Text 7"/>
          <p:cNvSpPr/>
          <p:nvPr/>
        </p:nvSpPr>
        <p:spPr>
          <a:xfrm>
            <a:off x="11338560" y="6693480"/>
            <a:ext cx="731160" cy="164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Calibri"/>
                <a:ea typeface="Calibri"/>
              </a:rPr>
              <a:t>14 / 16</a:t>
            </a:r>
            <a:endParaRPr lang="en-US" sz="900" b="0" strike="noStrike" spc="-1">
              <a:solidFill>
                <a:srgbClr val="FFFFFF"/>
              </a:solidFill>
              <a:latin typeface="Arial"/>
            </a:endParaRPr>
          </a:p>
        </p:txBody>
      </p:sp>
      <p:pic>
        <p:nvPicPr>
          <p:cNvPr id="295" name="Minimap"/>
          <p:cNvPicPr/>
          <p:nvPr/>
        </p:nvPicPr>
        <p:blipFill>
          <a:blip r:embed="rId3"/>
          <a:stretch/>
        </p:blipFill>
        <p:spPr>
          <a:xfrm>
            <a:off x="9500040" y="200160"/>
            <a:ext cx="2399760" cy="1049760"/>
          </a:xfrm>
          <a:prstGeom prst="rect">
            <a:avLst/>
          </a:prstGeom>
          <a:ln w="0">
            <a:noFill/>
          </a:ln>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 name="Title"/>
          <p:cNvSpPr/>
          <p:nvPr/>
        </p:nvSpPr>
        <p:spPr>
          <a:xfrm>
            <a:off x="731520" y="274320"/>
            <a:ext cx="10728720" cy="6854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400" b="1" strike="noStrike" spc="-1">
                <a:solidFill>
                  <a:srgbClr val="0F172A"/>
                </a:solidFill>
                <a:latin typeface="Trebuchet MS"/>
              </a:rPr>
              <a:t>Bringing it all together</a:t>
            </a:r>
            <a:endParaRPr lang="en-US" sz="4400" b="0" strike="noStrike" spc="-1">
              <a:solidFill>
                <a:srgbClr val="000000"/>
              </a:solidFill>
              <a:latin typeface="Arial"/>
            </a:endParaRPr>
          </a:p>
        </p:txBody>
      </p:sp>
      <p:sp>
        <p:nvSpPr>
          <p:cNvPr id="297" name="Subtitle"/>
          <p:cNvSpPr/>
          <p:nvPr/>
        </p:nvSpPr>
        <p:spPr>
          <a:xfrm>
            <a:off x="731520" y="960120"/>
            <a:ext cx="10728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i="1" strike="noStrike" spc="-1">
                <a:solidFill>
                  <a:srgbClr val="64748B"/>
                </a:solidFill>
                <a:latin typeface="Calibri"/>
              </a:rPr>
              <a:t>Six MLOps stages. Six gates. Five live tonight. The sixth on the slide.</a:t>
            </a:r>
            <a:endParaRPr lang="en-US" sz="1800" b="0" strike="noStrike" spc="-1">
              <a:solidFill>
                <a:srgbClr val="000000"/>
              </a:solidFill>
              <a:latin typeface="Arial"/>
            </a:endParaRPr>
          </a:p>
        </p:txBody>
      </p:sp>
      <p:cxnSp>
        <p:nvCxnSpPr>
          <p:cNvPr id="298" name="L1"/>
          <p:cNvCxnSpPr/>
          <p:nvPr/>
        </p:nvCxnSpPr>
        <p:spPr>
          <a:xfrm flipH="1">
            <a:off x="2468880" y="3291840"/>
            <a:ext cx="3627360" cy="549000"/>
          </a:xfrm>
          <a:prstGeom prst="straightConnector1">
            <a:avLst/>
          </a:prstGeom>
          <a:ln w="28575">
            <a:solidFill>
              <a:srgbClr val="94A3B8"/>
            </a:solidFill>
            <a:prstDash val="dash"/>
            <a:round/>
          </a:ln>
        </p:spPr>
      </p:cxnSp>
      <p:cxnSp>
        <p:nvCxnSpPr>
          <p:cNvPr id="299" name="L2"/>
          <p:cNvCxnSpPr/>
          <p:nvPr/>
        </p:nvCxnSpPr>
        <p:spPr>
          <a:xfrm>
            <a:off x="6095880" y="3291840"/>
            <a:ext cx="3627360" cy="549000"/>
          </a:xfrm>
          <a:prstGeom prst="straightConnector1">
            <a:avLst/>
          </a:prstGeom>
          <a:ln w="28575">
            <a:solidFill>
              <a:srgbClr val="94A3B8"/>
            </a:solidFill>
            <a:prstDash val="dash"/>
            <a:round/>
          </a:ln>
        </p:spPr>
      </p:cxnSp>
      <p:cxnSp>
        <p:nvCxnSpPr>
          <p:cNvPr id="300" name="L3"/>
          <p:cNvCxnSpPr/>
          <p:nvPr/>
        </p:nvCxnSpPr>
        <p:spPr>
          <a:xfrm>
            <a:off x="4297680" y="4709160"/>
            <a:ext cx="3596760" cy="360"/>
          </a:xfrm>
          <a:prstGeom prst="straightConnector1">
            <a:avLst/>
          </a:prstGeom>
          <a:ln w="28575">
            <a:solidFill>
              <a:srgbClr val="94A3B8"/>
            </a:solidFill>
            <a:prstDash val="dash"/>
            <a:round/>
          </a:ln>
        </p:spPr>
      </p:cxnSp>
      <p:sp>
        <p:nvSpPr>
          <p:cNvPr id="301" name="Card_APP / AGENT"/>
          <p:cNvSpPr/>
          <p:nvPr/>
        </p:nvSpPr>
        <p:spPr>
          <a:xfrm>
            <a:off x="4267080" y="1554480"/>
            <a:ext cx="3657240" cy="1737000"/>
          </a:xfrm>
          <a:prstGeom prst="roundRect">
            <a:avLst>
              <a:gd name="adj" fmla="val 8000"/>
            </a:avLst>
          </a:prstGeom>
          <a:solidFill>
            <a:srgbClr val="FFFFFF"/>
          </a:solidFill>
          <a:ln w="31750">
            <a:solidFill>
              <a:srgbClr val="A100FF"/>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2" name="Header_APP / AGENT"/>
          <p:cNvSpPr/>
          <p:nvPr/>
        </p:nvSpPr>
        <p:spPr>
          <a:xfrm>
            <a:off x="4267080" y="1554480"/>
            <a:ext cx="3657240" cy="502560"/>
          </a:xfrm>
          <a:prstGeom prst="roundRect">
            <a:avLst>
              <a:gd name="adj" fmla="val 8000"/>
            </a:avLst>
          </a:prstGeom>
          <a:solidFill>
            <a:srgbClr val="A10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3" name="Title_APP / AGENT"/>
          <p:cNvSpPr/>
          <p:nvPr/>
        </p:nvSpPr>
        <p:spPr>
          <a:xfrm>
            <a:off x="4267080" y="1554480"/>
            <a:ext cx="36572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Trebuchet MS"/>
              </a:rPr>
              <a:t>APP / AGENT</a:t>
            </a:r>
            <a:endParaRPr lang="en-US" sz="2000" b="0" strike="noStrike" spc="-1">
              <a:solidFill>
                <a:srgbClr val="000000"/>
              </a:solidFill>
              <a:latin typeface="Arial"/>
            </a:endParaRPr>
          </a:p>
        </p:txBody>
      </p:sp>
      <p:sp>
        <p:nvSpPr>
          <p:cNvPr id="304" name="Sub_APP / AGENT"/>
          <p:cNvSpPr/>
          <p:nvPr/>
        </p:nvSpPr>
        <p:spPr>
          <a:xfrm>
            <a:off x="4358520" y="2130480"/>
            <a:ext cx="3474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i="1" strike="noStrike" spc="-1">
                <a:solidFill>
                  <a:srgbClr val="64748B"/>
                </a:solidFill>
                <a:latin typeface="Calibri"/>
              </a:rPr>
              <a:t>Where reasoning happens</a:t>
            </a:r>
            <a:endParaRPr lang="en-US" sz="1100" b="0" strike="noStrike" spc="-1">
              <a:solidFill>
                <a:srgbClr val="000000"/>
              </a:solidFill>
              <a:latin typeface="Arial"/>
            </a:endParaRPr>
          </a:p>
        </p:txBody>
      </p:sp>
      <p:sp>
        <p:nvSpPr>
          <p:cNvPr id="305" name="DBadge_APP / AGENT_1"/>
          <p:cNvSpPr/>
          <p:nvPr/>
        </p:nvSpPr>
        <p:spPr>
          <a:xfrm>
            <a:off x="4404240" y="2441520"/>
            <a:ext cx="319680" cy="740160"/>
          </a:xfrm>
          <a:prstGeom prst="roundRect">
            <a:avLst>
              <a:gd name="adj" fmla="val 8000"/>
            </a:avLst>
          </a:prstGeom>
          <a:solidFill>
            <a:srgbClr val="A100FF"/>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06" name="DNum_APP / AGENT_1"/>
          <p:cNvSpPr/>
          <p:nvPr/>
        </p:nvSpPr>
        <p:spPr>
          <a:xfrm>
            <a:off x="4404240" y="2441520"/>
            <a:ext cx="319680" cy="74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Trebuchet MS"/>
              </a:rPr>
              <a:t>1</a:t>
            </a:r>
            <a:endParaRPr lang="en-US" sz="1300" b="0" strike="noStrike" spc="-1">
              <a:solidFill>
                <a:srgbClr val="000000"/>
              </a:solidFill>
              <a:latin typeface="Arial"/>
            </a:endParaRPr>
          </a:p>
        </p:txBody>
      </p:sp>
      <p:sp>
        <p:nvSpPr>
          <p:cNvPr id="307" name="DName_APP / AGENT_1"/>
          <p:cNvSpPr/>
          <p:nvPr/>
        </p:nvSpPr>
        <p:spPr>
          <a:xfrm>
            <a:off x="4797720" y="2423160"/>
            <a:ext cx="297144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F172A"/>
                </a:solidFill>
                <a:latin typeface="Calibri"/>
              </a:rPr>
              <a:t>PreToolUse</a:t>
            </a:r>
            <a:endParaRPr lang="en-US" sz="1200" b="0" strike="noStrike" spc="-1">
              <a:solidFill>
                <a:srgbClr val="000000"/>
              </a:solidFill>
              <a:latin typeface="Arial"/>
            </a:endParaRPr>
          </a:p>
        </p:txBody>
      </p:sp>
      <p:sp>
        <p:nvSpPr>
          <p:cNvPr id="308" name="DMark_APP / AGENT_1"/>
          <p:cNvSpPr/>
          <p:nvPr/>
        </p:nvSpPr>
        <p:spPr>
          <a:xfrm>
            <a:off x="7650360" y="2423160"/>
            <a:ext cx="18252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10B981"/>
                </a:solidFill>
                <a:latin typeface="Trebuchet MS"/>
              </a:rPr>
              <a:t>✓</a:t>
            </a:r>
            <a:endParaRPr lang="en-US" sz="1600" b="0" strike="noStrike" spc="-1">
              <a:solidFill>
                <a:srgbClr val="000000"/>
              </a:solidFill>
              <a:latin typeface="Arial"/>
            </a:endParaRPr>
          </a:p>
        </p:txBody>
      </p:sp>
      <p:sp>
        <p:nvSpPr>
          <p:cNvPr id="309" name="Card_CLIENT-SIDE"/>
          <p:cNvSpPr/>
          <p:nvPr/>
        </p:nvSpPr>
        <p:spPr>
          <a:xfrm>
            <a:off x="640080" y="3840480"/>
            <a:ext cx="3657240" cy="1737000"/>
          </a:xfrm>
          <a:prstGeom prst="roundRect">
            <a:avLst>
              <a:gd name="adj" fmla="val 8000"/>
            </a:avLst>
          </a:prstGeom>
          <a:solidFill>
            <a:srgbClr val="FFFFFF"/>
          </a:solidFill>
          <a:ln w="31750">
            <a:solidFill>
              <a:srgbClr val="EAB308"/>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0" name="Header_CLIENT-SIDE"/>
          <p:cNvSpPr/>
          <p:nvPr/>
        </p:nvSpPr>
        <p:spPr>
          <a:xfrm>
            <a:off x="640080" y="3840480"/>
            <a:ext cx="3657240" cy="502560"/>
          </a:xfrm>
          <a:prstGeom prst="roundRect">
            <a:avLst>
              <a:gd name="adj" fmla="val 8000"/>
            </a:avLst>
          </a:prstGeom>
          <a:solidFill>
            <a:srgbClr val="EAB30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1" name="Title_CLIENT-SIDE"/>
          <p:cNvSpPr/>
          <p:nvPr/>
        </p:nvSpPr>
        <p:spPr>
          <a:xfrm>
            <a:off x="640080" y="3840480"/>
            <a:ext cx="36572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Trebuchet MS"/>
              </a:rPr>
              <a:t>CLIENT-SIDE</a:t>
            </a:r>
            <a:endParaRPr lang="en-US" sz="2000" b="0" strike="noStrike" spc="-1">
              <a:solidFill>
                <a:srgbClr val="000000"/>
              </a:solidFill>
              <a:latin typeface="Arial"/>
            </a:endParaRPr>
          </a:p>
        </p:txBody>
      </p:sp>
      <p:sp>
        <p:nvSpPr>
          <p:cNvPr id="312" name="Sub_CLIENT-SIDE"/>
          <p:cNvSpPr/>
          <p:nvPr/>
        </p:nvSpPr>
        <p:spPr>
          <a:xfrm>
            <a:off x="731520" y="4416480"/>
            <a:ext cx="3474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i="1" strike="noStrike" spc="-1">
                <a:solidFill>
                  <a:srgbClr val="64748B"/>
                </a:solidFill>
                <a:latin typeface="Calibri"/>
              </a:rPr>
              <a:t>On the operator's machine</a:t>
            </a:r>
            <a:endParaRPr lang="en-US" sz="1100" b="0" strike="noStrike" spc="-1">
              <a:solidFill>
                <a:srgbClr val="000000"/>
              </a:solidFill>
              <a:latin typeface="Arial"/>
            </a:endParaRPr>
          </a:p>
        </p:txBody>
      </p:sp>
      <p:sp>
        <p:nvSpPr>
          <p:cNvPr id="313" name="DBadge_CLIENT-SIDE_2"/>
          <p:cNvSpPr/>
          <p:nvPr/>
        </p:nvSpPr>
        <p:spPr>
          <a:xfrm>
            <a:off x="777240" y="4727520"/>
            <a:ext cx="319680" cy="740160"/>
          </a:xfrm>
          <a:prstGeom prst="roundRect">
            <a:avLst>
              <a:gd name="adj" fmla="val 8000"/>
            </a:avLst>
          </a:prstGeom>
          <a:solidFill>
            <a:srgbClr val="EAB308"/>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4" name="DNum_CLIENT-SIDE_2"/>
          <p:cNvSpPr/>
          <p:nvPr/>
        </p:nvSpPr>
        <p:spPr>
          <a:xfrm>
            <a:off x="777240" y="4727520"/>
            <a:ext cx="319680" cy="740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Trebuchet MS"/>
              </a:rPr>
              <a:t>2</a:t>
            </a:r>
            <a:endParaRPr lang="en-US" sz="1300" b="0" strike="noStrike" spc="-1">
              <a:solidFill>
                <a:srgbClr val="000000"/>
              </a:solidFill>
              <a:latin typeface="Arial"/>
            </a:endParaRPr>
          </a:p>
        </p:txBody>
      </p:sp>
      <p:sp>
        <p:nvSpPr>
          <p:cNvPr id="315" name="DName_CLIENT-SIDE_2"/>
          <p:cNvSpPr/>
          <p:nvPr/>
        </p:nvSpPr>
        <p:spPr>
          <a:xfrm>
            <a:off x="1170360" y="4709160"/>
            <a:ext cx="297144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F172A"/>
                </a:solidFill>
                <a:latin typeface="Calibri"/>
              </a:rPr>
              <a:t>Git pre-commit</a:t>
            </a:r>
            <a:endParaRPr lang="en-US" sz="1200" b="0" strike="noStrike" spc="-1">
              <a:solidFill>
                <a:srgbClr val="000000"/>
              </a:solidFill>
              <a:latin typeface="Arial"/>
            </a:endParaRPr>
          </a:p>
        </p:txBody>
      </p:sp>
      <p:sp>
        <p:nvSpPr>
          <p:cNvPr id="316" name="DMark_CLIENT-SIDE_2"/>
          <p:cNvSpPr/>
          <p:nvPr/>
        </p:nvSpPr>
        <p:spPr>
          <a:xfrm>
            <a:off x="4023360" y="4709160"/>
            <a:ext cx="182520" cy="7768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10B981"/>
                </a:solidFill>
                <a:latin typeface="Trebuchet MS"/>
              </a:rPr>
              <a:t>✓</a:t>
            </a:r>
            <a:endParaRPr lang="en-US" sz="1600" b="0" strike="noStrike" spc="-1">
              <a:solidFill>
                <a:srgbClr val="000000"/>
              </a:solidFill>
              <a:latin typeface="Arial"/>
            </a:endParaRPr>
          </a:p>
        </p:txBody>
      </p:sp>
      <p:sp>
        <p:nvSpPr>
          <p:cNvPr id="317" name="Card_SERVER-SIDE"/>
          <p:cNvSpPr/>
          <p:nvPr/>
        </p:nvSpPr>
        <p:spPr>
          <a:xfrm>
            <a:off x="7894440" y="3840480"/>
            <a:ext cx="3657240" cy="1737000"/>
          </a:xfrm>
          <a:prstGeom prst="roundRect">
            <a:avLst>
              <a:gd name="adj" fmla="val 8000"/>
            </a:avLst>
          </a:prstGeom>
          <a:solidFill>
            <a:srgbClr val="FFFFFF"/>
          </a:solidFill>
          <a:ln w="31750">
            <a:solidFill>
              <a:srgbClr val="0EA5E9"/>
            </a:solidFill>
            <a:round/>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8" name="Header_SERVER-SIDE"/>
          <p:cNvSpPr/>
          <p:nvPr/>
        </p:nvSpPr>
        <p:spPr>
          <a:xfrm>
            <a:off x="7894440" y="3840480"/>
            <a:ext cx="3657240" cy="502560"/>
          </a:xfrm>
          <a:prstGeom prst="roundRect">
            <a:avLst>
              <a:gd name="adj" fmla="val 8000"/>
            </a:avLst>
          </a:prstGeom>
          <a:solidFill>
            <a:srgbClr val="0EA5E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19" name="Title_SERVER-SIDE"/>
          <p:cNvSpPr/>
          <p:nvPr/>
        </p:nvSpPr>
        <p:spPr>
          <a:xfrm>
            <a:off x="7894440" y="3840480"/>
            <a:ext cx="3657240" cy="5025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2000" b="1" strike="noStrike" spc="-1">
                <a:solidFill>
                  <a:srgbClr val="FFFFFF"/>
                </a:solidFill>
                <a:latin typeface="Trebuchet MS"/>
              </a:rPr>
              <a:t>SERVER-SIDE</a:t>
            </a:r>
            <a:endParaRPr lang="en-US" sz="2000" b="0" strike="noStrike" spc="-1">
              <a:solidFill>
                <a:srgbClr val="000000"/>
              </a:solidFill>
              <a:latin typeface="Arial"/>
            </a:endParaRPr>
          </a:p>
        </p:txBody>
      </p:sp>
      <p:sp>
        <p:nvSpPr>
          <p:cNvPr id="320" name="Sub_SERVER-SIDE"/>
          <p:cNvSpPr/>
          <p:nvPr/>
        </p:nvSpPr>
        <p:spPr>
          <a:xfrm>
            <a:off x="7985880" y="4416480"/>
            <a:ext cx="347436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0" i="1" strike="noStrike" spc="-1">
                <a:solidFill>
                  <a:srgbClr val="64748B"/>
                </a:solidFill>
                <a:latin typeface="Calibri"/>
              </a:rPr>
              <a:t>Access to infrastructure and APIs</a:t>
            </a:r>
            <a:endParaRPr lang="en-US" sz="1100" b="0" strike="noStrike" spc="-1">
              <a:solidFill>
                <a:srgbClr val="000000"/>
              </a:solidFill>
              <a:latin typeface="Arial"/>
            </a:endParaRPr>
          </a:p>
        </p:txBody>
      </p:sp>
      <p:sp>
        <p:nvSpPr>
          <p:cNvPr id="321" name="DBadge_SERVER-SIDE_3"/>
          <p:cNvSpPr/>
          <p:nvPr/>
        </p:nvSpPr>
        <p:spPr>
          <a:xfrm>
            <a:off x="8031600" y="4727520"/>
            <a:ext cx="319680" cy="157320"/>
          </a:xfrm>
          <a:prstGeom prst="roundRect">
            <a:avLst>
              <a:gd name="adj" fmla="val 8000"/>
            </a:avLst>
          </a:prstGeom>
          <a:solidFill>
            <a:srgbClr val="0EA5E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2" name="DNum_SERVER-SIDE_3"/>
          <p:cNvSpPr/>
          <p:nvPr/>
        </p:nvSpPr>
        <p:spPr>
          <a:xfrm>
            <a:off x="8031600" y="4727520"/>
            <a:ext cx="319680" cy="15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Trebuchet MS"/>
              </a:rPr>
              <a:t>3</a:t>
            </a:r>
            <a:endParaRPr lang="en-US" sz="1300" b="0" strike="noStrike" spc="-1">
              <a:solidFill>
                <a:srgbClr val="000000"/>
              </a:solidFill>
              <a:latin typeface="Arial"/>
            </a:endParaRPr>
          </a:p>
        </p:txBody>
      </p:sp>
      <p:sp>
        <p:nvSpPr>
          <p:cNvPr id="323" name="DName_SERVER-SIDE_3"/>
          <p:cNvSpPr/>
          <p:nvPr/>
        </p:nvSpPr>
        <p:spPr>
          <a:xfrm>
            <a:off x="8424720" y="4709160"/>
            <a:ext cx="2971440" cy="19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F172A"/>
                </a:solidFill>
                <a:latin typeface="Calibri"/>
              </a:rPr>
              <a:t>K8s ValidatingAdmissionPolicy</a:t>
            </a:r>
            <a:endParaRPr lang="en-US" sz="1200" b="0" strike="noStrike" spc="-1">
              <a:solidFill>
                <a:srgbClr val="000000"/>
              </a:solidFill>
              <a:latin typeface="Arial"/>
            </a:endParaRPr>
          </a:p>
        </p:txBody>
      </p:sp>
      <p:sp>
        <p:nvSpPr>
          <p:cNvPr id="324" name="DMark_SERVER-SIDE_3"/>
          <p:cNvSpPr/>
          <p:nvPr/>
        </p:nvSpPr>
        <p:spPr>
          <a:xfrm>
            <a:off x="11277720" y="4709160"/>
            <a:ext cx="182520" cy="19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10B981"/>
                </a:solidFill>
                <a:latin typeface="Trebuchet MS"/>
              </a:rPr>
              <a:t>✓</a:t>
            </a:r>
            <a:endParaRPr lang="en-US" sz="1600" b="0" strike="noStrike" spc="-1">
              <a:solidFill>
                <a:srgbClr val="000000"/>
              </a:solidFill>
              <a:latin typeface="Arial"/>
            </a:endParaRPr>
          </a:p>
        </p:txBody>
      </p:sp>
      <p:sp>
        <p:nvSpPr>
          <p:cNvPr id="325" name="DBadge_SERVER-SIDE_4"/>
          <p:cNvSpPr/>
          <p:nvPr/>
        </p:nvSpPr>
        <p:spPr>
          <a:xfrm>
            <a:off x="8031600" y="4921920"/>
            <a:ext cx="319680" cy="157320"/>
          </a:xfrm>
          <a:prstGeom prst="roundRect">
            <a:avLst>
              <a:gd name="adj" fmla="val 8000"/>
            </a:avLst>
          </a:prstGeom>
          <a:solidFill>
            <a:srgbClr val="0EA5E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26" name="DNum_SERVER-SIDE_4"/>
          <p:cNvSpPr/>
          <p:nvPr/>
        </p:nvSpPr>
        <p:spPr>
          <a:xfrm>
            <a:off x="8031600" y="4921920"/>
            <a:ext cx="319680" cy="15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Trebuchet MS"/>
              </a:rPr>
              <a:t>4</a:t>
            </a:r>
            <a:endParaRPr lang="en-US" sz="1300" b="0" strike="noStrike" spc="-1">
              <a:solidFill>
                <a:srgbClr val="000000"/>
              </a:solidFill>
              <a:latin typeface="Arial"/>
            </a:endParaRPr>
          </a:p>
        </p:txBody>
      </p:sp>
      <p:sp>
        <p:nvSpPr>
          <p:cNvPr id="327" name="DName_SERVER-SIDE_4"/>
          <p:cNvSpPr/>
          <p:nvPr/>
        </p:nvSpPr>
        <p:spPr>
          <a:xfrm>
            <a:off x="8424720" y="4903560"/>
            <a:ext cx="2971440" cy="19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F172A"/>
                </a:solidFill>
                <a:latin typeface="Calibri"/>
              </a:rPr>
              <a:t>Falco + Talon</a:t>
            </a:r>
            <a:endParaRPr lang="en-US" sz="1200" b="0" strike="noStrike" spc="-1">
              <a:solidFill>
                <a:srgbClr val="000000"/>
              </a:solidFill>
              <a:latin typeface="Arial"/>
            </a:endParaRPr>
          </a:p>
        </p:txBody>
      </p:sp>
      <p:sp>
        <p:nvSpPr>
          <p:cNvPr id="328" name="DMark_SERVER-SIDE_4"/>
          <p:cNvSpPr/>
          <p:nvPr/>
        </p:nvSpPr>
        <p:spPr>
          <a:xfrm>
            <a:off x="11277720" y="4903560"/>
            <a:ext cx="182520" cy="19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10B981"/>
                </a:solidFill>
                <a:latin typeface="Trebuchet MS"/>
              </a:rPr>
              <a:t>✓</a:t>
            </a:r>
            <a:endParaRPr lang="en-US" sz="1600" b="0" strike="noStrike" spc="-1">
              <a:solidFill>
                <a:srgbClr val="000000"/>
              </a:solidFill>
              <a:latin typeface="Arial"/>
            </a:endParaRPr>
          </a:p>
        </p:txBody>
      </p:sp>
      <p:sp>
        <p:nvSpPr>
          <p:cNvPr id="329" name="DBadge_SERVER-SIDE_5"/>
          <p:cNvSpPr/>
          <p:nvPr/>
        </p:nvSpPr>
        <p:spPr>
          <a:xfrm>
            <a:off x="8031600" y="5115960"/>
            <a:ext cx="319680" cy="157320"/>
          </a:xfrm>
          <a:prstGeom prst="roundRect">
            <a:avLst>
              <a:gd name="adj" fmla="val 8000"/>
            </a:avLst>
          </a:prstGeom>
          <a:solidFill>
            <a:srgbClr val="0EA5E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0" name="DNum_SERVER-SIDE_5"/>
          <p:cNvSpPr/>
          <p:nvPr/>
        </p:nvSpPr>
        <p:spPr>
          <a:xfrm>
            <a:off x="8031600" y="5115960"/>
            <a:ext cx="319680" cy="15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Trebuchet MS"/>
              </a:rPr>
              <a:t>5</a:t>
            </a:r>
            <a:endParaRPr lang="en-US" sz="1300" b="0" strike="noStrike" spc="-1">
              <a:solidFill>
                <a:srgbClr val="000000"/>
              </a:solidFill>
              <a:latin typeface="Arial"/>
            </a:endParaRPr>
          </a:p>
        </p:txBody>
      </p:sp>
      <p:sp>
        <p:nvSpPr>
          <p:cNvPr id="331" name="DName_SERVER-SIDE_5"/>
          <p:cNvSpPr/>
          <p:nvPr/>
        </p:nvSpPr>
        <p:spPr>
          <a:xfrm>
            <a:off x="8424720" y="5097960"/>
            <a:ext cx="2971440" cy="19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F172A"/>
                </a:solidFill>
                <a:latin typeface="Calibri"/>
              </a:rPr>
              <a:t>NetworkPolicy</a:t>
            </a:r>
            <a:endParaRPr lang="en-US" sz="1200" b="0" strike="noStrike" spc="-1">
              <a:solidFill>
                <a:srgbClr val="000000"/>
              </a:solidFill>
              <a:latin typeface="Arial"/>
            </a:endParaRPr>
          </a:p>
        </p:txBody>
      </p:sp>
      <p:sp>
        <p:nvSpPr>
          <p:cNvPr id="332" name="DMark_SERVER-SIDE_5"/>
          <p:cNvSpPr/>
          <p:nvPr/>
        </p:nvSpPr>
        <p:spPr>
          <a:xfrm>
            <a:off x="11277720" y="5097960"/>
            <a:ext cx="182520" cy="19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10B981"/>
                </a:solidFill>
                <a:latin typeface="Trebuchet MS"/>
              </a:rPr>
              <a:t>✓</a:t>
            </a:r>
            <a:endParaRPr lang="en-US" sz="1600" b="0" strike="noStrike" spc="-1">
              <a:solidFill>
                <a:srgbClr val="000000"/>
              </a:solidFill>
              <a:latin typeface="Arial"/>
            </a:endParaRPr>
          </a:p>
        </p:txBody>
      </p:sp>
      <p:sp>
        <p:nvSpPr>
          <p:cNvPr id="333" name="DBadge_SERVER-SIDE_6"/>
          <p:cNvSpPr/>
          <p:nvPr/>
        </p:nvSpPr>
        <p:spPr>
          <a:xfrm>
            <a:off x="8031600" y="5310360"/>
            <a:ext cx="319680" cy="157320"/>
          </a:xfrm>
          <a:prstGeom prst="roundRect">
            <a:avLst>
              <a:gd name="adj" fmla="val 8000"/>
            </a:avLst>
          </a:prstGeom>
          <a:solidFill>
            <a:srgbClr val="0EA5E9"/>
          </a:solid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endParaRPr lang="en-US" sz="1800" b="0" strike="noStrike" spc="-1">
              <a:solidFill>
                <a:schemeClr val="dk1"/>
              </a:solidFill>
              <a:latin typeface="Calibri"/>
            </a:endParaRPr>
          </a:p>
        </p:txBody>
      </p:sp>
      <p:sp>
        <p:nvSpPr>
          <p:cNvPr id="334" name="DNum_SERVER-SIDE_6"/>
          <p:cNvSpPr/>
          <p:nvPr/>
        </p:nvSpPr>
        <p:spPr>
          <a:xfrm>
            <a:off x="8031600" y="5310360"/>
            <a:ext cx="319680" cy="1573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300" b="1" strike="noStrike" spc="-1">
                <a:solidFill>
                  <a:srgbClr val="FFFFFF"/>
                </a:solidFill>
                <a:latin typeface="Trebuchet MS"/>
              </a:rPr>
              <a:t>6</a:t>
            </a:r>
            <a:endParaRPr lang="en-US" sz="1300" b="0" strike="noStrike" spc="-1">
              <a:solidFill>
                <a:srgbClr val="000000"/>
              </a:solidFill>
              <a:latin typeface="Arial"/>
            </a:endParaRPr>
          </a:p>
        </p:txBody>
      </p:sp>
      <p:sp>
        <p:nvSpPr>
          <p:cNvPr id="335" name="DName_SERVER-SIDE_6"/>
          <p:cNvSpPr/>
          <p:nvPr/>
        </p:nvSpPr>
        <p:spPr>
          <a:xfrm>
            <a:off x="8424720" y="5292000"/>
            <a:ext cx="2971440" cy="19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200" b="1" strike="noStrike" spc="-1">
                <a:solidFill>
                  <a:srgbClr val="0F172A"/>
                </a:solidFill>
                <a:latin typeface="Calibri"/>
              </a:rPr>
              <a:t>LLM Guard</a:t>
            </a:r>
            <a:endParaRPr lang="en-US" sz="1200" b="0" strike="noStrike" spc="-1">
              <a:solidFill>
                <a:srgbClr val="000000"/>
              </a:solidFill>
              <a:latin typeface="Arial"/>
            </a:endParaRPr>
          </a:p>
        </p:txBody>
      </p:sp>
      <p:sp>
        <p:nvSpPr>
          <p:cNvPr id="336" name="DMark_SERVER-SIDE_6"/>
          <p:cNvSpPr/>
          <p:nvPr/>
        </p:nvSpPr>
        <p:spPr>
          <a:xfrm>
            <a:off x="11277720" y="5292000"/>
            <a:ext cx="182520" cy="19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600" b="1" strike="noStrike" spc="-1">
                <a:solidFill>
                  <a:srgbClr val="64748B"/>
                </a:solidFill>
                <a:latin typeface="Trebuchet MS"/>
              </a:rPr>
              <a:t>○</a:t>
            </a:r>
            <a:endParaRPr lang="en-US" sz="1600" b="0" strike="noStrike" spc="-1">
              <a:solidFill>
                <a:srgbClr val="000000"/>
              </a:solidFill>
              <a:latin typeface="Arial"/>
            </a:endParaRPr>
          </a:p>
        </p:txBody>
      </p:sp>
      <p:sp>
        <p:nvSpPr>
          <p:cNvPr id="337" name="Thesis"/>
          <p:cNvSpPr/>
          <p:nvPr/>
        </p:nvSpPr>
        <p:spPr>
          <a:xfrm>
            <a:off x="457200" y="5715000"/>
            <a:ext cx="112773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algn="ctr" defTabSz="914400">
              <a:lnSpc>
                <a:spcPct val="100000"/>
              </a:lnSpc>
              <a:tabLst>
                <a:tab pos="0" algn="l"/>
              </a:tabLst>
            </a:pPr>
            <a:r>
              <a:rPr lang="en-US" sz="2400" b="1" strike="noStrike" spc="-1">
                <a:solidFill>
                  <a:srgbClr val="A100FF"/>
                </a:solidFill>
                <a:latin typeface="Trebuchet MS"/>
              </a:rPr>
              <a:t>Your MLOps pipeline IS your agentic AI guardrail.</a:t>
            </a:r>
            <a:endParaRPr lang="en-US" sz="2400" b="0" strike="noStrike" spc="-1">
              <a:solidFill>
                <a:srgbClr val="000000"/>
              </a:solidFill>
              <a:latin typeface="Arial"/>
            </a:endParaRPr>
          </a:p>
          <a:p>
            <a:pPr algn="ctr" defTabSz="914400">
              <a:lnSpc>
                <a:spcPct val="100000"/>
              </a:lnSpc>
              <a:spcBef>
                <a:spcPts val="201"/>
              </a:spcBef>
              <a:tabLst>
                <a:tab pos="0" algn="l"/>
              </a:tabLst>
            </a:pPr>
            <a:r>
              <a:rPr lang="en-US" sz="1300" b="0" i="1" strike="noStrike" spc="-1">
                <a:solidFill>
                  <a:srgbClr val="64748B"/>
                </a:solidFill>
                <a:latin typeface="Calibri"/>
              </a:rPr>
              <a:t>If you can recognize what you already have, you've already done most of the work.</a:t>
            </a:r>
            <a:endParaRPr lang="en-US" sz="1300" b="0" strike="noStrike" spc="-1">
              <a:solidFill>
                <a:srgbClr val="000000"/>
              </a:solidFill>
              <a:latin typeface="Arial"/>
            </a:endParaRPr>
          </a:p>
        </p:txBody>
      </p:sp>
      <p:sp>
        <p:nvSpPr>
          <p:cNvPr id="338" name="PageNum"/>
          <p:cNvSpPr/>
          <p:nvPr/>
        </p:nvSpPr>
        <p:spPr>
          <a:xfrm>
            <a:off x="11430000" y="6583680"/>
            <a:ext cx="63972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r" defTabSz="914400">
              <a:lnSpc>
                <a:spcPct val="100000"/>
              </a:lnSpc>
              <a:tabLst>
                <a:tab pos="0" algn="l"/>
              </a:tabLst>
            </a:pPr>
            <a:r>
              <a:rPr lang="en-US" sz="900" b="0" strike="noStrike" spc="-1">
                <a:solidFill>
                  <a:srgbClr val="64748B"/>
                </a:solidFill>
                <a:latin typeface="Calibri"/>
              </a:rPr>
              <a:t>15 / 17</a:t>
            </a:r>
            <a:endParaRPr lang="en-US" sz="900" b="0" strike="noStrike" spc="-1">
              <a:solidFill>
                <a:srgbClr val="000000"/>
              </a:solidFill>
              <a:latin typeface="Arial"/>
            </a:endParaRPr>
          </a:p>
        </p:txBody>
      </p:sp>
      <p:sp>
        <p:nvSpPr>
          <p:cNvPr id="339" name="Footer"/>
          <p:cNvSpPr/>
          <p:nvPr/>
        </p:nvSpPr>
        <p:spPr>
          <a:xfrm>
            <a:off x="228600" y="6583680"/>
            <a:ext cx="3200040" cy="1825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900" b="0" strike="noStrike" spc="-1">
                <a:solidFill>
                  <a:srgbClr val="64748B"/>
                </a:solidFill>
                <a:latin typeface="Calibri"/>
              </a:rPr>
              <a:t>LLMday Austin · May 12, 2026</a:t>
            </a:r>
            <a:endParaRPr lang="en-US" sz="900" b="0" strike="noStrike" spc="-1">
              <a:solidFill>
                <a:srgbClr val="000000"/>
              </a:solidFill>
              <a:latin typeface="Arial"/>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296" name="Text 0"/>
          <p:cNvSpPr/>
          <p:nvPr/>
        </p:nvSpPr>
        <p:spPr>
          <a:xfrm>
            <a:off x="548640" y="365760"/>
            <a:ext cx="1106388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3200" b="1" strike="noStrike" spc="-1">
                <a:solidFill>
                  <a:srgbClr val="F8FAFC"/>
                </a:solidFill>
                <a:latin typeface="Trebuchet MS"/>
                <a:ea typeface="Trebuchet MS"/>
              </a:rPr>
              <a:t>Monday morning. Three ways in.</a:t>
            </a:r>
            <a:endParaRPr lang="en-US" sz="3200" b="0" strike="noStrike" spc="-1">
              <a:solidFill>
                <a:srgbClr val="FFFFFF"/>
              </a:solidFill>
              <a:latin typeface="Arial"/>
            </a:endParaRPr>
          </a:p>
        </p:txBody>
      </p:sp>
      <p:sp>
        <p:nvSpPr>
          <p:cNvPr id="297" name="Text 1"/>
          <p:cNvSpPr/>
          <p:nvPr/>
        </p:nvSpPr>
        <p:spPr>
          <a:xfrm>
            <a:off x="548640" y="1051560"/>
            <a:ext cx="1106388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400" b="0" i="1" strike="noStrike" spc="-1">
                <a:solidFill>
                  <a:srgbClr val="94A3B8"/>
                </a:solidFill>
                <a:latin typeface="Calibri"/>
                <a:ea typeface="Calibri"/>
              </a:rPr>
              <a:t>Pick the path that matches where you are.</a:t>
            </a:r>
            <a:endParaRPr lang="en-US" sz="1400" b="0" strike="noStrike" spc="-1">
              <a:solidFill>
                <a:srgbClr val="FFFFFF"/>
              </a:solidFill>
              <a:latin typeface="Arial"/>
            </a:endParaRPr>
          </a:p>
        </p:txBody>
      </p:sp>
      <p:sp>
        <p:nvSpPr>
          <p:cNvPr id="298" name="Shape 2"/>
          <p:cNvSpPr/>
          <p:nvPr/>
        </p:nvSpPr>
        <p:spPr>
          <a:xfrm>
            <a:off x="548640" y="1554480"/>
            <a:ext cx="7772040" cy="868320"/>
          </a:xfrm>
          <a:prstGeom prst="rect">
            <a:avLst/>
          </a:prstGeom>
          <a:solidFill>
            <a:srgbClr val="1E293B"/>
          </a:solidFill>
          <a:ln w="25400">
            <a:solidFill>
              <a:srgbClr val="A100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299" name="Shape 3"/>
          <p:cNvSpPr/>
          <p:nvPr/>
        </p:nvSpPr>
        <p:spPr>
          <a:xfrm>
            <a:off x="548640" y="1554480"/>
            <a:ext cx="91080" cy="868320"/>
          </a:xfrm>
          <a:prstGeom prst="rect">
            <a:avLst/>
          </a:prstGeom>
          <a:solidFill>
            <a:srgbClr val="A100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00" name="Text 4"/>
          <p:cNvSpPr/>
          <p:nvPr/>
        </p:nvSpPr>
        <p:spPr>
          <a:xfrm>
            <a:off x="777240" y="1664280"/>
            <a:ext cx="7311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A100FF"/>
                </a:solidFill>
                <a:latin typeface="Trebuchet MS"/>
                <a:ea typeface="Trebuchet MS"/>
              </a:rPr>
              <a:t>01</a:t>
            </a:r>
            <a:endParaRPr lang="en-US" sz="2600" b="0" strike="noStrike" spc="-1">
              <a:solidFill>
                <a:srgbClr val="FFFFFF"/>
              </a:solidFill>
              <a:latin typeface="Arial"/>
            </a:endParaRPr>
          </a:p>
        </p:txBody>
      </p:sp>
      <p:sp>
        <p:nvSpPr>
          <p:cNvPr id="301" name="Text 5"/>
          <p:cNvSpPr/>
          <p:nvPr/>
        </p:nvSpPr>
        <p:spPr>
          <a:xfrm>
            <a:off x="1691640" y="162756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i="1" strike="noStrike" spc="199">
                <a:solidFill>
                  <a:srgbClr val="94A3B8"/>
                </a:solidFill>
                <a:latin typeface="Trebuchet MS"/>
                <a:ea typeface="Trebuchet MS"/>
              </a:rPr>
              <a:t>If you have an MLOps pipeline</a:t>
            </a:r>
            <a:endParaRPr lang="en-US" sz="1000" b="0" strike="noStrike" spc="-1">
              <a:solidFill>
                <a:srgbClr val="FFFFFF"/>
              </a:solidFill>
              <a:latin typeface="Arial"/>
            </a:endParaRPr>
          </a:p>
        </p:txBody>
      </p:sp>
      <p:sp>
        <p:nvSpPr>
          <p:cNvPr id="302" name="Text 6"/>
          <p:cNvSpPr/>
          <p:nvPr/>
        </p:nvSpPr>
        <p:spPr>
          <a:xfrm>
            <a:off x="1691640" y="184716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8FAFC"/>
                </a:solidFill>
                <a:latin typeface="Trebuchet MS"/>
                <a:ea typeface="Trebuchet MS"/>
              </a:rPr>
              <a:t>Walk the six on your most-embarrassing pipeline.</a:t>
            </a:r>
            <a:endParaRPr lang="en-US" sz="1500" b="0" strike="noStrike" spc="-1">
              <a:solidFill>
                <a:srgbClr val="FFFFFF"/>
              </a:solidFill>
              <a:latin typeface="Arial"/>
            </a:endParaRPr>
          </a:p>
        </p:txBody>
      </p:sp>
      <p:sp>
        <p:nvSpPr>
          <p:cNvPr id="303" name="Text 7"/>
          <p:cNvSpPr/>
          <p:nvPr/>
        </p:nvSpPr>
        <p:spPr>
          <a:xfrm>
            <a:off x="1691640" y="2103120"/>
            <a:ext cx="6400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CBD5E1"/>
                </a:solidFill>
                <a:latin typeface="Calibri"/>
                <a:ea typeface="Calibri"/>
              </a:rPr>
              <a:t>30 minutes. Find which gates exist, which are missing, which are configured for humans only.</a:t>
            </a:r>
            <a:endParaRPr lang="en-US" sz="1100" b="0" strike="noStrike" spc="-1">
              <a:solidFill>
                <a:srgbClr val="FFFFFF"/>
              </a:solidFill>
              <a:latin typeface="Arial"/>
            </a:endParaRPr>
          </a:p>
        </p:txBody>
      </p:sp>
      <p:sp>
        <p:nvSpPr>
          <p:cNvPr id="304" name="Shape 8"/>
          <p:cNvSpPr/>
          <p:nvPr/>
        </p:nvSpPr>
        <p:spPr>
          <a:xfrm>
            <a:off x="548640" y="2514600"/>
            <a:ext cx="7772040" cy="868320"/>
          </a:xfrm>
          <a:prstGeom prst="rect">
            <a:avLst/>
          </a:prstGeom>
          <a:solidFill>
            <a:srgbClr val="1E293B"/>
          </a:solidFill>
          <a:ln w="25400">
            <a:solidFill>
              <a:srgbClr val="EAB30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05" name="Shape 9"/>
          <p:cNvSpPr/>
          <p:nvPr/>
        </p:nvSpPr>
        <p:spPr>
          <a:xfrm>
            <a:off x="548640" y="2514600"/>
            <a:ext cx="91080" cy="868320"/>
          </a:xfrm>
          <a:prstGeom prst="rect">
            <a:avLst/>
          </a:prstGeom>
          <a:solidFill>
            <a:srgbClr val="EAB308"/>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000000"/>
              </a:solidFill>
              <a:latin typeface="Arial"/>
            </a:endParaRPr>
          </a:p>
        </p:txBody>
      </p:sp>
      <p:sp>
        <p:nvSpPr>
          <p:cNvPr id="306" name="Text 10"/>
          <p:cNvSpPr/>
          <p:nvPr/>
        </p:nvSpPr>
        <p:spPr>
          <a:xfrm>
            <a:off x="777240" y="2624400"/>
            <a:ext cx="7311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EAB308"/>
                </a:solidFill>
                <a:latin typeface="Trebuchet MS"/>
                <a:ea typeface="Trebuchet MS"/>
              </a:rPr>
              <a:t>02</a:t>
            </a:r>
            <a:endParaRPr lang="en-US" sz="2600" b="0" strike="noStrike" spc="-1">
              <a:solidFill>
                <a:srgbClr val="FFFFFF"/>
              </a:solidFill>
              <a:latin typeface="Arial"/>
            </a:endParaRPr>
          </a:p>
        </p:txBody>
      </p:sp>
      <p:sp>
        <p:nvSpPr>
          <p:cNvPr id="307" name="Text 11"/>
          <p:cNvSpPr/>
          <p:nvPr/>
        </p:nvSpPr>
        <p:spPr>
          <a:xfrm>
            <a:off x="1691640" y="25876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i="1" strike="noStrike" spc="199">
                <a:solidFill>
                  <a:srgbClr val="94A3B8"/>
                </a:solidFill>
                <a:latin typeface="Trebuchet MS"/>
                <a:ea typeface="Trebuchet MS"/>
              </a:rPr>
              <a:t>If you have agents in production</a:t>
            </a:r>
            <a:endParaRPr lang="en-US" sz="1000" b="0" strike="noStrike" spc="-1">
              <a:solidFill>
                <a:srgbClr val="FFFFFF"/>
              </a:solidFill>
              <a:latin typeface="Arial"/>
            </a:endParaRPr>
          </a:p>
        </p:txBody>
      </p:sp>
      <p:sp>
        <p:nvSpPr>
          <p:cNvPr id="308" name="Text 12"/>
          <p:cNvSpPr/>
          <p:nvPr/>
        </p:nvSpPr>
        <p:spPr>
          <a:xfrm>
            <a:off x="1691640" y="280728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8FAFC"/>
                </a:solidFill>
                <a:latin typeface="Trebuchet MS"/>
                <a:ea typeface="Trebuchet MS"/>
              </a:rPr>
              <a:t>Add PreToolUse hooks and a Git pre-commit hook today.</a:t>
            </a:r>
            <a:endParaRPr lang="en-US" sz="1500" b="0" strike="noStrike" spc="-1">
              <a:solidFill>
                <a:srgbClr val="FFFFFF"/>
              </a:solidFill>
              <a:latin typeface="Arial"/>
            </a:endParaRPr>
          </a:p>
        </p:txBody>
      </p:sp>
      <p:sp>
        <p:nvSpPr>
          <p:cNvPr id="309" name="Text 13"/>
          <p:cNvSpPr/>
          <p:nvPr/>
        </p:nvSpPr>
        <p:spPr>
          <a:xfrm>
            <a:off x="1691640" y="3063240"/>
            <a:ext cx="6400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CBD5E1"/>
                </a:solidFill>
                <a:latin typeface="Calibri"/>
                <a:ea typeface="Calibri"/>
              </a:rPr>
              <a:t>All five you watched live. The first two are bash scripts on your dev box. The other three are policy on the cluster.</a:t>
            </a:r>
            <a:endParaRPr lang="en-US" sz="1100" b="0" strike="noStrike" spc="-1">
              <a:solidFill>
                <a:srgbClr val="FFFFFF"/>
              </a:solidFill>
              <a:latin typeface="Arial"/>
            </a:endParaRPr>
          </a:p>
        </p:txBody>
      </p:sp>
      <p:sp>
        <p:nvSpPr>
          <p:cNvPr id="310" name="Shape 14"/>
          <p:cNvSpPr/>
          <p:nvPr/>
        </p:nvSpPr>
        <p:spPr>
          <a:xfrm>
            <a:off x="548640" y="3474720"/>
            <a:ext cx="7772040" cy="868320"/>
          </a:xfrm>
          <a:prstGeom prst="rect">
            <a:avLst/>
          </a:prstGeom>
          <a:solidFill>
            <a:srgbClr val="1E293B"/>
          </a:solidFill>
          <a:ln w="25400">
            <a:solidFill>
              <a:srgbClr val="0EA5E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11" name="Shape 15"/>
          <p:cNvSpPr/>
          <p:nvPr/>
        </p:nvSpPr>
        <p:spPr>
          <a:xfrm>
            <a:off x="548640" y="3474720"/>
            <a:ext cx="91080" cy="868320"/>
          </a:xfrm>
          <a:prstGeom prst="rect">
            <a:avLst/>
          </a:prstGeom>
          <a:solidFill>
            <a:srgbClr val="0EA5E9"/>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12" name="Text 16"/>
          <p:cNvSpPr/>
          <p:nvPr/>
        </p:nvSpPr>
        <p:spPr>
          <a:xfrm>
            <a:off x="777240" y="3584520"/>
            <a:ext cx="731160" cy="63972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600" b="1" strike="noStrike" spc="-1">
                <a:solidFill>
                  <a:srgbClr val="0EA5E9"/>
                </a:solidFill>
                <a:latin typeface="Trebuchet MS"/>
                <a:ea typeface="Trebuchet MS"/>
              </a:rPr>
              <a:t>03</a:t>
            </a:r>
            <a:endParaRPr lang="en-US" sz="2600" b="0" strike="noStrike" spc="-1">
              <a:solidFill>
                <a:srgbClr val="FFFFFF"/>
              </a:solidFill>
              <a:latin typeface="Arial"/>
            </a:endParaRPr>
          </a:p>
        </p:txBody>
      </p:sp>
      <p:sp>
        <p:nvSpPr>
          <p:cNvPr id="313" name="Text 17"/>
          <p:cNvSpPr/>
          <p:nvPr/>
        </p:nvSpPr>
        <p:spPr>
          <a:xfrm>
            <a:off x="1691640" y="354780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000" b="1" i="1" strike="noStrike" spc="199">
                <a:solidFill>
                  <a:srgbClr val="94A3B8"/>
                </a:solidFill>
                <a:latin typeface="Trebuchet MS"/>
                <a:ea typeface="Trebuchet MS"/>
              </a:rPr>
              <a:t>If you're just getting started</a:t>
            </a:r>
            <a:endParaRPr lang="en-US" sz="1000" b="0" strike="noStrike" spc="-1">
              <a:solidFill>
                <a:srgbClr val="FFFFFF"/>
              </a:solidFill>
              <a:latin typeface="Arial"/>
            </a:endParaRPr>
          </a:p>
        </p:txBody>
      </p:sp>
      <p:sp>
        <p:nvSpPr>
          <p:cNvPr id="314" name="Text 18"/>
          <p:cNvSpPr/>
          <p:nvPr/>
        </p:nvSpPr>
        <p:spPr>
          <a:xfrm>
            <a:off x="1691640" y="3767400"/>
            <a:ext cx="64004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500" b="1" strike="noStrike" spc="-1">
                <a:solidFill>
                  <a:srgbClr val="F8FAFC"/>
                </a:solidFill>
                <a:latin typeface="Trebuchet MS"/>
                <a:ea typeface="Trebuchet MS"/>
              </a:rPr>
              <a:t>Clone the repo. The hooks, policies, and CI tests are there.</a:t>
            </a:r>
            <a:endParaRPr lang="en-US" sz="1500" b="0" strike="noStrike" spc="-1">
              <a:solidFill>
                <a:srgbClr val="FFFFFF"/>
              </a:solidFill>
              <a:latin typeface="Arial"/>
            </a:endParaRPr>
          </a:p>
        </p:txBody>
      </p:sp>
      <p:sp>
        <p:nvSpPr>
          <p:cNvPr id="315" name="Text 19"/>
          <p:cNvSpPr/>
          <p:nvPr/>
        </p:nvSpPr>
        <p:spPr>
          <a:xfrm>
            <a:off x="1691640" y="4023360"/>
            <a:ext cx="6400440" cy="3196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100" b="0" strike="noStrike" spc="-1">
                <a:solidFill>
                  <a:srgbClr val="CBD5E1"/>
                </a:solidFill>
                <a:latin typeface="Calibri"/>
                <a:ea typeface="Calibri"/>
              </a:rPr>
              <a:t>Adapt them to your namespaces. Ship behind a feature flag. Iterate.</a:t>
            </a:r>
            <a:endParaRPr lang="en-US" sz="1100" b="0" strike="noStrike" spc="-1">
              <a:solidFill>
                <a:srgbClr val="FFFFFF"/>
              </a:solidFill>
              <a:latin typeface="Arial"/>
            </a:endParaRPr>
          </a:p>
        </p:txBody>
      </p:sp>
      <p:sp>
        <p:nvSpPr>
          <p:cNvPr id="316" name="Text 20"/>
          <p:cNvSpPr/>
          <p:nvPr/>
        </p:nvSpPr>
        <p:spPr>
          <a:xfrm>
            <a:off x="8503920" y="1554480"/>
            <a:ext cx="3200040" cy="54828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2200" b="1" strike="noStrike" spc="-1">
                <a:solidFill>
                  <a:srgbClr val="F8FAFC"/>
                </a:solidFill>
                <a:latin typeface="Trebuchet MS"/>
                <a:ea typeface="Trebuchet MS"/>
              </a:rPr>
              <a:t>You already built it.</a:t>
            </a:r>
            <a:endParaRPr lang="en-US" sz="2200" b="0" strike="noStrike" spc="-1">
              <a:solidFill>
                <a:srgbClr val="FFFFFF"/>
              </a:solidFill>
              <a:latin typeface="Arial"/>
            </a:endParaRPr>
          </a:p>
        </p:txBody>
      </p:sp>
      <p:sp>
        <p:nvSpPr>
          <p:cNvPr id="317" name="Text 21"/>
          <p:cNvSpPr/>
          <p:nvPr/>
        </p:nvSpPr>
        <p:spPr>
          <a:xfrm>
            <a:off x="8503920" y="2103120"/>
            <a:ext cx="3200040" cy="8226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1" i="1" strike="noStrike" spc="-1">
                <a:solidFill>
                  <a:srgbClr val="A100FF"/>
                </a:solidFill>
                <a:latin typeface="Trebuchet MS"/>
                <a:ea typeface="Trebuchet MS"/>
              </a:rPr>
              <a:t>Five gates live. The sixth one, the output gate, is the row you add tomorrow.</a:t>
            </a:r>
            <a:endParaRPr lang="en-US" sz="1800" b="0" strike="noStrike" spc="-1">
              <a:solidFill>
                <a:srgbClr val="FFFFFF"/>
              </a:solidFill>
              <a:latin typeface="Arial"/>
            </a:endParaRPr>
          </a:p>
        </p:txBody>
      </p:sp>
      <p:pic>
        <p:nvPicPr>
          <p:cNvPr id="318" name="Image 0" descr="/tmp/qr-repo.png"/>
          <p:cNvPicPr/>
          <p:nvPr/>
        </p:nvPicPr>
        <p:blipFill>
          <a:blip r:embed="rId3"/>
          <a:stretch/>
        </p:blipFill>
        <p:spPr>
          <a:xfrm>
            <a:off x="8869680" y="3108960"/>
            <a:ext cx="2377080" cy="2377080"/>
          </a:xfrm>
          <a:prstGeom prst="rect">
            <a:avLst/>
          </a:prstGeom>
          <a:ln w="0">
            <a:noFill/>
          </a:ln>
        </p:spPr>
      </p:pic>
      <p:sp>
        <p:nvSpPr>
          <p:cNvPr id="319" name="Text 22"/>
          <p:cNvSpPr/>
          <p:nvPr/>
        </p:nvSpPr>
        <p:spPr>
          <a:xfrm>
            <a:off x="8503920" y="5532120"/>
            <a:ext cx="320004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CBD5E1"/>
                </a:solidFill>
                <a:latin typeface="Trebuchet MS"/>
                <a:ea typeface="Trebuchet MS"/>
              </a:rPr>
              <a:t>github.com/peopleforrester/</a:t>
            </a:r>
            <a:endParaRPr lang="en-US" sz="1100" b="0" strike="noStrike" spc="-1">
              <a:solidFill>
                <a:srgbClr val="FFFFFF"/>
              </a:solidFill>
              <a:latin typeface="Arial"/>
            </a:endParaRPr>
          </a:p>
        </p:txBody>
      </p:sp>
      <p:sp>
        <p:nvSpPr>
          <p:cNvPr id="320" name="Text 23"/>
          <p:cNvSpPr/>
          <p:nvPr/>
        </p:nvSpPr>
        <p:spPr>
          <a:xfrm>
            <a:off x="8503920" y="5760720"/>
            <a:ext cx="320004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A100FF"/>
                </a:solidFill>
                <a:latin typeface="Trebuchet MS"/>
                <a:ea typeface="Trebuchet MS"/>
              </a:rPr>
              <a:t>LLMday-Texas-2026</a:t>
            </a:r>
            <a:endParaRPr lang="en-US" sz="1400" b="0" strike="noStrike" spc="-1">
              <a:solidFill>
                <a:srgbClr val="FFFFFF"/>
              </a:solidFill>
              <a:latin typeface="Arial"/>
            </a:endParaRPr>
          </a:p>
        </p:txBody>
      </p:sp>
      <p:sp>
        <p:nvSpPr>
          <p:cNvPr id="321" name="Text 24"/>
          <p:cNvSpPr/>
          <p:nvPr/>
        </p:nvSpPr>
        <p:spPr>
          <a:xfrm>
            <a:off x="548640" y="6035040"/>
            <a:ext cx="11063880" cy="2282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000" b="1" strike="noStrike" spc="299">
                <a:solidFill>
                  <a:srgbClr val="94A3B8"/>
                </a:solidFill>
                <a:latin typeface="Trebuchet MS"/>
                <a:ea typeface="Trebuchet MS"/>
              </a:rPr>
              <a:t>ALSO SPEAKING THIS WEEK</a:t>
            </a:r>
            <a:endParaRPr lang="en-US" sz="1000" b="0" strike="noStrike" spc="-1">
              <a:solidFill>
                <a:srgbClr val="FFFFFF"/>
              </a:solidFill>
              <a:latin typeface="Arial"/>
            </a:endParaRPr>
          </a:p>
        </p:txBody>
      </p:sp>
      <p:sp>
        <p:nvSpPr>
          <p:cNvPr id="322" name="Text 25"/>
          <p:cNvSpPr/>
          <p:nvPr/>
        </p:nvSpPr>
        <p:spPr>
          <a:xfrm>
            <a:off x="548640" y="6291000"/>
            <a:ext cx="11063880" cy="2739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0" strike="noStrike" spc="-1">
                <a:solidFill>
                  <a:srgbClr val="CBD5E1"/>
                </a:solidFill>
                <a:latin typeface="Calibri"/>
                <a:ea typeface="Calibri"/>
              </a:rPr>
              <a:t>KCD Texas · Friday May 15 · The 90-Minute IDP workshop · If you’re interested, find me after this talk</a:t>
            </a:r>
            <a:endParaRPr lang="en-US" sz="1200" b="0" strike="noStrike" spc="-1">
              <a:solidFill>
                <a:srgbClr val="FFFFFF"/>
              </a:solidFill>
              <a:latin typeface="Arial"/>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0F172A"/>
        </a:solidFill>
        <a:effectLst/>
      </p:bgPr>
    </p:bg>
    <p:spTree>
      <p:nvGrpSpPr>
        <p:cNvPr id="1" name=""/>
        <p:cNvGrpSpPr/>
        <p:nvPr/>
      </p:nvGrpSpPr>
      <p:grpSpPr>
        <a:xfrm>
          <a:off x="0" y="0"/>
          <a:ext cx="0" cy="0"/>
          <a:chOff x="0" y="0"/>
          <a:chExt cx="0" cy="0"/>
        </a:xfrm>
      </p:grpSpPr>
      <p:sp>
        <p:nvSpPr>
          <p:cNvPr id="323" name="Bar"/>
          <p:cNvSpPr/>
          <p:nvPr/>
        </p:nvSpPr>
        <p:spPr>
          <a:xfrm>
            <a:off x="0" y="0"/>
            <a:ext cx="228240" cy="6857640"/>
          </a:xfrm>
          <a:prstGeom prst="rect">
            <a:avLst/>
          </a:prstGeom>
          <a:solidFill>
            <a:srgbClr val="A100FF"/>
          </a:solidFill>
          <a:ln w="0">
            <a:noFill/>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en-US" sz="1800" b="0" strike="noStrike" spc="-1">
              <a:solidFill>
                <a:srgbClr val="FFFFFF"/>
              </a:solidFill>
              <a:latin typeface="Arial"/>
            </a:endParaRPr>
          </a:p>
        </p:txBody>
      </p:sp>
      <p:sp>
        <p:nvSpPr>
          <p:cNvPr id="324" name="Title"/>
          <p:cNvSpPr/>
          <p:nvPr/>
        </p:nvSpPr>
        <p:spPr>
          <a:xfrm>
            <a:off x="731520" y="731520"/>
            <a:ext cx="10515240" cy="73116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4400" b="1" strike="noStrike" spc="-1">
                <a:solidFill>
                  <a:srgbClr val="F8FAFC"/>
                </a:solidFill>
                <a:latin typeface="Trebuchet MS"/>
              </a:rPr>
              <a:t>Read the long version.</a:t>
            </a:r>
            <a:endParaRPr lang="en-US" sz="4400" b="0" strike="noStrike" spc="-1">
              <a:solidFill>
                <a:srgbClr val="FFFFFF"/>
              </a:solidFill>
              <a:latin typeface="Arial"/>
            </a:endParaRPr>
          </a:p>
        </p:txBody>
      </p:sp>
      <p:sp>
        <p:nvSpPr>
          <p:cNvPr id="325" name="Subtitle"/>
          <p:cNvSpPr/>
          <p:nvPr/>
        </p:nvSpPr>
        <p:spPr>
          <a:xfrm>
            <a:off x="731520" y="1554480"/>
            <a:ext cx="10515240" cy="4568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defTabSz="914400">
              <a:lnSpc>
                <a:spcPct val="100000"/>
              </a:lnSpc>
              <a:tabLst>
                <a:tab pos="0" algn="l"/>
              </a:tabLst>
            </a:pPr>
            <a:r>
              <a:rPr lang="en-US" sz="1800" b="0" i="1" strike="noStrike" spc="-1">
                <a:solidFill>
                  <a:srgbClr val="94A3B8"/>
                </a:solidFill>
                <a:latin typeface="Calibri"/>
              </a:rPr>
              <a:t>Articles on platform engineering, agentic AI guardrails, and the MLOps mapping.</a:t>
            </a:r>
            <a:endParaRPr lang="en-US" sz="1800" b="0" strike="noStrike" spc="-1">
              <a:solidFill>
                <a:srgbClr val="FFFFFF"/>
              </a:solidFill>
              <a:latin typeface="Arial"/>
            </a:endParaRPr>
          </a:p>
        </p:txBody>
      </p:sp>
      <p:sp>
        <p:nvSpPr>
          <p:cNvPr id="326" name="Articles"/>
          <p:cNvSpPr/>
          <p:nvPr/>
        </p:nvSpPr>
        <p:spPr>
          <a:xfrm>
            <a:off x="731520" y="2560320"/>
            <a:ext cx="6400440" cy="3200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2400" b="1" strike="noStrike" spc="-1">
                <a:solidFill>
                  <a:srgbClr val="A100FF"/>
                </a:solidFill>
                <a:latin typeface="Trebuchet MS"/>
              </a:rPr>
              <a:t>MichaelRishiForrester.com</a:t>
            </a:r>
            <a:endParaRPr lang="en-US" sz="2400" b="0" strike="noStrike" spc="-1">
              <a:solidFill>
                <a:srgbClr val="FFFFFF"/>
              </a:solidFill>
              <a:latin typeface="Arial"/>
            </a:endParaRPr>
          </a:p>
          <a:p>
            <a:pPr defTabSz="914400">
              <a:lnSpc>
                <a:spcPct val="100000"/>
              </a:lnSpc>
              <a:tabLst>
                <a:tab pos="0" algn="l"/>
              </a:tabLst>
            </a:pPr>
            <a:r>
              <a:rPr lang="en-US" sz="1200" b="0" strike="noStrike" spc="-1">
                <a:solidFill>
                  <a:srgbClr val="0F172A"/>
                </a:solidFill>
                <a:latin typeface="Calibri"/>
              </a:rPr>
              <a:t> </a:t>
            </a:r>
            <a:endParaRPr lang="en-US" sz="1200" b="0" strike="noStrike" spc="-1">
              <a:solidFill>
                <a:srgbClr val="FFFFFF"/>
              </a:solidFill>
              <a:latin typeface="Arial"/>
            </a:endParaRPr>
          </a:p>
          <a:p>
            <a:pPr defTabSz="914400">
              <a:lnSpc>
                <a:spcPct val="100000"/>
              </a:lnSpc>
              <a:tabLst>
                <a:tab pos="0" algn="l"/>
              </a:tabLst>
            </a:pPr>
            <a:r>
              <a:rPr lang="en-US" sz="1600" b="1" strike="noStrike" spc="-1">
                <a:solidFill>
                  <a:srgbClr val="F8FAFC"/>
                </a:solidFill>
                <a:latin typeface="Trebuchet MS"/>
              </a:rPr>
              <a:t>The Platform Engineer’s Guide to AI Safety</a:t>
            </a:r>
            <a:endParaRPr lang="en-US" sz="1600" b="0" strike="noStrike" spc="-1">
              <a:solidFill>
                <a:srgbClr val="FFFFFF"/>
              </a:solidFill>
              <a:latin typeface="Arial"/>
            </a:endParaRPr>
          </a:p>
          <a:p>
            <a:pPr defTabSz="914400">
              <a:lnSpc>
                <a:spcPct val="100000"/>
              </a:lnSpc>
              <a:tabLst>
                <a:tab pos="0" algn="l"/>
              </a:tabLst>
            </a:pPr>
            <a:r>
              <a:rPr lang="en-US" sz="1300" b="0" i="1" strike="noStrike" spc="-1">
                <a:solidFill>
                  <a:srgbClr val="94A3B8"/>
                </a:solidFill>
                <a:latin typeface="Calibri"/>
              </a:rPr>
              <a:t>You already know it. You just don’t know you know it. (Mar 10, 2026)</a:t>
            </a:r>
            <a:endParaRPr lang="en-US" sz="1300" b="0" strike="noStrike" spc="-1">
              <a:solidFill>
                <a:srgbClr val="FFFFFF"/>
              </a:solidFill>
              <a:latin typeface="Arial"/>
            </a:endParaRPr>
          </a:p>
          <a:p>
            <a:pPr defTabSz="914400">
              <a:lnSpc>
                <a:spcPct val="100000"/>
              </a:lnSpc>
              <a:tabLst>
                <a:tab pos="0" algn="l"/>
              </a:tabLst>
            </a:pPr>
            <a:r>
              <a:rPr lang="en-US" sz="800" b="0" strike="noStrike" spc="-1">
                <a:solidFill>
                  <a:srgbClr val="0F172A"/>
                </a:solidFill>
                <a:latin typeface="Calibri"/>
              </a:rPr>
              <a:t> </a:t>
            </a:r>
            <a:endParaRPr lang="en-US" sz="800" b="0" strike="noStrike" spc="-1">
              <a:solidFill>
                <a:srgbClr val="FFFFFF"/>
              </a:solidFill>
              <a:latin typeface="Arial"/>
            </a:endParaRPr>
          </a:p>
          <a:p>
            <a:pPr defTabSz="914400">
              <a:lnSpc>
                <a:spcPct val="100000"/>
              </a:lnSpc>
              <a:tabLst>
                <a:tab pos="0" algn="l"/>
              </a:tabLst>
            </a:pPr>
            <a:r>
              <a:rPr lang="en-US" sz="1600" b="1" strike="noStrike" spc="-1">
                <a:solidFill>
                  <a:srgbClr val="F8FAFC"/>
                </a:solidFill>
                <a:latin typeface="Trebuchet MS"/>
              </a:rPr>
              <a:t>I Built an ArgoCD MCP Server. Here’s Why It’s Different.</a:t>
            </a:r>
            <a:endParaRPr lang="en-US" sz="1600" b="0" strike="noStrike" spc="-1">
              <a:solidFill>
                <a:srgbClr val="FFFFFF"/>
              </a:solidFill>
              <a:latin typeface="Arial"/>
            </a:endParaRPr>
          </a:p>
          <a:p>
            <a:pPr defTabSz="914400">
              <a:lnSpc>
                <a:spcPct val="100000"/>
              </a:lnSpc>
              <a:tabLst>
                <a:tab pos="0" algn="l"/>
              </a:tabLst>
            </a:pPr>
            <a:r>
              <a:rPr lang="en-US" sz="1300" b="0" i="1" strike="noStrike" spc="-1">
                <a:solidFill>
                  <a:srgbClr val="94A3B8"/>
                </a:solidFill>
                <a:latin typeface="Calibri"/>
              </a:rPr>
              <a:t>Three permission tiers, dry-run by default, audit logs. (Feb 2, 2026)</a:t>
            </a:r>
            <a:endParaRPr lang="en-US" sz="1300" b="0" strike="noStrike" spc="-1">
              <a:solidFill>
                <a:srgbClr val="FFFFFF"/>
              </a:solidFill>
              <a:latin typeface="Arial"/>
            </a:endParaRPr>
          </a:p>
          <a:p>
            <a:pPr defTabSz="914400">
              <a:lnSpc>
                <a:spcPct val="100000"/>
              </a:lnSpc>
              <a:tabLst>
                <a:tab pos="0" algn="l"/>
              </a:tabLst>
            </a:pPr>
            <a:r>
              <a:rPr lang="en-US" sz="800" b="0" strike="noStrike" spc="-1">
                <a:solidFill>
                  <a:srgbClr val="0F172A"/>
                </a:solidFill>
                <a:latin typeface="Calibri"/>
              </a:rPr>
              <a:t> </a:t>
            </a:r>
            <a:endParaRPr lang="en-US" sz="800" b="0" strike="noStrike" spc="-1">
              <a:solidFill>
                <a:srgbClr val="FFFFFF"/>
              </a:solidFill>
              <a:latin typeface="Arial"/>
            </a:endParaRPr>
          </a:p>
          <a:p>
            <a:pPr defTabSz="914400">
              <a:lnSpc>
                <a:spcPct val="100000"/>
              </a:lnSpc>
              <a:tabLst>
                <a:tab pos="0" algn="l"/>
              </a:tabLst>
            </a:pPr>
            <a:r>
              <a:rPr lang="en-US" sz="1600" b="1" strike="noStrike" spc="-1">
                <a:solidFill>
                  <a:srgbClr val="F8FAFC"/>
                </a:solidFill>
                <a:latin typeface="Trebuchet MS"/>
              </a:rPr>
              <a:t>I Just Helped an Enterprise Adopt AI</a:t>
            </a:r>
            <a:endParaRPr lang="en-US" sz="1600" b="0" strike="noStrike" spc="-1">
              <a:solidFill>
                <a:srgbClr val="FFFFFF"/>
              </a:solidFill>
              <a:latin typeface="Arial"/>
            </a:endParaRPr>
          </a:p>
          <a:p>
            <a:pPr defTabSz="914400">
              <a:lnSpc>
                <a:spcPct val="100000"/>
              </a:lnSpc>
              <a:tabLst>
                <a:tab pos="0" algn="l"/>
              </a:tabLst>
            </a:pPr>
            <a:r>
              <a:rPr lang="en-US" sz="1300" b="0" i="1" strike="noStrike" spc="-1">
                <a:solidFill>
                  <a:srgbClr val="94A3B8"/>
                </a:solidFill>
                <a:latin typeface="Calibri"/>
              </a:rPr>
              <a:t>Here’s what nobody’s talking about. (Mar 10, 2026)</a:t>
            </a:r>
            <a:endParaRPr lang="en-US" sz="1300" b="0" strike="noStrike" spc="-1">
              <a:solidFill>
                <a:srgbClr val="FFFFFF"/>
              </a:solidFill>
              <a:latin typeface="Arial"/>
            </a:endParaRPr>
          </a:p>
        </p:txBody>
      </p:sp>
      <p:sp>
        <p:nvSpPr>
          <p:cNvPr id="327" name="CodeSection"/>
          <p:cNvSpPr/>
          <p:nvPr/>
        </p:nvSpPr>
        <p:spPr>
          <a:xfrm>
            <a:off x="731520" y="5120640"/>
            <a:ext cx="6400440" cy="91404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t">
            <a:noAutofit/>
          </a:bodyPr>
          <a:lstStyle/>
          <a:p>
            <a:pPr defTabSz="914400">
              <a:lnSpc>
                <a:spcPct val="100000"/>
              </a:lnSpc>
              <a:tabLst>
                <a:tab pos="0" algn="l"/>
              </a:tabLst>
            </a:pPr>
            <a:r>
              <a:rPr lang="en-US" sz="1800" b="1" strike="noStrike" spc="-1">
                <a:solidFill>
                  <a:srgbClr val="0EA5E9"/>
                </a:solidFill>
                <a:latin typeface="Trebuchet MS"/>
              </a:rPr>
              <a:t>github.com/peopleforrester</a:t>
            </a:r>
            <a:endParaRPr lang="en-US" sz="1800" b="0" strike="noStrike" spc="-1">
              <a:solidFill>
                <a:srgbClr val="FFFFFF"/>
              </a:solidFill>
              <a:latin typeface="Arial"/>
            </a:endParaRPr>
          </a:p>
          <a:p>
            <a:pPr defTabSz="914400">
              <a:lnSpc>
                <a:spcPct val="100000"/>
              </a:lnSpc>
              <a:tabLst>
                <a:tab pos="0" algn="l"/>
              </a:tabLst>
            </a:pPr>
            <a:r>
              <a:rPr lang="en-US" sz="1100" b="0" strike="noStrike" spc="-1">
                <a:solidFill>
                  <a:srgbClr val="F8FAFC"/>
                </a:solidFill>
                <a:latin typeface="Calibri"/>
              </a:rPr>
              <a:t>LLMday-Texas-2026  ·  SREday-Texas-2026  ·  mcp-k8s-observability-argocd-server</a:t>
            </a:r>
            <a:endParaRPr lang="en-US" sz="1100" b="0" strike="noStrike" spc="-1">
              <a:solidFill>
                <a:srgbClr val="FFFFFF"/>
              </a:solidFill>
              <a:latin typeface="Arial"/>
            </a:endParaRPr>
          </a:p>
          <a:p>
            <a:pPr defTabSz="914400">
              <a:lnSpc>
                <a:spcPct val="100000"/>
              </a:lnSpc>
              <a:tabLst>
                <a:tab pos="0" algn="l"/>
              </a:tabLst>
            </a:pPr>
            <a:r>
              <a:rPr lang="en-US" sz="1100" b="0" i="1" strike="noStrike" spc="-1">
                <a:solidFill>
                  <a:srgbClr val="94A3B8"/>
                </a:solidFill>
                <a:latin typeface="Calibri"/>
              </a:rPr>
              <a:t>Talk repos, demo code, and the guarded MCP server from the article above.</a:t>
            </a:r>
            <a:endParaRPr lang="en-US" sz="1100" b="0" strike="noStrike" spc="-1">
              <a:solidFill>
                <a:srgbClr val="FFFFFF"/>
              </a:solidFill>
              <a:latin typeface="Arial"/>
            </a:endParaRPr>
          </a:p>
        </p:txBody>
      </p:sp>
      <p:pic>
        <p:nvPicPr>
          <p:cNvPr id="328" name="PersonalQR"/>
          <p:cNvPicPr/>
          <p:nvPr/>
        </p:nvPicPr>
        <p:blipFill>
          <a:blip r:embed="rId2"/>
          <a:stretch/>
        </p:blipFill>
        <p:spPr>
          <a:xfrm>
            <a:off x="8229600" y="2560320"/>
            <a:ext cx="2742840" cy="2742840"/>
          </a:xfrm>
          <a:prstGeom prst="rect">
            <a:avLst/>
          </a:prstGeom>
          <a:ln w="0">
            <a:noFill/>
          </a:ln>
        </p:spPr>
      </p:pic>
      <p:sp>
        <p:nvSpPr>
          <p:cNvPr id="329" name="QRCaption"/>
          <p:cNvSpPr/>
          <p:nvPr/>
        </p:nvSpPr>
        <p:spPr>
          <a:xfrm>
            <a:off x="8138160" y="5394960"/>
            <a:ext cx="292572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100" b="1" strike="noStrike" spc="-1">
                <a:solidFill>
                  <a:srgbClr val="FBBF24"/>
                </a:solidFill>
                <a:latin typeface="Trebuchet MS"/>
              </a:rPr>
              <a:t>Scan for MichaelRishiForrester.com</a:t>
            </a:r>
            <a:endParaRPr lang="en-US" sz="1100" b="0" strike="noStrike" spc="-1">
              <a:solidFill>
                <a:srgbClr val="FFFFFF"/>
              </a:solidFill>
              <a:latin typeface="Arial"/>
            </a:endParaRPr>
          </a:p>
        </p:txBody>
      </p:sp>
      <p:sp>
        <p:nvSpPr>
          <p:cNvPr id="330" name="Socials"/>
          <p:cNvSpPr/>
          <p:nvPr/>
        </p:nvSpPr>
        <p:spPr>
          <a:xfrm>
            <a:off x="731520" y="603504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400" b="1" strike="noStrike" spc="-1">
                <a:solidFill>
                  <a:srgbClr val="F8FAFC"/>
                </a:solidFill>
                <a:latin typeface="Trebuchet MS"/>
              </a:rPr>
              <a:t>@peopleforrester</a:t>
            </a:r>
            <a:r>
              <a:rPr lang="en-US" sz="1400" b="0" strike="noStrike" spc="-1">
                <a:solidFill>
                  <a:srgbClr val="94A3B8"/>
                </a:solidFill>
                <a:latin typeface="Calibri"/>
              </a:rPr>
              <a:t>  on  X  ·  Bluesky  ·  Hachyderm  ·  GitHub  ·  LinkedIn</a:t>
            </a:r>
            <a:endParaRPr lang="en-US" sz="1400" b="0" strike="noStrike" spc="-1">
              <a:solidFill>
                <a:srgbClr val="FFFFFF"/>
              </a:solidFill>
              <a:latin typeface="Arial"/>
            </a:endParaRPr>
          </a:p>
        </p:txBody>
      </p:sp>
      <p:sp>
        <p:nvSpPr>
          <p:cNvPr id="331" name="Thanks"/>
          <p:cNvSpPr/>
          <p:nvPr/>
        </p:nvSpPr>
        <p:spPr>
          <a:xfrm>
            <a:off x="731520" y="6400800"/>
            <a:ext cx="10515240" cy="365400"/>
          </a:xfrm>
          <a:prstGeom prst="rect">
            <a:avLst/>
          </a:prstGeom>
          <a:noFill/>
          <a:ln w="0">
            <a:noFill/>
          </a:ln>
        </p:spPr>
        <p:style>
          <a:lnRef idx="0">
            <a:scrgbClr r="0" g="0" b="0"/>
          </a:lnRef>
          <a:fillRef idx="0">
            <a:scrgbClr r="0" g="0" b="0"/>
          </a:fillRef>
          <a:effectRef idx="0">
            <a:scrgbClr r="0" g="0" b="0"/>
          </a:effectRef>
          <a:fontRef idx="minor"/>
        </p:style>
        <p:txBody>
          <a:bodyPr lIns="0" tIns="0" rIns="0" bIns="0" anchor="ctr">
            <a:noAutofit/>
          </a:bodyPr>
          <a:lstStyle/>
          <a:p>
            <a:pPr algn="ctr" defTabSz="914400">
              <a:lnSpc>
                <a:spcPct val="100000"/>
              </a:lnSpc>
              <a:tabLst>
                <a:tab pos="0" algn="l"/>
              </a:tabLst>
            </a:pPr>
            <a:r>
              <a:rPr lang="en-US" sz="1200" b="0" i="1" strike="noStrike" spc="-1">
                <a:solidFill>
                  <a:srgbClr val="64748B"/>
                </a:solidFill>
                <a:latin typeface="Calibri"/>
              </a:rPr>
              <a:t>Thanks for spending the hour. Now go fill the gates the pipeline already knows.</a:t>
            </a:r>
            <a:endParaRPr lang="en-US" sz="1200" b="0" strike="noStrike" spc="-1">
              <a:solidFill>
                <a:srgbClr val="FFFFFF"/>
              </a:solidFill>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majorFont>
      <a:minorFont>
        <a:latin typeface="Calibri" panose="020F0502020204030204"/>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41</TotalTime>
  <Words>4176</Words>
  <Application>Microsoft Office PowerPoint</Application>
  <PresentationFormat>Widescreen</PresentationFormat>
  <Paragraphs>575</Paragraphs>
  <Slides>23</Slides>
  <Notes>12</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23</vt:i4>
      </vt:variant>
    </vt:vector>
  </HeadingPairs>
  <TitlesOfParts>
    <vt:vector size="33" baseType="lpstr">
      <vt:lpstr>Arial</vt:lpstr>
      <vt:lpstr>Calibri</vt:lpstr>
      <vt:lpstr>Courier New</vt:lpstr>
      <vt:lpstr>Segoe UI Emoji</vt:lpstr>
      <vt:lpstr>Segoe UI Symbol</vt:lpstr>
      <vt:lpstr>Symbol</vt:lpstr>
      <vt:lpstr>Times New Roman</vt:lpstr>
      <vt:lpstr>Trebuchet MS</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Michael Forrester</cp:lastModifiedBy>
  <cp:revision>3</cp:revision>
  <dcterms:modified xsi:type="dcterms:W3CDTF">2026-05-12T19:05:15Z</dcterms:modified>
</cp:coreProperties>
</file>

<file path=docProps/core0.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2026-05-11T21:53:41Z</dcterms:created>
  <dc:creator>Michael Forrester</dc:creator>
  <dc:description/>
  <dc:language>en-US</dc:language>
  <cp:lastModifiedBy>Michael Forrester</cp:lastModifiedBy>
  <dcterms:modified xsi:type="dcterms:W3CDTF">2026-05-11T21:53:41Z</dcterms:modified>
  <cp:revision>1</cp:revision>
  <dc:subject>PptxGenJS Presentation</dc:subject>
  <dc:title>Your MLOps Pipeline Is Your Agentic AI Guardrail</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r8>9</vt:r8>
  </property>
  <property fmtid="{D5CDD505-2E9C-101B-9397-08002B2CF9AE}" pid="3" name="PresentationFormat">
    <vt:lpwstr>On-screen Show (16:9)</vt:lpwstr>
  </property>
  <property fmtid="{D5CDD505-2E9C-101B-9397-08002B2CF9AE}" pid="4" name="Slides">
    <vt:r8>9</vt:r8>
  </property>
</Properties>
</file>